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59" r:id="rId5"/>
    <p:sldId id="260" r:id="rId6"/>
    <p:sldId id="271" r:id="rId7"/>
    <p:sldId id="272" r:id="rId8"/>
    <p:sldId id="273" r:id="rId9"/>
    <p:sldId id="269" r:id="rId10"/>
    <p:sldId id="277" r:id="rId11"/>
    <p:sldId id="278" r:id="rId12"/>
    <p:sldId id="276" r:id="rId13"/>
    <p:sldId id="282" r:id="rId14"/>
    <p:sldId id="284" r:id="rId15"/>
    <p:sldId id="285" r:id="rId16"/>
    <p:sldId id="286" r:id="rId17"/>
    <p:sldId id="287" r:id="rId18"/>
    <p:sldId id="288" r:id="rId19"/>
    <p:sldId id="289" r:id="rId20"/>
    <p:sldId id="290" r:id="rId21"/>
    <p:sldId id="291" r:id="rId22"/>
    <p:sldId id="292" r:id="rId23"/>
    <p:sldId id="294" r:id="rId24"/>
    <p:sldId id="295" r:id="rId25"/>
    <p:sldId id="297" r:id="rId26"/>
    <p:sldId id="300" r:id="rId27"/>
    <p:sldId id="298" r:id="rId28"/>
    <p:sldId id="301" r:id="rId29"/>
    <p:sldId id="299"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24" r:id="rId43"/>
    <p:sldId id="328" r:id="rId44"/>
    <p:sldId id="315" r:id="rId45"/>
    <p:sldId id="316" r:id="rId46"/>
    <p:sldId id="314" r:id="rId47"/>
    <p:sldId id="322" r:id="rId48"/>
    <p:sldId id="323" r:id="rId49"/>
    <p:sldId id="326" r:id="rId50"/>
    <p:sldId id="325" r:id="rId51"/>
    <p:sldId id="327" r:id="rId52"/>
    <p:sldId id="340" r:id="rId53"/>
    <p:sldId id="330" r:id="rId54"/>
    <p:sldId id="331" r:id="rId55"/>
    <p:sldId id="332" r:id="rId56"/>
    <p:sldId id="333" r:id="rId57"/>
    <p:sldId id="334" r:id="rId58"/>
    <p:sldId id="335" r:id="rId59"/>
    <p:sldId id="336" r:id="rId60"/>
    <p:sldId id="339" r:id="rId61"/>
    <p:sldId id="337" r:id="rId62"/>
    <p:sldId id="338" r:id="rId63"/>
    <p:sldId id="341" r:id="rId64"/>
    <p:sldId id="342" r:id="rId65"/>
    <p:sldId id="344" r:id="rId66"/>
    <p:sldId id="343" r:id="rId67"/>
    <p:sldId id="345" r:id="rId68"/>
    <p:sldId id="346" r:id="rId69"/>
    <p:sldId id="349" r:id="rId70"/>
    <p:sldId id="351" r:id="rId71"/>
    <p:sldId id="350" r:id="rId72"/>
    <p:sldId id="352" r:id="rId73"/>
    <p:sldId id="355" r:id="rId74"/>
    <p:sldId id="354" r:id="rId75"/>
    <p:sldId id="356" r:id="rId76"/>
    <p:sldId id="357" r:id="rId77"/>
    <p:sldId id="353" r:id="rId78"/>
    <p:sldId id="363" r:id="rId79"/>
    <p:sldId id="364" r:id="rId80"/>
    <p:sldId id="365" r:id="rId81"/>
    <p:sldId id="358" r:id="rId82"/>
    <p:sldId id="359" r:id="rId83"/>
    <p:sldId id="360" r:id="rId84"/>
    <p:sldId id="361" r:id="rId85"/>
    <p:sldId id="362" r:id="rId86"/>
    <p:sldId id="366" r:id="rId87"/>
    <p:sldId id="367" r:id="rId88"/>
    <p:sldId id="368" r:id="rId89"/>
    <p:sldId id="370" r:id="rId90"/>
    <p:sldId id="371" r:id="rId91"/>
    <p:sldId id="372" r:id="rId92"/>
    <p:sldId id="373" r:id="rId93"/>
    <p:sldId id="374" r:id="rId94"/>
    <p:sldId id="375" r:id="rId95"/>
    <p:sldId id="376" r:id="rId96"/>
    <p:sldId id="377" r:id="rId97"/>
    <p:sldId id="378" r:id="rId98"/>
    <p:sldId id="379" r:id="rId99"/>
    <p:sldId id="380" r:id="rId100"/>
    <p:sldId id="381" r:id="rId101"/>
    <p:sldId id="383" r:id="rId102"/>
    <p:sldId id="384" r:id="rId103"/>
    <p:sldId id="382" r:id="rId104"/>
    <p:sldId id="385" r:id="rId105"/>
    <p:sldId id="386" r:id="rId106"/>
    <p:sldId id="388" r:id="rId107"/>
    <p:sldId id="387" r:id="rId108"/>
    <p:sldId id="389" r:id="rId109"/>
    <p:sldId id="390" r:id="rId110"/>
    <p:sldId id="391" r:id="rId111"/>
    <p:sldId id="393" r:id="rId112"/>
    <p:sldId id="395" r:id="rId113"/>
    <p:sldId id="392" r:id="rId114"/>
    <p:sldId id="394" r:id="rId115"/>
    <p:sldId id="396" r:id="rId116"/>
    <p:sldId id="397" r:id="rId117"/>
    <p:sldId id="398" r:id="rId118"/>
    <p:sldId id="399" r:id="rId119"/>
    <p:sldId id="400" r:id="rId120"/>
    <p:sldId id="401" r:id="rId121"/>
    <p:sldId id="402" r:id="rId122"/>
    <p:sldId id="403" r:id="rId123"/>
    <p:sldId id="404" r:id="rId124"/>
    <p:sldId id="406" r:id="rId125"/>
    <p:sldId id="407" r:id="rId126"/>
    <p:sldId id="408" r:id="rId127"/>
    <p:sldId id="409" r:id="rId128"/>
    <p:sldId id="410" r:id="rId129"/>
    <p:sldId id="411" r:id="rId130"/>
    <p:sldId id="413" r:id="rId131"/>
    <p:sldId id="414" r:id="rId132"/>
    <p:sldId id="415" r:id="rId133"/>
    <p:sldId id="423" r:id="rId134"/>
    <p:sldId id="416" r:id="rId135"/>
    <p:sldId id="420" r:id="rId136"/>
    <p:sldId id="422" r:id="rId137"/>
    <p:sldId id="424" r:id="rId138"/>
    <p:sldId id="425" r:id="rId139"/>
    <p:sldId id="427" r:id="rId140"/>
    <p:sldId id="426" r:id="rId141"/>
    <p:sldId id="428" r:id="rId142"/>
    <p:sldId id="430" r:id="rId143"/>
    <p:sldId id="429" r:id="rId144"/>
    <p:sldId id="431" r:id="rId145"/>
    <p:sldId id="432" r:id="rId146"/>
    <p:sldId id="433" r:id="rId147"/>
    <p:sldId id="434" r:id="rId148"/>
    <p:sldId id="435" r:id="rId149"/>
    <p:sldId id="436" r:id="rId150"/>
    <p:sldId id="437" r:id="rId151"/>
    <p:sldId id="438" r:id="rId152"/>
    <p:sldId id="440" r:id="rId153"/>
    <p:sldId id="439" r:id="rId154"/>
    <p:sldId id="441" r:id="rId155"/>
    <p:sldId id="443" r:id="rId156"/>
    <p:sldId id="460" r:id="rId157"/>
    <p:sldId id="442" r:id="rId158"/>
    <p:sldId id="444" r:id="rId159"/>
    <p:sldId id="446" r:id="rId160"/>
    <p:sldId id="447" r:id="rId161"/>
    <p:sldId id="448" r:id="rId162"/>
    <p:sldId id="449" r:id="rId163"/>
    <p:sldId id="450" r:id="rId164"/>
    <p:sldId id="451" r:id="rId165"/>
    <p:sldId id="454" r:id="rId166"/>
    <p:sldId id="453" r:id="rId167"/>
    <p:sldId id="456" r:id="rId168"/>
    <p:sldId id="455" r:id="rId169"/>
    <p:sldId id="457" r:id="rId170"/>
    <p:sldId id="458" r:id="rId171"/>
    <p:sldId id="461" r:id="rId172"/>
    <p:sldId id="459" r:id="rId173"/>
    <p:sldId id="462" r:id="rId174"/>
    <p:sldId id="463" r:id="rId175"/>
    <p:sldId id="464" r:id="rId176"/>
    <p:sldId id="465" r:id="rId177"/>
    <p:sldId id="466" r:id="rId178"/>
    <p:sldId id="468" r:id="rId179"/>
    <p:sldId id="470" r:id="rId180"/>
    <p:sldId id="472" r:id="rId181"/>
    <p:sldId id="471" r:id="rId182"/>
    <p:sldId id="473" r:id="rId183"/>
    <p:sldId id="474" r:id="rId184"/>
    <p:sldId id="480" r:id="rId185"/>
    <p:sldId id="467" r:id="rId186"/>
    <p:sldId id="475" r:id="rId187"/>
    <p:sldId id="476" r:id="rId188"/>
    <p:sldId id="477" r:id="rId189"/>
    <p:sldId id="478" r:id="rId190"/>
    <p:sldId id="479" r:id="rId191"/>
    <p:sldId id="481" r:id="rId192"/>
    <p:sldId id="482" r:id="rId193"/>
    <p:sldId id="483" r:id="rId194"/>
    <p:sldId id="484" r:id="rId195"/>
    <p:sldId id="485" r:id="rId196"/>
    <p:sldId id="486" r:id="rId197"/>
    <p:sldId id="487" r:id="rId198"/>
    <p:sldId id="488" r:id="rId199"/>
    <p:sldId id="489" r:id="rId200"/>
    <p:sldId id="490" r:id="rId201"/>
    <p:sldId id="491" r:id="rId202"/>
    <p:sldId id="492" r:id="rId203"/>
    <p:sldId id="493" r:id="rId204"/>
    <p:sldId id="495" r:id="rId205"/>
    <p:sldId id="494" r:id="rId206"/>
    <p:sldId id="496" r:id="rId207"/>
    <p:sldId id="498" r:id="rId208"/>
    <p:sldId id="499" r:id="rId209"/>
    <p:sldId id="500" r:id="rId210"/>
    <p:sldId id="501" r:id="rId211"/>
    <p:sldId id="502" r:id="rId212"/>
    <p:sldId id="503" r:id="rId213"/>
    <p:sldId id="296" r:id="rId214"/>
    <p:sldId id="275" r:id="rId215"/>
    <p:sldId id="280" r:id="rId216"/>
    <p:sldId id="281" r:id="rId217"/>
    <p:sldId id="283" r:id="rId2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1D3F"/>
    <a:srgbClr val="52796F"/>
    <a:srgbClr val="2F3E46"/>
    <a:srgbClr val="84A98C"/>
    <a:srgbClr val="CAD2C5"/>
    <a:srgbClr val="354F52"/>
    <a:srgbClr val="37464C"/>
    <a:srgbClr val="4472C4"/>
    <a:srgbClr val="35454D"/>
    <a:srgbClr val="E7E8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660"/>
  </p:normalViewPr>
  <p:slideViewPr>
    <p:cSldViewPr snapToGrid="0">
      <p:cViewPr>
        <p:scale>
          <a:sx n="75" d="100"/>
          <a:sy n="75" d="100"/>
        </p:scale>
        <p:origin x="869"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presProps" Target="presProps.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theme" Target="theme/theme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s>
</file>

<file path=ppt/charts/_rels/chart1.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ontserrat" panose="00000500000000000000" pitchFamily="2" charset="0"/>
                <a:ea typeface="+mn-ea"/>
                <a:cs typeface="+mn-cs"/>
              </a:defRPr>
            </a:pPr>
            <a:r>
              <a:rPr lang="es-MX"/>
              <a:t>Regresión Lineal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ontserrat" panose="00000500000000000000" pitchFamily="2" charset="0"/>
              <a:ea typeface="+mn-ea"/>
              <a:cs typeface="+mn-cs"/>
            </a:defRPr>
          </a:pPr>
          <a:endParaRPr lang="es-MX"/>
        </a:p>
      </c:txPr>
    </c:title>
    <c:autoTitleDeleted val="0"/>
    <c:plotArea>
      <c:layout/>
      <c:scatterChart>
        <c:scatterStyle val="lineMarker"/>
        <c:varyColors val="0"/>
        <c:ser>
          <c:idx val="0"/>
          <c:order val="0"/>
          <c:tx>
            <c:strRef>
              <c:f>Hoja1!$C$2</c:f>
              <c:strCache>
                <c:ptCount val="1"/>
                <c:pt idx="0">
                  <c:v>Edad 
(x)</c:v>
                </c:pt>
              </c:strCache>
            </c:strRef>
          </c:tx>
          <c:spPr>
            <a:ln w="25400" cap="rnd">
              <a:noFill/>
              <a:round/>
            </a:ln>
            <a:effectLst/>
          </c:spPr>
          <c:marker>
            <c:symbol val="circle"/>
            <c:size val="5"/>
            <c:spPr>
              <a:solidFill>
                <a:schemeClr val="accent1"/>
              </a:solidFill>
              <a:ln w="9525">
                <a:solidFill>
                  <a:schemeClr val="accent1"/>
                </a:solidFill>
              </a:ln>
              <a:effectLst/>
            </c:spPr>
          </c:marker>
          <c:xVal>
            <c:numRef>
              <c:f>Hoja1!$C$4:$C$23</c:f>
              <c:numCache>
                <c:formatCode>General</c:formatCode>
                <c:ptCount val="20"/>
                <c:pt idx="0">
                  <c:v>13</c:v>
                </c:pt>
                <c:pt idx="1">
                  <c:v>14</c:v>
                </c:pt>
                <c:pt idx="2">
                  <c:v>14</c:v>
                </c:pt>
                <c:pt idx="3">
                  <c:v>15</c:v>
                </c:pt>
                <c:pt idx="4">
                  <c:v>15</c:v>
                </c:pt>
                <c:pt idx="5">
                  <c:v>15</c:v>
                </c:pt>
                <c:pt idx="6">
                  <c:v>16</c:v>
                </c:pt>
                <c:pt idx="7">
                  <c:v>16</c:v>
                </c:pt>
                <c:pt idx="8">
                  <c:v>17</c:v>
                </c:pt>
                <c:pt idx="9">
                  <c:v>17</c:v>
                </c:pt>
                <c:pt idx="10">
                  <c:v>17</c:v>
                </c:pt>
                <c:pt idx="11">
                  <c:v>18</c:v>
                </c:pt>
                <c:pt idx="12">
                  <c:v>18</c:v>
                </c:pt>
                <c:pt idx="13">
                  <c:v>19</c:v>
                </c:pt>
                <c:pt idx="14">
                  <c:v>19</c:v>
                </c:pt>
                <c:pt idx="15">
                  <c:v>19</c:v>
                </c:pt>
                <c:pt idx="16">
                  <c:v>20</c:v>
                </c:pt>
                <c:pt idx="17">
                  <c:v>20</c:v>
                </c:pt>
                <c:pt idx="18">
                  <c:v>20</c:v>
                </c:pt>
                <c:pt idx="19">
                  <c:v>20</c:v>
                </c:pt>
              </c:numCache>
            </c:numRef>
          </c:xVal>
          <c:yVal>
            <c:numRef>
              <c:f>Hoja1!$D$4:$D$23</c:f>
              <c:numCache>
                <c:formatCode>General</c:formatCode>
                <c:ptCount val="20"/>
                <c:pt idx="0">
                  <c:v>150</c:v>
                </c:pt>
                <c:pt idx="1">
                  <c:v>155</c:v>
                </c:pt>
                <c:pt idx="2">
                  <c:v>158</c:v>
                </c:pt>
                <c:pt idx="3">
                  <c:v>160</c:v>
                </c:pt>
                <c:pt idx="4">
                  <c:v>162</c:v>
                </c:pt>
                <c:pt idx="5">
                  <c:v>165</c:v>
                </c:pt>
                <c:pt idx="6">
                  <c:v>168</c:v>
                </c:pt>
                <c:pt idx="7">
                  <c:v>170</c:v>
                </c:pt>
                <c:pt idx="8">
                  <c:v>172</c:v>
                </c:pt>
                <c:pt idx="9">
                  <c:v>175</c:v>
                </c:pt>
                <c:pt idx="10">
                  <c:v>178</c:v>
                </c:pt>
                <c:pt idx="11">
                  <c:v>180</c:v>
                </c:pt>
                <c:pt idx="12">
                  <c:v>182</c:v>
                </c:pt>
                <c:pt idx="13">
                  <c:v>183</c:v>
                </c:pt>
                <c:pt idx="14">
                  <c:v>185</c:v>
                </c:pt>
                <c:pt idx="15">
                  <c:v>187</c:v>
                </c:pt>
                <c:pt idx="16">
                  <c:v>190</c:v>
                </c:pt>
                <c:pt idx="17">
                  <c:v>192</c:v>
                </c:pt>
                <c:pt idx="18">
                  <c:v>195</c:v>
                </c:pt>
                <c:pt idx="19">
                  <c:v>198</c:v>
                </c:pt>
              </c:numCache>
            </c:numRef>
          </c:yVal>
          <c:smooth val="0"/>
          <c:extLst>
            <c:ext xmlns:c16="http://schemas.microsoft.com/office/drawing/2014/chart" uri="{C3380CC4-5D6E-409C-BE32-E72D297353CC}">
              <c16:uniqueId val="{00000000-5415-4288-968B-7AA255B64CC0}"/>
            </c:ext>
          </c:extLst>
        </c:ser>
        <c:dLbls>
          <c:showLegendKey val="0"/>
          <c:showVal val="0"/>
          <c:showCatName val="0"/>
          <c:showSerName val="0"/>
          <c:showPercent val="0"/>
          <c:showBubbleSize val="0"/>
        </c:dLbls>
        <c:axId val="1256840831"/>
        <c:axId val="1256839999"/>
      </c:scatterChart>
      <c:valAx>
        <c:axId val="1256840831"/>
        <c:scaling>
          <c:orientation val="minMax"/>
          <c:max val="21"/>
          <c:min val="1"/>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panose="00000500000000000000" pitchFamily="2" charset="0"/>
                <a:ea typeface="+mn-ea"/>
                <a:cs typeface="+mn-cs"/>
              </a:defRPr>
            </a:pPr>
            <a:endParaRPr lang="es-MX"/>
          </a:p>
        </c:txPr>
        <c:crossAx val="1256839999"/>
        <c:crosses val="autoZero"/>
        <c:crossBetween val="midCat"/>
        <c:majorUnit val="1"/>
      </c:valAx>
      <c:valAx>
        <c:axId val="1256839999"/>
        <c:scaling>
          <c:orientation val="minMax"/>
          <c:max val="210"/>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panose="00000500000000000000" pitchFamily="2" charset="0"/>
                <a:ea typeface="+mn-ea"/>
                <a:cs typeface="+mn-cs"/>
              </a:defRPr>
            </a:pPr>
            <a:endParaRPr lang="es-MX"/>
          </a:p>
        </c:txPr>
        <c:crossAx val="1256840831"/>
        <c:crosses val="autoZero"/>
        <c:crossBetween val="midCat"/>
        <c:majorUnit val="1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latin typeface="Montserrat" panose="00000500000000000000" pitchFamily="2" charset="0"/>
        </a:defRPr>
      </a:pPr>
      <a:endParaRPr lang="es-MX"/>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84A98C"/>
            </a:solidFill>
            <a:ln>
              <a:noFill/>
            </a:ln>
            <a:effectLst/>
          </c:spPr>
          <c:invertIfNegative val="0"/>
          <c:cat>
            <c:strRef>
              <c:f>Hoja1!$J$21:$J$28</c:f>
              <c:strCache>
                <c:ptCount val="8"/>
                <c:pt idx="0">
                  <c:v>Problemas de facturación</c:v>
                </c:pt>
                <c:pt idx="1">
                  <c:v>Mal servicio al cliente</c:v>
                </c:pt>
                <c:pt idx="2">
                  <c:v>Conexiones interrumpidas</c:v>
                </c:pt>
                <c:pt idx="3">
                  <c:v>Largas esperas en atención</c:v>
                </c:pt>
                <c:pt idx="4">
                  <c:v>Problemas de instalación</c:v>
                </c:pt>
                <c:pt idx="5">
                  <c:v>Falta de seguimiento</c:v>
                </c:pt>
                <c:pt idx="6">
                  <c:v>Aplicación móvil ineficiente</c:v>
                </c:pt>
                <c:pt idx="7">
                  <c:v>Otros</c:v>
                </c:pt>
              </c:strCache>
            </c:strRef>
          </c:cat>
          <c:val>
            <c:numRef>
              <c:f>Hoja1!$K$21:$K$28</c:f>
              <c:numCache>
                <c:formatCode>General</c:formatCode>
                <c:ptCount val="8"/>
                <c:pt idx="0">
                  <c:v>180</c:v>
                </c:pt>
                <c:pt idx="1">
                  <c:v>165</c:v>
                </c:pt>
                <c:pt idx="2">
                  <c:v>26</c:v>
                </c:pt>
                <c:pt idx="3">
                  <c:v>20</c:v>
                </c:pt>
                <c:pt idx="4">
                  <c:v>19</c:v>
                </c:pt>
                <c:pt idx="5">
                  <c:v>12</c:v>
                </c:pt>
                <c:pt idx="6">
                  <c:v>9</c:v>
                </c:pt>
                <c:pt idx="7">
                  <c:v>8</c:v>
                </c:pt>
              </c:numCache>
            </c:numRef>
          </c:val>
          <c:extLst>
            <c:ext xmlns:c16="http://schemas.microsoft.com/office/drawing/2014/chart" uri="{C3380CC4-5D6E-409C-BE32-E72D297353CC}">
              <c16:uniqueId val="{00000000-DC7B-44CD-9B65-F0FE259130BE}"/>
            </c:ext>
          </c:extLst>
        </c:ser>
        <c:dLbls>
          <c:showLegendKey val="0"/>
          <c:showVal val="0"/>
          <c:showCatName val="0"/>
          <c:showSerName val="0"/>
          <c:showPercent val="0"/>
          <c:showBubbleSize val="0"/>
        </c:dLbls>
        <c:gapWidth val="100"/>
        <c:axId val="1140949503"/>
        <c:axId val="1140951999"/>
      </c:barChart>
      <c:lineChart>
        <c:grouping val="standard"/>
        <c:varyColors val="0"/>
        <c:ser>
          <c:idx val="1"/>
          <c:order val="1"/>
          <c:tx>
            <c:strRef>
              <c:f>Hoja1!$M$20</c:f>
              <c:strCache>
                <c:ptCount val="1"/>
                <c:pt idx="0">
                  <c:v>Acumulado (%)</c:v>
                </c:pt>
              </c:strCache>
            </c:strRef>
          </c:tx>
          <c:spPr>
            <a:ln w="28575" cap="rnd">
              <a:solidFill>
                <a:srgbClr val="2F3E46"/>
              </a:solidFill>
              <a:round/>
            </a:ln>
            <a:effectLst/>
          </c:spPr>
          <c:marker>
            <c:symbol val="circle"/>
            <c:size val="7"/>
            <c:spPr>
              <a:solidFill>
                <a:srgbClr val="2F3E46"/>
              </a:solidFill>
              <a:ln w="9525">
                <a:solidFill>
                  <a:srgbClr val="2F3E46"/>
                </a:solidFill>
              </a:ln>
              <a:effectLst/>
            </c:spPr>
          </c:marker>
          <c:dLbls>
            <c:dLbl>
              <c:idx val="1"/>
              <c:layout>
                <c:manualLayout>
                  <c:x val="-1.7277660606185994E-2"/>
                  <c:y val="3.9851915927555208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5.8552072054296897E-2"/>
                      <c:h val="4.7717479878164236E-2"/>
                    </c:manualLayout>
                  </c15:layout>
                </c:ext>
                <c:ext xmlns:c16="http://schemas.microsoft.com/office/drawing/2014/chart" uri="{C3380CC4-5D6E-409C-BE32-E72D297353CC}">
                  <c16:uniqueId val="{00000003-DC7B-44CD-9B65-F0FE259130BE}"/>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ontserrat" panose="00000500000000000000" pitchFamily="2" charset="0"/>
                    <a:ea typeface="+mn-ea"/>
                    <a:cs typeface="+mn-cs"/>
                  </a:defRPr>
                </a:pPr>
                <a:endParaRPr lang="es-MX"/>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Hoja1!$M$21:$M$28</c:f>
              <c:numCache>
                <c:formatCode>0.00%</c:formatCode>
                <c:ptCount val="8"/>
                <c:pt idx="0">
                  <c:v>0.41002277904328016</c:v>
                </c:pt>
                <c:pt idx="1">
                  <c:v>0.78587699316628701</c:v>
                </c:pt>
                <c:pt idx="2">
                  <c:v>0.84510250569476086</c:v>
                </c:pt>
                <c:pt idx="3">
                  <c:v>0.89066059225512528</c:v>
                </c:pt>
                <c:pt idx="4">
                  <c:v>0.93394077448747148</c:v>
                </c:pt>
                <c:pt idx="5">
                  <c:v>0.96127562642369013</c:v>
                </c:pt>
                <c:pt idx="6">
                  <c:v>0.98177676537585412</c:v>
                </c:pt>
                <c:pt idx="7">
                  <c:v>0.99999999999999989</c:v>
                </c:pt>
              </c:numCache>
            </c:numRef>
          </c:val>
          <c:smooth val="0"/>
          <c:extLst>
            <c:ext xmlns:c16="http://schemas.microsoft.com/office/drawing/2014/chart" uri="{C3380CC4-5D6E-409C-BE32-E72D297353CC}">
              <c16:uniqueId val="{00000001-DC7B-44CD-9B65-F0FE259130BE}"/>
            </c:ext>
          </c:extLst>
        </c:ser>
        <c:dLbls>
          <c:showLegendKey val="0"/>
          <c:showVal val="0"/>
          <c:showCatName val="0"/>
          <c:showSerName val="0"/>
          <c:showPercent val="0"/>
          <c:showBubbleSize val="0"/>
        </c:dLbls>
        <c:marker val="1"/>
        <c:smooth val="0"/>
        <c:axId val="227009727"/>
        <c:axId val="266455359"/>
      </c:lineChart>
      <c:catAx>
        <c:axId val="1140949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ontserrat" panose="00000500000000000000" pitchFamily="2" charset="0"/>
                <a:ea typeface="+mn-ea"/>
                <a:cs typeface="+mn-cs"/>
              </a:defRPr>
            </a:pPr>
            <a:endParaRPr lang="es-MX"/>
          </a:p>
        </c:txPr>
        <c:crossAx val="1140951999"/>
        <c:crosses val="autoZero"/>
        <c:auto val="1"/>
        <c:lblAlgn val="ctr"/>
        <c:lblOffset val="100"/>
        <c:noMultiLvlLbl val="0"/>
      </c:catAx>
      <c:valAx>
        <c:axId val="1140951999"/>
        <c:scaling>
          <c:orientation val="minMax"/>
          <c:max val="19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ontserrat" panose="00000500000000000000" pitchFamily="2" charset="0"/>
                <a:ea typeface="+mn-ea"/>
                <a:cs typeface="+mn-cs"/>
              </a:defRPr>
            </a:pPr>
            <a:endParaRPr lang="es-MX"/>
          </a:p>
        </c:txPr>
        <c:crossAx val="1140949503"/>
        <c:crosses val="autoZero"/>
        <c:crossBetween val="between"/>
      </c:valAx>
      <c:valAx>
        <c:axId val="266455359"/>
        <c:scaling>
          <c:orientation val="minMax"/>
          <c:max val="1"/>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ontserrat" panose="00000500000000000000" pitchFamily="2" charset="0"/>
                <a:ea typeface="+mn-ea"/>
                <a:cs typeface="+mn-cs"/>
              </a:defRPr>
            </a:pPr>
            <a:endParaRPr lang="es-MX"/>
          </a:p>
        </c:txPr>
        <c:crossAx val="227009727"/>
        <c:crosses val="max"/>
        <c:crossBetween val="between"/>
      </c:valAx>
      <c:catAx>
        <c:axId val="227009727"/>
        <c:scaling>
          <c:orientation val="minMax"/>
        </c:scaling>
        <c:delete val="1"/>
        <c:axPos val="b"/>
        <c:majorTickMark val="out"/>
        <c:minorTickMark val="none"/>
        <c:tickLblPos val="nextTo"/>
        <c:crossAx val="266455359"/>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latin typeface="Montserrat" panose="00000500000000000000" pitchFamily="2" charset="0"/>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1" Type="http://schemas.openxmlformats.org/officeDocument/2006/relationships/image" Target="../media/image36.png"/></Relationships>
</file>

<file path=ppt/diagrams/_rels/data8.xml.rels><?xml version="1.0" encoding="UTF-8" standalone="yes"?>
<Relationships xmlns="http://schemas.openxmlformats.org/package/2006/relationships"><Relationship Id="rId1" Type="http://schemas.openxmlformats.org/officeDocument/2006/relationships/image" Target="../media/image6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6.png"/></Relationships>
</file>

<file path=ppt/diagrams/_rels/drawing8.xml.rels><?xml version="1.0" encoding="UTF-8" standalone="yes"?>
<Relationships xmlns="http://schemas.openxmlformats.org/package/2006/relationships"><Relationship Id="rId1" Type="http://schemas.openxmlformats.org/officeDocument/2006/relationships/image" Target="../media/image6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BF70DD-65F5-488B-9AE9-DFC436E87221}"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s-MX"/>
        </a:p>
      </dgm:t>
    </dgm:pt>
    <dgm:pt modelId="{32C02276-9252-4848-8F87-0E36A8834F42}">
      <dgm:prSet phldrT="[Texto]" phldr="1"/>
      <dgm:spPr>
        <a:blipFill rotWithShape="0">
          <a:blip xmlns:r="http://schemas.openxmlformats.org/officeDocument/2006/relationships" r:embed="rId1"/>
          <a:srcRect/>
          <a:stretch>
            <a:fillRect l="-45000" r="-45000"/>
          </a:stretch>
        </a:blipFill>
        <a:ln>
          <a:noFill/>
        </a:ln>
        <a:scene3d>
          <a:camera prst="orthographicFront"/>
          <a:lightRig rig="threePt" dir="t"/>
        </a:scene3d>
        <a:sp3d>
          <a:bevelT/>
        </a:sp3d>
      </dgm:spPr>
      <dgm:t>
        <a:bodyPr/>
        <a:lstStyle/>
        <a:p>
          <a:endParaRPr lang="es-MX" b="1" dirty="0">
            <a:noFill/>
            <a:latin typeface="Montserrat" panose="00000500000000000000" pitchFamily="2" charset="0"/>
          </a:endParaRPr>
        </a:p>
      </dgm:t>
    </dgm:pt>
    <dgm:pt modelId="{01616548-D564-4A96-9D8D-0DF98C4671A7}" type="parTrans" cxnId="{4C4C4857-9145-4ACE-9A0B-B441024099EE}">
      <dgm:prSet/>
      <dgm:spPr/>
      <dgm:t>
        <a:bodyPr/>
        <a:lstStyle/>
        <a:p>
          <a:endParaRPr lang="es-MX" b="1">
            <a:latin typeface="Montserrat" panose="00000500000000000000" pitchFamily="2" charset="0"/>
          </a:endParaRPr>
        </a:p>
      </dgm:t>
    </dgm:pt>
    <dgm:pt modelId="{8D977920-14DF-455F-BA4A-1BF5F2A24FBF}" type="sibTrans" cxnId="{4C4C4857-9145-4ACE-9A0B-B441024099EE}">
      <dgm:prSet/>
      <dgm:spPr/>
      <dgm:t>
        <a:bodyPr/>
        <a:lstStyle/>
        <a:p>
          <a:endParaRPr lang="es-MX" b="1">
            <a:latin typeface="Montserrat" panose="00000500000000000000" pitchFamily="2" charset="0"/>
          </a:endParaRPr>
        </a:p>
      </dgm:t>
    </dgm:pt>
    <dgm:pt modelId="{A3DCAD34-A9D4-4CB5-9ED2-C67B22BD558D}">
      <dgm:prSet phldrT="[Texto]"/>
      <dgm:spPr>
        <a:solidFill>
          <a:srgbClr val="1B1F3A"/>
        </a:solidFill>
        <a:ln>
          <a:noFill/>
        </a:ln>
        <a:scene3d>
          <a:camera prst="orthographicFront"/>
          <a:lightRig rig="threePt" dir="t"/>
        </a:scene3d>
        <a:sp3d>
          <a:bevelT/>
        </a:sp3d>
      </dgm:spPr>
      <dgm:t>
        <a:bodyPr lIns="0" tIns="0" rIns="0" bIns="0"/>
        <a:lstStyle/>
        <a:p>
          <a:r>
            <a:rPr lang="es-ES" b="1" dirty="0">
              <a:solidFill>
                <a:schemeClr val="bg1"/>
              </a:solidFill>
              <a:latin typeface="Montserrat" panose="00000500000000000000" pitchFamily="2" charset="0"/>
            </a:rPr>
            <a:t>Financiera</a:t>
          </a:r>
          <a:endParaRPr lang="es-MX" b="1" dirty="0">
            <a:solidFill>
              <a:schemeClr val="bg1"/>
            </a:solidFill>
            <a:latin typeface="Montserrat" panose="00000500000000000000" pitchFamily="2" charset="0"/>
          </a:endParaRPr>
        </a:p>
      </dgm:t>
    </dgm:pt>
    <dgm:pt modelId="{09533DC5-80E1-4138-AAD4-A8320B261182}" type="parTrans" cxnId="{6C47F78E-B0E3-45CE-8E4E-3DB8B789237B}">
      <dgm:prSet/>
      <dgm:spPr/>
      <dgm:t>
        <a:bodyPr/>
        <a:lstStyle/>
        <a:p>
          <a:endParaRPr lang="es-MX" b="1">
            <a:latin typeface="Montserrat" panose="00000500000000000000" pitchFamily="2" charset="0"/>
          </a:endParaRPr>
        </a:p>
      </dgm:t>
    </dgm:pt>
    <dgm:pt modelId="{917D484C-9FAB-4737-A13B-031A9CEC4186}" type="sibTrans" cxnId="{6C47F78E-B0E3-45CE-8E4E-3DB8B789237B}">
      <dgm:prSet/>
      <dgm:spPr/>
      <dgm:t>
        <a:bodyPr/>
        <a:lstStyle/>
        <a:p>
          <a:endParaRPr lang="es-MX" b="1">
            <a:latin typeface="Montserrat" panose="00000500000000000000" pitchFamily="2" charset="0"/>
          </a:endParaRPr>
        </a:p>
      </dgm:t>
    </dgm:pt>
    <dgm:pt modelId="{E0FAA337-7F53-4B39-9F70-7D8C3803275A}">
      <dgm:prSet phldrT="[Texto]"/>
      <dgm:spPr>
        <a:solidFill>
          <a:srgbClr val="392F5A"/>
        </a:solidFill>
        <a:ln>
          <a:noFill/>
        </a:ln>
        <a:scene3d>
          <a:camera prst="orthographicFront"/>
          <a:lightRig rig="threePt" dir="t"/>
        </a:scene3d>
        <a:sp3d>
          <a:bevelT/>
        </a:sp3d>
      </dgm:spPr>
      <dgm:t>
        <a:bodyPr lIns="0" tIns="0" rIns="0" bIns="0"/>
        <a:lstStyle/>
        <a:p>
          <a:r>
            <a:rPr lang="es-ES" b="1" dirty="0">
              <a:solidFill>
                <a:schemeClr val="bg1"/>
              </a:solidFill>
              <a:latin typeface="Montserrat" panose="00000500000000000000" pitchFamily="2" charset="0"/>
            </a:rPr>
            <a:t>Fiscal</a:t>
          </a:r>
          <a:endParaRPr lang="es-MX" b="1" dirty="0">
            <a:solidFill>
              <a:schemeClr val="bg1"/>
            </a:solidFill>
            <a:latin typeface="Montserrat" panose="00000500000000000000" pitchFamily="2" charset="0"/>
          </a:endParaRPr>
        </a:p>
      </dgm:t>
    </dgm:pt>
    <dgm:pt modelId="{651B1902-DFD9-4E9C-9C4F-CC1910B24299}" type="parTrans" cxnId="{E4057835-1584-45C0-9725-048DADD9A0A1}">
      <dgm:prSet/>
      <dgm:spPr/>
      <dgm:t>
        <a:bodyPr/>
        <a:lstStyle/>
        <a:p>
          <a:endParaRPr lang="es-MX" b="1">
            <a:latin typeface="Montserrat" panose="00000500000000000000" pitchFamily="2" charset="0"/>
          </a:endParaRPr>
        </a:p>
      </dgm:t>
    </dgm:pt>
    <dgm:pt modelId="{F94B6BE8-0FD7-46F7-8864-B27691AC4697}" type="sibTrans" cxnId="{E4057835-1584-45C0-9725-048DADD9A0A1}">
      <dgm:prSet/>
      <dgm:spPr/>
      <dgm:t>
        <a:bodyPr/>
        <a:lstStyle/>
        <a:p>
          <a:endParaRPr lang="es-MX" b="1">
            <a:latin typeface="Montserrat" panose="00000500000000000000" pitchFamily="2" charset="0"/>
          </a:endParaRPr>
        </a:p>
      </dgm:t>
    </dgm:pt>
    <dgm:pt modelId="{036541D1-CB4B-45FA-85C8-E37DD4567FFC}">
      <dgm:prSet phldrT="[Texto]"/>
      <dgm:spPr>
        <a:solidFill>
          <a:srgbClr val="635B83"/>
        </a:solidFill>
        <a:ln>
          <a:noFill/>
        </a:ln>
        <a:scene3d>
          <a:camera prst="orthographicFront"/>
          <a:lightRig rig="threePt" dir="t"/>
        </a:scene3d>
        <a:sp3d>
          <a:bevelT/>
        </a:sp3d>
      </dgm:spPr>
      <dgm:t>
        <a:bodyPr lIns="0" tIns="0" rIns="0" bIns="0"/>
        <a:lstStyle/>
        <a:p>
          <a:r>
            <a:rPr lang="es-ES" b="1" dirty="0">
              <a:solidFill>
                <a:schemeClr val="bg1"/>
              </a:solidFill>
              <a:latin typeface="Montserrat" panose="00000500000000000000" pitchFamily="2" charset="0"/>
            </a:rPr>
            <a:t>Costos</a:t>
          </a:r>
          <a:endParaRPr lang="es-MX" b="1" dirty="0">
            <a:solidFill>
              <a:schemeClr val="bg1"/>
            </a:solidFill>
            <a:latin typeface="Montserrat" panose="00000500000000000000" pitchFamily="2" charset="0"/>
          </a:endParaRPr>
        </a:p>
      </dgm:t>
    </dgm:pt>
    <dgm:pt modelId="{1843D3E5-564A-4B60-AF0F-23BEC564328A}" type="parTrans" cxnId="{D95DA123-2E82-4A22-9009-69D3E11DD04B}">
      <dgm:prSet/>
      <dgm:spPr/>
      <dgm:t>
        <a:bodyPr/>
        <a:lstStyle/>
        <a:p>
          <a:endParaRPr lang="es-MX" b="1">
            <a:latin typeface="Montserrat" panose="00000500000000000000" pitchFamily="2" charset="0"/>
          </a:endParaRPr>
        </a:p>
      </dgm:t>
    </dgm:pt>
    <dgm:pt modelId="{5428FDCF-6747-4EE1-AC61-27ED738F75DD}" type="sibTrans" cxnId="{D95DA123-2E82-4A22-9009-69D3E11DD04B}">
      <dgm:prSet/>
      <dgm:spPr/>
      <dgm:t>
        <a:bodyPr/>
        <a:lstStyle/>
        <a:p>
          <a:endParaRPr lang="es-MX" b="1">
            <a:latin typeface="Montserrat" panose="00000500000000000000" pitchFamily="2" charset="0"/>
          </a:endParaRPr>
        </a:p>
      </dgm:t>
    </dgm:pt>
    <dgm:pt modelId="{4CD45025-8B53-4504-850F-F5A216E27775}">
      <dgm:prSet phldrT="[Texto]"/>
      <dgm:spPr>
        <a:solidFill>
          <a:srgbClr val="A8A3C1"/>
        </a:solidFill>
        <a:ln>
          <a:noFill/>
        </a:ln>
        <a:scene3d>
          <a:camera prst="orthographicFront"/>
          <a:lightRig rig="threePt" dir="t"/>
        </a:scene3d>
        <a:sp3d>
          <a:bevelT/>
        </a:sp3d>
      </dgm:spPr>
      <dgm:t>
        <a:bodyPr lIns="0" tIns="0" rIns="0" bIns="0"/>
        <a:lstStyle/>
        <a:p>
          <a:r>
            <a:rPr lang="es-ES" b="1" dirty="0">
              <a:solidFill>
                <a:schemeClr val="bg1"/>
              </a:solidFill>
              <a:latin typeface="Montserrat" panose="00000500000000000000" pitchFamily="2" charset="0"/>
            </a:rPr>
            <a:t>Gestión</a:t>
          </a:r>
          <a:endParaRPr lang="es-MX" b="1" dirty="0">
            <a:solidFill>
              <a:schemeClr val="bg1"/>
            </a:solidFill>
            <a:latin typeface="Montserrat" panose="00000500000000000000" pitchFamily="2" charset="0"/>
          </a:endParaRPr>
        </a:p>
      </dgm:t>
    </dgm:pt>
    <dgm:pt modelId="{6F4D63D5-964C-4188-AD6B-9C20FE5B99D6}" type="parTrans" cxnId="{0EB69A9F-C712-453D-A137-64216EE919BD}">
      <dgm:prSet/>
      <dgm:spPr/>
      <dgm:t>
        <a:bodyPr/>
        <a:lstStyle/>
        <a:p>
          <a:endParaRPr lang="es-MX" b="1">
            <a:latin typeface="Montserrat" panose="00000500000000000000" pitchFamily="2" charset="0"/>
          </a:endParaRPr>
        </a:p>
      </dgm:t>
    </dgm:pt>
    <dgm:pt modelId="{2EC75563-1EA5-4E3F-ADEE-6F4CA346CB48}" type="sibTrans" cxnId="{0EB69A9F-C712-453D-A137-64216EE919BD}">
      <dgm:prSet/>
      <dgm:spPr/>
      <dgm:t>
        <a:bodyPr/>
        <a:lstStyle/>
        <a:p>
          <a:endParaRPr lang="es-MX" b="1">
            <a:latin typeface="Montserrat" panose="00000500000000000000" pitchFamily="2" charset="0"/>
          </a:endParaRPr>
        </a:p>
      </dgm:t>
    </dgm:pt>
    <dgm:pt modelId="{4EDA1F7E-94C4-4FF4-9EAE-73E318FC267C}" type="pres">
      <dgm:prSet presAssocID="{B0BF70DD-65F5-488B-9AE9-DFC436E87221}" presName="composite" presStyleCnt="0">
        <dgm:presLayoutVars>
          <dgm:chMax val="1"/>
          <dgm:dir/>
          <dgm:resizeHandles val="exact"/>
        </dgm:presLayoutVars>
      </dgm:prSet>
      <dgm:spPr/>
    </dgm:pt>
    <dgm:pt modelId="{E1D679D0-145D-4A5B-A586-0F63A0C5F0B1}" type="pres">
      <dgm:prSet presAssocID="{B0BF70DD-65F5-488B-9AE9-DFC436E87221}" presName="radial" presStyleCnt="0">
        <dgm:presLayoutVars>
          <dgm:animLvl val="ctr"/>
        </dgm:presLayoutVars>
      </dgm:prSet>
      <dgm:spPr/>
    </dgm:pt>
    <dgm:pt modelId="{7EAFEF3E-DB5C-43D9-A4D9-8250B75B4F30}" type="pres">
      <dgm:prSet presAssocID="{32C02276-9252-4848-8F87-0E36A8834F42}" presName="centerShape" presStyleLbl="vennNode1" presStyleIdx="0" presStyleCnt="5" custLinFactNeighborX="0" custLinFactNeighborY="0"/>
      <dgm:spPr/>
    </dgm:pt>
    <dgm:pt modelId="{2108CCB1-DDF4-486B-B480-5C2A40E065E4}" type="pres">
      <dgm:prSet presAssocID="{A3DCAD34-A9D4-4CB5-9ED2-C67B22BD558D}" presName="node" presStyleLbl="vennNode1" presStyleIdx="1" presStyleCnt="5">
        <dgm:presLayoutVars>
          <dgm:bulletEnabled val="1"/>
        </dgm:presLayoutVars>
      </dgm:prSet>
      <dgm:spPr/>
    </dgm:pt>
    <dgm:pt modelId="{0C4EA702-9135-4334-A7E5-BD0FEE245929}" type="pres">
      <dgm:prSet presAssocID="{E0FAA337-7F53-4B39-9F70-7D8C3803275A}" presName="node" presStyleLbl="vennNode1" presStyleIdx="2" presStyleCnt="5">
        <dgm:presLayoutVars>
          <dgm:bulletEnabled val="1"/>
        </dgm:presLayoutVars>
      </dgm:prSet>
      <dgm:spPr/>
    </dgm:pt>
    <dgm:pt modelId="{769AF28C-6F4D-4323-BE10-69AA22E0BFA6}" type="pres">
      <dgm:prSet presAssocID="{036541D1-CB4B-45FA-85C8-E37DD4567FFC}" presName="node" presStyleLbl="vennNode1" presStyleIdx="3" presStyleCnt="5">
        <dgm:presLayoutVars>
          <dgm:bulletEnabled val="1"/>
        </dgm:presLayoutVars>
      </dgm:prSet>
      <dgm:spPr/>
    </dgm:pt>
    <dgm:pt modelId="{C4EF5312-8CC8-4995-A4BA-73A96215C16F}" type="pres">
      <dgm:prSet presAssocID="{4CD45025-8B53-4504-850F-F5A216E27775}" presName="node" presStyleLbl="vennNode1" presStyleIdx="4" presStyleCnt="5">
        <dgm:presLayoutVars>
          <dgm:bulletEnabled val="1"/>
        </dgm:presLayoutVars>
      </dgm:prSet>
      <dgm:spPr/>
    </dgm:pt>
  </dgm:ptLst>
  <dgm:cxnLst>
    <dgm:cxn modelId="{D95DA123-2E82-4A22-9009-69D3E11DD04B}" srcId="{32C02276-9252-4848-8F87-0E36A8834F42}" destId="{036541D1-CB4B-45FA-85C8-E37DD4567FFC}" srcOrd="2" destOrd="0" parTransId="{1843D3E5-564A-4B60-AF0F-23BEC564328A}" sibTransId="{5428FDCF-6747-4EE1-AC61-27ED738F75DD}"/>
    <dgm:cxn modelId="{E4057835-1584-45C0-9725-048DADD9A0A1}" srcId="{32C02276-9252-4848-8F87-0E36A8834F42}" destId="{E0FAA337-7F53-4B39-9F70-7D8C3803275A}" srcOrd="1" destOrd="0" parTransId="{651B1902-DFD9-4E9C-9C4F-CC1910B24299}" sibTransId="{F94B6BE8-0FD7-46F7-8864-B27691AC4697}"/>
    <dgm:cxn modelId="{5ED78955-9388-458E-9EE4-323200D45FA0}" type="presOf" srcId="{4CD45025-8B53-4504-850F-F5A216E27775}" destId="{C4EF5312-8CC8-4995-A4BA-73A96215C16F}" srcOrd="0" destOrd="0" presId="urn:microsoft.com/office/officeart/2005/8/layout/radial3"/>
    <dgm:cxn modelId="{4C4C4857-9145-4ACE-9A0B-B441024099EE}" srcId="{B0BF70DD-65F5-488B-9AE9-DFC436E87221}" destId="{32C02276-9252-4848-8F87-0E36A8834F42}" srcOrd="0" destOrd="0" parTransId="{01616548-D564-4A96-9D8D-0DF98C4671A7}" sibTransId="{8D977920-14DF-455F-BA4A-1BF5F2A24FBF}"/>
    <dgm:cxn modelId="{6C47F78E-B0E3-45CE-8E4E-3DB8B789237B}" srcId="{32C02276-9252-4848-8F87-0E36A8834F42}" destId="{A3DCAD34-A9D4-4CB5-9ED2-C67B22BD558D}" srcOrd="0" destOrd="0" parTransId="{09533DC5-80E1-4138-AAD4-A8320B261182}" sibTransId="{917D484C-9FAB-4737-A13B-031A9CEC4186}"/>
    <dgm:cxn modelId="{0EB69A9F-C712-453D-A137-64216EE919BD}" srcId="{32C02276-9252-4848-8F87-0E36A8834F42}" destId="{4CD45025-8B53-4504-850F-F5A216E27775}" srcOrd="3" destOrd="0" parTransId="{6F4D63D5-964C-4188-AD6B-9C20FE5B99D6}" sibTransId="{2EC75563-1EA5-4E3F-ADEE-6F4CA346CB48}"/>
    <dgm:cxn modelId="{A7BC55AB-B22E-4234-BD8B-D64E7E19DC6B}" type="presOf" srcId="{E0FAA337-7F53-4B39-9F70-7D8C3803275A}" destId="{0C4EA702-9135-4334-A7E5-BD0FEE245929}" srcOrd="0" destOrd="0" presId="urn:microsoft.com/office/officeart/2005/8/layout/radial3"/>
    <dgm:cxn modelId="{134F04B0-7362-4AD1-9DF7-054F75DA1994}" type="presOf" srcId="{32C02276-9252-4848-8F87-0E36A8834F42}" destId="{7EAFEF3E-DB5C-43D9-A4D9-8250B75B4F30}" srcOrd="0" destOrd="0" presId="urn:microsoft.com/office/officeart/2005/8/layout/radial3"/>
    <dgm:cxn modelId="{D93DFCB9-E54E-4AF0-990C-E0F5E764AD9F}" type="presOf" srcId="{B0BF70DD-65F5-488B-9AE9-DFC436E87221}" destId="{4EDA1F7E-94C4-4FF4-9EAE-73E318FC267C}" srcOrd="0" destOrd="0" presId="urn:microsoft.com/office/officeart/2005/8/layout/radial3"/>
    <dgm:cxn modelId="{F45DF8E1-8FF8-4083-93FB-A0518A1889C6}" type="presOf" srcId="{036541D1-CB4B-45FA-85C8-E37DD4567FFC}" destId="{769AF28C-6F4D-4323-BE10-69AA22E0BFA6}" srcOrd="0" destOrd="0" presId="urn:microsoft.com/office/officeart/2005/8/layout/radial3"/>
    <dgm:cxn modelId="{51475FF8-97E1-43C6-88C5-33B904ED3406}" type="presOf" srcId="{A3DCAD34-A9D4-4CB5-9ED2-C67B22BD558D}" destId="{2108CCB1-DDF4-486B-B480-5C2A40E065E4}" srcOrd="0" destOrd="0" presId="urn:microsoft.com/office/officeart/2005/8/layout/radial3"/>
    <dgm:cxn modelId="{A106697E-FA16-4081-AEB6-AC3253499E10}" type="presParOf" srcId="{4EDA1F7E-94C4-4FF4-9EAE-73E318FC267C}" destId="{E1D679D0-145D-4A5B-A586-0F63A0C5F0B1}" srcOrd="0" destOrd="0" presId="urn:microsoft.com/office/officeart/2005/8/layout/radial3"/>
    <dgm:cxn modelId="{DBA473C4-4AFA-4093-AE89-5D92AFB91390}" type="presParOf" srcId="{E1D679D0-145D-4A5B-A586-0F63A0C5F0B1}" destId="{7EAFEF3E-DB5C-43D9-A4D9-8250B75B4F30}" srcOrd="0" destOrd="0" presId="urn:microsoft.com/office/officeart/2005/8/layout/radial3"/>
    <dgm:cxn modelId="{00D52A00-79D3-4EBD-AB5A-318BA4B9491C}" type="presParOf" srcId="{E1D679D0-145D-4A5B-A586-0F63A0C5F0B1}" destId="{2108CCB1-DDF4-486B-B480-5C2A40E065E4}" srcOrd="1" destOrd="0" presId="urn:microsoft.com/office/officeart/2005/8/layout/radial3"/>
    <dgm:cxn modelId="{762B6E72-167D-4723-9EDB-BD7E0718C20C}" type="presParOf" srcId="{E1D679D0-145D-4A5B-A586-0F63A0C5F0B1}" destId="{0C4EA702-9135-4334-A7E5-BD0FEE245929}" srcOrd="2" destOrd="0" presId="urn:microsoft.com/office/officeart/2005/8/layout/radial3"/>
    <dgm:cxn modelId="{4417A412-402E-4710-976A-DD2B649C03BC}" type="presParOf" srcId="{E1D679D0-145D-4A5B-A586-0F63A0C5F0B1}" destId="{769AF28C-6F4D-4323-BE10-69AA22E0BFA6}" srcOrd="3" destOrd="0" presId="urn:microsoft.com/office/officeart/2005/8/layout/radial3"/>
    <dgm:cxn modelId="{09783183-A31D-4AEE-9447-EE5F9EC28322}" type="presParOf" srcId="{E1D679D0-145D-4A5B-A586-0F63A0C5F0B1}" destId="{C4EF5312-8CC8-4995-A4BA-73A96215C16F}" srcOrd="4" destOrd="0" presId="urn:microsoft.com/office/officeart/2005/8/layout/radial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8F3DAB-ACDE-438D-A026-D5BF684FF78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s-MX"/>
        </a:p>
      </dgm:t>
    </dgm:pt>
    <dgm:pt modelId="{F63A68A8-1D70-4931-B0C6-C365659F18FF}">
      <dgm:prSet phldrT="[Texto]" custT="1"/>
      <dgm:spPr>
        <a:solidFill>
          <a:srgbClr val="CAD2C5"/>
        </a:solidFill>
        <a:ln>
          <a:solidFill>
            <a:srgbClr val="2F3E46"/>
          </a:solidFill>
        </a:ln>
        <a:scene3d>
          <a:camera prst="orthographicFront"/>
          <a:lightRig rig="threePt" dir="t"/>
        </a:scene3d>
        <a:sp3d>
          <a:bevelT/>
        </a:sp3d>
      </dgm:spPr>
      <dgm:t>
        <a:bodyPr lIns="7200" tIns="7200" rIns="7200" bIns="7200"/>
        <a:lstStyle/>
        <a:p>
          <a:r>
            <a:rPr lang="es-ES" sz="1600" b="1" dirty="0">
              <a:solidFill>
                <a:srgbClr val="2F3E46"/>
              </a:solidFill>
              <a:latin typeface="Montserrat" panose="00000500000000000000" pitchFamily="2" charset="0"/>
            </a:rPr>
            <a:t>Registro de Transacciones</a:t>
          </a:r>
          <a:endParaRPr lang="es-MX" sz="2400" b="1" dirty="0">
            <a:solidFill>
              <a:srgbClr val="2F3E46"/>
            </a:solidFill>
            <a:latin typeface="Montserrat" panose="00000500000000000000" pitchFamily="2" charset="0"/>
          </a:endParaRPr>
        </a:p>
      </dgm:t>
    </dgm:pt>
    <dgm:pt modelId="{9F4AF916-918C-45E4-9459-B6297C4A55F6}" type="parTrans" cxnId="{4F7E62C9-4B4E-4C82-8020-7E9285E8A7BE}">
      <dgm:prSet/>
      <dgm:spPr/>
      <dgm:t>
        <a:bodyPr/>
        <a:lstStyle/>
        <a:p>
          <a:endParaRPr lang="es-MX" sz="1200">
            <a:solidFill>
              <a:srgbClr val="131D3F"/>
            </a:solidFill>
            <a:latin typeface="Montserrat" panose="00000500000000000000" pitchFamily="2" charset="0"/>
          </a:endParaRPr>
        </a:p>
      </dgm:t>
    </dgm:pt>
    <dgm:pt modelId="{EB89E7C9-0194-4E7D-9FE0-67E7B6992440}" type="sibTrans" cxnId="{4F7E62C9-4B4E-4C82-8020-7E9285E8A7BE}">
      <dgm:prSet/>
      <dgm:spPr>
        <a:solidFill>
          <a:srgbClr val="2F3E46"/>
        </a:solidFill>
        <a:scene3d>
          <a:camera prst="orthographicFront"/>
          <a:lightRig rig="threePt" dir="t"/>
        </a:scene3d>
        <a:sp3d>
          <a:bevelT/>
        </a:sp3d>
      </dgm:spPr>
      <dgm:t>
        <a:bodyPr/>
        <a:lstStyle/>
        <a:p>
          <a:endParaRPr lang="es-MX" sz="1200">
            <a:solidFill>
              <a:srgbClr val="131D3F"/>
            </a:solidFill>
            <a:latin typeface="Montserrat" panose="00000500000000000000" pitchFamily="2" charset="0"/>
          </a:endParaRPr>
        </a:p>
      </dgm:t>
    </dgm:pt>
    <dgm:pt modelId="{C3B5CFDD-05BB-46FC-852D-DB7823644C7E}">
      <dgm:prSet phldrT="[Texto]" custT="1"/>
      <dgm:spPr>
        <a:solidFill>
          <a:srgbClr val="CAD2C5"/>
        </a:solidFill>
        <a:ln>
          <a:noFill/>
        </a:ln>
        <a:scene3d>
          <a:camera prst="orthographicFront"/>
          <a:lightRig rig="threePt" dir="t"/>
        </a:scene3d>
        <a:sp3d>
          <a:bevelT/>
        </a:sp3d>
      </dgm:spPr>
      <dgm:t>
        <a:bodyPr lIns="72000" tIns="72000" rIns="72000" bIns="7200"/>
        <a:lstStyle/>
        <a:p>
          <a:pPr algn="just"/>
          <a:r>
            <a:rPr lang="es-ES" sz="1400" b="0" u="sng" dirty="0">
              <a:solidFill>
                <a:srgbClr val="2F3E46"/>
              </a:solidFill>
              <a:latin typeface="Montserrat" panose="00000500000000000000" pitchFamily="2" charset="0"/>
            </a:rPr>
            <a:t>Historia de las transacciones.</a:t>
          </a:r>
          <a:endParaRPr lang="es-MX" sz="1400" b="0" u="sng" dirty="0">
            <a:solidFill>
              <a:srgbClr val="2F3E46"/>
            </a:solidFill>
            <a:latin typeface="Montserrat" panose="00000500000000000000" pitchFamily="2" charset="0"/>
          </a:endParaRPr>
        </a:p>
      </dgm:t>
    </dgm:pt>
    <dgm:pt modelId="{A0E75BD8-DCBF-4E2D-8D95-2EC2DA244C91}" type="parTrans" cxnId="{F693A759-B41F-4FD6-9B4E-60A055A5D524}">
      <dgm:prSet/>
      <dgm:spPr/>
      <dgm:t>
        <a:bodyPr/>
        <a:lstStyle/>
        <a:p>
          <a:endParaRPr lang="es-MX" sz="1200">
            <a:solidFill>
              <a:srgbClr val="131D3F"/>
            </a:solidFill>
            <a:latin typeface="Montserrat" panose="00000500000000000000" pitchFamily="2" charset="0"/>
          </a:endParaRPr>
        </a:p>
      </dgm:t>
    </dgm:pt>
    <dgm:pt modelId="{375D0CA1-62A5-4766-8612-6F0AFF7DF943}" type="sibTrans" cxnId="{F693A759-B41F-4FD6-9B4E-60A055A5D524}">
      <dgm:prSet/>
      <dgm:spPr/>
      <dgm:t>
        <a:bodyPr/>
        <a:lstStyle/>
        <a:p>
          <a:endParaRPr lang="es-MX" sz="1200">
            <a:solidFill>
              <a:srgbClr val="131D3F"/>
            </a:solidFill>
            <a:latin typeface="Montserrat" panose="00000500000000000000" pitchFamily="2" charset="0"/>
          </a:endParaRPr>
        </a:p>
      </dgm:t>
    </dgm:pt>
    <dgm:pt modelId="{7B3F5988-9301-4E29-A133-DC87FCDF4AA0}">
      <dgm:prSet phldrT="[Texto]" custT="1"/>
      <dgm:spPr>
        <a:solidFill>
          <a:srgbClr val="84A98C"/>
        </a:solidFill>
        <a:ln>
          <a:solidFill>
            <a:srgbClr val="2F3E46"/>
          </a:solidFill>
        </a:ln>
        <a:scene3d>
          <a:camera prst="orthographicFront"/>
          <a:lightRig rig="threePt" dir="t"/>
        </a:scene3d>
        <a:sp3d>
          <a:bevelT/>
        </a:sp3d>
      </dgm:spPr>
      <dgm:t>
        <a:bodyPr lIns="7200" tIns="7200" rIns="7200" bIns="7200"/>
        <a:lstStyle/>
        <a:p>
          <a:r>
            <a:rPr lang="es-ES" sz="1600" b="1" dirty="0">
              <a:solidFill>
                <a:schemeClr val="bg1"/>
              </a:solidFill>
              <a:latin typeface="Montserrat" panose="00000500000000000000" pitchFamily="2" charset="0"/>
            </a:rPr>
            <a:t>Clasificación</a:t>
          </a:r>
          <a:endParaRPr lang="es-MX" sz="1600" b="1" dirty="0">
            <a:solidFill>
              <a:schemeClr val="bg1"/>
            </a:solidFill>
            <a:latin typeface="Montserrat" panose="00000500000000000000" pitchFamily="2" charset="0"/>
          </a:endParaRPr>
        </a:p>
      </dgm:t>
    </dgm:pt>
    <dgm:pt modelId="{954DD1C1-3103-4D54-B554-6EE6C1208A00}" type="parTrans" cxnId="{041E6E8D-DC4E-4678-8532-D747BBCD8D22}">
      <dgm:prSet/>
      <dgm:spPr/>
      <dgm:t>
        <a:bodyPr/>
        <a:lstStyle/>
        <a:p>
          <a:endParaRPr lang="es-MX" sz="1200">
            <a:solidFill>
              <a:srgbClr val="131D3F"/>
            </a:solidFill>
            <a:latin typeface="Montserrat" panose="00000500000000000000" pitchFamily="2" charset="0"/>
          </a:endParaRPr>
        </a:p>
      </dgm:t>
    </dgm:pt>
    <dgm:pt modelId="{3D7992BA-8600-44D8-878F-29B8572000BA}" type="sibTrans" cxnId="{041E6E8D-DC4E-4678-8532-D747BBCD8D22}">
      <dgm:prSet/>
      <dgm:spPr>
        <a:solidFill>
          <a:srgbClr val="2F3E46"/>
        </a:solidFill>
        <a:scene3d>
          <a:camera prst="orthographicFront"/>
          <a:lightRig rig="threePt" dir="t"/>
        </a:scene3d>
        <a:sp3d>
          <a:bevelT/>
        </a:sp3d>
      </dgm:spPr>
      <dgm:t>
        <a:bodyPr/>
        <a:lstStyle/>
        <a:p>
          <a:endParaRPr lang="es-MX" sz="1200">
            <a:solidFill>
              <a:srgbClr val="131D3F"/>
            </a:solidFill>
            <a:latin typeface="Montserrat" panose="00000500000000000000" pitchFamily="2" charset="0"/>
          </a:endParaRPr>
        </a:p>
      </dgm:t>
    </dgm:pt>
    <dgm:pt modelId="{0B482841-9F68-4919-A310-7A49C6E88201}">
      <dgm:prSet phldrT="[Texto]" custT="1"/>
      <dgm:spPr>
        <a:solidFill>
          <a:srgbClr val="84A98C"/>
        </a:solidFill>
        <a:ln>
          <a:noFill/>
        </a:ln>
        <a:scene3d>
          <a:camera prst="orthographicFront"/>
          <a:lightRig rig="threePt" dir="t"/>
        </a:scene3d>
        <a:sp3d>
          <a:bevelT/>
        </a:sp3d>
      </dgm:spPr>
      <dgm:t>
        <a:bodyPr lIns="72000" tIns="7200" rIns="72000" bIns="612000"/>
        <a:lstStyle/>
        <a:p>
          <a:r>
            <a:rPr lang="es-ES" sz="1400" dirty="0">
              <a:solidFill>
                <a:schemeClr val="bg1"/>
              </a:solidFill>
              <a:latin typeface="Montserrat" panose="00000500000000000000" pitchFamily="2" charset="0"/>
            </a:rPr>
            <a:t>Activos</a:t>
          </a:r>
          <a:endParaRPr lang="es-MX" sz="1400" dirty="0">
            <a:solidFill>
              <a:schemeClr val="bg1"/>
            </a:solidFill>
            <a:latin typeface="Montserrat" panose="00000500000000000000" pitchFamily="2" charset="0"/>
          </a:endParaRPr>
        </a:p>
      </dgm:t>
    </dgm:pt>
    <dgm:pt modelId="{9094C47E-AA6F-453A-81C5-6FD618558F57}" type="parTrans" cxnId="{9771CB7D-B2AC-4847-B178-4B60A81DE4D5}">
      <dgm:prSet/>
      <dgm:spPr/>
      <dgm:t>
        <a:bodyPr/>
        <a:lstStyle/>
        <a:p>
          <a:endParaRPr lang="es-MX" sz="1200">
            <a:solidFill>
              <a:srgbClr val="131D3F"/>
            </a:solidFill>
            <a:latin typeface="Montserrat" panose="00000500000000000000" pitchFamily="2" charset="0"/>
          </a:endParaRPr>
        </a:p>
      </dgm:t>
    </dgm:pt>
    <dgm:pt modelId="{754FB521-B77A-433D-AA41-6DB4988E168E}" type="sibTrans" cxnId="{9771CB7D-B2AC-4847-B178-4B60A81DE4D5}">
      <dgm:prSet/>
      <dgm:spPr/>
      <dgm:t>
        <a:bodyPr/>
        <a:lstStyle/>
        <a:p>
          <a:endParaRPr lang="es-MX" sz="1200">
            <a:solidFill>
              <a:srgbClr val="131D3F"/>
            </a:solidFill>
            <a:latin typeface="Montserrat" panose="00000500000000000000" pitchFamily="2" charset="0"/>
          </a:endParaRPr>
        </a:p>
      </dgm:t>
    </dgm:pt>
    <dgm:pt modelId="{C2F3E1A5-D29A-4CA9-B719-8419EAAE6B89}">
      <dgm:prSet phldrT="[Texto]" custT="1"/>
      <dgm:spPr>
        <a:solidFill>
          <a:srgbClr val="52796F"/>
        </a:solidFill>
        <a:scene3d>
          <a:camera prst="orthographicFront"/>
          <a:lightRig rig="threePt" dir="t"/>
        </a:scene3d>
        <a:sp3d>
          <a:bevelT/>
        </a:sp3d>
      </dgm:spPr>
      <dgm:t>
        <a:bodyPr lIns="7200" tIns="7200" rIns="7200" bIns="7200"/>
        <a:lstStyle/>
        <a:p>
          <a:r>
            <a:rPr lang="es-ES" sz="1600" b="1" dirty="0">
              <a:solidFill>
                <a:schemeClr val="bg1"/>
              </a:solidFill>
              <a:latin typeface="Montserrat" panose="00000500000000000000" pitchFamily="2" charset="0"/>
            </a:rPr>
            <a:t>Informes Financieros</a:t>
          </a:r>
          <a:endParaRPr lang="es-MX" sz="1600" b="1" dirty="0">
            <a:solidFill>
              <a:schemeClr val="bg1"/>
            </a:solidFill>
            <a:latin typeface="Montserrat" panose="00000500000000000000" pitchFamily="2" charset="0"/>
          </a:endParaRPr>
        </a:p>
      </dgm:t>
    </dgm:pt>
    <dgm:pt modelId="{DCBF584E-7D1A-4718-BDAD-631522FE2284}" type="parTrans" cxnId="{29C64A2A-5C12-4304-AA62-0FD77A594E20}">
      <dgm:prSet/>
      <dgm:spPr/>
      <dgm:t>
        <a:bodyPr/>
        <a:lstStyle/>
        <a:p>
          <a:endParaRPr lang="es-MX" sz="1200">
            <a:solidFill>
              <a:srgbClr val="131D3F"/>
            </a:solidFill>
            <a:latin typeface="Montserrat" panose="00000500000000000000" pitchFamily="2" charset="0"/>
          </a:endParaRPr>
        </a:p>
      </dgm:t>
    </dgm:pt>
    <dgm:pt modelId="{772B1CCE-1D9A-4E5F-B5E3-C9C14A767691}" type="sibTrans" cxnId="{29C64A2A-5C12-4304-AA62-0FD77A594E20}">
      <dgm:prSet/>
      <dgm:spPr>
        <a:solidFill>
          <a:srgbClr val="2F3E46"/>
        </a:solidFill>
        <a:scene3d>
          <a:camera prst="orthographicFront"/>
          <a:lightRig rig="threePt" dir="t"/>
        </a:scene3d>
        <a:sp3d>
          <a:bevelT/>
        </a:sp3d>
      </dgm:spPr>
      <dgm:t>
        <a:bodyPr/>
        <a:lstStyle/>
        <a:p>
          <a:endParaRPr lang="es-MX" sz="1200">
            <a:solidFill>
              <a:srgbClr val="131D3F"/>
            </a:solidFill>
            <a:latin typeface="Montserrat" panose="00000500000000000000" pitchFamily="2" charset="0"/>
          </a:endParaRPr>
        </a:p>
      </dgm:t>
    </dgm:pt>
    <dgm:pt modelId="{8B30DC3D-677C-48DD-8161-1D5B1BC06D4A}">
      <dgm:prSet phldrT="[Texto]" custT="1"/>
      <dgm:spPr>
        <a:solidFill>
          <a:srgbClr val="52796F"/>
        </a:solidFill>
        <a:ln>
          <a:noFill/>
        </a:ln>
        <a:scene3d>
          <a:camera prst="orthographicFront"/>
          <a:lightRig rig="threePt" dir="t"/>
        </a:scene3d>
        <a:sp3d>
          <a:bevelT/>
        </a:sp3d>
      </dgm:spPr>
      <dgm:t>
        <a:bodyPr lIns="7200" tIns="72000" rIns="7200" bIns="7200"/>
        <a:lstStyle/>
        <a:p>
          <a:pPr algn="just"/>
          <a:r>
            <a:rPr lang="es-ES" sz="1400" dirty="0">
              <a:solidFill>
                <a:schemeClr val="bg1"/>
              </a:solidFill>
              <a:latin typeface="Montserrat" panose="00000500000000000000" pitchFamily="2" charset="0"/>
            </a:rPr>
            <a:t>Balance General</a:t>
          </a:r>
          <a:endParaRPr lang="es-MX" sz="1400" dirty="0">
            <a:solidFill>
              <a:schemeClr val="bg1"/>
            </a:solidFill>
            <a:latin typeface="Montserrat" panose="00000500000000000000" pitchFamily="2" charset="0"/>
          </a:endParaRPr>
        </a:p>
      </dgm:t>
    </dgm:pt>
    <dgm:pt modelId="{FA440D3B-3680-448D-8D45-9CD70656C1E4}" type="parTrans" cxnId="{D8DD334A-0D84-42E1-BE8C-9E7368AC1C16}">
      <dgm:prSet/>
      <dgm:spPr/>
      <dgm:t>
        <a:bodyPr/>
        <a:lstStyle/>
        <a:p>
          <a:endParaRPr lang="es-MX" sz="1200">
            <a:solidFill>
              <a:srgbClr val="131D3F"/>
            </a:solidFill>
            <a:latin typeface="Montserrat" panose="00000500000000000000" pitchFamily="2" charset="0"/>
          </a:endParaRPr>
        </a:p>
      </dgm:t>
    </dgm:pt>
    <dgm:pt modelId="{C511DC7B-94D0-47BD-9851-282B5FC4DC0F}" type="sibTrans" cxnId="{D8DD334A-0D84-42E1-BE8C-9E7368AC1C16}">
      <dgm:prSet/>
      <dgm:spPr/>
      <dgm:t>
        <a:bodyPr/>
        <a:lstStyle/>
        <a:p>
          <a:endParaRPr lang="es-MX" sz="1200">
            <a:solidFill>
              <a:srgbClr val="131D3F"/>
            </a:solidFill>
            <a:latin typeface="Montserrat" panose="00000500000000000000" pitchFamily="2" charset="0"/>
          </a:endParaRPr>
        </a:p>
      </dgm:t>
    </dgm:pt>
    <dgm:pt modelId="{4A2F2D54-15C9-401D-BED0-9C35B8E78DAC}">
      <dgm:prSet custT="1"/>
      <dgm:spPr>
        <a:solidFill>
          <a:srgbClr val="2F3E46"/>
        </a:solidFill>
        <a:scene3d>
          <a:camera prst="orthographicFront"/>
          <a:lightRig rig="threePt" dir="t"/>
        </a:scene3d>
        <a:sp3d>
          <a:bevelT/>
        </a:sp3d>
      </dgm:spPr>
      <dgm:t>
        <a:bodyPr/>
        <a:lstStyle/>
        <a:p>
          <a:r>
            <a:rPr lang="es-ES" sz="1500" b="1" dirty="0">
              <a:solidFill>
                <a:schemeClr val="bg1"/>
              </a:solidFill>
              <a:latin typeface="Montserrat" panose="00000500000000000000" pitchFamily="2" charset="0"/>
            </a:rPr>
            <a:t>Cumplimiento Fiscal</a:t>
          </a:r>
          <a:endParaRPr lang="es-MX" sz="1500" dirty="0">
            <a:solidFill>
              <a:schemeClr val="bg1"/>
            </a:solidFill>
            <a:latin typeface="Montserrat" panose="00000500000000000000" pitchFamily="2" charset="0"/>
          </a:endParaRPr>
        </a:p>
      </dgm:t>
    </dgm:pt>
    <dgm:pt modelId="{AD030B7B-278D-4EAE-B916-F41488A4F48A}" type="parTrans" cxnId="{0A0398FF-E4D0-4190-B039-865206383219}">
      <dgm:prSet/>
      <dgm:spPr/>
      <dgm:t>
        <a:bodyPr/>
        <a:lstStyle/>
        <a:p>
          <a:endParaRPr lang="es-MX" sz="1200">
            <a:solidFill>
              <a:srgbClr val="131D3F"/>
            </a:solidFill>
            <a:latin typeface="Montserrat" panose="00000500000000000000" pitchFamily="2" charset="0"/>
          </a:endParaRPr>
        </a:p>
      </dgm:t>
    </dgm:pt>
    <dgm:pt modelId="{7DE3735A-2E8E-4E70-B26A-457559210967}" type="sibTrans" cxnId="{0A0398FF-E4D0-4190-B039-865206383219}">
      <dgm:prSet/>
      <dgm:spPr/>
      <dgm:t>
        <a:bodyPr/>
        <a:lstStyle/>
        <a:p>
          <a:endParaRPr lang="es-MX" sz="1200">
            <a:solidFill>
              <a:srgbClr val="131D3F"/>
            </a:solidFill>
            <a:latin typeface="Montserrat" panose="00000500000000000000" pitchFamily="2" charset="0"/>
          </a:endParaRPr>
        </a:p>
      </dgm:t>
    </dgm:pt>
    <dgm:pt modelId="{0A7FD552-5B3E-483E-B770-572E1127F2D5}">
      <dgm:prSet phldrT="[Texto]" custT="1"/>
      <dgm:spPr>
        <a:solidFill>
          <a:srgbClr val="CAD2C5"/>
        </a:solidFill>
        <a:ln>
          <a:noFill/>
        </a:ln>
        <a:scene3d>
          <a:camera prst="orthographicFront"/>
          <a:lightRig rig="threePt" dir="t"/>
        </a:scene3d>
        <a:sp3d>
          <a:bevelT/>
        </a:sp3d>
      </dgm:spPr>
      <dgm:t>
        <a:bodyPr lIns="72000" tIns="72000" rIns="72000" bIns="7200"/>
        <a:lstStyle/>
        <a:p>
          <a:pPr algn="just"/>
          <a:r>
            <a:rPr lang="es-ES" sz="1400" b="0" dirty="0">
              <a:solidFill>
                <a:srgbClr val="2F3E46"/>
              </a:solidFill>
              <a:latin typeface="Montserrat" panose="00000500000000000000" pitchFamily="2" charset="0"/>
            </a:rPr>
            <a:t>Identifica y documenta las transacciones.</a:t>
          </a:r>
          <a:endParaRPr lang="es-MX" sz="1400" b="0" dirty="0">
            <a:solidFill>
              <a:srgbClr val="2F3E46"/>
            </a:solidFill>
            <a:latin typeface="Montserrat" panose="00000500000000000000" pitchFamily="2" charset="0"/>
          </a:endParaRPr>
        </a:p>
      </dgm:t>
    </dgm:pt>
    <dgm:pt modelId="{5E0D3632-5D92-4EB0-B22C-2929EB696038}" type="parTrans" cxnId="{A93A4A08-A25A-43D1-9B09-EB7806A3CB5E}">
      <dgm:prSet/>
      <dgm:spPr/>
      <dgm:t>
        <a:bodyPr/>
        <a:lstStyle/>
        <a:p>
          <a:endParaRPr lang="es-MX">
            <a:solidFill>
              <a:srgbClr val="131D3F"/>
            </a:solidFill>
          </a:endParaRPr>
        </a:p>
      </dgm:t>
    </dgm:pt>
    <dgm:pt modelId="{0F54A509-40D8-4395-9B34-030A9C457ABD}" type="sibTrans" cxnId="{A93A4A08-A25A-43D1-9B09-EB7806A3CB5E}">
      <dgm:prSet/>
      <dgm:spPr/>
      <dgm:t>
        <a:bodyPr/>
        <a:lstStyle/>
        <a:p>
          <a:endParaRPr lang="es-MX">
            <a:solidFill>
              <a:srgbClr val="131D3F"/>
            </a:solidFill>
          </a:endParaRPr>
        </a:p>
      </dgm:t>
    </dgm:pt>
    <dgm:pt modelId="{7A6F4365-7B7C-4F58-BB44-C62E3BE5084E}">
      <dgm:prSet phldrT="[Texto]" custT="1"/>
      <dgm:spPr>
        <a:solidFill>
          <a:srgbClr val="84A98C"/>
        </a:solidFill>
        <a:ln>
          <a:noFill/>
        </a:ln>
        <a:scene3d>
          <a:camera prst="orthographicFront"/>
          <a:lightRig rig="threePt" dir="t"/>
        </a:scene3d>
        <a:sp3d>
          <a:bevelT/>
        </a:sp3d>
      </dgm:spPr>
      <dgm:t>
        <a:bodyPr lIns="72000" tIns="7200" rIns="72000" bIns="612000"/>
        <a:lstStyle/>
        <a:p>
          <a:r>
            <a:rPr lang="es-ES" sz="1400" dirty="0">
              <a:solidFill>
                <a:schemeClr val="bg1"/>
              </a:solidFill>
              <a:latin typeface="Montserrat" panose="00000500000000000000" pitchFamily="2" charset="0"/>
            </a:rPr>
            <a:t>Pasivos</a:t>
          </a:r>
          <a:endParaRPr lang="es-MX" sz="1400" dirty="0">
            <a:solidFill>
              <a:schemeClr val="bg1"/>
            </a:solidFill>
            <a:latin typeface="Montserrat" panose="00000500000000000000" pitchFamily="2" charset="0"/>
          </a:endParaRPr>
        </a:p>
      </dgm:t>
    </dgm:pt>
    <dgm:pt modelId="{9B7668E4-57A0-4806-A634-3D7AAB26438E}" type="parTrans" cxnId="{A3991B22-C88F-4532-844B-DBF910BFCBCD}">
      <dgm:prSet/>
      <dgm:spPr/>
      <dgm:t>
        <a:bodyPr/>
        <a:lstStyle/>
        <a:p>
          <a:endParaRPr lang="es-MX">
            <a:solidFill>
              <a:srgbClr val="131D3F"/>
            </a:solidFill>
          </a:endParaRPr>
        </a:p>
      </dgm:t>
    </dgm:pt>
    <dgm:pt modelId="{0D4E84C2-5EE6-41CB-8896-3E0078AC63EE}" type="sibTrans" cxnId="{A3991B22-C88F-4532-844B-DBF910BFCBCD}">
      <dgm:prSet/>
      <dgm:spPr/>
      <dgm:t>
        <a:bodyPr/>
        <a:lstStyle/>
        <a:p>
          <a:endParaRPr lang="es-MX">
            <a:solidFill>
              <a:srgbClr val="131D3F"/>
            </a:solidFill>
          </a:endParaRPr>
        </a:p>
      </dgm:t>
    </dgm:pt>
    <dgm:pt modelId="{687CD3D0-EF59-4514-B480-0E650B07BA48}">
      <dgm:prSet phldrT="[Texto]" custT="1"/>
      <dgm:spPr>
        <a:solidFill>
          <a:srgbClr val="84A98C"/>
        </a:solidFill>
        <a:ln>
          <a:noFill/>
        </a:ln>
        <a:scene3d>
          <a:camera prst="orthographicFront"/>
          <a:lightRig rig="threePt" dir="t"/>
        </a:scene3d>
        <a:sp3d>
          <a:bevelT/>
        </a:sp3d>
      </dgm:spPr>
      <dgm:t>
        <a:bodyPr lIns="72000" tIns="7200" rIns="72000" bIns="612000"/>
        <a:lstStyle/>
        <a:p>
          <a:r>
            <a:rPr lang="es-ES" sz="1400" dirty="0">
              <a:solidFill>
                <a:schemeClr val="bg1"/>
              </a:solidFill>
              <a:latin typeface="Montserrat" panose="00000500000000000000" pitchFamily="2" charset="0"/>
            </a:rPr>
            <a:t>Ingresos</a:t>
          </a:r>
          <a:endParaRPr lang="es-MX" sz="1400" dirty="0">
            <a:solidFill>
              <a:schemeClr val="bg1"/>
            </a:solidFill>
            <a:latin typeface="Montserrat" panose="00000500000000000000" pitchFamily="2" charset="0"/>
          </a:endParaRPr>
        </a:p>
      </dgm:t>
    </dgm:pt>
    <dgm:pt modelId="{224FFDB3-4211-499F-90F8-B3277AAAE61C}" type="parTrans" cxnId="{B7C96D6E-BBBD-495B-884A-894DDED78537}">
      <dgm:prSet/>
      <dgm:spPr/>
      <dgm:t>
        <a:bodyPr/>
        <a:lstStyle/>
        <a:p>
          <a:endParaRPr lang="es-MX">
            <a:solidFill>
              <a:srgbClr val="131D3F"/>
            </a:solidFill>
          </a:endParaRPr>
        </a:p>
      </dgm:t>
    </dgm:pt>
    <dgm:pt modelId="{E2E8A76C-6A56-4B68-8A68-F2A00D9E6AF6}" type="sibTrans" cxnId="{B7C96D6E-BBBD-495B-884A-894DDED78537}">
      <dgm:prSet/>
      <dgm:spPr/>
      <dgm:t>
        <a:bodyPr/>
        <a:lstStyle/>
        <a:p>
          <a:endParaRPr lang="es-MX">
            <a:solidFill>
              <a:srgbClr val="131D3F"/>
            </a:solidFill>
          </a:endParaRPr>
        </a:p>
      </dgm:t>
    </dgm:pt>
    <dgm:pt modelId="{CC9D56B9-AD82-49A0-A27D-C36A868D9915}">
      <dgm:prSet phldrT="[Texto]" custT="1"/>
      <dgm:spPr>
        <a:solidFill>
          <a:srgbClr val="84A98C"/>
        </a:solidFill>
        <a:ln>
          <a:noFill/>
        </a:ln>
        <a:scene3d>
          <a:camera prst="orthographicFront"/>
          <a:lightRig rig="threePt" dir="t"/>
        </a:scene3d>
        <a:sp3d>
          <a:bevelT/>
        </a:sp3d>
      </dgm:spPr>
      <dgm:t>
        <a:bodyPr lIns="72000" tIns="7200" rIns="72000" bIns="612000"/>
        <a:lstStyle/>
        <a:p>
          <a:r>
            <a:rPr lang="es-ES" sz="1400" dirty="0">
              <a:solidFill>
                <a:schemeClr val="bg1"/>
              </a:solidFill>
              <a:latin typeface="Montserrat" panose="00000500000000000000" pitchFamily="2" charset="0"/>
            </a:rPr>
            <a:t>Gastos</a:t>
          </a:r>
          <a:endParaRPr lang="es-MX" sz="1400" dirty="0">
            <a:solidFill>
              <a:schemeClr val="bg1"/>
            </a:solidFill>
            <a:latin typeface="Montserrat" panose="00000500000000000000" pitchFamily="2" charset="0"/>
          </a:endParaRPr>
        </a:p>
      </dgm:t>
    </dgm:pt>
    <dgm:pt modelId="{76ADF2D4-ADB2-4CD1-85BB-A35353BB40D8}" type="parTrans" cxnId="{72A13868-B993-445B-8297-0E7E5E4AA03B}">
      <dgm:prSet/>
      <dgm:spPr/>
      <dgm:t>
        <a:bodyPr/>
        <a:lstStyle/>
        <a:p>
          <a:endParaRPr lang="es-MX">
            <a:solidFill>
              <a:srgbClr val="131D3F"/>
            </a:solidFill>
          </a:endParaRPr>
        </a:p>
      </dgm:t>
    </dgm:pt>
    <dgm:pt modelId="{F3CA47AD-A44C-4115-BD8D-1CADE0CCF461}" type="sibTrans" cxnId="{72A13868-B993-445B-8297-0E7E5E4AA03B}">
      <dgm:prSet/>
      <dgm:spPr/>
      <dgm:t>
        <a:bodyPr/>
        <a:lstStyle/>
        <a:p>
          <a:endParaRPr lang="es-MX">
            <a:solidFill>
              <a:srgbClr val="131D3F"/>
            </a:solidFill>
          </a:endParaRPr>
        </a:p>
      </dgm:t>
    </dgm:pt>
    <dgm:pt modelId="{14441871-64B3-4E21-A320-94C83D70B851}">
      <dgm:prSet phldrT="[Texto]" custT="1"/>
      <dgm:spPr>
        <a:solidFill>
          <a:srgbClr val="84A98C"/>
        </a:solidFill>
        <a:ln>
          <a:noFill/>
        </a:ln>
        <a:scene3d>
          <a:camera prst="orthographicFront"/>
          <a:lightRig rig="threePt" dir="t"/>
        </a:scene3d>
        <a:sp3d>
          <a:bevelT/>
        </a:sp3d>
      </dgm:spPr>
      <dgm:t>
        <a:bodyPr lIns="72000" tIns="7200" rIns="72000" bIns="612000"/>
        <a:lstStyle/>
        <a:p>
          <a:r>
            <a:rPr lang="es-ES" sz="1400" dirty="0">
              <a:solidFill>
                <a:schemeClr val="bg1"/>
              </a:solidFill>
              <a:latin typeface="Montserrat" panose="00000500000000000000" pitchFamily="2" charset="0"/>
            </a:rPr>
            <a:t>Impuestos</a:t>
          </a:r>
          <a:endParaRPr lang="es-MX" sz="1400" dirty="0">
            <a:solidFill>
              <a:schemeClr val="bg1"/>
            </a:solidFill>
            <a:latin typeface="Montserrat" panose="00000500000000000000" pitchFamily="2" charset="0"/>
          </a:endParaRPr>
        </a:p>
      </dgm:t>
    </dgm:pt>
    <dgm:pt modelId="{CA15F2EE-04A5-4981-828B-23EB32923E12}" type="parTrans" cxnId="{EF2C583B-B6DC-482E-ACD8-CD3B548C4537}">
      <dgm:prSet/>
      <dgm:spPr/>
      <dgm:t>
        <a:bodyPr/>
        <a:lstStyle/>
        <a:p>
          <a:endParaRPr lang="es-MX">
            <a:solidFill>
              <a:srgbClr val="131D3F"/>
            </a:solidFill>
          </a:endParaRPr>
        </a:p>
      </dgm:t>
    </dgm:pt>
    <dgm:pt modelId="{9C5D67B7-1A77-4CAB-8019-0464A57C9FE1}" type="sibTrans" cxnId="{EF2C583B-B6DC-482E-ACD8-CD3B548C4537}">
      <dgm:prSet/>
      <dgm:spPr/>
      <dgm:t>
        <a:bodyPr/>
        <a:lstStyle/>
        <a:p>
          <a:endParaRPr lang="es-MX">
            <a:solidFill>
              <a:srgbClr val="131D3F"/>
            </a:solidFill>
          </a:endParaRPr>
        </a:p>
      </dgm:t>
    </dgm:pt>
    <dgm:pt modelId="{646B246A-E80A-4F67-ADA6-1F1AB56A9463}">
      <dgm:prSet phldrT="[Texto]" custT="1"/>
      <dgm:spPr>
        <a:solidFill>
          <a:srgbClr val="52796F"/>
        </a:solidFill>
        <a:ln>
          <a:noFill/>
        </a:ln>
        <a:scene3d>
          <a:camera prst="orthographicFront"/>
          <a:lightRig rig="threePt" dir="t"/>
        </a:scene3d>
        <a:sp3d>
          <a:bevelT/>
        </a:sp3d>
      </dgm:spPr>
      <dgm:t>
        <a:bodyPr lIns="7200" tIns="72000" rIns="7200" bIns="7200"/>
        <a:lstStyle/>
        <a:p>
          <a:pPr algn="just"/>
          <a:r>
            <a:rPr lang="es-ES" sz="1400" dirty="0">
              <a:solidFill>
                <a:schemeClr val="bg1"/>
              </a:solidFill>
              <a:latin typeface="Montserrat" panose="00000500000000000000" pitchFamily="2" charset="0"/>
            </a:rPr>
            <a:t>Estados de Resultados</a:t>
          </a:r>
          <a:endParaRPr lang="es-MX" sz="1400" dirty="0">
            <a:solidFill>
              <a:schemeClr val="bg1"/>
            </a:solidFill>
            <a:latin typeface="Montserrat" panose="00000500000000000000" pitchFamily="2" charset="0"/>
          </a:endParaRPr>
        </a:p>
      </dgm:t>
    </dgm:pt>
    <dgm:pt modelId="{52C5D1D1-537D-4FAE-A9EC-5E5D0DE09403}" type="parTrans" cxnId="{2931376F-D7F1-4ECA-BE05-F736382D79F6}">
      <dgm:prSet/>
      <dgm:spPr/>
      <dgm:t>
        <a:bodyPr/>
        <a:lstStyle/>
        <a:p>
          <a:endParaRPr lang="es-MX">
            <a:solidFill>
              <a:srgbClr val="131D3F"/>
            </a:solidFill>
          </a:endParaRPr>
        </a:p>
      </dgm:t>
    </dgm:pt>
    <dgm:pt modelId="{19E9CB90-9EFB-49CE-9DDB-C3CA1DCF7DD0}" type="sibTrans" cxnId="{2931376F-D7F1-4ECA-BE05-F736382D79F6}">
      <dgm:prSet/>
      <dgm:spPr/>
      <dgm:t>
        <a:bodyPr/>
        <a:lstStyle/>
        <a:p>
          <a:endParaRPr lang="es-MX">
            <a:solidFill>
              <a:srgbClr val="131D3F"/>
            </a:solidFill>
          </a:endParaRPr>
        </a:p>
      </dgm:t>
    </dgm:pt>
    <dgm:pt modelId="{90DE9014-39A4-4202-8152-93700FE1C401}">
      <dgm:prSet phldrT="[Texto]" custT="1"/>
      <dgm:spPr>
        <a:solidFill>
          <a:srgbClr val="52796F"/>
        </a:solidFill>
        <a:ln>
          <a:noFill/>
        </a:ln>
        <a:scene3d>
          <a:camera prst="orthographicFront"/>
          <a:lightRig rig="threePt" dir="t"/>
        </a:scene3d>
        <a:sp3d>
          <a:bevelT/>
        </a:sp3d>
      </dgm:spPr>
      <dgm:t>
        <a:bodyPr lIns="7200" tIns="72000" rIns="7200" bIns="7200"/>
        <a:lstStyle/>
        <a:p>
          <a:pPr algn="just"/>
          <a:r>
            <a:rPr lang="es-ES" sz="1400" dirty="0">
              <a:solidFill>
                <a:schemeClr val="bg1"/>
              </a:solidFill>
              <a:latin typeface="Montserrat" panose="00000500000000000000" pitchFamily="2" charset="0"/>
            </a:rPr>
            <a:t>Estados de Flujo de efectivo</a:t>
          </a:r>
          <a:endParaRPr lang="es-MX" sz="1400" dirty="0">
            <a:solidFill>
              <a:schemeClr val="bg1"/>
            </a:solidFill>
            <a:latin typeface="Montserrat" panose="00000500000000000000" pitchFamily="2" charset="0"/>
          </a:endParaRPr>
        </a:p>
      </dgm:t>
    </dgm:pt>
    <dgm:pt modelId="{8E4638C8-803E-4EC6-B8EF-BFE0FDCDB2CD}" type="parTrans" cxnId="{C8AFF7DD-BB58-47F6-A310-C2387B10866D}">
      <dgm:prSet/>
      <dgm:spPr/>
      <dgm:t>
        <a:bodyPr/>
        <a:lstStyle/>
        <a:p>
          <a:endParaRPr lang="es-MX">
            <a:solidFill>
              <a:srgbClr val="131D3F"/>
            </a:solidFill>
          </a:endParaRPr>
        </a:p>
      </dgm:t>
    </dgm:pt>
    <dgm:pt modelId="{59713BD0-5FD1-4D5B-8547-C7BDF19100F0}" type="sibTrans" cxnId="{C8AFF7DD-BB58-47F6-A310-C2387B10866D}">
      <dgm:prSet/>
      <dgm:spPr/>
      <dgm:t>
        <a:bodyPr/>
        <a:lstStyle/>
        <a:p>
          <a:endParaRPr lang="es-MX">
            <a:solidFill>
              <a:srgbClr val="131D3F"/>
            </a:solidFill>
          </a:endParaRPr>
        </a:p>
      </dgm:t>
    </dgm:pt>
    <dgm:pt modelId="{D372C1AB-C8B9-426E-A3A5-33828471D411}">
      <dgm:prSet custT="1"/>
      <dgm:spPr>
        <a:solidFill>
          <a:srgbClr val="354F52"/>
        </a:solidFill>
        <a:scene3d>
          <a:camera prst="orthographicFront"/>
          <a:lightRig rig="threePt" dir="t"/>
        </a:scene3d>
        <a:sp3d>
          <a:bevelT/>
        </a:sp3d>
      </dgm:spPr>
      <dgm:t>
        <a:bodyPr/>
        <a:lstStyle/>
        <a:p>
          <a:r>
            <a:rPr lang="es-ES" sz="1600" b="1" dirty="0">
              <a:solidFill>
                <a:schemeClr val="bg1"/>
              </a:solidFill>
              <a:latin typeface="Montserrat" panose="00000500000000000000" pitchFamily="2" charset="0"/>
            </a:rPr>
            <a:t>Presentar (Interpretar)</a:t>
          </a:r>
          <a:endParaRPr lang="es-MX" sz="1600" b="1" dirty="0">
            <a:solidFill>
              <a:schemeClr val="bg1"/>
            </a:solidFill>
            <a:latin typeface="Montserrat" panose="00000500000000000000" pitchFamily="2" charset="0"/>
          </a:endParaRPr>
        </a:p>
      </dgm:t>
    </dgm:pt>
    <dgm:pt modelId="{64A0A576-1466-4140-80F9-8A478AA8251A}" type="parTrans" cxnId="{2E12BBC0-A769-4216-8D76-3340FB57B3E8}">
      <dgm:prSet/>
      <dgm:spPr/>
      <dgm:t>
        <a:bodyPr/>
        <a:lstStyle/>
        <a:p>
          <a:endParaRPr lang="es-MX">
            <a:solidFill>
              <a:srgbClr val="131D3F"/>
            </a:solidFill>
          </a:endParaRPr>
        </a:p>
      </dgm:t>
    </dgm:pt>
    <dgm:pt modelId="{BB2D3103-2B19-4333-AAC4-76CF75CEBEC2}" type="sibTrans" cxnId="{2E12BBC0-A769-4216-8D76-3340FB57B3E8}">
      <dgm:prSet/>
      <dgm:spPr>
        <a:solidFill>
          <a:srgbClr val="2F3E46"/>
        </a:solidFill>
        <a:scene3d>
          <a:camera prst="orthographicFront"/>
          <a:lightRig rig="threePt" dir="t"/>
        </a:scene3d>
        <a:sp3d>
          <a:bevelT/>
        </a:sp3d>
      </dgm:spPr>
      <dgm:t>
        <a:bodyPr/>
        <a:lstStyle/>
        <a:p>
          <a:endParaRPr lang="es-MX">
            <a:solidFill>
              <a:srgbClr val="131D3F"/>
            </a:solidFill>
          </a:endParaRPr>
        </a:p>
      </dgm:t>
    </dgm:pt>
    <dgm:pt modelId="{3355FF82-2335-4FBE-A911-64B0181D7CBA}">
      <dgm:prSet phldrT="[Texto]" custT="1"/>
      <dgm:spPr>
        <a:solidFill>
          <a:srgbClr val="354F52"/>
        </a:solidFill>
        <a:ln>
          <a:noFill/>
        </a:ln>
        <a:scene3d>
          <a:camera prst="orthographicFront"/>
          <a:lightRig rig="threePt" dir="t"/>
        </a:scene3d>
        <a:sp3d>
          <a:bevelT/>
        </a:sp3d>
      </dgm:spPr>
      <dgm:t>
        <a:bodyPr lIns="7200" tIns="7200" rIns="7200" bIns="7200"/>
        <a:lstStyle/>
        <a:p>
          <a:pPr algn="just"/>
          <a:r>
            <a:rPr lang="es-ES" sz="1300" dirty="0">
              <a:solidFill>
                <a:schemeClr val="bg1"/>
              </a:solidFill>
              <a:latin typeface="Montserrat" panose="00000500000000000000" pitchFamily="2" charset="0"/>
            </a:rPr>
            <a:t>Informes contables confiables, precisos, relevantes y comprensibles.</a:t>
          </a:r>
          <a:endParaRPr lang="es-MX" sz="1300" b="0" u="sng" dirty="0">
            <a:solidFill>
              <a:schemeClr val="bg1"/>
            </a:solidFill>
            <a:latin typeface="Montserrat" panose="00000500000000000000" pitchFamily="2" charset="0"/>
          </a:endParaRPr>
        </a:p>
      </dgm:t>
    </dgm:pt>
    <dgm:pt modelId="{18691EE7-F2F4-4A33-8DE8-5A4902D3F894}" type="parTrans" cxnId="{8F91FDB9-D7A8-4CCB-901C-1BFAC31F86CB}">
      <dgm:prSet/>
      <dgm:spPr/>
      <dgm:t>
        <a:bodyPr/>
        <a:lstStyle/>
        <a:p>
          <a:endParaRPr lang="es-MX">
            <a:solidFill>
              <a:srgbClr val="131D3F"/>
            </a:solidFill>
          </a:endParaRPr>
        </a:p>
      </dgm:t>
    </dgm:pt>
    <dgm:pt modelId="{989E9082-51BD-462C-A438-5ABA7AC097F6}" type="sibTrans" cxnId="{8F91FDB9-D7A8-4CCB-901C-1BFAC31F86CB}">
      <dgm:prSet/>
      <dgm:spPr/>
      <dgm:t>
        <a:bodyPr/>
        <a:lstStyle/>
        <a:p>
          <a:endParaRPr lang="es-MX">
            <a:solidFill>
              <a:srgbClr val="131D3F"/>
            </a:solidFill>
          </a:endParaRPr>
        </a:p>
      </dgm:t>
    </dgm:pt>
    <dgm:pt modelId="{B7936793-9CC9-4051-A134-582AC4A77037}">
      <dgm:prSet custT="1"/>
      <dgm:spPr>
        <a:solidFill>
          <a:srgbClr val="2F3E46"/>
        </a:solidFill>
        <a:ln>
          <a:noFill/>
        </a:ln>
        <a:scene3d>
          <a:camera prst="orthographicFront"/>
          <a:lightRig rig="threePt" dir="t"/>
        </a:scene3d>
        <a:sp3d>
          <a:bevelT/>
        </a:sp3d>
      </dgm:spPr>
      <dgm:t>
        <a:bodyPr tIns="72000"/>
        <a:lstStyle/>
        <a:p>
          <a:pPr algn="just"/>
          <a:r>
            <a:rPr lang="es-MX" sz="1400" b="0" u="sng" dirty="0">
              <a:solidFill>
                <a:schemeClr val="bg1"/>
              </a:solidFill>
              <a:latin typeface="Montserrat" panose="00000500000000000000" pitchFamily="2" charset="0"/>
            </a:rPr>
            <a:t>Declaración de impuestos</a:t>
          </a:r>
        </a:p>
      </dgm:t>
    </dgm:pt>
    <dgm:pt modelId="{E7E7412A-3027-4827-9098-28BDA6B55B54}" type="parTrans" cxnId="{AF1BF50F-7F21-42B6-A0EF-F09490A5FAAD}">
      <dgm:prSet/>
      <dgm:spPr/>
      <dgm:t>
        <a:bodyPr/>
        <a:lstStyle/>
        <a:p>
          <a:endParaRPr lang="es-MX">
            <a:solidFill>
              <a:srgbClr val="131D3F"/>
            </a:solidFill>
          </a:endParaRPr>
        </a:p>
      </dgm:t>
    </dgm:pt>
    <dgm:pt modelId="{5A302ABB-5DFD-4E86-B196-3BB54839F7CD}" type="sibTrans" cxnId="{AF1BF50F-7F21-42B6-A0EF-F09490A5FAAD}">
      <dgm:prSet/>
      <dgm:spPr/>
      <dgm:t>
        <a:bodyPr/>
        <a:lstStyle/>
        <a:p>
          <a:endParaRPr lang="es-MX">
            <a:solidFill>
              <a:srgbClr val="131D3F"/>
            </a:solidFill>
          </a:endParaRPr>
        </a:p>
      </dgm:t>
    </dgm:pt>
    <dgm:pt modelId="{FA403CBA-FD77-465F-B750-1BCEA04844CB}">
      <dgm:prSet custT="1"/>
      <dgm:spPr>
        <a:solidFill>
          <a:srgbClr val="2F3E46"/>
        </a:solidFill>
        <a:ln>
          <a:noFill/>
        </a:ln>
        <a:scene3d>
          <a:camera prst="orthographicFront"/>
          <a:lightRig rig="threePt" dir="t"/>
        </a:scene3d>
        <a:sp3d>
          <a:bevelT/>
        </a:sp3d>
      </dgm:spPr>
      <dgm:t>
        <a:bodyPr tIns="72000"/>
        <a:lstStyle/>
        <a:p>
          <a:pPr algn="just"/>
          <a:r>
            <a:rPr lang="es-MX" sz="1400" dirty="0">
              <a:solidFill>
                <a:schemeClr val="bg1"/>
              </a:solidFill>
              <a:latin typeface="Montserrat" panose="00000500000000000000" pitchFamily="2" charset="0"/>
            </a:rPr>
            <a:t>Ob. Tributarias</a:t>
          </a:r>
        </a:p>
      </dgm:t>
    </dgm:pt>
    <dgm:pt modelId="{329D8AF5-05CF-4432-B38D-0D23C8446C0D}" type="parTrans" cxnId="{121AA88B-C6D3-4C31-BE30-F880D83DEE4A}">
      <dgm:prSet/>
      <dgm:spPr/>
      <dgm:t>
        <a:bodyPr/>
        <a:lstStyle/>
        <a:p>
          <a:endParaRPr lang="es-MX">
            <a:solidFill>
              <a:srgbClr val="131D3F"/>
            </a:solidFill>
          </a:endParaRPr>
        </a:p>
      </dgm:t>
    </dgm:pt>
    <dgm:pt modelId="{6BF2EAF0-32B7-4258-9B86-B66989651FA6}" type="sibTrans" cxnId="{121AA88B-C6D3-4C31-BE30-F880D83DEE4A}">
      <dgm:prSet/>
      <dgm:spPr/>
      <dgm:t>
        <a:bodyPr/>
        <a:lstStyle/>
        <a:p>
          <a:endParaRPr lang="es-MX">
            <a:solidFill>
              <a:srgbClr val="131D3F"/>
            </a:solidFill>
          </a:endParaRPr>
        </a:p>
      </dgm:t>
    </dgm:pt>
    <dgm:pt modelId="{55E39136-485F-4A0D-8FC0-7D312625B529}">
      <dgm:prSet custT="1"/>
      <dgm:spPr>
        <a:solidFill>
          <a:srgbClr val="2F3E46"/>
        </a:solidFill>
        <a:ln>
          <a:noFill/>
        </a:ln>
        <a:scene3d>
          <a:camera prst="orthographicFront"/>
          <a:lightRig rig="threePt" dir="t"/>
        </a:scene3d>
        <a:sp3d>
          <a:bevelT/>
        </a:sp3d>
      </dgm:spPr>
      <dgm:t>
        <a:bodyPr tIns="72000"/>
        <a:lstStyle/>
        <a:p>
          <a:pPr algn="just"/>
          <a:r>
            <a:rPr lang="es-MX" sz="1400" dirty="0">
              <a:solidFill>
                <a:schemeClr val="bg1"/>
              </a:solidFill>
              <a:latin typeface="Montserrat" panose="00000500000000000000" pitchFamily="2" charset="0"/>
            </a:rPr>
            <a:t>Normativa fiscal</a:t>
          </a:r>
        </a:p>
      </dgm:t>
    </dgm:pt>
    <dgm:pt modelId="{25A1B0E4-305A-4304-BB0C-DDAD276408BE}" type="parTrans" cxnId="{66DD98C2-5696-4BFD-8EC5-126F21B60B58}">
      <dgm:prSet/>
      <dgm:spPr/>
      <dgm:t>
        <a:bodyPr/>
        <a:lstStyle/>
        <a:p>
          <a:endParaRPr lang="es-MX">
            <a:solidFill>
              <a:srgbClr val="131D3F"/>
            </a:solidFill>
          </a:endParaRPr>
        </a:p>
      </dgm:t>
    </dgm:pt>
    <dgm:pt modelId="{86C85136-2BE1-411E-9ADB-FC56641B16F1}" type="sibTrans" cxnId="{66DD98C2-5696-4BFD-8EC5-126F21B60B58}">
      <dgm:prSet/>
      <dgm:spPr/>
      <dgm:t>
        <a:bodyPr/>
        <a:lstStyle/>
        <a:p>
          <a:endParaRPr lang="es-MX">
            <a:solidFill>
              <a:srgbClr val="131D3F"/>
            </a:solidFill>
          </a:endParaRPr>
        </a:p>
      </dgm:t>
    </dgm:pt>
    <dgm:pt modelId="{28DD0D83-4930-4BBF-A0B8-A5D9CCCF92B9}">
      <dgm:prSet custT="1"/>
      <dgm:spPr>
        <a:solidFill>
          <a:srgbClr val="2F3E46"/>
        </a:solidFill>
        <a:ln>
          <a:noFill/>
        </a:ln>
        <a:scene3d>
          <a:camera prst="orthographicFront"/>
          <a:lightRig rig="threePt" dir="t"/>
        </a:scene3d>
        <a:sp3d>
          <a:bevelT/>
        </a:sp3d>
      </dgm:spPr>
      <dgm:t>
        <a:bodyPr tIns="72000"/>
        <a:lstStyle/>
        <a:p>
          <a:pPr algn="l"/>
          <a:endParaRPr lang="es-MX" sz="1400" dirty="0">
            <a:solidFill>
              <a:schemeClr val="bg1"/>
            </a:solidFill>
            <a:latin typeface="Montserrat" panose="00000500000000000000" pitchFamily="2" charset="0"/>
          </a:endParaRPr>
        </a:p>
      </dgm:t>
    </dgm:pt>
    <dgm:pt modelId="{749DBF0A-F353-4548-B64A-E8C8482FE30E}" type="parTrans" cxnId="{5313625A-7E23-45BC-A50F-7A90407B9030}">
      <dgm:prSet/>
      <dgm:spPr/>
      <dgm:t>
        <a:bodyPr/>
        <a:lstStyle/>
        <a:p>
          <a:endParaRPr lang="es-MX">
            <a:solidFill>
              <a:srgbClr val="131D3F"/>
            </a:solidFill>
          </a:endParaRPr>
        </a:p>
      </dgm:t>
    </dgm:pt>
    <dgm:pt modelId="{F75B3276-5BB6-4616-A2CA-026B4C18425B}" type="sibTrans" cxnId="{5313625A-7E23-45BC-A50F-7A90407B9030}">
      <dgm:prSet/>
      <dgm:spPr/>
      <dgm:t>
        <a:bodyPr/>
        <a:lstStyle/>
        <a:p>
          <a:endParaRPr lang="es-MX">
            <a:solidFill>
              <a:srgbClr val="131D3F"/>
            </a:solidFill>
          </a:endParaRPr>
        </a:p>
      </dgm:t>
    </dgm:pt>
    <dgm:pt modelId="{CB905BA8-7F25-4DC5-8974-09CD77165D0A}">
      <dgm:prSet phldrT="[Texto]" custT="1"/>
      <dgm:spPr>
        <a:solidFill>
          <a:srgbClr val="354F52"/>
        </a:solidFill>
        <a:ln>
          <a:noFill/>
        </a:ln>
        <a:scene3d>
          <a:camera prst="orthographicFront"/>
          <a:lightRig rig="threePt" dir="t"/>
        </a:scene3d>
        <a:sp3d>
          <a:bevelT/>
        </a:sp3d>
      </dgm:spPr>
      <dgm:t>
        <a:bodyPr lIns="7200" tIns="7200" rIns="7200" bIns="7200"/>
        <a:lstStyle/>
        <a:p>
          <a:pPr algn="ctr">
            <a:buNone/>
          </a:pPr>
          <a:r>
            <a:rPr lang="es-ES" sz="1300" b="0" u="sng" dirty="0">
              <a:solidFill>
                <a:schemeClr val="bg1"/>
              </a:solidFill>
              <a:latin typeface="Montserrat" panose="00000500000000000000" pitchFamily="2" charset="0"/>
            </a:rPr>
            <a:t>Toma de decisiones</a:t>
          </a:r>
          <a:endParaRPr lang="es-MX" sz="1300" b="0" u="sng" dirty="0">
            <a:solidFill>
              <a:schemeClr val="bg1"/>
            </a:solidFill>
            <a:latin typeface="Montserrat" panose="00000500000000000000" pitchFamily="2" charset="0"/>
          </a:endParaRPr>
        </a:p>
      </dgm:t>
    </dgm:pt>
    <dgm:pt modelId="{EDB2A6A9-C66B-4935-82EE-D09D725F7DA4}" type="parTrans" cxnId="{A06E9BAB-21A9-44AF-86E6-03DDCE7B75DF}">
      <dgm:prSet/>
      <dgm:spPr/>
      <dgm:t>
        <a:bodyPr/>
        <a:lstStyle/>
        <a:p>
          <a:endParaRPr lang="es-MX"/>
        </a:p>
      </dgm:t>
    </dgm:pt>
    <dgm:pt modelId="{1F6CECB3-557F-48BD-80C9-72858152EA68}" type="sibTrans" cxnId="{A06E9BAB-21A9-44AF-86E6-03DDCE7B75DF}">
      <dgm:prSet/>
      <dgm:spPr/>
      <dgm:t>
        <a:bodyPr/>
        <a:lstStyle/>
        <a:p>
          <a:endParaRPr lang="es-MX"/>
        </a:p>
      </dgm:t>
    </dgm:pt>
    <dgm:pt modelId="{260F178C-AC98-4F27-B068-22392757D26D}" type="pres">
      <dgm:prSet presAssocID="{A18F3DAB-ACDE-438D-A026-D5BF684FF787}" presName="Name0" presStyleCnt="0">
        <dgm:presLayoutVars>
          <dgm:dir/>
          <dgm:animLvl val="lvl"/>
          <dgm:resizeHandles val="exact"/>
        </dgm:presLayoutVars>
      </dgm:prSet>
      <dgm:spPr/>
    </dgm:pt>
    <dgm:pt modelId="{0E718443-C5E9-4DD5-8126-21090C2057AC}" type="pres">
      <dgm:prSet presAssocID="{A18F3DAB-ACDE-438D-A026-D5BF684FF787}" presName="tSp" presStyleCnt="0"/>
      <dgm:spPr>
        <a:scene3d>
          <a:camera prst="orthographicFront"/>
          <a:lightRig rig="threePt" dir="t"/>
        </a:scene3d>
        <a:sp3d>
          <a:bevelT/>
        </a:sp3d>
      </dgm:spPr>
    </dgm:pt>
    <dgm:pt modelId="{89F527AD-76D0-4171-A164-AAD4109EE8BE}" type="pres">
      <dgm:prSet presAssocID="{A18F3DAB-ACDE-438D-A026-D5BF684FF787}" presName="bSp" presStyleCnt="0"/>
      <dgm:spPr>
        <a:scene3d>
          <a:camera prst="orthographicFront"/>
          <a:lightRig rig="threePt" dir="t"/>
        </a:scene3d>
        <a:sp3d>
          <a:bevelT/>
        </a:sp3d>
      </dgm:spPr>
    </dgm:pt>
    <dgm:pt modelId="{F387518D-DB31-4227-942E-E9743C4D25E3}" type="pres">
      <dgm:prSet presAssocID="{A18F3DAB-ACDE-438D-A026-D5BF684FF787}" presName="process" presStyleCnt="0"/>
      <dgm:spPr>
        <a:scene3d>
          <a:camera prst="orthographicFront"/>
          <a:lightRig rig="threePt" dir="t"/>
        </a:scene3d>
        <a:sp3d>
          <a:bevelT/>
        </a:sp3d>
      </dgm:spPr>
    </dgm:pt>
    <dgm:pt modelId="{07B9D7A8-56B0-43DC-8DAE-934EB33E7C79}" type="pres">
      <dgm:prSet presAssocID="{F63A68A8-1D70-4931-B0C6-C365659F18FF}" presName="composite1" presStyleCnt="0"/>
      <dgm:spPr>
        <a:scene3d>
          <a:camera prst="orthographicFront"/>
          <a:lightRig rig="threePt" dir="t"/>
        </a:scene3d>
        <a:sp3d>
          <a:bevelT/>
        </a:sp3d>
      </dgm:spPr>
    </dgm:pt>
    <dgm:pt modelId="{2362980D-FBFF-4F90-9A1C-855141C50D0F}" type="pres">
      <dgm:prSet presAssocID="{F63A68A8-1D70-4931-B0C6-C365659F18FF}" presName="dummyNode1" presStyleLbl="node1" presStyleIdx="0" presStyleCnt="5"/>
      <dgm:spPr>
        <a:scene3d>
          <a:camera prst="orthographicFront"/>
          <a:lightRig rig="threePt" dir="t"/>
        </a:scene3d>
        <a:sp3d>
          <a:bevelT/>
        </a:sp3d>
      </dgm:spPr>
    </dgm:pt>
    <dgm:pt modelId="{8905CFB0-730D-4360-94E6-9F39AAFF1AAE}" type="pres">
      <dgm:prSet presAssocID="{F63A68A8-1D70-4931-B0C6-C365659F18FF}" presName="childNode1" presStyleLbl="bgAcc1" presStyleIdx="0" presStyleCnt="5">
        <dgm:presLayoutVars>
          <dgm:bulletEnabled val="1"/>
        </dgm:presLayoutVars>
      </dgm:prSet>
      <dgm:spPr/>
    </dgm:pt>
    <dgm:pt modelId="{04D668F1-D6E2-41A2-B6D0-04AA6A0CB6F6}" type="pres">
      <dgm:prSet presAssocID="{F63A68A8-1D70-4931-B0C6-C365659F18FF}" presName="childNode1tx" presStyleLbl="bgAcc1" presStyleIdx="0" presStyleCnt="5">
        <dgm:presLayoutVars>
          <dgm:bulletEnabled val="1"/>
        </dgm:presLayoutVars>
      </dgm:prSet>
      <dgm:spPr/>
    </dgm:pt>
    <dgm:pt modelId="{CA21E9F1-04D2-4843-9F15-4232DBB063F4}" type="pres">
      <dgm:prSet presAssocID="{F63A68A8-1D70-4931-B0C6-C365659F18FF}" presName="parentNode1" presStyleLbl="node1" presStyleIdx="0" presStyleCnt="5">
        <dgm:presLayoutVars>
          <dgm:chMax val="1"/>
          <dgm:bulletEnabled val="1"/>
        </dgm:presLayoutVars>
      </dgm:prSet>
      <dgm:spPr/>
    </dgm:pt>
    <dgm:pt modelId="{28A55E6F-F112-4DD0-9467-43640ABF7A9B}" type="pres">
      <dgm:prSet presAssocID="{F63A68A8-1D70-4931-B0C6-C365659F18FF}" presName="connSite1" presStyleCnt="0"/>
      <dgm:spPr>
        <a:scene3d>
          <a:camera prst="orthographicFront"/>
          <a:lightRig rig="threePt" dir="t"/>
        </a:scene3d>
        <a:sp3d>
          <a:bevelT/>
        </a:sp3d>
      </dgm:spPr>
    </dgm:pt>
    <dgm:pt modelId="{F8F4BF05-5951-4168-ABD0-92987CE2A550}" type="pres">
      <dgm:prSet presAssocID="{EB89E7C9-0194-4E7D-9FE0-67E7B6992440}" presName="Name9" presStyleLbl="sibTrans2D1" presStyleIdx="0" presStyleCnt="4"/>
      <dgm:spPr/>
    </dgm:pt>
    <dgm:pt modelId="{C2C64153-F27E-43F4-A609-8474C986CDDC}" type="pres">
      <dgm:prSet presAssocID="{7B3F5988-9301-4E29-A133-DC87FCDF4AA0}" presName="composite2" presStyleCnt="0"/>
      <dgm:spPr>
        <a:scene3d>
          <a:camera prst="orthographicFront"/>
          <a:lightRig rig="threePt" dir="t"/>
        </a:scene3d>
        <a:sp3d>
          <a:bevelT/>
        </a:sp3d>
      </dgm:spPr>
    </dgm:pt>
    <dgm:pt modelId="{179CFE02-B9F3-4F5B-BF62-31624F2D6CB5}" type="pres">
      <dgm:prSet presAssocID="{7B3F5988-9301-4E29-A133-DC87FCDF4AA0}" presName="dummyNode2" presStyleLbl="node1" presStyleIdx="0" presStyleCnt="5"/>
      <dgm:spPr>
        <a:scene3d>
          <a:camera prst="orthographicFront"/>
          <a:lightRig rig="threePt" dir="t"/>
        </a:scene3d>
        <a:sp3d>
          <a:bevelT/>
        </a:sp3d>
      </dgm:spPr>
    </dgm:pt>
    <dgm:pt modelId="{E378B42E-F8CA-4610-83DB-295B68791042}" type="pres">
      <dgm:prSet presAssocID="{7B3F5988-9301-4E29-A133-DC87FCDF4AA0}" presName="childNode2" presStyleLbl="bgAcc1" presStyleIdx="1" presStyleCnt="5">
        <dgm:presLayoutVars>
          <dgm:bulletEnabled val="1"/>
        </dgm:presLayoutVars>
      </dgm:prSet>
      <dgm:spPr/>
    </dgm:pt>
    <dgm:pt modelId="{283DAF12-D357-4B64-8C67-F268157DCAE2}" type="pres">
      <dgm:prSet presAssocID="{7B3F5988-9301-4E29-A133-DC87FCDF4AA0}" presName="childNode2tx" presStyleLbl="bgAcc1" presStyleIdx="1" presStyleCnt="5">
        <dgm:presLayoutVars>
          <dgm:bulletEnabled val="1"/>
        </dgm:presLayoutVars>
      </dgm:prSet>
      <dgm:spPr/>
    </dgm:pt>
    <dgm:pt modelId="{1B660F90-6650-45EC-ADC7-652BA2D60983}" type="pres">
      <dgm:prSet presAssocID="{7B3F5988-9301-4E29-A133-DC87FCDF4AA0}" presName="parentNode2" presStyleLbl="node1" presStyleIdx="1" presStyleCnt="5">
        <dgm:presLayoutVars>
          <dgm:chMax val="0"/>
          <dgm:bulletEnabled val="1"/>
        </dgm:presLayoutVars>
      </dgm:prSet>
      <dgm:spPr/>
    </dgm:pt>
    <dgm:pt modelId="{AE202511-9264-4110-A16B-AD4AF39FB2EA}" type="pres">
      <dgm:prSet presAssocID="{7B3F5988-9301-4E29-A133-DC87FCDF4AA0}" presName="connSite2" presStyleCnt="0"/>
      <dgm:spPr>
        <a:scene3d>
          <a:camera prst="orthographicFront"/>
          <a:lightRig rig="threePt" dir="t"/>
        </a:scene3d>
        <a:sp3d>
          <a:bevelT/>
        </a:sp3d>
      </dgm:spPr>
    </dgm:pt>
    <dgm:pt modelId="{742757E5-E448-4FE3-904D-F87099CE8EE5}" type="pres">
      <dgm:prSet presAssocID="{3D7992BA-8600-44D8-878F-29B8572000BA}" presName="Name18" presStyleLbl="sibTrans2D1" presStyleIdx="1" presStyleCnt="4"/>
      <dgm:spPr/>
    </dgm:pt>
    <dgm:pt modelId="{DC2B0A3F-F92C-4F05-992C-69595017CDCB}" type="pres">
      <dgm:prSet presAssocID="{C2F3E1A5-D29A-4CA9-B719-8419EAAE6B89}" presName="composite1" presStyleCnt="0"/>
      <dgm:spPr>
        <a:scene3d>
          <a:camera prst="orthographicFront"/>
          <a:lightRig rig="threePt" dir="t"/>
        </a:scene3d>
        <a:sp3d>
          <a:bevelT/>
        </a:sp3d>
      </dgm:spPr>
    </dgm:pt>
    <dgm:pt modelId="{3D56970D-A154-42A6-9508-9325A8CEE7F7}" type="pres">
      <dgm:prSet presAssocID="{C2F3E1A5-D29A-4CA9-B719-8419EAAE6B89}" presName="dummyNode1" presStyleLbl="node1" presStyleIdx="1" presStyleCnt="5"/>
      <dgm:spPr>
        <a:scene3d>
          <a:camera prst="orthographicFront"/>
          <a:lightRig rig="threePt" dir="t"/>
        </a:scene3d>
        <a:sp3d>
          <a:bevelT/>
        </a:sp3d>
      </dgm:spPr>
    </dgm:pt>
    <dgm:pt modelId="{FBC370FE-1FB4-42A0-BCC3-435204ACB5EC}" type="pres">
      <dgm:prSet presAssocID="{C2F3E1A5-D29A-4CA9-B719-8419EAAE6B89}" presName="childNode1" presStyleLbl="bgAcc1" presStyleIdx="2" presStyleCnt="5">
        <dgm:presLayoutVars>
          <dgm:bulletEnabled val="1"/>
        </dgm:presLayoutVars>
      </dgm:prSet>
      <dgm:spPr/>
    </dgm:pt>
    <dgm:pt modelId="{883CB0B6-B90F-4A72-A43E-6595075913A8}" type="pres">
      <dgm:prSet presAssocID="{C2F3E1A5-D29A-4CA9-B719-8419EAAE6B89}" presName="childNode1tx" presStyleLbl="bgAcc1" presStyleIdx="2" presStyleCnt="5">
        <dgm:presLayoutVars>
          <dgm:bulletEnabled val="1"/>
        </dgm:presLayoutVars>
      </dgm:prSet>
      <dgm:spPr/>
    </dgm:pt>
    <dgm:pt modelId="{268DDF55-00BE-4917-B31C-624C793AF7EE}" type="pres">
      <dgm:prSet presAssocID="{C2F3E1A5-D29A-4CA9-B719-8419EAAE6B89}" presName="parentNode1" presStyleLbl="node1" presStyleIdx="2" presStyleCnt="5">
        <dgm:presLayoutVars>
          <dgm:chMax val="1"/>
          <dgm:bulletEnabled val="1"/>
        </dgm:presLayoutVars>
      </dgm:prSet>
      <dgm:spPr/>
    </dgm:pt>
    <dgm:pt modelId="{4E3D7BC8-BF51-4012-AEFE-451B9BFFCCD6}" type="pres">
      <dgm:prSet presAssocID="{C2F3E1A5-D29A-4CA9-B719-8419EAAE6B89}" presName="connSite1" presStyleCnt="0"/>
      <dgm:spPr>
        <a:scene3d>
          <a:camera prst="orthographicFront"/>
          <a:lightRig rig="threePt" dir="t"/>
        </a:scene3d>
        <a:sp3d>
          <a:bevelT/>
        </a:sp3d>
      </dgm:spPr>
    </dgm:pt>
    <dgm:pt modelId="{F43BD8A3-1588-4C72-B813-F53DD87769DA}" type="pres">
      <dgm:prSet presAssocID="{772B1CCE-1D9A-4E5F-B5E3-C9C14A767691}" presName="Name9" presStyleLbl="sibTrans2D1" presStyleIdx="2" presStyleCnt="4"/>
      <dgm:spPr/>
    </dgm:pt>
    <dgm:pt modelId="{0F96E9B7-C1EB-4443-9743-349DD0F9DAC6}" type="pres">
      <dgm:prSet presAssocID="{D372C1AB-C8B9-426E-A3A5-33828471D411}" presName="composite2" presStyleCnt="0"/>
      <dgm:spPr>
        <a:scene3d>
          <a:camera prst="orthographicFront"/>
          <a:lightRig rig="threePt" dir="t"/>
        </a:scene3d>
        <a:sp3d>
          <a:bevelT/>
        </a:sp3d>
      </dgm:spPr>
    </dgm:pt>
    <dgm:pt modelId="{985A5E3C-8C4F-470F-AFA7-5A3DC9B7DF9F}" type="pres">
      <dgm:prSet presAssocID="{D372C1AB-C8B9-426E-A3A5-33828471D411}" presName="dummyNode2" presStyleLbl="node1" presStyleIdx="2" presStyleCnt="5"/>
      <dgm:spPr>
        <a:scene3d>
          <a:camera prst="orthographicFront"/>
          <a:lightRig rig="threePt" dir="t"/>
        </a:scene3d>
        <a:sp3d>
          <a:bevelT/>
        </a:sp3d>
      </dgm:spPr>
    </dgm:pt>
    <dgm:pt modelId="{4786CFFD-8204-442E-A51B-CAF84E7B2E3B}" type="pres">
      <dgm:prSet presAssocID="{D372C1AB-C8B9-426E-A3A5-33828471D411}" presName="childNode2" presStyleLbl="bgAcc1" presStyleIdx="3" presStyleCnt="5">
        <dgm:presLayoutVars>
          <dgm:bulletEnabled val="1"/>
        </dgm:presLayoutVars>
      </dgm:prSet>
      <dgm:spPr/>
    </dgm:pt>
    <dgm:pt modelId="{77B9A095-6C75-4FBA-9D13-D6F9D7469558}" type="pres">
      <dgm:prSet presAssocID="{D372C1AB-C8B9-426E-A3A5-33828471D411}" presName="childNode2tx" presStyleLbl="bgAcc1" presStyleIdx="3" presStyleCnt="5">
        <dgm:presLayoutVars>
          <dgm:bulletEnabled val="1"/>
        </dgm:presLayoutVars>
      </dgm:prSet>
      <dgm:spPr/>
    </dgm:pt>
    <dgm:pt modelId="{930ED641-F70C-4763-BDBC-71D013553B14}" type="pres">
      <dgm:prSet presAssocID="{D372C1AB-C8B9-426E-A3A5-33828471D411}" presName="parentNode2" presStyleLbl="node1" presStyleIdx="3" presStyleCnt="5">
        <dgm:presLayoutVars>
          <dgm:chMax val="0"/>
          <dgm:bulletEnabled val="1"/>
        </dgm:presLayoutVars>
      </dgm:prSet>
      <dgm:spPr/>
    </dgm:pt>
    <dgm:pt modelId="{FD9290FC-30B4-44DC-A4C6-CEE8B6904A8D}" type="pres">
      <dgm:prSet presAssocID="{D372C1AB-C8B9-426E-A3A5-33828471D411}" presName="connSite2" presStyleCnt="0"/>
      <dgm:spPr>
        <a:scene3d>
          <a:camera prst="orthographicFront"/>
          <a:lightRig rig="threePt" dir="t"/>
        </a:scene3d>
        <a:sp3d>
          <a:bevelT/>
        </a:sp3d>
      </dgm:spPr>
    </dgm:pt>
    <dgm:pt modelId="{C3390885-71B4-4909-AE6F-36D7113702DF}" type="pres">
      <dgm:prSet presAssocID="{BB2D3103-2B19-4333-AAC4-76CF75CEBEC2}" presName="Name18" presStyleLbl="sibTrans2D1" presStyleIdx="3" presStyleCnt="4"/>
      <dgm:spPr/>
    </dgm:pt>
    <dgm:pt modelId="{5E05ED90-2044-48F3-B2F5-58070C2E8C95}" type="pres">
      <dgm:prSet presAssocID="{4A2F2D54-15C9-401D-BED0-9C35B8E78DAC}" presName="composite1" presStyleCnt="0"/>
      <dgm:spPr>
        <a:scene3d>
          <a:camera prst="orthographicFront"/>
          <a:lightRig rig="threePt" dir="t"/>
        </a:scene3d>
        <a:sp3d>
          <a:bevelT/>
        </a:sp3d>
      </dgm:spPr>
    </dgm:pt>
    <dgm:pt modelId="{97297971-DA09-434E-B686-7A9B3A45BA39}" type="pres">
      <dgm:prSet presAssocID="{4A2F2D54-15C9-401D-BED0-9C35B8E78DAC}" presName="dummyNode1" presStyleLbl="node1" presStyleIdx="3" presStyleCnt="5"/>
      <dgm:spPr>
        <a:scene3d>
          <a:camera prst="orthographicFront"/>
          <a:lightRig rig="threePt" dir="t"/>
        </a:scene3d>
        <a:sp3d>
          <a:bevelT/>
        </a:sp3d>
      </dgm:spPr>
    </dgm:pt>
    <dgm:pt modelId="{3BE98083-5563-4A7B-8E47-2C171F60FB9D}" type="pres">
      <dgm:prSet presAssocID="{4A2F2D54-15C9-401D-BED0-9C35B8E78DAC}" presName="childNode1" presStyleLbl="bgAcc1" presStyleIdx="4" presStyleCnt="5">
        <dgm:presLayoutVars>
          <dgm:bulletEnabled val="1"/>
        </dgm:presLayoutVars>
      </dgm:prSet>
      <dgm:spPr/>
    </dgm:pt>
    <dgm:pt modelId="{A506C930-AADC-413D-BFB2-8013210328E8}" type="pres">
      <dgm:prSet presAssocID="{4A2F2D54-15C9-401D-BED0-9C35B8E78DAC}" presName="childNode1tx" presStyleLbl="bgAcc1" presStyleIdx="4" presStyleCnt="5">
        <dgm:presLayoutVars>
          <dgm:bulletEnabled val="1"/>
        </dgm:presLayoutVars>
      </dgm:prSet>
      <dgm:spPr/>
    </dgm:pt>
    <dgm:pt modelId="{4DB4630F-5F99-414F-A7B0-C790F78E8716}" type="pres">
      <dgm:prSet presAssocID="{4A2F2D54-15C9-401D-BED0-9C35B8E78DAC}" presName="parentNode1" presStyleLbl="node1" presStyleIdx="4" presStyleCnt="5">
        <dgm:presLayoutVars>
          <dgm:chMax val="1"/>
          <dgm:bulletEnabled val="1"/>
        </dgm:presLayoutVars>
      </dgm:prSet>
      <dgm:spPr/>
    </dgm:pt>
    <dgm:pt modelId="{1682D075-AE0C-4352-9AAD-57C4E00A64AE}" type="pres">
      <dgm:prSet presAssocID="{4A2F2D54-15C9-401D-BED0-9C35B8E78DAC}" presName="connSite1" presStyleCnt="0"/>
      <dgm:spPr>
        <a:scene3d>
          <a:camera prst="orthographicFront"/>
          <a:lightRig rig="threePt" dir="t"/>
        </a:scene3d>
        <a:sp3d>
          <a:bevelT/>
        </a:sp3d>
      </dgm:spPr>
    </dgm:pt>
  </dgm:ptLst>
  <dgm:cxnLst>
    <dgm:cxn modelId="{BA297204-6D2E-4435-8578-71EC2A0765B0}" type="presOf" srcId="{D372C1AB-C8B9-426E-A3A5-33828471D411}" destId="{930ED641-F70C-4763-BDBC-71D013553B14}" srcOrd="0" destOrd="0" presId="urn:microsoft.com/office/officeart/2005/8/layout/hProcess4"/>
    <dgm:cxn modelId="{A93A4A08-A25A-43D1-9B09-EB7806A3CB5E}" srcId="{F63A68A8-1D70-4931-B0C6-C365659F18FF}" destId="{0A7FD552-5B3E-483E-B770-572E1127F2D5}" srcOrd="1" destOrd="0" parTransId="{5E0D3632-5D92-4EB0-B22C-2929EB696038}" sibTransId="{0F54A509-40D8-4395-9B34-030A9C457ABD}"/>
    <dgm:cxn modelId="{4AA1A00B-0741-4C47-A212-7314316186B0}" type="presOf" srcId="{7A6F4365-7B7C-4F58-BB44-C62E3BE5084E}" destId="{E378B42E-F8CA-4610-83DB-295B68791042}" srcOrd="0" destOrd="1" presId="urn:microsoft.com/office/officeart/2005/8/layout/hProcess4"/>
    <dgm:cxn modelId="{73BD260C-2B03-41E8-B7CB-25B17795B237}" type="presOf" srcId="{B7936793-9CC9-4051-A134-582AC4A77037}" destId="{A506C930-AADC-413D-BFB2-8013210328E8}" srcOrd="1" destOrd="0" presId="urn:microsoft.com/office/officeart/2005/8/layout/hProcess4"/>
    <dgm:cxn modelId="{AF1BF50F-7F21-42B6-A0EF-F09490A5FAAD}" srcId="{4A2F2D54-15C9-401D-BED0-9C35B8E78DAC}" destId="{B7936793-9CC9-4051-A134-582AC4A77037}" srcOrd="0" destOrd="0" parTransId="{E7E7412A-3027-4827-9098-28BDA6B55B54}" sibTransId="{5A302ABB-5DFD-4E86-B196-3BB54839F7CD}"/>
    <dgm:cxn modelId="{98FF7211-C0F1-4846-AC29-77E47211BC95}" type="presOf" srcId="{14441871-64B3-4E21-A320-94C83D70B851}" destId="{283DAF12-D357-4B64-8C67-F268157DCAE2}" srcOrd="1" destOrd="4" presId="urn:microsoft.com/office/officeart/2005/8/layout/hProcess4"/>
    <dgm:cxn modelId="{3FDD861B-7E86-4A71-863D-C504D9408AFF}" type="presOf" srcId="{C3B5CFDD-05BB-46FC-852D-DB7823644C7E}" destId="{8905CFB0-730D-4360-94E6-9F39AAFF1AAE}" srcOrd="0" destOrd="0" presId="urn:microsoft.com/office/officeart/2005/8/layout/hProcess4"/>
    <dgm:cxn modelId="{7CE2151D-6BB5-4D42-8E02-8C645ABF210C}" type="presOf" srcId="{4A2F2D54-15C9-401D-BED0-9C35B8E78DAC}" destId="{4DB4630F-5F99-414F-A7B0-C790F78E8716}" srcOrd="0" destOrd="0" presId="urn:microsoft.com/office/officeart/2005/8/layout/hProcess4"/>
    <dgm:cxn modelId="{A3991B22-C88F-4532-844B-DBF910BFCBCD}" srcId="{7B3F5988-9301-4E29-A133-DC87FCDF4AA0}" destId="{7A6F4365-7B7C-4F58-BB44-C62E3BE5084E}" srcOrd="1" destOrd="0" parTransId="{9B7668E4-57A0-4806-A634-3D7AAB26438E}" sibTransId="{0D4E84C2-5EE6-41CB-8896-3E0078AC63EE}"/>
    <dgm:cxn modelId="{29C64A2A-5C12-4304-AA62-0FD77A594E20}" srcId="{A18F3DAB-ACDE-438D-A026-D5BF684FF787}" destId="{C2F3E1A5-D29A-4CA9-B719-8419EAAE6B89}" srcOrd="2" destOrd="0" parTransId="{DCBF584E-7D1A-4718-BDAD-631522FE2284}" sibTransId="{772B1CCE-1D9A-4E5F-B5E3-C9C14A767691}"/>
    <dgm:cxn modelId="{D4FC1030-D744-404E-BAEF-5C803CC5B362}" type="presOf" srcId="{687CD3D0-EF59-4514-B480-0E650B07BA48}" destId="{E378B42E-F8CA-4610-83DB-295B68791042}" srcOrd="0" destOrd="2" presId="urn:microsoft.com/office/officeart/2005/8/layout/hProcess4"/>
    <dgm:cxn modelId="{EF2C583B-B6DC-482E-ACD8-CD3B548C4537}" srcId="{7B3F5988-9301-4E29-A133-DC87FCDF4AA0}" destId="{14441871-64B3-4E21-A320-94C83D70B851}" srcOrd="4" destOrd="0" parTransId="{CA15F2EE-04A5-4981-828B-23EB32923E12}" sibTransId="{9C5D67B7-1A77-4CAB-8019-0464A57C9FE1}"/>
    <dgm:cxn modelId="{D7EF205D-AC68-4F1F-BD6C-82326AF2B5FA}" type="presOf" srcId="{0A7FD552-5B3E-483E-B770-572E1127F2D5}" destId="{04D668F1-D6E2-41A2-B6D0-04AA6A0CB6F6}" srcOrd="1" destOrd="1" presId="urn:microsoft.com/office/officeart/2005/8/layout/hProcess4"/>
    <dgm:cxn modelId="{C7CBB342-AC85-460F-9DA7-603215883CE6}" type="presOf" srcId="{28DD0D83-4930-4BBF-A0B8-A5D9CCCF92B9}" destId="{3BE98083-5563-4A7B-8E47-2C171F60FB9D}" srcOrd="0" destOrd="3" presId="urn:microsoft.com/office/officeart/2005/8/layout/hProcess4"/>
    <dgm:cxn modelId="{4C21C244-D197-474D-A0A6-2AADB6870B5F}" type="presOf" srcId="{3355FF82-2335-4FBE-A911-64B0181D7CBA}" destId="{77B9A095-6C75-4FBA-9D13-D6F9D7469558}" srcOrd="1" destOrd="0" presId="urn:microsoft.com/office/officeart/2005/8/layout/hProcess4"/>
    <dgm:cxn modelId="{72A13868-B993-445B-8297-0E7E5E4AA03B}" srcId="{7B3F5988-9301-4E29-A133-DC87FCDF4AA0}" destId="{CC9D56B9-AD82-49A0-A27D-C36A868D9915}" srcOrd="3" destOrd="0" parTransId="{76ADF2D4-ADB2-4CD1-85BB-A35353BB40D8}" sibTransId="{F3CA47AD-A44C-4115-BD8D-1CADE0CCF461}"/>
    <dgm:cxn modelId="{13128969-570D-44B5-8A90-9E3E88EDF62D}" type="presOf" srcId="{3D7992BA-8600-44D8-878F-29B8572000BA}" destId="{742757E5-E448-4FE3-904D-F87099CE8EE5}" srcOrd="0" destOrd="0" presId="urn:microsoft.com/office/officeart/2005/8/layout/hProcess4"/>
    <dgm:cxn modelId="{D8DD334A-0D84-42E1-BE8C-9E7368AC1C16}" srcId="{C2F3E1A5-D29A-4CA9-B719-8419EAAE6B89}" destId="{8B30DC3D-677C-48DD-8161-1D5B1BC06D4A}" srcOrd="0" destOrd="0" parTransId="{FA440D3B-3680-448D-8D45-9CD70656C1E4}" sibTransId="{C511DC7B-94D0-47BD-9851-282B5FC4DC0F}"/>
    <dgm:cxn modelId="{5D63816D-A726-4E1B-9441-2595BF12C40E}" type="presOf" srcId="{CB905BA8-7F25-4DC5-8974-09CD77165D0A}" destId="{77B9A095-6C75-4FBA-9D13-D6F9D7469558}" srcOrd="1" destOrd="1" presId="urn:microsoft.com/office/officeart/2005/8/layout/hProcess4"/>
    <dgm:cxn modelId="{B7C96D6E-BBBD-495B-884A-894DDED78537}" srcId="{7B3F5988-9301-4E29-A133-DC87FCDF4AA0}" destId="{687CD3D0-EF59-4514-B480-0E650B07BA48}" srcOrd="2" destOrd="0" parTransId="{224FFDB3-4211-499F-90F8-B3277AAAE61C}" sibTransId="{E2E8A76C-6A56-4B68-8A68-F2A00D9E6AF6}"/>
    <dgm:cxn modelId="{2FB8706E-312F-440A-A168-06780F52C2E1}" type="presOf" srcId="{EB89E7C9-0194-4E7D-9FE0-67E7B6992440}" destId="{F8F4BF05-5951-4168-ABD0-92987CE2A550}" srcOrd="0" destOrd="0" presId="urn:microsoft.com/office/officeart/2005/8/layout/hProcess4"/>
    <dgm:cxn modelId="{2931376F-D7F1-4ECA-BE05-F736382D79F6}" srcId="{C2F3E1A5-D29A-4CA9-B719-8419EAAE6B89}" destId="{646B246A-E80A-4F67-ADA6-1F1AB56A9463}" srcOrd="1" destOrd="0" parTransId="{52C5D1D1-537D-4FAE-A9EC-5E5D0DE09403}" sibTransId="{19E9CB90-9EFB-49CE-9DDB-C3CA1DCF7DD0}"/>
    <dgm:cxn modelId="{9D05936F-59E6-403F-9A3C-E7F9D90D4EAC}" type="presOf" srcId="{BB2D3103-2B19-4333-AAC4-76CF75CEBEC2}" destId="{C3390885-71B4-4909-AE6F-36D7113702DF}" srcOrd="0" destOrd="0" presId="urn:microsoft.com/office/officeart/2005/8/layout/hProcess4"/>
    <dgm:cxn modelId="{06A6C371-14A8-4B27-99F6-F441EA218089}" type="presOf" srcId="{90DE9014-39A4-4202-8152-93700FE1C401}" destId="{FBC370FE-1FB4-42A0-BCC3-435204ACB5EC}" srcOrd="0" destOrd="2" presId="urn:microsoft.com/office/officeart/2005/8/layout/hProcess4"/>
    <dgm:cxn modelId="{B5099876-0D1A-41CE-BA9E-83604D1994A7}" type="presOf" srcId="{646B246A-E80A-4F67-ADA6-1F1AB56A9463}" destId="{883CB0B6-B90F-4A72-A43E-6595075913A8}" srcOrd="1" destOrd="1" presId="urn:microsoft.com/office/officeart/2005/8/layout/hProcess4"/>
    <dgm:cxn modelId="{F693A759-B41F-4FD6-9B4E-60A055A5D524}" srcId="{F63A68A8-1D70-4931-B0C6-C365659F18FF}" destId="{C3B5CFDD-05BB-46FC-852D-DB7823644C7E}" srcOrd="0" destOrd="0" parTransId="{A0E75BD8-DCBF-4E2D-8D95-2EC2DA244C91}" sibTransId="{375D0CA1-62A5-4766-8612-6F0AFF7DF943}"/>
    <dgm:cxn modelId="{5313625A-7E23-45BC-A50F-7A90407B9030}" srcId="{4A2F2D54-15C9-401D-BED0-9C35B8E78DAC}" destId="{28DD0D83-4930-4BBF-A0B8-A5D9CCCF92B9}" srcOrd="3" destOrd="0" parTransId="{749DBF0A-F353-4548-B64A-E8C8482FE30E}" sibTransId="{F75B3276-5BB6-4616-A2CA-026B4C18425B}"/>
    <dgm:cxn modelId="{9771CB7D-B2AC-4847-B178-4B60A81DE4D5}" srcId="{7B3F5988-9301-4E29-A133-DC87FCDF4AA0}" destId="{0B482841-9F68-4919-A310-7A49C6E88201}" srcOrd="0" destOrd="0" parTransId="{9094C47E-AA6F-453A-81C5-6FD618558F57}" sibTransId="{754FB521-B77A-433D-AA41-6DB4988E168E}"/>
    <dgm:cxn modelId="{C58F897F-EF51-4A51-9337-D72D67A18324}" type="presOf" srcId="{0B482841-9F68-4919-A310-7A49C6E88201}" destId="{E378B42E-F8CA-4610-83DB-295B68791042}" srcOrd="0" destOrd="0" presId="urn:microsoft.com/office/officeart/2005/8/layout/hProcess4"/>
    <dgm:cxn modelId="{CA0EB284-3458-41C8-BD71-2AF4520723EF}" type="presOf" srcId="{C3B5CFDD-05BB-46FC-852D-DB7823644C7E}" destId="{04D668F1-D6E2-41A2-B6D0-04AA6A0CB6F6}" srcOrd="1" destOrd="0" presId="urn:microsoft.com/office/officeart/2005/8/layout/hProcess4"/>
    <dgm:cxn modelId="{121AA88B-C6D3-4C31-BE30-F880D83DEE4A}" srcId="{4A2F2D54-15C9-401D-BED0-9C35B8E78DAC}" destId="{FA403CBA-FD77-465F-B750-1BCEA04844CB}" srcOrd="1" destOrd="0" parTransId="{329D8AF5-05CF-4432-B38D-0D23C8446C0D}" sibTransId="{6BF2EAF0-32B7-4258-9B86-B66989651FA6}"/>
    <dgm:cxn modelId="{041E6E8D-DC4E-4678-8532-D747BBCD8D22}" srcId="{A18F3DAB-ACDE-438D-A026-D5BF684FF787}" destId="{7B3F5988-9301-4E29-A133-DC87FCDF4AA0}" srcOrd="1" destOrd="0" parTransId="{954DD1C1-3103-4D54-B554-6EE6C1208A00}" sibTransId="{3D7992BA-8600-44D8-878F-29B8572000BA}"/>
    <dgm:cxn modelId="{0922949F-9F2D-482E-B38D-85E7E2D8C54B}" type="presOf" srcId="{CB905BA8-7F25-4DC5-8974-09CD77165D0A}" destId="{4786CFFD-8204-442E-A51B-CAF84E7B2E3B}" srcOrd="0" destOrd="1" presId="urn:microsoft.com/office/officeart/2005/8/layout/hProcess4"/>
    <dgm:cxn modelId="{B0911DA5-BF39-4BEF-A30F-AFF78EBEE8EA}" type="presOf" srcId="{C2F3E1A5-D29A-4CA9-B719-8419EAAE6B89}" destId="{268DDF55-00BE-4917-B31C-624C793AF7EE}" srcOrd="0" destOrd="0" presId="urn:microsoft.com/office/officeart/2005/8/layout/hProcess4"/>
    <dgm:cxn modelId="{88082CA6-8742-419F-B8C9-12CC7E0D3DAB}" type="presOf" srcId="{3355FF82-2335-4FBE-A911-64B0181D7CBA}" destId="{4786CFFD-8204-442E-A51B-CAF84E7B2E3B}" srcOrd="0" destOrd="0" presId="urn:microsoft.com/office/officeart/2005/8/layout/hProcess4"/>
    <dgm:cxn modelId="{89CA9FA8-6A6A-4FE1-B2F5-58A3B5492811}" type="presOf" srcId="{646B246A-E80A-4F67-ADA6-1F1AB56A9463}" destId="{FBC370FE-1FB4-42A0-BCC3-435204ACB5EC}" srcOrd="0" destOrd="1" presId="urn:microsoft.com/office/officeart/2005/8/layout/hProcess4"/>
    <dgm:cxn modelId="{B78554AA-D47C-4F01-858C-757FD2BB1438}" type="presOf" srcId="{55E39136-485F-4A0D-8FC0-7D312625B529}" destId="{A506C930-AADC-413D-BFB2-8013210328E8}" srcOrd="1" destOrd="2" presId="urn:microsoft.com/office/officeart/2005/8/layout/hProcess4"/>
    <dgm:cxn modelId="{A6CB57AA-9C82-4FEE-9FC1-1CDA56C9ABE0}" type="presOf" srcId="{55E39136-485F-4A0D-8FC0-7D312625B529}" destId="{3BE98083-5563-4A7B-8E47-2C171F60FB9D}" srcOrd="0" destOrd="2" presId="urn:microsoft.com/office/officeart/2005/8/layout/hProcess4"/>
    <dgm:cxn modelId="{5A3B2DAB-553E-4BBD-A557-55E0372CE1ED}" type="presOf" srcId="{28DD0D83-4930-4BBF-A0B8-A5D9CCCF92B9}" destId="{A506C930-AADC-413D-BFB2-8013210328E8}" srcOrd="1" destOrd="3" presId="urn:microsoft.com/office/officeart/2005/8/layout/hProcess4"/>
    <dgm:cxn modelId="{A06E9BAB-21A9-44AF-86E6-03DDCE7B75DF}" srcId="{D372C1AB-C8B9-426E-A3A5-33828471D411}" destId="{CB905BA8-7F25-4DC5-8974-09CD77165D0A}" srcOrd="1" destOrd="0" parTransId="{EDB2A6A9-C66B-4935-82EE-D09D725F7DA4}" sibTransId="{1F6CECB3-557F-48BD-80C9-72858152EA68}"/>
    <dgm:cxn modelId="{C6638BAD-AFE4-454C-8C83-D5BAE931FD22}" type="presOf" srcId="{F63A68A8-1D70-4931-B0C6-C365659F18FF}" destId="{CA21E9F1-04D2-4843-9F15-4232DBB063F4}" srcOrd="0" destOrd="0" presId="urn:microsoft.com/office/officeart/2005/8/layout/hProcess4"/>
    <dgm:cxn modelId="{AB04ACB0-29E4-4683-9670-2E37D99F3F1A}" type="presOf" srcId="{CC9D56B9-AD82-49A0-A27D-C36A868D9915}" destId="{283DAF12-D357-4B64-8C67-F268157DCAE2}" srcOrd="1" destOrd="3" presId="urn:microsoft.com/office/officeart/2005/8/layout/hProcess4"/>
    <dgm:cxn modelId="{4214A1B2-CD5D-4164-BA92-47B4B784D097}" type="presOf" srcId="{FA403CBA-FD77-465F-B750-1BCEA04844CB}" destId="{A506C930-AADC-413D-BFB2-8013210328E8}" srcOrd="1" destOrd="1" presId="urn:microsoft.com/office/officeart/2005/8/layout/hProcess4"/>
    <dgm:cxn modelId="{8F91FDB9-D7A8-4CCB-901C-1BFAC31F86CB}" srcId="{D372C1AB-C8B9-426E-A3A5-33828471D411}" destId="{3355FF82-2335-4FBE-A911-64B0181D7CBA}" srcOrd="0" destOrd="0" parTransId="{18691EE7-F2F4-4A33-8DE8-5A4902D3F894}" sibTransId="{989E9082-51BD-462C-A438-5ABA7AC097F6}"/>
    <dgm:cxn modelId="{7DF9BBBC-0B84-4246-A823-AB27243ADCB5}" type="presOf" srcId="{CC9D56B9-AD82-49A0-A27D-C36A868D9915}" destId="{E378B42E-F8CA-4610-83DB-295B68791042}" srcOrd="0" destOrd="3" presId="urn:microsoft.com/office/officeart/2005/8/layout/hProcess4"/>
    <dgm:cxn modelId="{929FECBC-4AAC-492F-AC36-40DFFD7EBF01}" type="presOf" srcId="{8B30DC3D-677C-48DD-8161-1D5B1BC06D4A}" destId="{FBC370FE-1FB4-42A0-BCC3-435204ACB5EC}" srcOrd="0" destOrd="0" presId="urn:microsoft.com/office/officeart/2005/8/layout/hProcess4"/>
    <dgm:cxn modelId="{AF9C48BF-57DC-426C-9367-D5C60D97AFE6}" type="presOf" srcId="{687CD3D0-EF59-4514-B480-0E650B07BA48}" destId="{283DAF12-D357-4B64-8C67-F268157DCAE2}" srcOrd="1" destOrd="2" presId="urn:microsoft.com/office/officeart/2005/8/layout/hProcess4"/>
    <dgm:cxn modelId="{2E12BBC0-A769-4216-8D76-3340FB57B3E8}" srcId="{A18F3DAB-ACDE-438D-A026-D5BF684FF787}" destId="{D372C1AB-C8B9-426E-A3A5-33828471D411}" srcOrd="3" destOrd="0" parTransId="{64A0A576-1466-4140-80F9-8A478AA8251A}" sibTransId="{BB2D3103-2B19-4333-AAC4-76CF75CEBEC2}"/>
    <dgm:cxn modelId="{492C6BC2-8288-4043-BB2C-954FCD3FE41F}" type="presOf" srcId="{B7936793-9CC9-4051-A134-582AC4A77037}" destId="{3BE98083-5563-4A7B-8E47-2C171F60FB9D}" srcOrd="0" destOrd="0" presId="urn:microsoft.com/office/officeart/2005/8/layout/hProcess4"/>
    <dgm:cxn modelId="{66DD98C2-5696-4BFD-8EC5-126F21B60B58}" srcId="{4A2F2D54-15C9-401D-BED0-9C35B8E78DAC}" destId="{55E39136-485F-4A0D-8FC0-7D312625B529}" srcOrd="2" destOrd="0" parTransId="{25A1B0E4-305A-4304-BB0C-DDAD276408BE}" sibTransId="{86C85136-2BE1-411E-9ADB-FC56641B16F1}"/>
    <dgm:cxn modelId="{4F7E62C9-4B4E-4C82-8020-7E9285E8A7BE}" srcId="{A18F3DAB-ACDE-438D-A026-D5BF684FF787}" destId="{F63A68A8-1D70-4931-B0C6-C365659F18FF}" srcOrd="0" destOrd="0" parTransId="{9F4AF916-918C-45E4-9459-B6297C4A55F6}" sibTransId="{EB89E7C9-0194-4E7D-9FE0-67E7B6992440}"/>
    <dgm:cxn modelId="{9BB3DAD3-1834-4614-9668-06607C9C2FF7}" type="presOf" srcId="{90DE9014-39A4-4202-8152-93700FE1C401}" destId="{883CB0B6-B90F-4A72-A43E-6595075913A8}" srcOrd="1" destOrd="2" presId="urn:microsoft.com/office/officeart/2005/8/layout/hProcess4"/>
    <dgm:cxn modelId="{142BABD4-D7A5-4932-948B-276D756202AF}" type="presOf" srcId="{14441871-64B3-4E21-A320-94C83D70B851}" destId="{E378B42E-F8CA-4610-83DB-295B68791042}" srcOrd="0" destOrd="4" presId="urn:microsoft.com/office/officeart/2005/8/layout/hProcess4"/>
    <dgm:cxn modelId="{C8AFF7DD-BB58-47F6-A310-C2387B10866D}" srcId="{C2F3E1A5-D29A-4CA9-B719-8419EAAE6B89}" destId="{90DE9014-39A4-4202-8152-93700FE1C401}" srcOrd="2" destOrd="0" parTransId="{8E4638C8-803E-4EC6-B8EF-BFE0FDCDB2CD}" sibTransId="{59713BD0-5FD1-4D5B-8547-C7BDF19100F0}"/>
    <dgm:cxn modelId="{F1955BEA-F4DD-403E-B345-5339F6AC2CA2}" type="presOf" srcId="{0A7FD552-5B3E-483E-B770-572E1127F2D5}" destId="{8905CFB0-730D-4360-94E6-9F39AAFF1AAE}" srcOrd="0" destOrd="1" presId="urn:microsoft.com/office/officeart/2005/8/layout/hProcess4"/>
    <dgm:cxn modelId="{C7993AF3-8098-456F-8E49-1AA4FF4F5147}" type="presOf" srcId="{7B3F5988-9301-4E29-A133-DC87FCDF4AA0}" destId="{1B660F90-6650-45EC-ADC7-652BA2D60983}" srcOrd="0" destOrd="0" presId="urn:microsoft.com/office/officeart/2005/8/layout/hProcess4"/>
    <dgm:cxn modelId="{55575DF3-36B3-4AAF-9469-F3142349C70E}" type="presOf" srcId="{772B1CCE-1D9A-4E5F-B5E3-C9C14A767691}" destId="{F43BD8A3-1588-4C72-B813-F53DD87769DA}" srcOrd="0" destOrd="0" presId="urn:microsoft.com/office/officeart/2005/8/layout/hProcess4"/>
    <dgm:cxn modelId="{0CBBE0F4-5969-4946-80F6-2FCB86E87CC6}" type="presOf" srcId="{A18F3DAB-ACDE-438D-A026-D5BF684FF787}" destId="{260F178C-AC98-4F27-B068-22392757D26D}" srcOrd="0" destOrd="0" presId="urn:microsoft.com/office/officeart/2005/8/layout/hProcess4"/>
    <dgm:cxn modelId="{B47696F6-C06A-4B32-BD1D-02F02AB2B978}" type="presOf" srcId="{8B30DC3D-677C-48DD-8161-1D5B1BC06D4A}" destId="{883CB0B6-B90F-4A72-A43E-6595075913A8}" srcOrd="1" destOrd="0" presId="urn:microsoft.com/office/officeart/2005/8/layout/hProcess4"/>
    <dgm:cxn modelId="{01F684FA-66C1-4AC4-A138-FC149C5476EF}" type="presOf" srcId="{7A6F4365-7B7C-4F58-BB44-C62E3BE5084E}" destId="{283DAF12-D357-4B64-8C67-F268157DCAE2}" srcOrd="1" destOrd="1" presId="urn:microsoft.com/office/officeart/2005/8/layout/hProcess4"/>
    <dgm:cxn modelId="{F148B8FB-53E3-4DAA-85F0-E6AD624ABBFC}" type="presOf" srcId="{FA403CBA-FD77-465F-B750-1BCEA04844CB}" destId="{3BE98083-5563-4A7B-8E47-2C171F60FB9D}" srcOrd="0" destOrd="1" presId="urn:microsoft.com/office/officeart/2005/8/layout/hProcess4"/>
    <dgm:cxn modelId="{5D8278FD-A4E0-421E-A226-0EA25A5D8E39}" type="presOf" srcId="{0B482841-9F68-4919-A310-7A49C6E88201}" destId="{283DAF12-D357-4B64-8C67-F268157DCAE2}" srcOrd="1" destOrd="0" presId="urn:microsoft.com/office/officeart/2005/8/layout/hProcess4"/>
    <dgm:cxn modelId="{0A0398FF-E4D0-4190-B039-865206383219}" srcId="{A18F3DAB-ACDE-438D-A026-D5BF684FF787}" destId="{4A2F2D54-15C9-401D-BED0-9C35B8E78DAC}" srcOrd="4" destOrd="0" parTransId="{AD030B7B-278D-4EAE-B916-F41488A4F48A}" sibTransId="{7DE3735A-2E8E-4E70-B26A-457559210967}"/>
    <dgm:cxn modelId="{0D6C80CD-D507-4ED0-B2A1-AC730ACA2E97}" type="presParOf" srcId="{260F178C-AC98-4F27-B068-22392757D26D}" destId="{0E718443-C5E9-4DD5-8126-21090C2057AC}" srcOrd="0" destOrd="0" presId="urn:microsoft.com/office/officeart/2005/8/layout/hProcess4"/>
    <dgm:cxn modelId="{95FDA78C-D273-44C4-9806-B138249DC68E}" type="presParOf" srcId="{260F178C-AC98-4F27-B068-22392757D26D}" destId="{89F527AD-76D0-4171-A164-AAD4109EE8BE}" srcOrd="1" destOrd="0" presId="urn:microsoft.com/office/officeart/2005/8/layout/hProcess4"/>
    <dgm:cxn modelId="{AC31ECB8-F56B-46B0-8CFB-EB5FE148FD5E}" type="presParOf" srcId="{260F178C-AC98-4F27-B068-22392757D26D}" destId="{F387518D-DB31-4227-942E-E9743C4D25E3}" srcOrd="2" destOrd="0" presId="urn:microsoft.com/office/officeart/2005/8/layout/hProcess4"/>
    <dgm:cxn modelId="{2F0ECC16-D235-43E3-82FB-11308A378EFF}" type="presParOf" srcId="{F387518D-DB31-4227-942E-E9743C4D25E3}" destId="{07B9D7A8-56B0-43DC-8DAE-934EB33E7C79}" srcOrd="0" destOrd="0" presId="urn:microsoft.com/office/officeart/2005/8/layout/hProcess4"/>
    <dgm:cxn modelId="{CB757479-5C85-46EF-A1DC-434986E72886}" type="presParOf" srcId="{07B9D7A8-56B0-43DC-8DAE-934EB33E7C79}" destId="{2362980D-FBFF-4F90-9A1C-855141C50D0F}" srcOrd="0" destOrd="0" presId="urn:microsoft.com/office/officeart/2005/8/layout/hProcess4"/>
    <dgm:cxn modelId="{9E39FF79-575D-44BA-8E45-9DF2695AC93D}" type="presParOf" srcId="{07B9D7A8-56B0-43DC-8DAE-934EB33E7C79}" destId="{8905CFB0-730D-4360-94E6-9F39AAFF1AAE}" srcOrd="1" destOrd="0" presId="urn:microsoft.com/office/officeart/2005/8/layout/hProcess4"/>
    <dgm:cxn modelId="{3139D04E-300C-4F72-939D-2F8AB32EFB80}" type="presParOf" srcId="{07B9D7A8-56B0-43DC-8DAE-934EB33E7C79}" destId="{04D668F1-D6E2-41A2-B6D0-04AA6A0CB6F6}" srcOrd="2" destOrd="0" presId="urn:microsoft.com/office/officeart/2005/8/layout/hProcess4"/>
    <dgm:cxn modelId="{FF24236A-1F3D-4101-9993-529E19B4D215}" type="presParOf" srcId="{07B9D7A8-56B0-43DC-8DAE-934EB33E7C79}" destId="{CA21E9F1-04D2-4843-9F15-4232DBB063F4}" srcOrd="3" destOrd="0" presId="urn:microsoft.com/office/officeart/2005/8/layout/hProcess4"/>
    <dgm:cxn modelId="{46193A13-7904-47D7-B952-3C37019891AE}" type="presParOf" srcId="{07B9D7A8-56B0-43DC-8DAE-934EB33E7C79}" destId="{28A55E6F-F112-4DD0-9467-43640ABF7A9B}" srcOrd="4" destOrd="0" presId="urn:microsoft.com/office/officeart/2005/8/layout/hProcess4"/>
    <dgm:cxn modelId="{82D5E96D-D1FB-4729-A184-EA640222A1C8}" type="presParOf" srcId="{F387518D-DB31-4227-942E-E9743C4D25E3}" destId="{F8F4BF05-5951-4168-ABD0-92987CE2A550}" srcOrd="1" destOrd="0" presId="urn:microsoft.com/office/officeart/2005/8/layout/hProcess4"/>
    <dgm:cxn modelId="{C6041BF9-D5D1-45C2-A47B-C06E916A9644}" type="presParOf" srcId="{F387518D-DB31-4227-942E-E9743C4D25E3}" destId="{C2C64153-F27E-43F4-A609-8474C986CDDC}" srcOrd="2" destOrd="0" presId="urn:microsoft.com/office/officeart/2005/8/layout/hProcess4"/>
    <dgm:cxn modelId="{2CDAB45B-BD05-4260-9A7D-DF9B4749608E}" type="presParOf" srcId="{C2C64153-F27E-43F4-A609-8474C986CDDC}" destId="{179CFE02-B9F3-4F5B-BF62-31624F2D6CB5}" srcOrd="0" destOrd="0" presId="urn:microsoft.com/office/officeart/2005/8/layout/hProcess4"/>
    <dgm:cxn modelId="{FD9DC202-F405-4E57-A2C8-E31F3EA1121D}" type="presParOf" srcId="{C2C64153-F27E-43F4-A609-8474C986CDDC}" destId="{E378B42E-F8CA-4610-83DB-295B68791042}" srcOrd="1" destOrd="0" presId="urn:microsoft.com/office/officeart/2005/8/layout/hProcess4"/>
    <dgm:cxn modelId="{B73DF973-6E53-4E5B-A11E-28A6554FFEBB}" type="presParOf" srcId="{C2C64153-F27E-43F4-A609-8474C986CDDC}" destId="{283DAF12-D357-4B64-8C67-F268157DCAE2}" srcOrd="2" destOrd="0" presId="urn:microsoft.com/office/officeart/2005/8/layout/hProcess4"/>
    <dgm:cxn modelId="{8BD8130C-9673-40A2-8021-FC6CBA578AE5}" type="presParOf" srcId="{C2C64153-F27E-43F4-A609-8474C986CDDC}" destId="{1B660F90-6650-45EC-ADC7-652BA2D60983}" srcOrd="3" destOrd="0" presId="urn:microsoft.com/office/officeart/2005/8/layout/hProcess4"/>
    <dgm:cxn modelId="{942721FB-2971-491A-9716-0B7F2F3AF7FF}" type="presParOf" srcId="{C2C64153-F27E-43F4-A609-8474C986CDDC}" destId="{AE202511-9264-4110-A16B-AD4AF39FB2EA}" srcOrd="4" destOrd="0" presId="urn:microsoft.com/office/officeart/2005/8/layout/hProcess4"/>
    <dgm:cxn modelId="{667E96EA-D2EA-4533-B077-D9A47E4443D7}" type="presParOf" srcId="{F387518D-DB31-4227-942E-E9743C4D25E3}" destId="{742757E5-E448-4FE3-904D-F87099CE8EE5}" srcOrd="3" destOrd="0" presId="urn:microsoft.com/office/officeart/2005/8/layout/hProcess4"/>
    <dgm:cxn modelId="{58D1FAB9-7297-4853-95BD-0504FF9F26EE}" type="presParOf" srcId="{F387518D-DB31-4227-942E-E9743C4D25E3}" destId="{DC2B0A3F-F92C-4F05-992C-69595017CDCB}" srcOrd="4" destOrd="0" presId="urn:microsoft.com/office/officeart/2005/8/layout/hProcess4"/>
    <dgm:cxn modelId="{27BC89D3-CE3E-4F25-AF4D-D31F0D5AAF8E}" type="presParOf" srcId="{DC2B0A3F-F92C-4F05-992C-69595017CDCB}" destId="{3D56970D-A154-42A6-9508-9325A8CEE7F7}" srcOrd="0" destOrd="0" presId="urn:microsoft.com/office/officeart/2005/8/layout/hProcess4"/>
    <dgm:cxn modelId="{ED8D47E2-CEC2-4D9C-89A3-D4181725B5DA}" type="presParOf" srcId="{DC2B0A3F-F92C-4F05-992C-69595017CDCB}" destId="{FBC370FE-1FB4-42A0-BCC3-435204ACB5EC}" srcOrd="1" destOrd="0" presId="urn:microsoft.com/office/officeart/2005/8/layout/hProcess4"/>
    <dgm:cxn modelId="{D68A0DE1-4506-4C77-ABB4-FE80F6CC2BE7}" type="presParOf" srcId="{DC2B0A3F-F92C-4F05-992C-69595017CDCB}" destId="{883CB0B6-B90F-4A72-A43E-6595075913A8}" srcOrd="2" destOrd="0" presId="urn:microsoft.com/office/officeart/2005/8/layout/hProcess4"/>
    <dgm:cxn modelId="{2BD08765-C53F-4CE8-8E63-9B6E3735719C}" type="presParOf" srcId="{DC2B0A3F-F92C-4F05-992C-69595017CDCB}" destId="{268DDF55-00BE-4917-B31C-624C793AF7EE}" srcOrd="3" destOrd="0" presId="urn:microsoft.com/office/officeart/2005/8/layout/hProcess4"/>
    <dgm:cxn modelId="{B49EA50E-75B9-43DD-9071-F695DD0454D7}" type="presParOf" srcId="{DC2B0A3F-F92C-4F05-992C-69595017CDCB}" destId="{4E3D7BC8-BF51-4012-AEFE-451B9BFFCCD6}" srcOrd="4" destOrd="0" presId="urn:microsoft.com/office/officeart/2005/8/layout/hProcess4"/>
    <dgm:cxn modelId="{5803A200-043D-490C-891B-A21A293A504B}" type="presParOf" srcId="{F387518D-DB31-4227-942E-E9743C4D25E3}" destId="{F43BD8A3-1588-4C72-B813-F53DD87769DA}" srcOrd="5" destOrd="0" presId="urn:microsoft.com/office/officeart/2005/8/layout/hProcess4"/>
    <dgm:cxn modelId="{E35F1863-FFB8-4664-8090-3ADB88EF3F6E}" type="presParOf" srcId="{F387518D-DB31-4227-942E-E9743C4D25E3}" destId="{0F96E9B7-C1EB-4443-9743-349DD0F9DAC6}" srcOrd="6" destOrd="0" presId="urn:microsoft.com/office/officeart/2005/8/layout/hProcess4"/>
    <dgm:cxn modelId="{2FE019EF-F288-40F8-8DC1-1B0AD884AFD1}" type="presParOf" srcId="{0F96E9B7-C1EB-4443-9743-349DD0F9DAC6}" destId="{985A5E3C-8C4F-470F-AFA7-5A3DC9B7DF9F}" srcOrd="0" destOrd="0" presId="urn:microsoft.com/office/officeart/2005/8/layout/hProcess4"/>
    <dgm:cxn modelId="{3F32B537-5AF9-4E2D-A6F3-8F4A6D87422B}" type="presParOf" srcId="{0F96E9B7-C1EB-4443-9743-349DD0F9DAC6}" destId="{4786CFFD-8204-442E-A51B-CAF84E7B2E3B}" srcOrd="1" destOrd="0" presId="urn:microsoft.com/office/officeart/2005/8/layout/hProcess4"/>
    <dgm:cxn modelId="{B34E9348-9D22-419D-9FFB-2DC5643CC532}" type="presParOf" srcId="{0F96E9B7-C1EB-4443-9743-349DD0F9DAC6}" destId="{77B9A095-6C75-4FBA-9D13-D6F9D7469558}" srcOrd="2" destOrd="0" presId="urn:microsoft.com/office/officeart/2005/8/layout/hProcess4"/>
    <dgm:cxn modelId="{637E6CA5-D1EB-49A4-98C2-AD32850B33F1}" type="presParOf" srcId="{0F96E9B7-C1EB-4443-9743-349DD0F9DAC6}" destId="{930ED641-F70C-4763-BDBC-71D013553B14}" srcOrd="3" destOrd="0" presId="urn:microsoft.com/office/officeart/2005/8/layout/hProcess4"/>
    <dgm:cxn modelId="{2D5F9D3A-E5CD-4DAE-B396-798035518551}" type="presParOf" srcId="{0F96E9B7-C1EB-4443-9743-349DD0F9DAC6}" destId="{FD9290FC-30B4-44DC-A4C6-CEE8B6904A8D}" srcOrd="4" destOrd="0" presId="urn:microsoft.com/office/officeart/2005/8/layout/hProcess4"/>
    <dgm:cxn modelId="{96F9BA0B-18FE-47F6-97C8-36815C2467CE}" type="presParOf" srcId="{F387518D-DB31-4227-942E-E9743C4D25E3}" destId="{C3390885-71B4-4909-AE6F-36D7113702DF}" srcOrd="7" destOrd="0" presId="urn:microsoft.com/office/officeart/2005/8/layout/hProcess4"/>
    <dgm:cxn modelId="{82F2DBE2-A5D1-4EAF-AEE7-BCA9BE204146}" type="presParOf" srcId="{F387518D-DB31-4227-942E-E9743C4D25E3}" destId="{5E05ED90-2044-48F3-B2F5-58070C2E8C95}" srcOrd="8" destOrd="0" presId="urn:microsoft.com/office/officeart/2005/8/layout/hProcess4"/>
    <dgm:cxn modelId="{B1A3A9CD-B160-48D5-B814-87A93C0C0E8F}" type="presParOf" srcId="{5E05ED90-2044-48F3-B2F5-58070C2E8C95}" destId="{97297971-DA09-434E-B686-7A9B3A45BA39}" srcOrd="0" destOrd="0" presId="urn:microsoft.com/office/officeart/2005/8/layout/hProcess4"/>
    <dgm:cxn modelId="{574093EE-6CAB-402B-B8D5-D03D7926E601}" type="presParOf" srcId="{5E05ED90-2044-48F3-B2F5-58070C2E8C95}" destId="{3BE98083-5563-4A7B-8E47-2C171F60FB9D}" srcOrd="1" destOrd="0" presId="urn:microsoft.com/office/officeart/2005/8/layout/hProcess4"/>
    <dgm:cxn modelId="{FFFAD611-A8BE-4D46-B7E9-72B7DECA13BF}" type="presParOf" srcId="{5E05ED90-2044-48F3-B2F5-58070C2E8C95}" destId="{A506C930-AADC-413D-BFB2-8013210328E8}" srcOrd="2" destOrd="0" presId="urn:microsoft.com/office/officeart/2005/8/layout/hProcess4"/>
    <dgm:cxn modelId="{077D87D9-F6E1-466E-A032-D3B639003FE0}" type="presParOf" srcId="{5E05ED90-2044-48F3-B2F5-58070C2E8C95}" destId="{4DB4630F-5F99-414F-A7B0-C790F78E8716}" srcOrd="3" destOrd="0" presId="urn:microsoft.com/office/officeart/2005/8/layout/hProcess4"/>
    <dgm:cxn modelId="{5E3F4EC4-F8F0-4298-BB18-BC7F9EDCA1B8}" type="presParOf" srcId="{5E05ED90-2044-48F3-B2F5-58070C2E8C95}" destId="{1682D075-AE0C-4352-9AAD-57C4E00A64AE}" srcOrd="4" destOrd="0" presId="urn:microsoft.com/office/officeart/2005/8/layout/h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05E08D-9DB0-4352-A408-B5D3AC3AC1B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EABFECEA-D3A7-4284-834E-85EE56DFC24A}">
      <dgm:prSet phldrT="[Texto]"/>
      <dgm:spPr>
        <a:solidFill>
          <a:srgbClr val="2F3E46"/>
        </a:solidFill>
        <a:scene3d>
          <a:camera prst="orthographicFront"/>
          <a:lightRig rig="threePt" dir="t"/>
        </a:scene3d>
        <a:sp3d>
          <a:bevelT/>
        </a:sp3d>
      </dgm:spPr>
      <dgm:t>
        <a:bodyPr/>
        <a:lstStyle/>
        <a:p>
          <a:r>
            <a:rPr lang="es-ES" b="1" dirty="0">
              <a:latin typeface="Montserrat" panose="00000500000000000000" pitchFamily="2" charset="0"/>
            </a:rPr>
            <a:t>Operación</a:t>
          </a:r>
          <a:endParaRPr lang="es-MX" b="1" dirty="0">
            <a:latin typeface="Montserrat" panose="00000500000000000000" pitchFamily="2" charset="0"/>
          </a:endParaRPr>
        </a:p>
      </dgm:t>
    </dgm:pt>
    <dgm:pt modelId="{B47D349B-1A16-4C42-A683-BD2A5251D019}" type="parTrans" cxnId="{BBB4376F-0AA7-4C26-B820-F298BC33DE05}">
      <dgm:prSet/>
      <dgm:spPr/>
      <dgm:t>
        <a:bodyPr/>
        <a:lstStyle/>
        <a:p>
          <a:endParaRPr lang="es-MX">
            <a:latin typeface="Montserrat" panose="00000500000000000000" pitchFamily="2" charset="0"/>
          </a:endParaRPr>
        </a:p>
      </dgm:t>
    </dgm:pt>
    <dgm:pt modelId="{A33767F9-51BC-490D-8442-4ABE1A666C98}" type="sibTrans" cxnId="{BBB4376F-0AA7-4C26-B820-F298BC33DE05}">
      <dgm:prSet/>
      <dgm:spPr/>
      <dgm:t>
        <a:bodyPr/>
        <a:lstStyle/>
        <a:p>
          <a:endParaRPr lang="es-MX">
            <a:latin typeface="Montserrat" panose="00000500000000000000" pitchFamily="2" charset="0"/>
          </a:endParaRPr>
        </a:p>
      </dgm:t>
    </dgm:pt>
    <dgm:pt modelId="{FBA8AEA8-F3DE-49CC-95DD-15EE0076D1E9}">
      <dgm:prSet phldrT="[Texto]"/>
      <dgm:spPr>
        <a:solidFill>
          <a:srgbClr val="52796F"/>
        </a:solidFill>
        <a:scene3d>
          <a:camera prst="orthographicFront"/>
          <a:lightRig rig="threePt" dir="t"/>
        </a:scene3d>
        <a:sp3d>
          <a:bevelT/>
        </a:sp3d>
      </dgm:spPr>
      <dgm:t>
        <a:bodyPr lIns="72000" rIns="72000"/>
        <a:lstStyle/>
        <a:p>
          <a:pPr marL="0" indent="0" algn="just">
            <a:spcAft>
              <a:spcPts val="0"/>
            </a:spcAft>
            <a:buFontTx/>
            <a:buNone/>
          </a:pPr>
          <a:r>
            <a:rPr lang="es-ES" dirty="0">
              <a:solidFill>
                <a:schemeClr val="bg1"/>
              </a:solidFill>
              <a:latin typeface="Montserrat" panose="00000500000000000000" pitchFamily="2" charset="0"/>
            </a:rPr>
            <a:t>Recursos </a:t>
          </a:r>
          <a:r>
            <a:rPr lang="es-ES" b="1" dirty="0">
              <a:solidFill>
                <a:schemeClr val="bg1"/>
              </a:solidFill>
              <a:latin typeface="Montserrat" panose="00000500000000000000" pitchFamily="2" charset="0"/>
            </a:rPr>
            <a:t>generados</a:t>
          </a:r>
          <a:endParaRPr lang="es-MX" b="1" dirty="0">
            <a:solidFill>
              <a:schemeClr val="bg1"/>
            </a:solidFill>
            <a:latin typeface="Montserrat" panose="00000500000000000000" pitchFamily="2" charset="0"/>
          </a:endParaRPr>
        </a:p>
      </dgm:t>
    </dgm:pt>
    <dgm:pt modelId="{C681DADE-D4FA-4B13-B89C-32DFC6F728D0}" type="parTrans" cxnId="{F7760EF2-720C-4A81-B6CA-DE363AD2F509}">
      <dgm:prSet/>
      <dgm:spPr/>
      <dgm:t>
        <a:bodyPr/>
        <a:lstStyle/>
        <a:p>
          <a:endParaRPr lang="es-MX">
            <a:latin typeface="Montserrat" panose="00000500000000000000" pitchFamily="2" charset="0"/>
          </a:endParaRPr>
        </a:p>
      </dgm:t>
    </dgm:pt>
    <dgm:pt modelId="{1FC7FA49-C0F5-4DDB-8D85-E99A86561741}" type="sibTrans" cxnId="{F7760EF2-720C-4A81-B6CA-DE363AD2F509}">
      <dgm:prSet/>
      <dgm:spPr/>
      <dgm:t>
        <a:bodyPr/>
        <a:lstStyle/>
        <a:p>
          <a:endParaRPr lang="es-MX">
            <a:latin typeface="Montserrat" panose="00000500000000000000" pitchFamily="2" charset="0"/>
          </a:endParaRPr>
        </a:p>
      </dgm:t>
    </dgm:pt>
    <dgm:pt modelId="{04852495-9E28-4DDE-A27E-B53D45B01D67}">
      <dgm:prSet phldrT="[Texto]"/>
      <dgm:spPr>
        <a:solidFill>
          <a:srgbClr val="2F3E46"/>
        </a:solidFill>
        <a:scene3d>
          <a:camera prst="orthographicFront"/>
          <a:lightRig rig="threePt" dir="t"/>
        </a:scene3d>
        <a:sp3d>
          <a:bevelT/>
        </a:sp3d>
      </dgm:spPr>
      <dgm:t>
        <a:bodyPr/>
        <a:lstStyle/>
        <a:p>
          <a:r>
            <a:rPr lang="es-ES" b="1" dirty="0">
              <a:latin typeface="Montserrat" panose="00000500000000000000" pitchFamily="2" charset="0"/>
            </a:rPr>
            <a:t>Inversión</a:t>
          </a:r>
          <a:endParaRPr lang="es-MX" b="1" dirty="0">
            <a:latin typeface="Montserrat" panose="00000500000000000000" pitchFamily="2" charset="0"/>
          </a:endParaRPr>
        </a:p>
      </dgm:t>
    </dgm:pt>
    <dgm:pt modelId="{29DC4039-B128-4993-9FE0-1C2408930292}" type="parTrans" cxnId="{18EDDB1D-EB76-4FB8-9221-C6A065B47414}">
      <dgm:prSet/>
      <dgm:spPr/>
      <dgm:t>
        <a:bodyPr/>
        <a:lstStyle/>
        <a:p>
          <a:endParaRPr lang="es-MX">
            <a:latin typeface="Montserrat" panose="00000500000000000000" pitchFamily="2" charset="0"/>
          </a:endParaRPr>
        </a:p>
      </dgm:t>
    </dgm:pt>
    <dgm:pt modelId="{E2A11161-E790-46D9-A051-2C33575774FE}" type="sibTrans" cxnId="{18EDDB1D-EB76-4FB8-9221-C6A065B47414}">
      <dgm:prSet/>
      <dgm:spPr/>
      <dgm:t>
        <a:bodyPr/>
        <a:lstStyle/>
        <a:p>
          <a:endParaRPr lang="es-MX">
            <a:latin typeface="Montserrat" panose="00000500000000000000" pitchFamily="2" charset="0"/>
          </a:endParaRPr>
        </a:p>
      </dgm:t>
    </dgm:pt>
    <dgm:pt modelId="{7966FC61-D9B0-4315-80EC-BD89BC56992D}">
      <dgm:prSet phldrT="[Texto]"/>
      <dgm:spPr>
        <a:solidFill>
          <a:srgbClr val="52796F"/>
        </a:solidFill>
        <a:scene3d>
          <a:camera prst="orthographicFront"/>
          <a:lightRig rig="threePt" dir="t"/>
        </a:scene3d>
        <a:sp3d>
          <a:bevelT/>
        </a:sp3d>
      </dgm:spPr>
      <dgm:t>
        <a:bodyPr lIns="72000" rIns="72000"/>
        <a:lstStyle/>
        <a:p>
          <a:pPr marL="0" indent="0" algn="just">
            <a:buFontTx/>
            <a:buNone/>
          </a:pPr>
          <a:r>
            <a:rPr lang="es-ES" dirty="0">
              <a:solidFill>
                <a:schemeClr val="bg1"/>
              </a:solidFill>
              <a:latin typeface="Montserrat" panose="00000500000000000000" pitchFamily="2" charset="0"/>
            </a:rPr>
            <a:t>Efectivo utilizado para </a:t>
          </a:r>
          <a:r>
            <a:rPr lang="es-ES" b="1" dirty="0">
              <a:solidFill>
                <a:schemeClr val="bg1"/>
              </a:solidFill>
              <a:latin typeface="Montserrat" panose="00000500000000000000" pitchFamily="2" charset="0"/>
            </a:rPr>
            <a:t>adquirir o vender activos</a:t>
          </a:r>
          <a:r>
            <a:rPr lang="es-ES" dirty="0">
              <a:solidFill>
                <a:schemeClr val="bg1"/>
              </a:solidFill>
              <a:latin typeface="Montserrat" panose="00000500000000000000" pitchFamily="2" charset="0"/>
            </a:rPr>
            <a:t> a largo plazo, como propiedades, equipos e inversiones en otras empresas.</a:t>
          </a:r>
          <a:endParaRPr lang="es-MX" dirty="0">
            <a:solidFill>
              <a:schemeClr val="bg1"/>
            </a:solidFill>
            <a:latin typeface="Montserrat" panose="00000500000000000000" pitchFamily="2" charset="0"/>
          </a:endParaRPr>
        </a:p>
      </dgm:t>
    </dgm:pt>
    <dgm:pt modelId="{BF903E87-FA39-4584-9EAD-F2DEF112E55A}" type="parTrans" cxnId="{41981F14-13A7-4E1D-8FD9-CD6166686A42}">
      <dgm:prSet/>
      <dgm:spPr/>
      <dgm:t>
        <a:bodyPr/>
        <a:lstStyle/>
        <a:p>
          <a:endParaRPr lang="es-MX">
            <a:latin typeface="Montserrat" panose="00000500000000000000" pitchFamily="2" charset="0"/>
          </a:endParaRPr>
        </a:p>
      </dgm:t>
    </dgm:pt>
    <dgm:pt modelId="{14ECA371-99A4-453F-B7B5-43D5D5A355B2}" type="sibTrans" cxnId="{41981F14-13A7-4E1D-8FD9-CD6166686A42}">
      <dgm:prSet/>
      <dgm:spPr/>
      <dgm:t>
        <a:bodyPr/>
        <a:lstStyle/>
        <a:p>
          <a:endParaRPr lang="es-MX">
            <a:latin typeface="Montserrat" panose="00000500000000000000" pitchFamily="2" charset="0"/>
          </a:endParaRPr>
        </a:p>
      </dgm:t>
    </dgm:pt>
    <dgm:pt modelId="{9B7E3B7E-D3A2-45A1-A1B8-DC7EFB57565E}">
      <dgm:prSet phldrT="[Texto]"/>
      <dgm:spPr>
        <a:solidFill>
          <a:srgbClr val="2F3E46"/>
        </a:solidFill>
        <a:scene3d>
          <a:camera prst="orthographicFront"/>
          <a:lightRig rig="threePt" dir="t"/>
        </a:scene3d>
        <a:sp3d>
          <a:bevelT/>
        </a:sp3d>
      </dgm:spPr>
      <dgm:t>
        <a:bodyPr/>
        <a:lstStyle/>
        <a:p>
          <a:r>
            <a:rPr lang="es-ES" b="1" dirty="0">
              <a:latin typeface="Montserrat" panose="00000500000000000000" pitchFamily="2" charset="0"/>
            </a:rPr>
            <a:t>Financiamiento</a:t>
          </a:r>
          <a:endParaRPr lang="es-MX" b="1" dirty="0">
            <a:latin typeface="Montserrat" panose="00000500000000000000" pitchFamily="2" charset="0"/>
          </a:endParaRPr>
        </a:p>
      </dgm:t>
    </dgm:pt>
    <dgm:pt modelId="{46EBD731-036B-45D1-90CD-57652210B799}" type="parTrans" cxnId="{F8E5D228-A2C7-4881-BE26-F16B8C50BE60}">
      <dgm:prSet/>
      <dgm:spPr/>
      <dgm:t>
        <a:bodyPr/>
        <a:lstStyle/>
        <a:p>
          <a:endParaRPr lang="es-MX">
            <a:latin typeface="Montserrat" panose="00000500000000000000" pitchFamily="2" charset="0"/>
          </a:endParaRPr>
        </a:p>
      </dgm:t>
    </dgm:pt>
    <dgm:pt modelId="{F6941C78-3A92-409D-B584-1623E3107C7A}" type="sibTrans" cxnId="{F8E5D228-A2C7-4881-BE26-F16B8C50BE60}">
      <dgm:prSet/>
      <dgm:spPr/>
      <dgm:t>
        <a:bodyPr/>
        <a:lstStyle/>
        <a:p>
          <a:endParaRPr lang="es-MX">
            <a:latin typeface="Montserrat" panose="00000500000000000000" pitchFamily="2" charset="0"/>
          </a:endParaRPr>
        </a:p>
      </dgm:t>
    </dgm:pt>
    <dgm:pt modelId="{4E7D6C7A-5111-4448-9006-9565091B5086}">
      <dgm:prSet phldrT="[Texto]"/>
      <dgm:spPr>
        <a:solidFill>
          <a:srgbClr val="52796F"/>
        </a:solidFill>
        <a:scene3d>
          <a:camera prst="orthographicFront"/>
          <a:lightRig rig="threePt" dir="t"/>
        </a:scene3d>
        <a:sp3d>
          <a:bevelT/>
        </a:sp3d>
      </dgm:spPr>
      <dgm:t>
        <a:bodyPr lIns="72000" rIns="108000"/>
        <a:lstStyle/>
        <a:p>
          <a:pPr marL="0" indent="0" algn="just">
            <a:buFontTx/>
            <a:buNone/>
          </a:pPr>
          <a:r>
            <a:rPr lang="es-ES" dirty="0">
              <a:solidFill>
                <a:schemeClr val="bg1"/>
              </a:solidFill>
              <a:latin typeface="Montserrat" panose="00000500000000000000" pitchFamily="2" charset="0"/>
            </a:rPr>
            <a:t>Efectivo recibido de o pagado a los inversores y prestamistas, como la </a:t>
          </a:r>
          <a:r>
            <a:rPr lang="es-ES" b="1" dirty="0">
              <a:solidFill>
                <a:schemeClr val="bg1"/>
              </a:solidFill>
              <a:latin typeface="Montserrat" panose="00000500000000000000" pitchFamily="2" charset="0"/>
            </a:rPr>
            <a:t>emisión de acciones, la obtención de préstamos o el pago de dividendos y amortizaciones.</a:t>
          </a:r>
          <a:endParaRPr lang="es-MX" b="1" dirty="0">
            <a:solidFill>
              <a:schemeClr val="bg1"/>
            </a:solidFill>
            <a:latin typeface="Montserrat" panose="00000500000000000000" pitchFamily="2" charset="0"/>
          </a:endParaRPr>
        </a:p>
      </dgm:t>
    </dgm:pt>
    <dgm:pt modelId="{F2908D47-74AD-47E2-89B8-4294F51563E4}" type="parTrans" cxnId="{3BFC882E-B637-4D91-A6A4-938BD2C769C0}">
      <dgm:prSet/>
      <dgm:spPr/>
      <dgm:t>
        <a:bodyPr/>
        <a:lstStyle/>
        <a:p>
          <a:endParaRPr lang="es-MX">
            <a:latin typeface="Montserrat" panose="00000500000000000000" pitchFamily="2" charset="0"/>
          </a:endParaRPr>
        </a:p>
      </dgm:t>
    </dgm:pt>
    <dgm:pt modelId="{D0F66996-D9A7-4E81-B5BB-0AB6F190685D}" type="sibTrans" cxnId="{3BFC882E-B637-4D91-A6A4-938BD2C769C0}">
      <dgm:prSet/>
      <dgm:spPr/>
      <dgm:t>
        <a:bodyPr/>
        <a:lstStyle/>
        <a:p>
          <a:endParaRPr lang="es-MX">
            <a:latin typeface="Montserrat" panose="00000500000000000000" pitchFamily="2" charset="0"/>
          </a:endParaRPr>
        </a:p>
      </dgm:t>
    </dgm:pt>
    <dgm:pt modelId="{826FC029-BEAC-4FEA-9B28-23AA2D4591BC}">
      <dgm:prSet phldrT="[Texto]"/>
      <dgm:spPr>
        <a:solidFill>
          <a:srgbClr val="52796F"/>
        </a:solidFill>
        <a:scene3d>
          <a:camera prst="orthographicFront"/>
          <a:lightRig rig="threePt" dir="t"/>
        </a:scene3d>
        <a:sp3d>
          <a:bevelT/>
        </a:sp3d>
      </dgm:spPr>
      <dgm:t>
        <a:bodyPr lIns="72000" rIns="72000"/>
        <a:lstStyle/>
        <a:p>
          <a:pPr marL="0" indent="0" algn="just">
            <a:spcAft>
              <a:spcPts val="0"/>
            </a:spcAft>
            <a:buFontTx/>
            <a:buNone/>
          </a:pPr>
          <a:r>
            <a:rPr lang="es-ES" b="1" dirty="0">
              <a:solidFill>
                <a:schemeClr val="bg1"/>
              </a:solidFill>
              <a:latin typeface="Montserrat" panose="00000500000000000000" pitchFamily="2" charset="0"/>
            </a:rPr>
            <a:t>o utilizados </a:t>
          </a:r>
          <a:r>
            <a:rPr lang="es-ES" dirty="0">
              <a:solidFill>
                <a:schemeClr val="bg1"/>
              </a:solidFill>
              <a:latin typeface="Montserrat" panose="00000500000000000000" pitchFamily="2" charset="0"/>
            </a:rPr>
            <a:t>en las operaciones principales de la entidad, como ventas, pagos a proveedores y salarios.</a:t>
          </a:r>
          <a:endParaRPr lang="es-MX" dirty="0">
            <a:solidFill>
              <a:schemeClr val="bg1"/>
            </a:solidFill>
            <a:latin typeface="Montserrat" panose="00000500000000000000" pitchFamily="2" charset="0"/>
          </a:endParaRPr>
        </a:p>
      </dgm:t>
    </dgm:pt>
    <dgm:pt modelId="{BAB6FFBC-DCDD-4207-AAEC-6EA977138F8C}" type="parTrans" cxnId="{41FE787D-5F53-456C-AA7B-72DA976AB2E8}">
      <dgm:prSet/>
      <dgm:spPr/>
      <dgm:t>
        <a:bodyPr/>
        <a:lstStyle/>
        <a:p>
          <a:endParaRPr lang="es-MX">
            <a:latin typeface="Montserrat" panose="00000500000000000000" pitchFamily="2" charset="0"/>
          </a:endParaRPr>
        </a:p>
      </dgm:t>
    </dgm:pt>
    <dgm:pt modelId="{FAC7CAC4-CA3C-41FF-BB6F-1ACEBCB63A04}" type="sibTrans" cxnId="{41FE787D-5F53-456C-AA7B-72DA976AB2E8}">
      <dgm:prSet/>
      <dgm:spPr/>
      <dgm:t>
        <a:bodyPr/>
        <a:lstStyle/>
        <a:p>
          <a:endParaRPr lang="es-MX">
            <a:latin typeface="Montserrat" panose="00000500000000000000" pitchFamily="2" charset="0"/>
          </a:endParaRPr>
        </a:p>
      </dgm:t>
    </dgm:pt>
    <dgm:pt modelId="{6DE59358-717B-44D4-84FC-5CA1D77A83C5}" type="pres">
      <dgm:prSet presAssocID="{AB05E08D-9DB0-4352-A408-B5D3AC3AC1B9}" presName="Name0" presStyleCnt="0">
        <dgm:presLayoutVars>
          <dgm:dir/>
          <dgm:animLvl val="lvl"/>
          <dgm:resizeHandles val="exact"/>
        </dgm:presLayoutVars>
      </dgm:prSet>
      <dgm:spPr/>
    </dgm:pt>
    <dgm:pt modelId="{2BFA3E04-6DC7-47E3-967F-C3B25836278A}" type="pres">
      <dgm:prSet presAssocID="{EABFECEA-D3A7-4284-834E-85EE56DFC24A}" presName="composite" presStyleCnt="0"/>
      <dgm:spPr>
        <a:scene3d>
          <a:camera prst="orthographicFront"/>
          <a:lightRig rig="threePt" dir="t"/>
        </a:scene3d>
        <a:sp3d>
          <a:bevelT/>
        </a:sp3d>
      </dgm:spPr>
    </dgm:pt>
    <dgm:pt modelId="{43897253-1334-4379-A888-C605DCEB1198}" type="pres">
      <dgm:prSet presAssocID="{EABFECEA-D3A7-4284-834E-85EE56DFC24A}" presName="parTx" presStyleLbl="alignNode1" presStyleIdx="0" presStyleCnt="3">
        <dgm:presLayoutVars>
          <dgm:chMax val="0"/>
          <dgm:chPref val="0"/>
          <dgm:bulletEnabled val="1"/>
        </dgm:presLayoutVars>
      </dgm:prSet>
      <dgm:spPr/>
    </dgm:pt>
    <dgm:pt modelId="{A92DF1FE-DB36-4CB5-AA41-5F4086C64105}" type="pres">
      <dgm:prSet presAssocID="{EABFECEA-D3A7-4284-834E-85EE56DFC24A}" presName="desTx" presStyleLbl="alignAccFollowNode1" presStyleIdx="0" presStyleCnt="3">
        <dgm:presLayoutVars>
          <dgm:bulletEnabled val="1"/>
        </dgm:presLayoutVars>
      </dgm:prSet>
      <dgm:spPr/>
    </dgm:pt>
    <dgm:pt modelId="{C84AD063-C607-4C28-A0A9-5BFC52837C68}" type="pres">
      <dgm:prSet presAssocID="{A33767F9-51BC-490D-8442-4ABE1A666C98}" presName="space" presStyleCnt="0"/>
      <dgm:spPr>
        <a:scene3d>
          <a:camera prst="orthographicFront"/>
          <a:lightRig rig="threePt" dir="t"/>
        </a:scene3d>
        <a:sp3d>
          <a:bevelT/>
        </a:sp3d>
      </dgm:spPr>
    </dgm:pt>
    <dgm:pt modelId="{2227CD0C-E26C-4039-A3F5-302E54C23172}" type="pres">
      <dgm:prSet presAssocID="{04852495-9E28-4DDE-A27E-B53D45B01D67}" presName="composite" presStyleCnt="0"/>
      <dgm:spPr>
        <a:scene3d>
          <a:camera prst="orthographicFront"/>
          <a:lightRig rig="threePt" dir="t"/>
        </a:scene3d>
        <a:sp3d>
          <a:bevelT/>
        </a:sp3d>
      </dgm:spPr>
    </dgm:pt>
    <dgm:pt modelId="{E561973A-9E7A-4E4E-A67F-7079EAA4969D}" type="pres">
      <dgm:prSet presAssocID="{04852495-9E28-4DDE-A27E-B53D45B01D67}" presName="parTx" presStyleLbl="alignNode1" presStyleIdx="1" presStyleCnt="3">
        <dgm:presLayoutVars>
          <dgm:chMax val="0"/>
          <dgm:chPref val="0"/>
          <dgm:bulletEnabled val="1"/>
        </dgm:presLayoutVars>
      </dgm:prSet>
      <dgm:spPr/>
    </dgm:pt>
    <dgm:pt modelId="{980ECDCF-1383-4D97-9EDE-6AEAA671B280}" type="pres">
      <dgm:prSet presAssocID="{04852495-9E28-4DDE-A27E-B53D45B01D67}" presName="desTx" presStyleLbl="alignAccFollowNode1" presStyleIdx="1" presStyleCnt="3">
        <dgm:presLayoutVars>
          <dgm:bulletEnabled val="1"/>
        </dgm:presLayoutVars>
      </dgm:prSet>
      <dgm:spPr/>
    </dgm:pt>
    <dgm:pt modelId="{C12D6016-2E7F-4F4F-8A66-CF8414CEDD8A}" type="pres">
      <dgm:prSet presAssocID="{E2A11161-E790-46D9-A051-2C33575774FE}" presName="space" presStyleCnt="0"/>
      <dgm:spPr>
        <a:scene3d>
          <a:camera prst="orthographicFront"/>
          <a:lightRig rig="threePt" dir="t"/>
        </a:scene3d>
        <a:sp3d>
          <a:bevelT/>
        </a:sp3d>
      </dgm:spPr>
    </dgm:pt>
    <dgm:pt modelId="{9A69CFCA-AD99-4C5C-B019-068FFC587B02}" type="pres">
      <dgm:prSet presAssocID="{9B7E3B7E-D3A2-45A1-A1B8-DC7EFB57565E}" presName="composite" presStyleCnt="0"/>
      <dgm:spPr>
        <a:scene3d>
          <a:camera prst="orthographicFront"/>
          <a:lightRig rig="threePt" dir="t"/>
        </a:scene3d>
        <a:sp3d>
          <a:bevelT/>
        </a:sp3d>
      </dgm:spPr>
    </dgm:pt>
    <dgm:pt modelId="{1668A0F7-E637-40BA-A175-D0CFA5E2ED0B}" type="pres">
      <dgm:prSet presAssocID="{9B7E3B7E-D3A2-45A1-A1B8-DC7EFB57565E}" presName="parTx" presStyleLbl="alignNode1" presStyleIdx="2" presStyleCnt="3">
        <dgm:presLayoutVars>
          <dgm:chMax val="0"/>
          <dgm:chPref val="0"/>
          <dgm:bulletEnabled val="1"/>
        </dgm:presLayoutVars>
      </dgm:prSet>
      <dgm:spPr/>
    </dgm:pt>
    <dgm:pt modelId="{BCAA3297-F6E6-475A-89C8-4489BD9E3C14}" type="pres">
      <dgm:prSet presAssocID="{9B7E3B7E-D3A2-45A1-A1B8-DC7EFB57565E}" presName="desTx" presStyleLbl="alignAccFollowNode1" presStyleIdx="2" presStyleCnt="3">
        <dgm:presLayoutVars>
          <dgm:bulletEnabled val="1"/>
        </dgm:presLayoutVars>
      </dgm:prSet>
      <dgm:spPr/>
    </dgm:pt>
  </dgm:ptLst>
  <dgm:cxnLst>
    <dgm:cxn modelId="{41981F14-13A7-4E1D-8FD9-CD6166686A42}" srcId="{04852495-9E28-4DDE-A27E-B53D45B01D67}" destId="{7966FC61-D9B0-4315-80EC-BD89BC56992D}" srcOrd="0" destOrd="0" parTransId="{BF903E87-FA39-4584-9EAD-F2DEF112E55A}" sibTransId="{14ECA371-99A4-453F-B7B5-43D5D5A355B2}"/>
    <dgm:cxn modelId="{9D243317-7468-40DE-8D2E-A10153626377}" type="presOf" srcId="{4E7D6C7A-5111-4448-9006-9565091B5086}" destId="{BCAA3297-F6E6-475A-89C8-4489BD9E3C14}" srcOrd="0" destOrd="0" presId="urn:microsoft.com/office/officeart/2005/8/layout/hList1"/>
    <dgm:cxn modelId="{18EDDB1D-EB76-4FB8-9221-C6A065B47414}" srcId="{AB05E08D-9DB0-4352-A408-B5D3AC3AC1B9}" destId="{04852495-9E28-4DDE-A27E-B53D45B01D67}" srcOrd="1" destOrd="0" parTransId="{29DC4039-B128-4993-9FE0-1C2408930292}" sibTransId="{E2A11161-E790-46D9-A051-2C33575774FE}"/>
    <dgm:cxn modelId="{223CB020-A2E7-4258-8EDE-D6B110176745}" type="presOf" srcId="{EABFECEA-D3A7-4284-834E-85EE56DFC24A}" destId="{43897253-1334-4379-A888-C605DCEB1198}" srcOrd="0" destOrd="0" presId="urn:microsoft.com/office/officeart/2005/8/layout/hList1"/>
    <dgm:cxn modelId="{50C9B623-BD55-4CF3-B1A8-895A7581CE25}" type="presOf" srcId="{9B7E3B7E-D3A2-45A1-A1B8-DC7EFB57565E}" destId="{1668A0F7-E637-40BA-A175-D0CFA5E2ED0B}" srcOrd="0" destOrd="0" presId="urn:microsoft.com/office/officeart/2005/8/layout/hList1"/>
    <dgm:cxn modelId="{F8E5D228-A2C7-4881-BE26-F16B8C50BE60}" srcId="{AB05E08D-9DB0-4352-A408-B5D3AC3AC1B9}" destId="{9B7E3B7E-D3A2-45A1-A1B8-DC7EFB57565E}" srcOrd="2" destOrd="0" parTransId="{46EBD731-036B-45D1-90CD-57652210B799}" sibTransId="{F6941C78-3A92-409D-B584-1623E3107C7A}"/>
    <dgm:cxn modelId="{E8293129-FC57-4E66-9D2F-8796D1BA2986}" type="presOf" srcId="{7966FC61-D9B0-4315-80EC-BD89BC56992D}" destId="{980ECDCF-1383-4D97-9EDE-6AEAA671B280}" srcOrd="0" destOrd="0" presId="urn:microsoft.com/office/officeart/2005/8/layout/hList1"/>
    <dgm:cxn modelId="{3BFC882E-B637-4D91-A6A4-938BD2C769C0}" srcId="{9B7E3B7E-D3A2-45A1-A1B8-DC7EFB57565E}" destId="{4E7D6C7A-5111-4448-9006-9565091B5086}" srcOrd="0" destOrd="0" parTransId="{F2908D47-74AD-47E2-89B8-4294F51563E4}" sibTransId="{D0F66996-D9A7-4E81-B5BB-0AB6F190685D}"/>
    <dgm:cxn modelId="{BBB4376F-0AA7-4C26-B820-F298BC33DE05}" srcId="{AB05E08D-9DB0-4352-A408-B5D3AC3AC1B9}" destId="{EABFECEA-D3A7-4284-834E-85EE56DFC24A}" srcOrd="0" destOrd="0" parTransId="{B47D349B-1A16-4C42-A683-BD2A5251D019}" sibTransId="{A33767F9-51BC-490D-8442-4ABE1A666C98}"/>
    <dgm:cxn modelId="{41FE787D-5F53-456C-AA7B-72DA976AB2E8}" srcId="{EABFECEA-D3A7-4284-834E-85EE56DFC24A}" destId="{826FC029-BEAC-4FEA-9B28-23AA2D4591BC}" srcOrd="1" destOrd="0" parTransId="{BAB6FFBC-DCDD-4207-AAEC-6EA977138F8C}" sibTransId="{FAC7CAC4-CA3C-41FF-BB6F-1ACEBCB63A04}"/>
    <dgm:cxn modelId="{2DD7F58F-93FA-4CD2-A9FD-5A44F779273E}" type="presOf" srcId="{FBA8AEA8-F3DE-49CC-95DD-15EE0076D1E9}" destId="{A92DF1FE-DB36-4CB5-AA41-5F4086C64105}" srcOrd="0" destOrd="0" presId="urn:microsoft.com/office/officeart/2005/8/layout/hList1"/>
    <dgm:cxn modelId="{595D5599-65C2-41CB-BCB9-2BC81A99A267}" type="presOf" srcId="{826FC029-BEAC-4FEA-9B28-23AA2D4591BC}" destId="{A92DF1FE-DB36-4CB5-AA41-5F4086C64105}" srcOrd="0" destOrd="1" presId="urn:microsoft.com/office/officeart/2005/8/layout/hList1"/>
    <dgm:cxn modelId="{AA3FDDB8-64FD-4880-9833-7BA160357D98}" type="presOf" srcId="{AB05E08D-9DB0-4352-A408-B5D3AC3AC1B9}" destId="{6DE59358-717B-44D4-84FC-5CA1D77A83C5}" srcOrd="0" destOrd="0" presId="urn:microsoft.com/office/officeart/2005/8/layout/hList1"/>
    <dgm:cxn modelId="{F7760EF2-720C-4A81-B6CA-DE363AD2F509}" srcId="{EABFECEA-D3A7-4284-834E-85EE56DFC24A}" destId="{FBA8AEA8-F3DE-49CC-95DD-15EE0076D1E9}" srcOrd="0" destOrd="0" parTransId="{C681DADE-D4FA-4B13-B89C-32DFC6F728D0}" sibTransId="{1FC7FA49-C0F5-4DDB-8D85-E99A86561741}"/>
    <dgm:cxn modelId="{49532CFC-9DB2-47DF-8C59-F2D5ED2984EC}" type="presOf" srcId="{04852495-9E28-4DDE-A27E-B53D45B01D67}" destId="{E561973A-9E7A-4E4E-A67F-7079EAA4969D}" srcOrd="0" destOrd="0" presId="urn:microsoft.com/office/officeart/2005/8/layout/hList1"/>
    <dgm:cxn modelId="{7624FFDA-B753-458A-B353-6E3C03A96DA9}" type="presParOf" srcId="{6DE59358-717B-44D4-84FC-5CA1D77A83C5}" destId="{2BFA3E04-6DC7-47E3-967F-C3B25836278A}" srcOrd="0" destOrd="0" presId="urn:microsoft.com/office/officeart/2005/8/layout/hList1"/>
    <dgm:cxn modelId="{B965BBFF-9F5F-4508-B4C8-D44C8D1277F5}" type="presParOf" srcId="{2BFA3E04-6DC7-47E3-967F-C3B25836278A}" destId="{43897253-1334-4379-A888-C605DCEB1198}" srcOrd="0" destOrd="0" presId="urn:microsoft.com/office/officeart/2005/8/layout/hList1"/>
    <dgm:cxn modelId="{9B83CEE9-1C3D-4BC7-8355-5DD13B6954B8}" type="presParOf" srcId="{2BFA3E04-6DC7-47E3-967F-C3B25836278A}" destId="{A92DF1FE-DB36-4CB5-AA41-5F4086C64105}" srcOrd="1" destOrd="0" presId="urn:microsoft.com/office/officeart/2005/8/layout/hList1"/>
    <dgm:cxn modelId="{CE6359CF-27E8-4BA0-9AEC-A082CA7C7B73}" type="presParOf" srcId="{6DE59358-717B-44D4-84FC-5CA1D77A83C5}" destId="{C84AD063-C607-4C28-A0A9-5BFC52837C68}" srcOrd="1" destOrd="0" presId="urn:microsoft.com/office/officeart/2005/8/layout/hList1"/>
    <dgm:cxn modelId="{D85E9C8B-1917-4BF5-A8D8-DE7B0C4BFB74}" type="presParOf" srcId="{6DE59358-717B-44D4-84FC-5CA1D77A83C5}" destId="{2227CD0C-E26C-4039-A3F5-302E54C23172}" srcOrd="2" destOrd="0" presId="urn:microsoft.com/office/officeart/2005/8/layout/hList1"/>
    <dgm:cxn modelId="{E5D8A8C0-FB54-4B11-8E92-1C1D16531B40}" type="presParOf" srcId="{2227CD0C-E26C-4039-A3F5-302E54C23172}" destId="{E561973A-9E7A-4E4E-A67F-7079EAA4969D}" srcOrd="0" destOrd="0" presId="urn:microsoft.com/office/officeart/2005/8/layout/hList1"/>
    <dgm:cxn modelId="{5CF4EB11-4E81-4880-A1D0-79D950324E10}" type="presParOf" srcId="{2227CD0C-E26C-4039-A3F5-302E54C23172}" destId="{980ECDCF-1383-4D97-9EDE-6AEAA671B280}" srcOrd="1" destOrd="0" presId="urn:microsoft.com/office/officeart/2005/8/layout/hList1"/>
    <dgm:cxn modelId="{EEE3CBCA-20EB-41D9-8283-70756F8AC074}" type="presParOf" srcId="{6DE59358-717B-44D4-84FC-5CA1D77A83C5}" destId="{C12D6016-2E7F-4F4F-8A66-CF8414CEDD8A}" srcOrd="3" destOrd="0" presId="urn:microsoft.com/office/officeart/2005/8/layout/hList1"/>
    <dgm:cxn modelId="{119C5730-A9D7-41BC-9245-823EA9A1B25B}" type="presParOf" srcId="{6DE59358-717B-44D4-84FC-5CA1D77A83C5}" destId="{9A69CFCA-AD99-4C5C-B019-068FFC587B02}" srcOrd="4" destOrd="0" presId="urn:microsoft.com/office/officeart/2005/8/layout/hList1"/>
    <dgm:cxn modelId="{699410BE-18A0-463E-A845-DA9795BBBE90}" type="presParOf" srcId="{9A69CFCA-AD99-4C5C-B019-068FFC587B02}" destId="{1668A0F7-E637-40BA-A175-D0CFA5E2ED0B}" srcOrd="0" destOrd="0" presId="urn:microsoft.com/office/officeart/2005/8/layout/hList1"/>
    <dgm:cxn modelId="{3BADEC41-9FB5-4927-9B95-8F26F9D8ABCA}" type="presParOf" srcId="{9A69CFCA-AD99-4C5C-B019-068FFC587B02}" destId="{BCAA3297-F6E6-475A-89C8-4489BD9E3C14}"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EEA9D3-C5B1-4D5B-A5C1-2F7ACA2DF3D6}" type="doc">
      <dgm:prSet loTypeId="urn:microsoft.com/office/officeart/2009/3/layout/SubStepProcess" loCatId="process" qsTypeId="urn:microsoft.com/office/officeart/2005/8/quickstyle/simple1" qsCatId="simple" csTypeId="urn:microsoft.com/office/officeart/2005/8/colors/accent1_2" csCatId="accent1" phldr="1"/>
      <dgm:spPr/>
      <dgm:t>
        <a:bodyPr/>
        <a:lstStyle/>
        <a:p>
          <a:endParaRPr lang="es-MX"/>
        </a:p>
      </dgm:t>
    </dgm:pt>
    <dgm:pt modelId="{E4D52929-3341-422F-B4BA-5C49C9730A50}">
      <dgm:prSet phldrT="[Texto]" custT="1"/>
      <dgm:spPr>
        <a:solidFill>
          <a:srgbClr val="2F3E46"/>
        </a:solidFill>
        <a:ln>
          <a:solidFill>
            <a:srgbClr val="2F3E46"/>
          </a:solidFill>
        </a:ln>
        <a:scene3d>
          <a:camera prst="orthographicFront"/>
          <a:lightRig rig="threePt" dir="t"/>
        </a:scene3d>
        <a:sp3d>
          <a:bevelT/>
        </a:sp3d>
      </dgm:spPr>
      <dgm:t>
        <a:bodyPr lIns="7200" rIns="7200"/>
        <a:lstStyle/>
        <a:p>
          <a:r>
            <a:rPr lang="es-ES" sz="1600" dirty="0">
              <a:latin typeface="Montserrat" panose="00000500000000000000" pitchFamily="2" charset="0"/>
            </a:rPr>
            <a:t>Identificar el problema</a:t>
          </a:r>
          <a:endParaRPr lang="es-MX" sz="1600" dirty="0">
            <a:latin typeface="Montserrat" panose="00000500000000000000" pitchFamily="2" charset="0"/>
          </a:endParaRPr>
        </a:p>
      </dgm:t>
    </dgm:pt>
    <dgm:pt modelId="{5D255742-5825-453F-BD7B-9478C45CA6FA}" type="parTrans" cxnId="{ACD5A9C2-91ED-4707-A03C-9DE113333FA7}">
      <dgm:prSet/>
      <dgm:spPr/>
      <dgm:t>
        <a:bodyPr/>
        <a:lstStyle/>
        <a:p>
          <a:endParaRPr lang="es-MX" sz="1800">
            <a:latin typeface="Montserrat" panose="00000500000000000000" pitchFamily="2" charset="0"/>
          </a:endParaRPr>
        </a:p>
      </dgm:t>
    </dgm:pt>
    <dgm:pt modelId="{C65772E6-5D1B-4CE6-A42C-FEE12932E771}" type="sibTrans" cxnId="{ACD5A9C2-91ED-4707-A03C-9DE113333FA7}">
      <dgm:prSet custT="1"/>
      <dgm:spPr>
        <a:solidFill>
          <a:srgbClr val="CAD2C5"/>
        </a:solidFill>
        <a:scene3d>
          <a:camera prst="orthographicFront"/>
          <a:lightRig rig="threePt" dir="t"/>
        </a:scene3d>
        <a:sp3d>
          <a:bevelT/>
        </a:sp3d>
      </dgm:spPr>
      <dgm:t>
        <a:bodyPr/>
        <a:lstStyle/>
        <a:p>
          <a:endParaRPr lang="es-MX" sz="900">
            <a:latin typeface="Montserrat" panose="00000500000000000000" pitchFamily="2" charset="0"/>
          </a:endParaRPr>
        </a:p>
      </dgm:t>
    </dgm:pt>
    <dgm:pt modelId="{38A2FE1F-2633-4D3F-89D3-47D7D9CE231F}">
      <dgm:prSet phldrT="[Texto]" custT="1"/>
      <dgm:spPr>
        <a:solidFill>
          <a:srgbClr val="354F52"/>
        </a:solidFill>
        <a:ln>
          <a:solidFill>
            <a:srgbClr val="354F52"/>
          </a:solidFill>
        </a:ln>
        <a:scene3d>
          <a:camera prst="orthographicFront"/>
          <a:lightRig rig="threePt" dir="t"/>
        </a:scene3d>
        <a:sp3d>
          <a:bevelT/>
        </a:sp3d>
      </dgm:spPr>
      <dgm:t>
        <a:bodyPr/>
        <a:lstStyle/>
        <a:p>
          <a:pPr>
            <a:spcAft>
              <a:spcPts val="0"/>
            </a:spcAft>
          </a:pPr>
          <a:endParaRPr lang="es-MX" sz="1600" dirty="0">
            <a:latin typeface="Montserrat" panose="00000500000000000000" pitchFamily="2" charset="0"/>
          </a:endParaRPr>
        </a:p>
      </dgm:t>
    </dgm:pt>
    <dgm:pt modelId="{1AA5F011-07AF-4DA2-9743-815301EE2775}" type="parTrans" cxnId="{D773DAA0-6A3B-4663-BBD6-4D81C1BF566C}">
      <dgm:prSet/>
      <dgm:spPr/>
      <dgm:t>
        <a:bodyPr/>
        <a:lstStyle/>
        <a:p>
          <a:endParaRPr lang="es-MX" sz="1800">
            <a:latin typeface="Montserrat" panose="00000500000000000000" pitchFamily="2" charset="0"/>
          </a:endParaRPr>
        </a:p>
      </dgm:t>
    </dgm:pt>
    <dgm:pt modelId="{2E53AEE9-C3D9-42A0-BA83-23F3AA5B4F9B}" type="sibTrans" cxnId="{D773DAA0-6A3B-4663-BBD6-4D81C1BF566C}">
      <dgm:prSet custT="1"/>
      <dgm:spPr/>
      <dgm:t>
        <a:bodyPr/>
        <a:lstStyle/>
        <a:p>
          <a:endParaRPr lang="es-MX" sz="900">
            <a:latin typeface="Montserrat" panose="00000500000000000000" pitchFamily="2" charset="0"/>
          </a:endParaRPr>
        </a:p>
      </dgm:t>
    </dgm:pt>
    <dgm:pt modelId="{BF24AED7-3431-435D-A3A5-B2571344D318}">
      <dgm:prSet phldrT="[Texto]" custT="1"/>
      <dgm:spPr>
        <a:solidFill>
          <a:srgbClr val="354F52"/>
        </a:solidFill>
        <a:ln>
          <a:solidFill>
            <a:srgbClr val="354F52"/>
          </a:solidFill>
        </a:ln>
        <a:scene3d>
          <a:camera prst="orthographicFront"/>
          <a:lightRig rig="threePt" dir="t"/>
        </a:scene3d>
        <a:sp3d>
          <a:bevelT/>
        </a:sp3d>
      </dgm:spPr>
      <dgm:t>
        <a:bodyPr lIns="0" rIns="0"/>
        <a:lstStyle/>
        <a:p>
          <a:pPr defTabSz="360000">
            <a:spcAft>
              <a:spcPts val="0"/>
            </a:spcAft>
          </a:pPr>
          <a:endParaRPr lang="es-MX" sz="1600" dirty="0">
            <a:latin typeface="Montserrat" panose="00000500000000000000" pitchFamily="2" charset="0"/>
          </a:endParaRPr>
        </a:p>
      </dgm:t>
    </dgm:pt>
    <dgm:pt modelId="{73E086D8-84E9-4D10-8869-D84FA88F433F}" type="parTrans" cxnId="{52113137-336C-4FEA-88A3-B8D9A8C6576A}">
      <dgm:prSet/>
      <dgm:spPr/>
      <dgm:t>
        <a:bodyPr/>
        <a:lstStyle/>
        <a:p>
          <a:endParaRPr lang="es-MX" sz="1800">
            <a:latin typeface="Montserrat" panose="00000500000000000000" pitchFamily="2" charset="0"/>
          </a:endParaRPr>
        </a:p>
      </dgm:t>
    </dgm:pt>
    <dgm:pt modelId="{CB5E7AD6-4DBB-4C8A-9B92-94401F5B7206}" type="sibTrans" cxnId="{52113137-336C-4FEA-88A3-B8D9A8C6576A}">
      <dgm:prSet custT="1"/>
      <dgm:spPr/>
      <dgm:t>
        <a:bodyPr/>
        <a:lstStyle/>
        <a:p>
          <a:endParaRPr lang="es-MX" sz="900">
            <a:latin typeface="Montserrat" panose="00000500000000000000" pitchFamily="2" charset="0"/>
          </a:endParaRPr>
        </a:p>
      </dgm:t>
    </dgm:pt>
    <dgm:pt modelId="{3D9BB938-A7CD-49EB-945C-2FCA2BF57495}">
      <dgm:prSet phldrT="[Texto]" custT="1"/>
      <dgm:spPr>
        <a:solidFill>
          <a:srgbClr val="2F3E46"/>
        </a:solidFill>
        <a:ln>
          <a:solidFill>
            <a:srgbClr val="2F3E46"/>
          </a:solidFill>
        </a:ln>
        <a:scene3d>
          <a:camera prst="orthographicFront"/>
          <a:lightRig rig="threePt" dir="t"/>
        </a:scene3d>
        <a:sp3d>
          <a:bevelT/>
        </a:sp3d>
      </dgm:spPr>
      <dgm:t>
        <a:bodyPr/>
        <a:lstStyle/>
        <a:p>
          <a:r>
            <a:rPr lang="es-ES" sz="1600" dirty="0">
              <a:latin typeface="Montserrat" panose="00000500000000000000" pitchFamily="2" charset="0"/>
            </a:rPr>
            <a:t>Monitoreo y evaluación</a:t>
          </a:r>
          <a:endParaRPr lang="es-MX" sz="1600" dirty="0">
            <a:latin typeface="Montserrat" panose="00000500000000000000" pitchFamily="2" charset="0"/>
          </a:endParaRPr>
        </a:p>
      </dgm:t>
    </dgm:pt>
    <dgm:pt modelId="{632C74F0-3589-4F42-B92A-DF43A0F44497}" type="parTrans" cxnId="{918C0945-D7E1-4611-948F-BA6DE374BFC2}">
      <dgm:prSet/>
      <dgm:spPr/>
      <dgm:t>
        <a:bodyPr/>
        <a:lstStyle/>
        <a:p>
          <a:endParaRPr lang="es-MX" sz="1800">
            <a:latin typeface="Montserrat" panose="00000500000000000000" pitchFamily="2" charset="0"/>
          </a:endParaRPr>
        </a:p>
      </dgm:t>
    </dgm:pt>
    <dgm:pt modelId="{D5096E67-D34D-4DF7-A2D5-CE07F3A5B63E}" type="sibTrans" cxnId="{918C0945-D7E1-4611-948F-BA6DE374BFC2}">
      <dgm:prSet custT="1"/>
      <dgm:spPr/>
      <dgm:t>
        <a:bodyPr/>
        <a:lstStyle/>
        <a:p>
          <a:endParaRPr lang="es-MX" sz="900">
            <a:latin typeface="Montserrat" panose="00000500000000000000" pitchFamily="2" charset="0"/>
          </a:endParaRPr>
        </a:p>
      </dgm:t>
    </dgm:pt>
    <dgm:pt modelId="{C6E36A26-B17F-4612-A160-A1AEB1877F08}">
      <dgm:prSet phldrT="[Texto]" custT="1"/>
      <dgm:spPr>
        <a:solidFill>
          <a:srgbClr val="84A98C"/>
        </a:solidFill>
        <a:ln>
          <a:solidFill>
            <a:srgbClr val="84A98C"/>
          </a:solidFill>
        </a:ln>
        <a:scene3d>
          <a:camera prst="orthographicFront"/>
          <a:lightRig rig="threePt" dir="t"/>
        </a:scene3d>
        <a:sp3d>
          <a:bevelT/>
        </a:sp3d>
      </dgm:spPr>
    </dgm:pt>
    <dgm:pt modelId="{F6CDD840-84DD-43CE-81D8-0CE08586321B}" type="parTrans" cxnId="{6C905628-D4F0-4BFF-A810-DFF35E3A54D0}">
      <dgm:prSet/>
      <dgm:spPr/>
      <dgm:t>
        <a:bodyPr/>
        <a:lstStyle/>
        <a:p>
          <a:endParaRPr lang="es-MX" sz="1800">
            <a:latin typeface="Montserrat" panose="00000500000000000000" pitchFamily="2" charset="0"/>
          </a:endParaRPr>
        </a:p>
      </dgm:t>
    </dgm:pt>
    <dgm:pt modelId="{58951513-6719-4FF5-9018-7872971836AD}" type="sibTrans" cxnId="{6C905628-D4F0-4BFF-A810-DFF35E3A54D0}">
      <dgm:prSet custT="1"/>
      <dgm:spPr/>
      <dgm:t>
        <a:bodyPr/>
        <a:lstStyle/>
        <a:p>
          <a:endParaRPr lang="es-MX" sz="900">
            <a:latin typeface="Montserrat" panose="00000500000000000000" pitchFamily="2" charset="0"/>
          </a:endParaRPr>
        </a:p>
      </dgm:t>
    </dgm:pt>
    <dgm:pt modelId="{C3EBDB61-3A97-4351-B3B2-D23FC3C9983F}">
      <dgm:prSet custT="1"/>
      <dgm:spPr>
        <a:solidFill>
          <a:srgbClr val="52796F"/>
        </a:solidFill>
        <a:ln>
          <a:solidFill>
            <a:srgbClr val="52796F"/>
          </a:solidFill>
        </a:ln>
        <a:scene3d>
          <a:camera prst="orthographicFront"/>
          <a:lightRig rig="threePt" dir="t"/>
        </a:scene3d>
        <a:sp3d>
          <a:bevelT/>
        </a:sp3d>
      </dgm:spPr>
      <dgm:t>
        <a:bodyPr/>
        <a:lstStyle/>
        <a:p>
          <a:endParaRPr lang="es-MX" sz="1600" dirty="0">
            <a:latin typeface="Montserrat" panose="00000500000000000000" pitchFamily="2" charset="0"/>
          </a:endParaRPr>
        </a:p>
      </dgm:t>
    </dgm:pt>
    <dgm:pt modelId="{A0480D0C-1795-47A7-8E3B-FB9D0E8E714B}" type="parTrans" cxnId="{459EAEA1-2CBA-4391-BE13-70CA61B019F6}">
      <dgm:prSet/>
      <dgm:spPr/>
      <dgm:t>
        <a:bodyPr/>
        <a:lstStyle/>
        <a:p>
          <a:endParaRPr lang="es-MX" sz="1800">
            <a:latin typeface="Montserrat" panose="00000500000000000000" pitchFamily="2" charset="0"/>
          </a:endParaRPr>
        </a:p>
      </dgm:t>
    </dgm:pt>
    <dgm:pt modelId="{21FCE822-8FB0-4CFA-BC64-89534538E1BD}" type="sibTrans" cxnId="{459EAEA1-2CBA-4391-BE13-70CA61B019F6}">
      <dgm:prSet custT="1"/>
      <dgm:spPr/>
      <dgm:t>
        <a:bodyPr/>
        <a:lstStyle/>
        <a:p>
          <a:endParaRPr lang="es-MX" sz="900">
            <a:latin typeface="Montserrat" panose="00000500000000000000" pitchFamily="2" charset="0"/>
          </a:endParaRPr>
        </a:p>
      </dgm:t>
    </dgm:pt>
    <dgm:pt modelId="{FEFD682B-A351-46AD-945C-17C77EE0826B}">
      <dgm:prSet custT="1"/>
      <dgm:spPr>
        <a:solidFill>
          <a:srgbClr val="52796F"/>
        </a:solidFill>
        <a:ln>
          <a:solidFill>
            <a:srgbClr val="52796F"/>
          </a:solidFill>
        </a:ln>
        <a:scene3d>
          <a:camera prst="orthographicFront"/>
          <a:lightRig rig="threePt" dir="t"/>
        </a:scene3d>
        <a:sp3d>
          <a:bevelT/>
        </a:sp3d>
      </dgm:spPr>
      <dgm:t>
        <a:bodyPr/>
        <a:lstStyle/>
        <a:p>
          <a:endParaRPr lang="es-MX" sz="1600" dirty="0">
            <a:latin typeface="Montserrat" panose="00000500000000000000" pitchFamily="2" charset="0"/>
          </a:endParaRPr>
        </a:p>
      </dgm:t>
    </dgm:pt>
    <dgm:pt modelId="{1C764C96-73F9-4EE0-AA7B-DA5134AA4A47}" type="parTrans" cxnId="{CE91951B-48A2-4FB7-89B5-767A03643E0D}">
      <dgm:prSet/>
      <dgm:spPr/>
      <dgm:t>
        <a:bodyPr/>
        <a:lstStyle/>
        <a:p>
          <a:endParaRPr lang="es-MX" sz="1800">
            <a:latin typeface="Montserrat" panose="00000500000000000000" pitchFamily="2" charset="0"/>
          </a:endParaRPr>
        </a:p>
      </dgm:t>
    </dgm:pt>
    <dgm:pt modelId="{96E6087E-7EE6-4E69-8331-B3D9E97EB7BD}" type="sibTrans" cxnId="{CE91951B-48A2-4FB7-89B5-767A03643E0D}">
      <dgm:prSet custT="1"/>
      <dgm:spPr/>
      <dgm:t>
        <a:bodyPr/>
        <a:lstStyle/>
        <a:p>
          <a:endParaRPr lang="es-MX" sz="900">
            <a:latin typeface="Montserrat" panose="00000500000000000000" pitchFamily="2" charset="0"/>
          </a:endParaRPr>
        </a:p>
      </dgm:t>
    </dgm:pt>
    <dgm:pt modelId="{6445F8ED-E95D-4EB3-B1D4-20FABA28619D}">
      <dgm:prSet custT="1"/>
      <dgm:spPr>
        <a:solidFill>
          <a:srgbClr val="84A98C"/>
        </a:solidFill>
        <a:ln>
          <a:solidFill>
            <a:srgbClr val="84A98C"/>
          </a:solidFill>
        </a:ln>
        <a:scene3d>
          <a:camera prst="orthographicFront"/>
          <a:lightRig rig="threePt" dir="t"/>
        </a:scene3d>
        <a:sp3d>
          <a:bevelT/>
        </a:sp3d>
      </dgm:spPr>
      <dgm:t>
        <a:bodyPr/>
        <a:lstStyle/>
        <a:p>
          <a:endParaRPr lang="es-MX" sz="1600" dirty="0">
            <a:latin typeface="Montserrat" panose="00000500000000000000" pitchFamily="2" charset="0"/>
          </a:endParaRPr>
        </a:p>
      </dgm:t>
    </dgm:pt>
    <dgm:pt modelId="{B61A0814-DDBF-40D7-825A-129D2F4ED946}" type="parTrans" cxnId="{3749742A-FC97-4FC2-A566-3335631AE068}">
      <dgm:prSet/>
      <dgm:spPr/>
      <dgm:t>
        <a:bodyPr/>
        <a:lstStyle/>
        <a:p>
          <a:endParaRPr lang="es-MX" sz="1800">
            <a:latin typeface="Montserrat" panose="00000500000000000000" pitchFamily="2" charset="0"/>
          </a:endParaRPr>
        </a:p>
      </dgm:t>
    </dgm:pt>
    <dgm:pt modelId="{C00FE6BC-441E-4C64-8501-907F3344CF1A}" type="sibTrans" cxnId="{3749742A-FC97-4FC2-A566-3335631AE068}">
      <dgm:prSet custT="1"/>
      <dgm:spPr/>
      <dgm:t>
        <a:bodyPr/>
        <a:lstStyle/>
        <a:p>
          <a:endParaRPr lang="es-MX" sz="900">
            <a:latin typeface="Montserrat" panose="00000500000000000000" pitchFamily="2" charset="0"/>
          </a:endParaRPr>
        </a:p>
      </dgm:t>
    </dgm:pt>
    <dgm:pt modelId="{BFABDADE-9278-4D8C-8BD8-082689258CDC}" type="pres">
      <dgm:prSet presAssocID="{E1EEA9D3-C5B1-4D5B-A5C1-2F7ACA2DF3D6}" presName="Name0" presStyleCnt="0">
        <dgm:presLayoutVars>
          <dgm:chMax val="7"/>
          <dgm:dir/>
          <dgm:animOne val="branch"/>
        </dgm:presLayoutVars>
      </dgm:prSet>
      <dgm:spPr/>
    </dgm:pt>
    <dgm:pt modelId="{F858D316-8F4D-4497-BE69-4B69A4BA3546}" type="pres">
      <dgm:prSet presAssocID="{E4D52929-3341-422F-B4BA-5C49C9730A50}" presName="parTx1" presStyleLbl="node1" presStyleIdx="0" presStyleCnt="7" custLinFactY="-32351" custLinFactNeighborY="-100000"/>
      <dgm:spPr/>
    </dgm:pt>
    <dgm:pt modelId="{47731E72-AD40-42FD-AA06-C7CDC73D3729}" type="pres">
      <dgm:prSet presAssocID="{38A2FE1F-2633-4D3F-89D3-47D7D9CE231F}" presName="parTx2" presStyleLbl="node1" presStyleIdx="1" presStyleCnt="7" custLinFactY="-10773" custLinFactNeighborY="-100000"/>
      <dgm:spPr/>
    </dgm:pt>
    <dgm:pt modelId="{B08E2CD8-D44A-4B0E-A1AE-BC945DC78310}" type="pres">
      <dgm:prSet presAssocID="{FEFD682B-A351-46AD-945C-17C77EE0826B}" presName="parTx3" presStyleLbl="node1" presStyleIdx="2" presStyleCnt="7" custLinFactNeighborY="-89195"/>
      <dgm:spPr/>
    </dgm:pt>
    <dgm:pt modelId="{70008234-9226-4B0C-902E-A72F5449AC50}" type="pres">
      <dgm:prSet presAssocID="{6445F8ED-E95D-4EB3-B1D4-20FABA28619D}" presName="parTx4" presStyleLbl="node1" presStyleIdx="3" presStyleCnt="7" custLinFactNeighborY="-67617"/>
      <dgm:spPr/>
    </dgm:pt>
    <dgm:pt modelId="{E85FFBA6-9454-42F1-9850-7D88EB9181C7}" type="pres">
      <dgm:prSet presAssocID="{C3EBDB61-3A97-4351-B3B2-D23FC3C9983F}" presName="parTx5" presStyleLbl="node1" presStyleIdx="4" presStyleCnt="7" custLinFactNeighborY="-46039"/>
      <dgm:spPr/>
    </dgm:pt>
    <dgm:pt modelId="{32EB875E-E020-49D2-B7FF-F5D61809EE66}" type="pres">
      <dgm:prSet presAssocID="{BF24AED7-3431-435D-A3A5-B2571344D318}" presName="parTx6" presStyleLbl="node1" presStyleIdx="5" presStyleCnt="7" custLinFactNeighborY="-24461"/>
      <dgm:spPr/>
    </dgm:pt>
    <dgm:pt modelId="{FFD3D9E4-1DB2-488C-90D7-55B4E85338A3}" type="pres">
      <dgm:prSet presAssocID="{3D9BB938-A7CD-49EB-945C-2FCA2BF57495}" presName="parTx7" presStyleLbl="node1" presStyleIdx="6" presStyleCnt="7" custLinFactNeighborY="-2882"/>
      <dgm:spPr/>
    </dgm:pt>
  </dgm:ptLst>
  <dgm:cxnLst>
    <dgm:cxn modelId="{088D871B-EA52-47E1-821D-C57A8871511B}" type="presOf" srcId="{3D9BB938-A7CD-49EB-945C-2FCA2BF57495}" destId="{FFD3D9E4-1DB2-488C-90D7-55B4E85338A3}" srcOrd="0" destOrd="0" presId="urn:microsoft.com/office/officeart/2009/3/layout/SubStepProcess"/>
    <dgm:cxn modelId="{CE91951B-48A2-4FB7-89B5-767A03643E0D}" srcId="{E1EEA9D3-C5B1-4D5B-A5C1-2F7ACA2DF3D6}" destId="{FEFD682B-A351-46AD-945C-17C77EE0826B}" srcOrd="2" destOrd="0" parTransId="{1C764C96-73F9-4EE0-AA7B-DA5134AA4A47}" sibTransId="{96E6087E-7EE6-4E69-8331-B3D9E97EB7BD}"/>
    <dgm:cxn modelId="{6C905628-D4F0-4BFF-A810-DFF35E3A54D0}" srcId="{E1EEA9D3-C5B1-4D5B-A5C1-2F7ACA2DF3D6}" destId="{C6E36A26-B17F-4612-A160-A1AEB1877F08}" srcOrd="7" destOrd="0" parTransId="{F6CDD840-84DD-43CE-81D8-0CE08586321B}" sibTransId="{58951513-6719-4FF5-9018-7872971836AD}"/>
    <dgm:cxn modelId="{3749742A-FC97-4FC2-A566-3335631AE068}" srcId="{E1EEA9D3-C5B1-4D5B-A5C1-2F7ACA2DF3D6}" destId="{6445F8ED-E95D-4EB3-B1D4-20FABA28619D}" srcOrd="3" destOrd="0" parTransId="{B61A0814-DDBF-40D7-825A-129D2F4ED946}" sibTransId="{C00FE6BC-441E-4C64-8501-907F3344CF1A}"/>
    <dgm:cxn modelId="{EF11C436-D6CD-4A22-8CBF-5DAAFBA9AB48}" type="presOf" srcId="{BF24AED7-3431-435D-A3A5-B2571344D318}" destId="{32EB875E-E020-49D2-B7FF-F5D61809EE66}" srcOrd="0" destOrd="0" presId="urn:microsoft.com/office/officeart/2009/3/layout/SubStepProcess"/>
    <dgm:cxn modelId="{52113137-336C-4FEA-88A3-B8D9A8C6576A}" srcId="{E1EEA9D3-C5B1-4D5B-A5C1-2F7ACA2DF3D6}" destId="{BF24AED7-3431-435D-A3A5-B2571344D318}" srcOrd="5" destOrd="0" parTransId="{73E086D8-84E9-4D10-8869-D84FA88F433F}" sibTransId="{CB5E7AD6-4DBB-4C8A-9B92-94401F5B7206}"/>
    <dgm:cxn modelId="{6A1A8A5C-90C5-4863-B9A0-F22DE1426926}" type="presOf" srcId="{E1EEA9D3-C5B1-4D5B-A5C1-2F7ACA2DF3D6}" destId="{BFABDADE-9278-4D8C-8BD8-082689258CDC}" srcOrd="0" destOrd="0" presId="urn:microsoft.com/office/officeart/2009/3/layout/SubStepProcess"/>
    <dgm:cxn modelId="{918C0945-D7E1-4611-948F-BA6DE374BFC2}" srcId="{E1EEA9D3-C5B1-4D5B-A5C1-2F7ACA2DF3D6}" destId="{3D9BB938-A7CD-49EB-945C-2FCA2BF57495}" srcOrd="6" destOrd="0" parTransId="{632C74F0-3589-4F42-B92A-DF43A0F44497}" sibTransId="{D5096E67-D34D-4DF7-A2D5-CE07F3A5B63E}"/>
    <dgm:cxn modelId="{BC37AA67-4017-447E-B45E-31D760236B4C}" type="presOf" srcId="{6445F8ED-E95D-4EB3-B1D4-20FABA28619D}" destId="{70008234-9226-4B0C-902E-A72F5449AC50}" srcOrd="0" destOrd="0" presId="urn:microsoft.com/office/officeart/2009/3/layout/SubStepProcess"/>
    <dgm:cxn modelId="{D773DAA0-6A3B-4663-BBD6-4D81C1BF566C}" srcId="{E1EEA9D3-C5B1-4D5B-A5C1-2F7ACA2DF3D6}" destId="{38A2FE1F-2633-4D3F-89D3-47D7D9CE231F}" srcOrd="1" destOrd="0" parTransId="{1AA5F011-07AF-4DA2-9743-815301EE2775}" sibTransId="{2E53AEE9-C3D9-42A0-BA83-23F3AA5B4F9B}"/>
    <dgm:cxn modelId="{459EAEA1-2CBA-4391-BE13-70CA61B019F6}" srcId="{E1EEA9D3-C5B1-4D5B-A5C1-2F7ACA2DF3D6}" destId="{C3EBDB61-3A97-4351-B3B2-D23FC3C9983F}" srcOrd="4" destOrd="0" parTransId="{A0480D0C-1795-47A7-8E3B-FB9D0E8E714B}" sibTransId="{21FCE822-8FB0-4CFA-BC64-89534538E1BD}"/>
    <dgm:cxn modelId="{097A28A2-EE29-4195-B2BB-2CE6E82BD1A9}" type="presOf" srcId="{38A2FE1F-2633-4D3F-89D3-47D7D9CE231F}" destId="{47731E72-AD40-42FD-AA06-C7CDC73D3729}" srcOrd="0" destOrd="0" presId="urn:microsoft.com/office/officeart/2009/3/layout/SubStepProcess"/>
    <dgm:cxn modelId="{B55863BD-A470-455C-8B32-1B8F75F3AD7D}" type="presOf" srcId="{E4D52929-3341-422F-B4BA-5C49C9730A50}" destId="{F858D316-8F4D-4497-BE69-4B69A4BA3546}" srcOrd="0" destOrd="0" presId="urn:microsoft.com/office/officeart/2009/3/layout/SubStepProcess"/>
    <dgm:cxn modelId="{ACD5A9C2-91ED-4707-A03C-9DE113333FA7}" srcId="{E1EEA9D3-C5B1-4D5B-A5C1-2F7ACA2DF3D6}" destId="{E4D52929-3341-422F-B4BA-5C49C9730A50}" srcOrd="0" destOrd="0" parTransId="{5D255742-5825-453F-BD7B-9478C45CA6FA}" sibTransId="{C65772E6-5D1B-4CE6-A42C-FEE12932E771}"/>
    <dgm:cxn modelId="{DD0444D1-F12C-4D8E-95CF-5A0F1D541267}" type="presOf" srcId="{FEFD682B-A351-46AD-945C-17C77EE0826B}" destId="{B08E2CD8-D44A-4B0E-A1AE-BC945DC78310}" srcOrd="0" destOrd="0" presId="urn:microsoft.com/office/officeart/2009/3/layout/SubStepProcess"/>
    <dgm:cxn modelId="{06B930E0-E20A-4BD0-8FAD-951FAFE77090}" type="presOf" srcId="{C3EBDB61-3A97-4351-B3B2-D23FC3C9983F}" destId="{E85FFBA6-9454-42F1-9850-7D88EB9181C7}" srcOrd="0" destOrd="0" presId="urn:microsoft.com/office/officeart/2009/3/layout/SubStepProcess"/>
    <dgm:cxn modelId="{8D791269-4F91-48A4-BEB3-9015FF374F4B}" type="presParOf" srcId="{BFABDADE-9278-4D8C-8BD8-082689258CDC}" destId="{F858D316-8F4D-4497-BE69-4B69A4BA3546}" srcOrd="0" destOrd="0" presId="urn:microsoft.com/office/officeart/2009/3/layout/SubStepProcess"/>
    <dgm:cxn modelId="{EC73559C-8362-45C0-B132-52206EEE0301}" type="presParOf" srcId="{BFABDADE-9278-4D8C-8BD8-082689258CDC}" destId="{47731E72-AD40-42FD-AA06-C7CDC73D3729}" srcOrd="1" destOrd="0" presId="urn:microsoft.com/office/officeart/2009/3/layout/SubStepProcess"/>
    <dgm:cxn modelId="{C8EC146B-9401-48E6-BE79-F16876BBCE5E}" type="presParOf" srcId="{BFABDADE-9278-4D8C-8BD8-082689258CDC}" destId="{B08E2CD8-D44A-4B0E-A1AE-BC945DC78310}" srcOrd="2" destOrd="0" presId="urn:microsoft.com/office/officeart/2009/3/layout/SubStepProcess"/>
    <dgm:cxn modelId="{D18190FE-4D15-41BC-9416-4D3AE3E46CC4}" type="presParOf" srcId="{BFABDADE-9278-4D8C-8BD8-082689258CDC}" destId="{70008234-9226-4B0C-902E-A72F5449AC50}" srcOrd="3" destOrd="0" presId="urn:microsoft.com/office/officeart/2009/3/layout/SubStepProcess"/>
    <dgm:cxn modelId="{A3E4B184-0A3C-4322-8384-C071D3E75E6C}" type="presParOf" srcId="{BFABDADE-9278-4D8C-8BD8-082689258CDC}" destId="{E85FFBA6-9454-42F1-9850-7D88EB9181C7}" srcOrd="4" destOrd="0" presId="urn:microsoft.com/office/officeart/2009/3/layout/SubStepProcess"/>
    <dgm:cxn modelId="{E0E23657-0D6F-43AA-BA63-D492D530CD83}" type="presParOf" srcId="{BFABDADE-9278-4D8C-8BD8-082689258CDC}" destId="{32EB875E-E020-49D2-B7FF-F5D61809EE66}" srcOrd="5" destOrd="0" presId="urn:microsoft.com/office/officeart/2009/3/layout/SubStepProcess"/>
    <dgm:cxn modelId="{EA52843B-0A47-4FFA-8F06-39C107F26DA6}" type="presParOf" srcId="{BFABDADE-9278-4D8C-8BD8-082689258CDC}" destId="{FFD3D9E4-1DB2-488C-90D7-55B4E85338A3}" srcOrd="6" destOrd="0" presId="urn:microsoft.com/office/officeart/2009/3/layout/SubStepProcess"/>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79C9E8D-382C-45B5-B90C-9A1303EC9C5C}" type="doc">
      <dgm:prSet loTypeId="urn:microsoft.com/office/officeart/2005/8/layout/process3" loCatId="process" qsTypeId="urn:microsoft.com/office/officeart/2005/8/quickstyle/simple1" qsCatId="simple" csTypeId="urn:microsoft.com/office/officeart/2005/8/colors/accent1_2" csCatId="accent1" phldr="1"/>
      <dgm:spPr/>
    </dgm:pt>
    <dgm:pt modelId="{2CAD50D4-3DAA-4FB1-8DDC-B3A24F23A59F}">
      <dgm:prSet phldrT="[Texto]" custT="1"/>
      <dgm:spPr>
        <a:solidFill>
          <a:srgbClr val="2F3E46"/>
        </a:solidFill>
        <a:ln>
          <a:solidFill>
            <a:srgbClr val="2F3E46"/>
          </a:solidFill>
        </a:ln>
        <a:scene3d>
          <a:camera prst="orthographicFront"/>
          <a:lightRig rig="threePt" dir="t"/>
        </a:scene3d>
        <a:sp3d>
          <a:bevelT/>
        </a:sp3d>
      </dgm:spPr>
      <dgm:t>
        <a:bodyPr lIns="0" rIns="0"/>
        <a:lstStyle/>
        <a:p>
          <a:pPr algn="ctr"/>
          <a:r>
            <a:rPr lang="es-ES" sz="2200" b="1" dirty="0">
              <a:latin typeface="Montserrat" panose="00000500000000000000" pitchFamily="2" charset="0"/>
            </a:rPr>
            <a:t>Activos</a:t>
          </a:r>
          <a:endParaRPr lang="es-MX" sz="2200" b="1" dirty="0">
            <a:latin typeface="Montserrat" panose="00000500000000000000" pitchFamily="2" charset="0"/>
          </a:endParaRPr>
        </a:p>
      </dgm:t>
    </dgm:pt>
    <dgm:pt modelId="{98F405A1-C9CF-4448-BA19-AE188E040012}" type="parTrans" cxnId="{B9102B4E-97F1-43F4-BB5B-D05ADAE00AE6}">
      <dgm:prSet/>
      <dgm:spPr/>
      <dgm:t>
        <a:bodyPr/>
        <a:lstStyle/>
        <a:p>
          <a:endParaRPr lang="es-MX" sz="1400">
            <a:latin typeface="Montserrat" panose="00000500000000000000" pitchFamily="2" charset="0"/>
          </a:endParaRPr>
        </a:p>
      </dgm:t>
    </dgm:pt>
    <dgm:pt modelId="{57A97212-90EC-43AE-89A9-F5676D697C24}" type="sibTrans" cxnId="{B9102B4E-97F1-43F4-BB5B-D05ADAE00AE6}">
      <dgm:prSet custT="1"/>
      <dgm:spPr>
        <a:solidFill>
          <a:srgbClr val="52796F"/>
        </a:solidFill>
        <a:scene3d>
          <a:camera prst="orthographicFront"/>
          <a:lightRig rig="threePt" dir="t"/>
        </a:scene3d>
        <a:sp3d>
          <a:bevelT/>
        </a:sp3d>
      </dgm:spPr>
      <dgm:t>
        <a:bodyPr/>
        <a:lstStyle/>
        <a:p>
          <a:endParaRPr lang="es-MX" sz="1400">
            <a:latin typeface="Montserrat" panose="00000500000000000000" pitchFamily="2" charset="0"/>
          </a:endParaRPr>
        </a:p>
      </dgm:t>
    </dgm:pt>
    <dgm:pt modelId="{24F9E476-BB0C-446C-A23E-E4D084E50D60}">
      <dgm:prSet phldrT="[Texto]" custT="1"/>
      <dgm:spPr>
        <a:solidFill>
          <a:srgbClr val="2F3E46"/>
        </a:solidFill>
        <a:ln>
          <a:solidFill>
            <a:srgbClr val="2F3E46"/>
          </a:solidFill>
        </a:ln>
        <a:scene3d>
          <a:camera prst="orthographicFront"/>
          <a:lightRig rig="threePt" dir="t"/>
        </a:scene3d>
        <a:sp3d>
          <a:bevelT/>
        </a:sp3d>
      </dgm:spPr>
      <dgm:t>
        <a:bodyPr lIns="0" rIns="0"/>
        <a:lstStyle/>
        <a:p>
          <a:pPr algn="ctr"/>
          <a:r>
            <a:rPr lang="es-ES" sz="2200" b="1" dirty="0">
              <a:latin typeface="Montserrat" panose="00000500000000000000" pitchFamily="2" charset="0"/>
            </a:rPr>
            <a:t>Empresas</a:t>
          </a:r>
          <a:endParaRPr lang="es-MX" sz="2200" b="1" dirty="0">
            <a:latin typeface="Montserrat" panose="00000500000000000000" pitchFamily="2" charset="0"/>
          </a:endParaRPr>
        </a:p>
      </dgm:t>
    </dgm:pt>
    <dgm:pt modelId="{599C8D5C-82CC-4E04-BF81-86883026B69C}" type="parTrans" cxnId="{B9ABDBFF-6391-4B2D-AFC9-4C71937DDA94}">
      <dgm:prSet/>
      <dgm:spPr/>
      <dgm:t>
        <a:bodyPr/>
        <a:lstStyle/>
        <a:p>
          <a:endParaRPr lang="es-MX" sz="1400">
            <a:latin typeface="Montserrat" panose="00000500000000000000" pitchFamily="2" charset="0"/>
          </a:endParaRPr>
        </a:p>
      </dgm:t>
    </dgm:pt>
    <dgm:pt modelId="{7C38F42F-2ECD-4DE1-B227-CD9FCD8435E7}" type="sibTrans" cxnId="{B9ABDBFF-6391-4B2D-AFC9-4C71937DDA94}">
      <dgm:prSet custT="1"/>
      <dgm:spPr>
        <a:solidFill>
          <a:srgbClr val="52796F"/>
        </a:solidFill>
        <a:scene3d>
          <a:camera prst="orthographicFront"/>
          <a:lightRig rig="threePt" dir="t"/>
        </a:scene3d>
        <a:sp3d>
          <a:bevelT/>
        </a:sp3d>
      </dgm:spPr>
      <dgm:t>
        <a:bodyPr/>
        <a:lstStyle/>
        <a:p>
          <a:endParaRPr lang="es-MX" sz="1400">
            <a:latin typeface="Montserrat" panose="00000500000000000000" pitchFamily="2" charset="0"/>
          </a:endParaRPr>
        </a:p>
      </dgm:t>
    </dgm:pt>
    <dgm:pt modelId="{9DCDF5AF-86E2-47F3-98B1-FFB9D6D492BC}">
      <dgm:prSet phldrT="[Texto]" custT="1"/>
      <dgm:spPr>
        <a:solidFill>
          <a:srgbClr val="2F3E46"/>
        </a:solidFill>
        <a:ln>
          <a:solidFill>
            <a:srgbClr val="2F3E46"/>
          </a:solidFill>
        </a:ln>
        <a:scene3d>
          <a:camera prst="orthographicFront"/>
          <a:lightRig rig="threePt" dir="t"/>
        </a:scene3d>
        <a:sp3d>
          <a:bevelT/>
        </a:sp3d>
      </dgm:spPr>
      <dgm:t>
        <a:bodyPr lIns="0" rIns="0"/>
        <a:lstStyle/>
        <a:p>
          <a:pPr algn="ctr"/>
          <a:r>
            <a:rPr lang="es-ES" sz="2200" b="1" dirty="0">
              <a:latin typeface="Montserrat" panose="00000500000000000000" pitchFamily="2" charset="0"/>
            </a:rPr>
            <a:t>Intangibles</a:t>
          </a:r>
          <a:endParaRPr lang="es-MX" sz="2200" b="1" dirty="0">
            <a:latin typeface="Montserrat" panose="00000500000000000000" pitchFamily="2" charset="0"/>
          </a:endParaRPr>
        </a:p>
      </dgm:t>
    </dgm:pt>
    <dgm:pt modelId="{B7B39E63-F906-49BB-A0D4-99EF76C96964}" type="parTrans" cxnId="{88B24A3F-8855-4B6A-B614-8A7A0DF3FB43}">
      <dgm:prSet/>
      <dgm:spPr/>
      <dgm:t>
        <a:bodyPr/>
        <a:lstStyle/>
        <a:p>
          <a:endParaRPr lang="es-MX" sz="1400">
            <a:latin typeface="Montserrat" panose="00000500000000000000" pitchFamily="2" charset="0"/>
          </a:endParaRPr>
        </a:p>
      </dgm:t>
    </dgm:pt>
    <dgm:pt modelId="{A7CF9454-E4F2-40DC-B1CD-921AF2507E79}" type="sibTrans" cxnId="{88B24A3F-8855-4B6A-B614-8A7A0DF3FB43}">
      <dgm:prSet/>
      <dgm:spPr/>
      <dgm:t>
        <a:bodyPr/>
        <a:lstStyle/>
        <a:p>
          <a:endParaRPr lang="es-MX" sz="1400">
            <a:latin typeface="Montserrat" panose="00000500000000000000" pitchFamily="2" charset="0"/>
          </a:endParaRPr>
        </a:p>
      </dgm:t>
    </dgm:pt>
    <dgm:pt modelId="{94D2469F-A77D-47AD-B55C-1FBE4DCB5440}">
      <dgm:prSet custT="1"/>
      <dgm:spPr>
        <a:solidFill>
          <a:srgbClr val="2F3E46"/>
        </a:solidFill>
        <a:ln>
          <a:solidFill>
            <a:srgbClr val="2F3E46"/>
          </a:solidFill>
        </a:ln>
        <a:scene3d>
          <a:camera prst="orthographicFront"/>
          <a:lightRig rig="threePt" dir="t"/>
        </a:scene3d>
        <a:sp3d>
          <a:bevelT/>
        </a:sp3d>
      </dgm:spPr>
      <dgm:t>
        <a:bodyPr lIns="0" rIns="0"/>
        <a:lstStyle/>
        <a:p>
          <a:pPr algn="ctr"/>
          <a:r>
            <a:rPr lang="es-ES" sz="2200" b="1" dirty="0">
              <a:latin typeface="Montserrat" panose="00000500000000000000" pitchFamily="2" charset="0"/>
            </a:rPr>
            <a:t>Proyectos</a:t>
          </a:r>
          <a:endParaRPr lang="es-MX" sz="2200" b="1" dirty="0">
            <a:latin typeface="Montserrat" panose="00000500000000000000" pitchFamily="2" charset="0"/>
          </a:endParaRPr>
        </a:p>
      </dgm:t>
    </dgm:pt>
    <dgm:pt modelId="{F2CBB502-BE5B-457D-AEB7-1EFD206E4DD4}" type="parTrans" cxnId="{8D05BB94-B071-4ED8-9C6D-3F9A3E81E5A3}">
      <dgm:prSet/>
      <dgm:spPr/>
      <dgm:t>
        <a:bodyPr/>
        <a:lstStyle/>
        <a:p>
          <a:endParaRPr lang="es-MX" sz="1400">
            <a:latin typeface="Montserrat" panose="00000500000000000000" pitchFamily="2" charset="0"/>
          </a:endParaRPr>
        </a:p>
      </dgm:t>
    </dgm:pt>
    <dgm:pt modelId="{EB2C20E5-00A6-46DD-B32D-6E035B018941}" type="sibTrans" cxnId="{8D05BB94-B071-4ED8-9C6D-3F9A3E81E5A3}">
      <dgm:prSet custT="1"/>
      <dgm:spPr>
        <a:solidFill>
          <a:srgbClr val="52796F"/>
        </a:solidFill>
        <a:scene3d>
          <a:camera prst="orthographicFront"/>
          <a:lightRig rig="threePt" dir="t"/>
        </a:scene3d>
        <a:sp3d>
          <a:bevelT/>
        </a:sp3d>
      </dgm:spPr>
      <dgm:t>
        <a:bodyPr/>
        <a:lstStyle/>
        <a:p>
          <a:endParaRPr lang="es-MX" sz="1400">
            <a:latin typeface="Montserrat" panose="00000500000000000000" pitchFamily="2" charset="0"/>
          </a:endParaRPr>
        </a:p>
      </dgm:t>
    </dgm:pt>
    <dgm:pt modelId="{490B9EFC-D089-4D6B-931E-D2FD77AE6B4C}">
      <dgm:prSet custT="1"/>
      <dgm:spPr>
        <a:solidFill>
          <a:srgbClr val="84A98C"/>
        </a:solidFill>
        <a:ln>
          <a:solidFill>
            <a:srgbClr val="84A98C"/>
          </a:solidFill>
        </a:ln>
        <a:scene3d>
          <a:camera prst="orthographicFront"/>
          <a:lightRig rig="threePt" dir="t"/>
        </a:scene3d>
        <a:sp3d>
          <a:bevelT/>
        </a:sp3d>
      </dgm:spPr>
      <dgm:t>
        <a:bodyPr lIns="0" tIns="0" rIns="0" bIns="0" anchor="ctr" anchorCtr="0"/>
        <a:lstStyle/>
        <a:p>
          <a:r>
            <a:rPr lang="es-ES" sz="1800" dirty="0">
              <a:solidFill>
                <a:schemeClr val="bg1"/>
              </a:solidFill>
              <a:latin typeface="Montserrat" panose="00000500000000000000" pitchFamily="2" charset="0"/>
            </a:rPr>
            <a:t>Bien raíz</a:t>
          </a:r>
          <a:endParaRPr lang="es-MX" sz="1800" dirty="0">
            <a:solidFill>
              <a:schemeClr val="bg1"/>
            </a:solidFill>
            <a:latin typeface="Montserrat" panose="00000500000000000000" pitchFamily="2" charset="0"/>
          </a:endParaRPr>
        </a:p>
      </dgm:t>
    </dgm:pt>
    <dgm:pt modelId="{39CAF55A-D92E-49F1-B376-B2A8529AB0EF}" type="parTrans" cxnId="{37E60D1A-0E15-45A3-8760-B62F2FFDFC89}">
      <dgm:prSet/>
      <dgm:spPr/>
      <dgm:t>
        <a:bodyPr/>
        <a:lstStyle/>
        <a:p>
          <a:endParaRPr lang="es-MX" sz="1400">
            <a:latin typeface="Montserrat" panose="00000500000000000000" pitchFamily="2" charset="0"/>
          </a:endParaRPr>
        </a:p>
      </dgm:t>
    </dgm:pt>
    <dgm:pt modelId="{5783BD8A-43A7-4A59-88AD-A9AFD14F0EFB}" type="sibTrans" cxnId="{37E60D1A-0E15-45A3-8760-B62F2FFDFC89}">
      <dgm:prSet/>
      <dgm:spPr/>
      <dgm:t>
        <a:bodyPr/>
        <a:lstStyle/>
        <a:p>
          <a:endParaRPr lang="es-MX" sz="1400">
            <a:latin typeface="Montserrat" panose="00000500000000000000" pitchFamily="2" charset="0"/>
          </a:endParaRPr>
        </a:p>
      </dgm:t>
    </dgm:pt>
    <dgm:pt modelId="{3742A909-4675-4A42-A687-F902E6EBB94E}">
      <dgm:prSet custT="1"/>
      <dgm:spPr>
        <a:solidFill>
          <a:srgbClr val="84A98C"/>
        </a:solidFill>
        <a:ln>
          <a:solidFill>
            <a:srgbClr val="84A98C"/>
          </a:solidFill>
        </a:ln>
        <a:scene3d>
          <a:camera prst="orthographicFront"/>
          <a:lightRig rig="threePt" dir="t"/>
        </a:scene3d>
        <a:sp3d>
          <a:bevelT/>
        </a:sp3d>
      </dgm:spPr>
      <dgm:t>
        <a:bodyPr lIns="0" tIns="0" rIns="0" bIns="0" anchor="ctr" anchorCtr="0"/>
        <a:lstStyle/>
        <a:p>
          <a:r>
            <a:rPr lang="es-ES" sz="1800" dirty="0">
              <a:solidFill>
                <a:schemeClr val="bg1"/>
              </a:solidFill>
              <a:latin typeface="Montserrat" panose="00000500000000000000" pitchFamily="2" charset="0"/>
            </a:rPr>
            <a:t>Equipo</a:t>
          </a:r>
          <a:endParaRPr lang="es-MX" sz="1800" dirty="0">
            <a:solidFill>
              <a:schemeClr val="bg1"/>
            </a:solidFill>
            <a:latin typeface="Montserrat" panose="00000500000000000000" pitchFamily="2" charset="0"/>
          </a:endParaRPr>
        </a:p>
      </dgm:t>
    </dgm:pt>
    <dgm:pt modelId="{CBFB6B36-82D5-478C-BD8F-4D507C1FD029}" type="parTrans" cxnId="{AE0908CA-79DF-4209-A008-8E047FF903D1}">
      <dgm:prSet/>
      <dgm:spPr/>
      <dgm:t>
        <a:bodyPr/>
        <a:lstStyle/>
        <a:p>
          <a:endParaRPr lang="es-MX" sz="1400">
            <a:latin typeface="Montserrat" panose="00000500000000000000" pitchFamily="2" charset="0"/>
          </a:endParaRPr>
        </a:p>
      </dgm:t>
    </dgm:pt>
    <dgm:pt modelId="{D3B69BFB-F63F-42BA-AB17-645FF4E9058F}" type="sibTrans" cxnId="{AE0908CA-79DF-4209-A008-8E047FF903D1}">
      <dgm:prSet/>
      <dgm:spPr/>
      <dgm:t>
        <a:bodyPr/>
        <a:lstStyle/>
        <a:p>
          <a:endParaRPr lang="es-MX" sz="1400">
            <a:latin typeface="Montserrat" panose="00000500000000000000" pitchFamily="2" charset="0"/>
          </a:endParaRPr>
        </a:p>
      </dgm:t>
    </dgm:pt>
    <dgm:pt modelId="{ACB1613A-4035-4AA4-80E4-84D393E0C297}">
      <dgm:prSet custT="1"/>
      <dgm:spPr>
        <a:solidFill>
          <a:srgbClr val="84A98C"/>
        </a:solidFill>
        <a:ln>
          <a:solidFill>
            <a:srgbClr val="84A98C"/>
          </a:solidFill>
        </a:ln>
        <a:scene3d>
          <a:camera prst="orthographicFront"/>
          <a:lightRig rig="threePt" dir="t"/>
        </a:scene3d>
        <a:sp3d>
          <a:bevelT/>
        </a:sp3d>
      </dgm:spPr>
      <dgm:t>
        <a:bodyPr lIns="0" tIns="0" rIns="0" bIns="0" anchor="ctr" anchorCtr="0"/>
        <a:lstStyle/>
        <a:p>
          <a:r>
            <a:rPr lang="es-ES" sz="1800" dirty="0">
              <a:solidFill>
                <a:schemeClr val="bg1"/>
              </a:solidFill>
              <a:latin typeface="Montserrat" panose="00000500000000000000" pitchFamily="2" charset="0"/>
            </a:rPr>
            <a:t>Mobiliario</a:t>
          </a:r>
          <a:endParaRPr lang="es-MX" sz="1800" dirty="0">
            <a:solidFill>
              <a:schemeClr val="bg1"/>
            </a:solidFill>
            <a:latin typeface="Montserrat" panose="00000500000000000000" pitchFamily="2" charset="0"/>
          </a:endParaRPr>
        </a:p>
      </dgm:t>
    </dgm:pt>
    <dgm:pt modelId="{3FD9C7D7-FAF5-4690-B637-518C83C597CE}" type="parTrans" cxnId="{9F02517A-3617-4380-A97F-FFAC0BA6AD8E}">
      <dgm:prSet/>
      <dgm:spPr/>
      <dgm:t>
        <a:bodyPr/>
        <a:lstStyle/>
        <a:p>
          <a:endParaRPr lang="es-MX" sz="1400">
            <a:latin typeface="Montserrat" panose="00000500000000000000" pitchFamily="2" charset="0"/>
          </a:endParaRPr>
        </a:p>
      </dgm:t>
    </dgm:pt>
    <dgm:pt modelId="{C23218F4-7F19-493E-A4B7-83FCB378C8B0}" type="sibTrans" cxnId="{9F02517A-3617-4380-A97F-FFAC0BA6AD8E}">
      <dgm:prSet/>
      <dgm:spPr/>
      <dgm:t>
        <a:bodyPr/>
        <a:lstStyle/>
        <a:p>
          <a:endParaRPr lang="es-MX" sz="1400">
            <a:latin typeface="Montserrat" panose="00000500000000000000" pitchFamily="2" charset="0"/>
          </a:endParaRPr>
        </a:p>
      </dgm:t>
    </dgm:pt>
    <dgm:pt modelId="{AA185DFB-3FD3-4EB9-8BA9-A84DD0056E5A}">
      <dgm:prSet custT="1"/>
      <dgm:spPr>
        <a:solidFill>
          <a:srgbClr val="84A98C"/>
        </a:solidFill>
        <a:ln>
          <a:solidFill>
            <a:srgbClr val="84A98C"/>
          </a:solidFill>
        </a:ln>
        <a:scene3d>
          <a:camera prst="orthographicFront"/>
          <a:lightRig rig="threePt" dir="t"/>
        </a:scene3d>
        <a:sp3d>
          <a:bevelT/>
        </a:sp3d>
      </dgm:spPr>
      <dgm:t>
        <a:bodyPr lIns="0" rIns="0" anchor="ctr" anchorCtr="0"/>
        <a:lstStyle/>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Compras</a:t>
          </a:r>
          <a:endParaRPr lang="es-MX" sz="1800" kern="1200" dirty="0">
            <a:solidFill>
              <a:schemeClr val="bg1"/>
            </a:solidFill>
            <a:latin typeface="Montserrat" panose="00000500000000000000" pitchFamily="2" charset="0"/>
            <a:ea typeface="+mn-ea"/>
            <a:cs typeface="+mn-cs"/>
          </a:endParaRPr>
        </a:p>
      </dgm:t>
    </dgm:pt>
    <dgm:pt modelId="{D9632F08-9F7D-4137-A87C-8197BA7BCF0D}" type="parTrans" cxnId="{214A00EE-3833-4625-ADD3-2F1A1760C9E8}">
      <dgm:prSet/>
      <dgm:spPr/>
      <dgm:t>
        <a:bodyPr/>
        <a:lstStyle/>
        <a:p>
          <a:endParaRPr lang="es-MX" sz="1400">
            <a:latin typeface="Montserrat" panose="00000500000000000000" pitchFamily="2" charset="0"/>
          </a:endParaRPr>
        </a:p>
      </dgm:t>
    </dgm:pt>
    <dgm:pt modelId="{F5CBA41E-E11F-4D6A-9167-5F08A2A7DDC5}" type="sibTrans" cxnId="{214A00EE-3833-4625-ADD3-2F1A1760C9E8}">
      <dgm:prSet/>
      <dgm:spPr/>
      <dgm:t>
        <a:bodyPr/>
        <a:lstStyle/>
        <a:p>
          <a:endParaRPr lang="es-MX" sz="1400">
            <a:latin typeface="Montserrat" panose="00000500000000000000" pitchFamily="2" charset="0"/>
          </a:endParaRPr>
        </a:p>
      </dgm:t>
    </dgm:pt>
    <dgm:pt modelId="{19F8BE5C-53EE-4EEC-892C-D0E5F5897786}">
      <dgm:prSet custT="1"/>
      <dgm:spPr>
        <a:solidFill>
          <a:srgbClr val="84A98C"/>
        </a:solidFill>
        <a:ln>
          <a:solidFill>
            <a:srgbClr val="84A98C"/>
          </a:solidFill>
        </a:ln>
        <a:scene3d>
          <a:camera prst="orthographicFront"/>
          <a:lightRig rig="threePt" dir="t"/>
        </a:scene3d>
        <a:sp3d>
          <a:bevelT/>
        </a:sp3d>
      </dgm:spPr>
      <dgm:t>
        <a:bodyPr lIns="0" tIns="0" rIns="0" bIns="0" anchor="ctr" anchorCtr="0"/>
        <a:lstStyle/>
        <a:p>
          <a:pPr marL="0" indent="0" algn="ctr">
            <a:buNone/>
          </a:pPr>
          <a:r>
            <a:rPr lang="es-ES" sz="1800" dirty="0">
              <a:solidFill>
                <a:schemeClr val="bg1"/>
              </a:solidFill>
              <a:latin typeface="Montserrat" panose="00000500000000000000" pitchFamily="2" charset="0"/>
            </a:rPr>
            <a:t>Evalúa la </a:t>
          </a:r>
          <a:r>
            <a:rPr lang="es-ES" sz="1800" b="1" dirty="0">
              <a:solidFill>
                <a:schemeClr val="bg1"/>
              </a:solidFill>
              <a:latin typeface="Montserrat" panose="00000500000000000000" pitchFamily="2" charset="0"/>
            </a:rPr>
            <a:t>viabilidad</a:t>
          </a:r>
          <a:r>
            <a:rPr lang="es-ES" sz="1800" dirty="0">
              <a:solidFill>
                <a:schemeClr val="bg1"/>
              </a:solidFill>
              <a:latin typeface="Montserrat" panose="00000500000000000000" pitchFamily="2" charset="0"/>
            </a:rPr>
            <a:t> y </a:t>
          </a:r>
          <a:r>
            <a:rPr lang="es-ES" sz="1800" b="1" dirty="0">
              <a:solidFill>
                <a:schemeClr val="bg1"/>
              </a:solidFill>
              <a:latin typeface="Montserrat" panose="00000500000000000000" pitchFamily="2" charset="0"/>
            </a:rPr>
            <a:t>rentabilidad</a:t>
          </a:r>
          <a:endParaRPr lang="es-MX" sz="1800" b="1" dirty="0">
            <a:solidFill>
              <a:schemeClr val="bg1"/>
            </a:solidFill>
            <a:latin typeface="Montserrat" panose="00000500000000000000" pitchFamily="2" charset="0"/>
          </a:endParaRPr>
        </a:p>
      </dgm:t>
    </dgm:pt>
    <dgm:pt modelId="{EBE8B114-895E-4385-80C3-07392380C09A}" type="parTrans" cxnId="{93EF5D04-5425-433D-81BC-57CB87BE6A04}">
      <dgm:prSet/>
      <dgm:spPr/>
      <dgm:t>
        <a:bodyPr/>
        <a:lstStyle/>
        <a:p>
          <a:endParaRPr lang="es-MX" sz="1400">
            <a:latin typeface="Montserrat" panose="00000500000000000000" pitchFamily="2" charset="0"/>
          </a:endParaRPr>
        </a:p>
      </dgm:t>
    </dgm:pt>
    <dgm:pt modelId="{58DEB6C2-F0B2-466E-9458-A277F5EF15A4}" type="sibTrans" cxnId="{93EF5D04-5425-433D-81BC-57CB87BE6A04}">
      <dgm:prSet/>
      <dgm:spPr/>
      <dgm:t>
        <a:bodyPr/>
        <a:lstStyle/>
        <a:p>
          <a:endParaRPr lang="es-MX" sz="1400">
            <a:latin typeface="Montserrat" panose="00000500000000000000" pitchFamily="2" charset="0"/>
          </a:endParaRPr>
        </a:p>
      </dgm:t>
    </dgm:pt>
    <dgm:pt modelId="{E1C60D29-97E0-4230-B4B9-C58F3191835F}">
      <dgm:prSet custT="1"/>
      <dgm:spPr>
        <a:solidFill>
          <a:srgbClr val="84A98C"/>
        </a:solidFill>
        <a:ln>
          <a:solidFill>
            <a:srgbClr val="84A98C"/>
          </a:solidFill>
        </a:ln>
        <a:scene3d>
          <a:camera prst="orthographicFront"/>
          <a:lightRig rig="threePt" dir="t"/>
        </a:scene3d>
        <a:sp3d>
          <a:bevelT/>
        </a:sp3d>
      </dgm:spPr>
      <dgm:t>
        <a:bodyPr anchor="ctr" anchorCtr="0"/>
        <a:lstStyle/>
        <a:p>
          <a:pPr marL="228600" lvl="1" indent="-228600" algn="l" defTabSz="889000">
            <a:lnSpc>
              <a:spcPct val="90000"/>
            </a:lnSpc>
            <a:spcBef>
              <a:spcPct val="0"/>
            </a:spcBef>
            <a:spcAft>
              <a:spcPct val="15000"/>
            </a:spcAft>
            <a:buFont typeface="Arial" panose="020B0604020202020204" pitchFamily="34" charset="0"/>
            <a:buChar char="•"/>
          </a:pPr>
          <a:r>
            <a:rPr lang="es-ES" sz="1800" kern="1200" dirty="0">
              <a:solidFill>
                <a:schemeClr val="bg1"/>
              </a:solidFill>
              <a:latin typeface="Montserrat" panose="00000500000000000000" pitchFamily="2" charset="0"/>
              <a:ea typeface="+mn-ea"/>
              <a:cs typeface="+mn-cs"/>
            </a:rPr>
            <a:t> Patentes</a:t>
          </a:r>
          <a:endParaRPr lang="es-MX" sz="1800" kern="1200" dirty="0">
            <a:solidFill>
              <a:schemeClr val="bg1"/>
            </a:solidFill>
            <a:latin typeface="Montserrat" panose="00000500000000000000" pitchFamily="2" charset="0"/>
            <a:ea typeface="+mn-ea"/>
            <a:cs typeface="+mn-cs"/>
          </a:endParaRPr>
        </a:p>
      </dgm:t>
    </dgm:pt>
    <dgm:pt modelId="{01F16538-34AE-47B8-B3A6-C1A906BB20B7}" type="parTrans" cxnId="{B117A857-250D-4017-8887-2E548DB85FE2}">
      <dgm:prSet/>
      <dgm:spPr/>
      <dgm:t>
        <a:bodyPr/>
        <a:lstStyle/>
        <a:p>
          <a:endParaRPr lang="es-MX" sz="1400">
            <a:latin typeface="Montserrat" panose="00000500000000000000" pitchFamily="2" charset="0"/>
          </a:endParaRPr>
        </a:p>
      </dgm:t>
    </dgm:pt>
    <dgm:pt modelId="{E29E50BC-EC10-4891-8F13-0C3546DA4B7A}" type="sibTrans" cxnId="{B117A857-250D-4017-8887-2E548DB85FE2}">
      <dgm:prSet/>
      <dgm:spPr/>
      <dgm:t>
        <a:bodyPr/>
        <a:lstStyle/>
        <a:p>
          <a:endParaRPr lang="es-MX" sz="1400">
            <a:latin typeface="Montserrat" panose="00000500000000000000" pitchFamily="2" charset="0"/>
          </a:endParaRPr>
        </a:p>
      </dgm:t>
    </dgm:pt>
    <dgm:pt modelId="{8409EBF9-4907-485D-A13D-036CD89FD8C7}">
      <dgm:prSet custT="1"/>
      <dgm:spPr>
        <a:solidFill>
          <a:srgbClr val="84A98C"/>
        </a:solidFill>
        <a:ln>
          <a:solidFill>
            <a:srgbClr val="84A98C"/>
          </a:solidFill>
        </a:ln>
        <a:scene3d>
          <a:camera prst="orthographicFront"/>
          <a:lightRig rig="threePt" dir="t"/>
        </a:scene3d>
        <a:sp3d>
          <a:bevelT/>
        </a:sp3d>
      </dgm:spPr>
      <dgm:t>
        <a:bodyPr anchor="ctr" anchorCtr="0"/>
        <a:lstStyle/>
        <a:p>
          <a:pPr marL="228600" lvl="1" indent="-228600" algn="l" defTabSz="889000">
            <a:lnSpc>
              <a:spcPct val="90000"/>
            </a:lnSpc>
            <a:spcBef>
              <a:spcPct val="0"/>
            </a:spcBef>
            <a:spcAft>
              <a:spcPct val="15000"/>
            </a:spcAft>
            <a:buFont typeface="Arial" panose="020B0604020202020204" pitchFamily="34" charset="0"/>
            <a:buChar char="•"/>
          </a:pPr>
          <a:r>
            <a:rPr lang="es-ES" sz="1800" kern="1200" dirty="0">
              <a:solidFill>
                <a:schemeClr val="bg1"/>
              </a:solidFill>
              <a:latin typeface="Montserrat" panose="00000500000000000000" pitchFamily="2" charset="0"/>
              <a:ea typeface="+mn-ea"/>
              <a:cs typeface="+mn-cs"/>
            </a:rPr>
            <a:t> Marcas</a:t>
          </a:r>
          <a:endParaRPr lang="es-MX" sz="1800" kern="1200" dirty="0">
            <a:solidFill>
              <a:schemeClr val="bg1"/>
            </a:solidFill>
            <a:latin typeface="Montserrat" panose="00000500000000000000" pitchFamily="2" charset="0"/>
            <a:ea typeface="+mn-ea"/>
            <a:cs typeface="+mn-cs"/>
          </a:endParaRPr>
        </a:p>
      </dgm:t>
    </dgm:pt>
    <dgm:pt modelId="{29F07E91-B439-4204-BA55-D08ECE6677E8}" type="parTrans" cxnId="{F6337581-2626-403E-804F-8815C40616C6}">
      <dgm:prSet/>
      <dgm:spPr/>
      <dgm:t>
        <a:bodyPr/>
        <a:lstStyle/>
        <a:p>
          <a:endParaRPr lang="es-MX" sz="1400">
            <a:latin typeface="Montserrat" panose="00000500000000000000" pitchFamily="2" charset="0"/>
          </a:endParaRPr>
        </a:p>
      </dgm:t>
    </dgm:pt>
    <dgm:pt modelId="{7A8B03B8-BF48-4D50-9E50-4424748E9E74}" type="sibTrans" cxnId="{F6337581-2626-403E-804F-8815C40616C6}">
      <dgm:prSet/>
      <dgm:spPr/>
      <dgm:t>
        <a:bodyPr/>
        <a:lstStyle/>
        <a:p>
          <a:endParaRPr lang="es-MX" sz="1400">
            <a:latin typeface="Montserrat" panose="00000500000000000000" pitchFamily="2" charset="0"/>
          </a:endParaRPr>
        </a:p>
      </dgm:t>
    </dgm:pt>
    <dgm:pt modelId="{C07FC273-4AAE-4241-9CC6-097AA78A5AAA}">
      <dgm:prSet custT="1"/>
      <dgm:spPr>
        <a:solidFill>
          <a:srgbClr val="84A98C"/>
        </a:solidFill>
        <a:ln>
          <a:solidFill>
            <a:srgbClr val="84A98C"/>
          </a:solidFill>
        </a:ln>
        <a:scene3d>
          <a:camera prst="orthographicFront"/>
          <a:lightRig rig="threePt" dir="t"/>
        </a:scene3d>
        <a:sp3d>
          <a:bevelT/>
        </a:sp3d>
      </dgm:spPr>
      <dgm:t>
        <a:bodyPr anchor="ctr" anchorCtr="0"/>
        <a:lstStyle/>
        <a:p>
          <a:pPr marL="228600" lvl="1" indent="-228600" algn="l" defTabSz="889000">
            <a:lnSpc>
              <a:spcPct val="90000"/>
            </a:lnSpc>
            <a:spcBef>
              <a:spcPct val="0"/>
            </a:spcBef>
            <a:spcAft>
              <a:spcPct val="15000"/>
            </a:spcAft>
            <a:buFont typeface="Arial" panose="020B0604020202020204" pitchFamily="34" charset="0"/>
            <a:buChar char="•"/>
          </a:pPr>
          <a:r>
            <a:rPr lang="es-ES" sz="1800" kern="1200" dirty="0">
              <a:solidFill>
                <a:schemeClr val="bg1"/>
              </a:solidFill>
              <a:latin typeface="Montserrat" panose="00000500000000000000" pitchFamily="2" charset="0"/>
              <a:ea typeface="+mn-ea"/>
              <a:cs typeface="+mn-cs"/>
            </a:rPr>
            <a:t> Derechos de autor</a:t>
          </a:r>
          <a:endParaRPr lang="es-MX" sz="1800" kern="1200" dirty="0">
            <a:solidFill>
              <a:schemeClr val="bg1"/>
            </a:solidFill>
            <a:latin typeface="Montserrat" panose="00000500000000000000" pitchFamily="2" charset="0"/>
            <a:ea typeface="+mn-ea"/>
            <a:cs typeface="+mn-cs"/>
          </a:endParaRPr>
        </a:p>
      </dgm:t>
    </dgm:pt>
    <dgm:pt modelId="{F74A99CF-5C8D-4A1B-A65A-34D9719AF681}" type="parTrans" cxnId="{35522957-85EC-4E2B-A6A5-BC7840F516F9}">
      <dgm:prSet/>
      <dgm:spPr/>
      <dgm:t>
        <a:bodyPr/>
        <a:lstStyle/>
        <a:p>
          <a:endParaRPr lang="es-MX" sz="1400">
            <a:latin typeface="Montserrat" panose="00000500000000000000" pitchFamily="2" charset="0"/>
          </a:endParaRPr>
        </a:p>
      </dgm:t>
    </dgm:pt>
    <dgm:pt modelId="{142BDD73-DC61-405A-AB54-AD48503A164F}" type="sibTrans" cxnId="{35522957-85EC-4E2B-A6A5-BC7840F516F9}">
      <dgm:prSet/>
      <dgm:spPr/>
      <dgm:t>
        <a:bodyPr/>
        <a:lstStyle/>
        <a:p>
          <a:endParaRPr lang="es-MX" sz="1400">
            <a:latin typeface="Montserrat" panose="00000500000000000000" pitchFamily="2" charset="0"/>
          </a:endParaRPr>
        </a:p>
      </dgm:t>
    </dgm:pt>
    <dgm:pt modelId="{4F17CC85-DA91-4DDB-8BEB-B34CAE1BCF00}">
      <dgm:prSet custT="1"/>
      <dgm:spPr>
        <a:solidFill>
          <a:srgbClr val="84A98C"/>
        </a:solidFill>
        <a:ln>
          <a:solidFill>
            <a:srgbClr val="84A98C"/>
          </a:solidFill>
        </a:ln>
        <a:scene3d>
          <a:camera prst="orthographicFront"/>
          <a:lightRig rig="threePt" dir="t"/>
        </a:scene3d>
        <a:sp3d>
          <a:bevelT/>
        </a:sp3d>
      </dgm:spPr>
      <dgm:t>
        <a:bodyPr lIns="0" rIns="0" anchor="ctr" anchorCtr="0"/>
        <a:lstStyle/>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Ventas</a:t>
          </a:r>
          <a:endParaRPr lang="es-MX" sz="1800" kern="1200" dirty="0">
            <a:solidFill>
              <a:schemeClr val="bg1"/>
            </a:solidFill>
            <a:latin typeface="Montserrat" panose="00000500000000000000" pitchFamily="2" charset="0"/>
            <a:ea typeface="+mn-ea"/>
            <a:cs typeface="+mn-cs"/>
          </a:endParaRPr>
        </a:p>
      </dgm:t>
    </dgm:pt>
    <dgm:pt modelId="{4D0C136C-A073-42B7-A8A3-08607EDB6EC1}" type="parTrans" cxnId="{B23AAC3B-43BA-4442-B34D-EE986C50822D}">
      <dgm:prSet/>
      <dgm:spPr/>
      <dgm:t>
        <a:bodyPr/>
        <a:lstStyle/>
        <a:p>
          <a:endParaRPr lang="es-MX" sz="1400">
            <a:latin typeface="Montserrat" panose="00000500000000000000" pitchFamily="2" charset="0"/>
          </a:endParaRPr>
        </a:p>
      </dgm:t>
    </dgm:pt>
    <dgm:pt modelId="{E1231080-EA22-4752-9566-FBAF0540ECA8}" type="sibTrans" cxnId="{B23AAC3B-43BA-4442-B34D-EE986C50822D}">
      <dgm:prSet/>
      <dgm:spPr/>
      <dgm:t>
        <a:bodyPr/>
        <a:lstStyle/>
        <a:p>
          <a:endParaRPr lang="es-MX" sz="1400">
            <a:latin typeface="Montserrat" panose="00000500000000000000" pitchFamily="2" charset="0"/>
          </a:endParaRPr>
        </a:p>
      </dgm:t>
    </dgm:pt>
    <dgm:pt modelId="{962A3CA0-DDF4-4760-8C48-A77B2A225286}">
      <dgm:prSet custT="1"/>
      <dgm:spPr>
        <a:solidFill>
          <a:srgbClr val="84A98C"/>
        </a:solidFill>
        <a:ln>
          <a:solidFill>
            <a:srgbClr val="84A98C"/>
          </a:solidFill>
        </a:ln>
        <a:scene3d>
          <a:camera prst="orthographicFront"/>
          <a:lightRig rig="threePt" dir="t"/>
        </a:scene3d>
        <a:sp3d>
          <a:bevelT/>
        </a:sp3d>
      </dgm:spPr>
      <dgm:t>
        <a:bodyPr lIns="0" rIns="0" anchor="ctr" anchorCtr="0"/>
        <a:lstStyle/>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Fusiones</a:t>
          </a:r>
          <a:endParaRPr lang="es-MX" sz="1800" kern="1200" dirty="0">
            <a:solidFill>
              <a:schemeClr val="bg1"/>
            </a:solidFill>
            <a:latin typeface="Montserrat" panose="00000500000000000000" pitchFamily="2" charset="0"/>
            <a:ea typeface="+mn-ea"/>
            <a:cs typeface="+mn-cs"/>
          </a:endParaRPr>
        </a:p>
      </dgm:t>
    </dgm:pt>
    <dgm:pt modelId="{CF159F1A-96A7-414F-BCA8-6B2F27A5DB34}" type="parTrans" cxnId="{7BC9BEDF-F979-4F6D-A8F1-BAF1557AC1C8}">
      <dgm:prSet/>
      <dgm:spPr/>
      <dgm:t>
        <a:bodyPr/>
        <a:lstStyle/>
        <a:p>
          <a:endParaRPr lang="es-MX" sz="1400">
            <a:latin typeface="Montserrat" panose="00000500000000000000" pitchFamily="2" charset="0"/>
          </a:endParaRPr>
        </a:p>
      </dgm:t>
    </dgm:pt>
    <dgm:pt modelId="{13DE2EC4-34B9-4AB2-BFC3-AED35C83CFFA}" type="sibTrans" cxnId="{7BC9BEDF-F979-4F6D-A8F1-BAF1557AC1C8}">
      <dgm:prSet/>
      <dgm:spPr/>
      <dgm:t>
        <a:bodyPr/>
        <a:lstStyle/>
        <a:p>
          <a:endParaRPr lang="es-MX" sz="1400">
            <a:latin typeface="Montserrat" panose="00000500000000000000" pitchFamily="2" charset="0"/>
          </a:endParaRPr>
        </a:p>
      </dgm:t>
    </dgm:pt>
    <dgm:pt modelId="{64D902A6-7624-4FD7-BCBC-7F0CF9A4C92F}">
      <dgm:prSet custT="1"/>
      <dgm:spPr>
        <a:solidFill>
          <a:srgbClr val="84A98C"/>
        </a:solidFill>
        <a:ln>
          <a:solidFill>
            <a:srgbClr val="84A98C"/>
          </a:solidFill>
        </a:ln>
        <a:scene3d>
          <a:camera prst="orthographicFront"/>
          <a:lightRig rig="threePt" dir="t"/>
        </a:scene3d>
        <a:sp3d>
          <a:bevelT/>
        </a:sp3d>
      </dgm:spPr>
      <dgm:t>
        <a:bodyPr lIns="0" rIns="0" anchor="ctr" anchorCtr="0"/>
        <a:lstStyle/>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Inversiones</a:t>
          </a:r>
          <a:endParaRPr lang="es-MX" sz="1800" kern="1200" dirty="0">
            <a:solidFill>
              <a:schemeClr val="bg1"/>
            </a:solidFill>
            <a:latin typeface="Montserrat" panose="00000500000000000000" pitchFamily="2" charset="0"/>
            <a:ea typeface="+mn-ea"/>
            <a:cs typeface="+mn-cs"/>
          </a:endParaRPr>
        </a:p>
      </dgm:t>
    </dgm:pt>
    <dgm:pt modelId="{A2620A79-3FC1-4BD3-A1BD-0DD964203865}" type="parTrans" cxnId="{1AB3A3DA-43C6-41D6-8254-65D33F9D8052}">
      <dgm:prSet/>
      <dgm:spPr/>
      <dgm:t>
        <a:bodyPr/>
        <a:lstStyle/>
        <a:p>
          <a:endParaRPr lang="es-MX" sz="1400">
            <a:latin typeface="Montserrat" panose="00000500000000000000" pitchFamily="2" charset="0"/>
          </a:endParaRPr>
        </a:p>
      </dgm:t>
    </dgm:pt>
    <dgm:pt modelId="{0E5F2846-234A-4562-88A0-4992254FEC42}" type="sibTrans" cxnId="{1AB3A3DA-43C6-41D6-8254-65D33F9D8052}">
      <dgm:prSet/>
      <dgm:spPr/>
      <dgm:t>
        <a:bodyPr/>
        <a:lstStyle/>
        <a:p>
          <a:endParaRPr lang="es-MX" sz="1400">
            <a:latin typeface="Montserrat" panose="00000500000000000000" pitchFamily="2" charset="0"/>
          </a:endParaRPr>
        </a:p>
      </dgm:t>
    </dgm:pt>
    <dgm:pt modelId="{D03DBFD7-5316-4744-A465-70DF49A0D764}" type="pres">
      <dgm:prSet presAssocID="{A79C9E8D-382C-45B5-B90C-9A1303EC9C5C}" presName="linearFlow" presStyleCnt="0">
        <dgm:presLayoutVars>
          <dgm:dir/>
          <dgm:animLvl val="lvl"/>
          <dgm:resizeHandles val="exact"/>
        </dgm:presLayoutVars>
      </dgm:prSet>
      <dgm:spPr/>
    </dgm:pt>
    <dgm:pt modelId="{81F1EF0A-F50C-4E76-ABC2-E4C5D09E96C8}" type="pres">
      <dgm:prSet presAssocID="{2CAD50D4-3DAA-4FB1-8DDC-B3A24F23A59F}" presName="composite" presStyleCnt="0"/>
      <dgm:spPr>
        <a:scene3d>
          <a:camera prst="orthographicFront"/>
          <a:lightRig rig="threePt" dir="t"/>
        </a:scene3d>
        <a:sp3d>
          <a:bevelT/>
        </a:sp3d>
      </dgm:spPr>
    </dgm:pt>
    <dgm:pt modelId="{3838C278-5A36-4DA6-A6BF-2DE30C8DD0AF}" type="pres">
      <dgm:prSet presAssocID="{2CAD50D4-3DAA-4FB1-8DDC-B3A24F23A59F}" presName="parTx" presStyleLbl="node1" presStyleIdx="0" presStyleCnt="4">
        <dgm:presLayoutVars>
          <dgm:chMax val="0"/>
          <dgm:chPref val="0"/>
          <dgm:bulletEnabled val="1"/>
        </dgm:presLayoutVars>
      </dgm:prSet>
      <dgm:spPr/>
    </dgm:pt>
    <dgm:pt modelId="{367302CA-4FB0-4D30-B921-0C3B52266FED}" type="pres">
      <dgm:prSet presAssocID="{2CAD50D4-3DAA-4FB1-8DDC-B3A24F23A59F}" presName="parSh" presStyleLbl="node1" presStyleIdx="0" presStyleCnt="4"/>
      <dgm:spPr/>
    </dgm:pt>
    <dgm:pt modelId="{C852476B-6718-4EE1-A4EC-28FD231F9451}" type="pres">
      <dgm:prSet presAssocID="{2CAD50D4-3DAA-4FB1-8DDC-B3A24F23A59F}" presName="desTx" presStyleLbl="fgAcc1" presStyleIdx="0" presStyleCnt="4">
        <dgm:presLayoutVars>
          <dgm:bulletEnabled val="1"/>
        </dgm:presLayoutVars>
      </dgm:prSet>
      <dgm:spPr/>
    </dgm:pt>
    <dgm:pt modelId="{16BA0945-30CB-40B1-8CE5-0861B14432AD}" type="pres">
      <dgm:prSet presAssocID="{57A97212-90EC-43AE-89A9-F5676D697C24}" presName="sibTrans" presStyleLbl="sibTrans2D1" presStyleIdx="0" presStyleCnt="3"/>
      <dgm:spPr/>
    </dgm:pt>
    <dgm:pt modelId="{571BA34C-2057-4975-9DB1-7724FFF43F77}" type="pres">
      <dgm:prSet presAssocID="{57A97212-90EC-43AE-89A9-F5676D697C24}" presName="connTx" presStyleLbl="sibTrans2D1" presStyleIdx="0" presStyleCnt="3"/>
      <dgm:spPr/>
    </dgm:pt>
    <dgm:pt modelId="{56CA88F0-188C-48B1-A1AB-E51E0F60B5A8}" type="pres">
      <dgm:prSet presAssocID="{24F9E476-BB0C-446C-A23E-E4D084E50D60}" presName="composite" presStyleCnt="0"/>
      <dgm:spPr>
        <a:scene3d>
          <a:camera prst="orthographicFront"/>
          <a:lightRig rig="threePt" dir="t"/>
        </a:scene3d>
        <a:sp3d>
          <a:bevelT/>
        </a:sp3d>
      </dgm:spPr>
    </dgm:pt>
    <dgm:pt modelId="{693353F7-98F5-4FBB-904A-7D978472EF1F}" type="pres">
      <dgm:prSet presAssocID="{24F9E476-BB0C-446C-A23E-E4D084E50D60}" presName="parTx" presStyleLbl="node1" presStyleIdx="0" presStyleCnt="4">
        <dgm:presLayoutVars>
          <dgm:chMax val="0"/>
          <dgm:chPref val="0"/>
          <dgm:bulletEnabled val="1"/>
        </dgm:presLayoutVars>
      </dgm:prSet>
      <dgm:spPr/>
    </dgm:pt>
    <dgm:pt modelId="{764E65B3-371E-4CF1-A28D-A92A37D0B74A}" type="pres">
      <dgm:prSet presAssocID="{24F9E476-BB0C-446C-A23E-E4D084E50D60}" presName="parSh" presStyleLbl="node1" presStyleIdx="1" presStyleCnt="4"/>
      <dgm:spPr/>
    </dgm:pt>
    <dgm:pt modelId="{4D39FB42-4997-40E6-AE7F-0087AC989840}" type="pres">
      <dgm:prSet presAssocID="{24F9E476-BB0C-446C-A23E-E4D084E50D60}" presName="desTx" presStyleLbl="fgAcc1" presStyleIdx="1" presStyleCnt="4">
        <dgm:presLayoutVars>
          <dgm:bulletEnabled val="1"/>
        </dgm:presLayoutVars>
      </dgm:prSet>
      <dgm:spPr/>
    </dgm:pt>
    <dgm:pt modelId="{8DE0E36B-AA75-4EC8-9E89-2FC783A2EA94}" type="pres">
      <dgm:prSet presAssocID="{7C38F42F-2ECD-4DE1-B227-CD9FCD8435E7}" presName="sibTrans" presStyleLbl="sibTrans2D1" presStyleIdx="1" presStyleCnt="3"/>
      <dgm:spPr/>
    </dgm:pt>
    <dgm:pt modelId="{FF070DF3-505C-471E-B992-1978376571B6}" type="pres">
      <dgm:prSet presAssocID="{7C38F42F-2ECD-4DE1-B227-CD9FCD8435E7}" presName="connTx" presStyleLbl="sibTrans2D1" presStyleIdx="1" presStyleCnt="3"/>
      <dgm:spPr/>
    </dgm:pt>
    <dgm:pt modelId="{3F474740-1370-444E-BF30-EED1AED375F5}" type="pres">
      <dgm:prSet presAssocID="{94D2469F-A77D-47AD-B55C-1FBE4DCB5440}" presName="composite" presStyleCnt="0"/>
      <dgm:spPr>
        <a:scene3d>
          <a:camera prst="orthographicFront"/>
          <a:lightRig rig="threePt" dir="t"/>
        </a:scene3d>
        <a:sp3d>
          <a:bevelT/>
        </a:sp3d>
      </dgm:spPr>
    </dgm:pt>
    <dgm:pt modelId="{CEABE762-53DA-403F-A0D7-CED34A1279AF}" type="pres">
      <dgm:prSet presAssocID="{94D2469F-A77D-47AD-B55C-1FBE4DCB5440}" presName="parTx" presStyleLbl="node1" presStyleIdx="1" presStyleCnt="4">
        <dgm:presLayoutVars>
          <dgm:chMax val="0"/>
          <dgm:chPref val="0"/>
          <dgm:bulletEnabled val="1"/>
        </dgm:presLayoutVars>
      </dgm:prSet>
      <dgm:spPr/>
    </dgm:pt>
    <dgm:pt modelId="{38ED9F29-343A-4870-9CE2-7986157AC933}" type="pres">
      <dgm:prSet presAssocID="{94D2469F-A77D-47AD-B55C-1FBE4DCB5440}" presName="parSh" presStyleLbl="node1" presStyleIdx="2" presStyleCnt="4"/>
      <dgm:spPr/>
    </dgm:pt>
    <dgm:pt modelId="{B6585EE3-555A-4E6E-A320-A638E23C49A9}" type="pres">
      <dgm:prSet presAssocID="{94D2469F-A77D-47AD-B55C-1FBE4DCB5440}" presName="desTx" presStyleLbl="fgAcc1" presStyleIdx="2" presStyleCnt="4">
        <dgm:presLayoutVars>
          <dgm:bulletEnabled val="1"/>
        </dgm:presLayoutVars>
      </dgm:prSet>
      <dgm:spPr/>
    </dgm:pt>
    <dgm:pt modelId="{99BB7DBB-13F3-4FCD-8690-0725DCAC0BFE}" type="pres">
      <dgm:prSet presAssocID="{EB2C20E5-00A6-46DD-B32D-6E035B018941}" presName="sibTrans" presStyleLbl="sibTrans2D1" presStyleIdx="2" presStyleCnt="3"/>
      <dgm:spPr/>
    </dgm:pt>
    <dgm:pt modelId="{20EA2E80-CB1E-438A-A8B3-93A26E501C38}" type="pres">
      <dgm:prSet presAssocID="{EB2C20E5-00A6-46DD-B32D-6E035B018941}" presName="connTx" presStyleLbl="sibTrans2D1" presStyleIdx="2" presStyleCnt="3"/>
      <dgm:spPr/>
    </dgm:pt>
    <dgm:pt modelId="{9168F484-E354-4473-BF2B-B12408216E10}" type="pres">
      <dgm:prSet presAssocID="{9DCDF5AF-86E2-47F3-98B1-FFB9D6D492BC}" presName="composite" presStyleCnt="0"/>
      <dgm:spPr>
        <a:scene3d>
          <a:camera prst="orthographicFront"/>
          <a:lightRig rig="threePt" dir="t"/>
        </a:scene3d>
        <a:sp3d>
          <a:bevelT/>
        </a:sp3d>
      </dgm:spPr>
    </dgm:pt>
    <dgm:pt modelId="{8BDB6EF6-FA4A-4017-83F7-560B5539D97A}" type="pres">
      <dgm:prSet presAssocID="{9DCDF5AF-86E2-47F3-98B1-FFB9D6D492BC}" presName="parTx" presStyleLbl="node1" presStyleIdx="2" presStyleCnt="4">
        <dgm:presLayoutVars>
          <dgm:chMax val="0"/>
          <dgm:chPref val="0"/>
          <dgm:bulletEnabled val="1"/>
        </dgm:presLayoutVars>
      </dgm:prSet>
      <dgm:spPr/>
    </dgm:pt>
    <dgm:pt modelId="{85DD1499-C5C0-4A3C-8A2D-123FF1653DA2}" type="pres">
      <dgm:prSet presAssocID="{9DCDF5AF-86E2-47F3-98B1-FFB9D6D492BC}" presName="parSh" presStyleLbl="node1" presStyleIdx="3" presStyleCnt="4"/>
      <dgm:spPr/>
    </dgm:pt>
    <dgm:pt modelId="{243062EE-328D-4412-BEE3-E04FD3AC3A87}" type="pres">
      <dgm:prSet presAssocID="{9DCDF5AF-86E2-47F3-98B1-FFB9D6D492BC}" presName="desTx" presStyleLbl="fgAcc1" presStyleIdx="3" presStyleCnt="4">
        <dgm:presLayoutVars>
          <dgm:bulletEnabled val="1"/>
        </dgm:presLayoutVars>
      </dgm:prSet>
      <dgm:spPr/>
    </dgm:pt>
  </dgm:ptLst>
  <dgm:cxnLst>
    <dgm:cxn modelId="{93EF5D04-5425-433D-81BC-57CB87BE6A04}" srcId="{94D2469F-A77D-47AD-B55C-1FBE4DCB5440}" destId="{19F8BE5C-53EE-4EEC-892C-D0E5F5897786}" srcOrd="0" destOrd="0" parTransId="{EBE8B114-895E-4385-80C3-07392380C09A}" sibTransId="{58DEB6C2-F0B2-466E-9458-A277F5EF15A4}"/>
    <dgm:cxn modelId="{085CD809-3A7B-417B-B83A-1BC4C7205747}" type="presOf" srcId="{490B9EFC-D089-4D6B-931E-D2FD77AE6B4C}" destId="{C852476B-6718-4EE1-A4EC-28FD231F9451}" srcOrd="0" destOrd="0" presId="urn:microsoft.com/office/officeart/2005/8/layout/process3"/>
    <dgm:cxn modelId="{11D8F90A-BDBA-4BFF-A809-E86476426BB6}" type="presOf" srcId="{94D2469F-A77D-47AD-B55C-1FBE4DCB5440}" destId="{CEABE762-53DA-403F-A0D7-CED34A1279AF}" srcOrd="0" destOrd="0" presId="urn:microsoft.com/office/officeart/2005/8/layout/process3"/>
    <dgm:cxn modelId="{19AC1C0F-9886-4B39-A206-82EBA774C365}" type="presOf" srcId="{57A97212-90EC-43AE-89A9-F5676D697C24}" destId="{571BA34C-2057-4975-9DB1-7724FFF43F77}" srcOrd="1" destOrd="0" presId="urn:microsoft.com/office/officeart/2005/8/layout/process3"/>
    <dgm:cxn modelId="{37E60D1A-0E15-45A3-8760-B62F2FFDFC89}" srcId="{2CAD50D4-3DAA-4FB1-8DDC-B3A24F23A59F}" destId="{490B9EFC-D089-4D6B-931E-D2FD77AE6B4C}" srcOrd="0" destOrd="0" parTransId="{39CAF55A-D92E-49F1-B376-B2A8529AB0EF}" sibTransId="{5783BD8A-43A7-4A59-88AD-A9AFD14F0EFB}"/>
    <dgm:cxn modelId="{DCE9711B-F59D-4BA9-AE4A-0B0630D2AFB1}" type="presOf" srcId="{9DCDF5AF-86E2-47F3-98B1-FFB9D6D492BC}" destId="{85DD1499-C5C0-4A3C-8A2D-123FF1653DA2}" srcOrd="1" destOrd="0" presId="urn:microsoft.com/office/officeart/2005/8/layout/process3"/>
    <dgm:cxn modelId="{A0FE471C-597F-4E8F-9A23-93D4E0EF20D7}" type="presOf" srcId="{ACB1613A-4035-4AA4-80E4-84D393E0C297}" destId="{C852476B-6718-4EE1-A4EC-28FD231F9451}" srcOrd="0" destOrd="2" presId="urn:microsoft.com/office/officeart/2005/8/layout/process3"/>
    <dgm:cxn modelId="{45449824-E7DA-41F3-B11B-BFEECB2D24EA}" type="presOf" srcId="{EB2C20E5-00A6-46DD-B32D-6E035B018941}" destId="{20EA2E80-CB1E-438A-A8B3-93A26E501C38}" srcOrd="1" destOrd="0" presId="urn:microsoft.com/office/officeart/2005/8/layout/process3"/>
    <dgm:cxn modelId="{A94A5439-D62A-4306-89BD-183EE0571CAA}" type="presOf" srcId="{9DCDF5AF-86E2-47F3-98B1-FFB9D6D492BC}" destId="{8BDB6EF6-FA4A-4017-83F7-560B5539D97A}" srcOrd="0" destOrd="0" presId="urn:microsoft.com/office/officeart/2005/8/layout/process3"/>
    <dgm:cxn modelId="{B23AAC3B-43BA-4442-B34D-EE986C50822D}" srcId="{24F9E476-BB0C-446C-A23E-E4D084E50D60}" destId="{4F17CC85-DA91-4DDB-8BEB-B34CAE1BCF00}" srcOrd="1" destOrd="0" parTransId="{4D0C136C-A073-42B7-A8A3-08607EDB6EC1}" sibTransId="{E1231080-EA22-4752-9566-FBAF0540ECA8}"/>
    <dgm:cxn modelId="{88B24A3F-8855-4B6A-B614-8A7A0DF3FB43}" srcId="{A79C9E8D-382C-45B5-B90C-9A1303EC9C5C}" destId="{9DCDF5AF-86E2-47F3-98B1-FFB9D6D492BC}" srcOrd="3" destOrd="0" parTransId="{B7B39E63-F906-49BB-A0D4-99EF76C96964}" sibTransId="{A7CF9454-E4F2-40DC-B1CD-921AF2507E79}"/>
    <dgm:cxn modelId="{76BDD160-FCD2-4B83-AD27-2D9AFACA8E9E}" type="presOf" srcId="{7C38F42F-2ECD-4DE1-B227-CD9FCD8435E7}" destId="{FF070DF3-505C-471E-B992-1978376571B6}" srcOrd="1" destOrd="0" presId="urn:microsoft.com/office/officeart/2005/8/layout/process3"/>
    <dgm:cxn modelId="{4684D461-1670-47A3-B69D-30C3EEAEA6D5}" type="presOf" srcId="{24F9E476-BB0C-446C-A23E-E4D084E50D60}" destId="{693353F7-98F5-4FBB-904A-7D978472EF1F}" srcOrd="0" destOrd="0" presId="urn:microsoft.com/office/officeart/2005/8/layout/process3"/>
    <dgm:cxn modelId="{B9102B4E-97F1-43F4-BB5B-D05ADAE00AE6}" srcId="{A79C9E8D-382C-45B5-B90C-9A1303EC9C5C}" destId="{2CAD50D4-3DAA-4FB1-8DDC-B3A24F23A59F}" srcOrd="0" destOrd="0" parTransId="{98F405A1-C9CF-4448-BA19-AE188E040012}" sibTransId="{57A97212-90EC-43AE-89A9-F5676D697C24}"/>
    <dgm:cxn modelId="{B0BCA56F-13FC-40E8-8D89-3EE8CBCF110D}" type="presOf" srcId="{C07FC273-4AAE-4241-9CC6-097AA78A5AAA}" destId="{243062EE-328D-4412-BEE3-E04FD3AC3A87}" srcOrd="0" destOrd="2" presId="urn:microsoft.com/office/officeart/2005/8/layout/process3"/>
    <dgm:cxn modelId="{35522957-85EC-4E2B-A6A5-BC7840F516F9}" srcId="{9DCDF5AF-86E2-47F3-98B1-FFB9D6D492BC}" destId="{C07FC273-4AAE-4241-9CC6-097AA78A5AAA}" srcOrd="2" destOrd="0" parTransId="{F74A99CF-5C8D-4A1B-A65A-34D9719AF681}" sibTransId="{142BDD73-DC61-405A-AB54-AD48503A164F}"/>
    <dgm:cxn modelId="{B117A857-250D-4017-8887-2E548DB85FE2}" srcId="{9DCDF5AF-86E2-47F3-98B1-FFB9D6D492BC}" destId="{E1C60D29-97E0-4230-B4B9-C58F3191835F}" srcOrd="0" destOrd="0" parTransId="{01F16538-34AE-47B8-B3A6-C1A906BB20B7}" sibTransId="{E29E50BC-EC10-4891-8F13-0C3546DA4B7A}"/>
    <dgm:cxn modelId="{D9584778-1E35-4CA9-AF4B-6B6EC2DC334D}" type="presOf" srcId="{57A97212-90EC-43AE-89A9-F5676D697C24}" destId="{16BA0945-30CB-40B1-8CE5-0861B14432AD}" srcOrd="0" destOrd="0" presId="urn:microsoft.com/office/officeart/2005/8/layout/process3"/>
    <dgm:cxn modelId="{9F02517A-3617-4380-A97F-FFAC0BA6AD8E}" srcId="{2CAD50D4-3DAA-4FB1-8DDC-B3A24F23A59F}" destId="{ACB1613A-4035-4AA4-80E4-84D393E0C297}" srcOrd="2" destOrd="0" parTransId="{3FD9C7D7-FAF5-4690-B637-518C83C597CE}" sibTransId="{C23218F4-7F19-493E-A4B7-83FCB378C8B0}"/>
    <dgm:cxn modelId="{3BCFDB7B-7D7D-469B-AECE-CEAD06026355}" type="presOf" srcId="{94D2469F-A77D-47AD-B55C-1FBE4DCB5440}" destId="{38ED9F29-343A-4870-9CE2-7986157AC933}" srcOrd="1" destOrd="0" presId="urn:microsoft.com/office/officeart/2005/8/layout/process3"/>
    <dgm:cxn modelId="{F6337581-2626-403E-804F-8815C40616C6}" srcId="{9DCDF5AF-86E2-47F3-98B1-FFB9D6D492BC}" destId="{8409EBF9-4907-485D-A13D-036CD89FD8C7}" srcOrd="1" destOrd="0" parTransId="{29F07E91-B439-4204-BA55-D08ECE6677E8}" sibTransId="{7A8B03B8-BF48-4D50-9E50-4424748E9E74}"/>
    <dgm:cxn modelId="{ABDC9C8F-0588-4E23-932F-A6D56210A02A}" type="presOf" srcId="{962A3CA0-DDF4-4760-8C48-A77B2A225286}" destId="{4D39FB42-4997-40E6-AE7F-0087AC989840}" srcOrd="0" destOrd="2" presId="urn:microsoft.com/office/officeart/2005/8/layout/process3"/>
    <dgm:cxn modelId="{987C1993-4F43-4BC3-BA84-3564B1611DD4}" type="presOf" srcId="{3742A909-4675-4A42-A687-F902E6EBB94E}" destId="{C852476B-6718-4EE1-A4EC-28FD231F9451}" srcOrd="0" destOrd="1" presId="urn:microsoft.com/office/officeart/2005/8/layout/process3"/>
    <dgm:cxn modelId="{8D05BB94-B071-4ED8-9C6D-3F9A3E81E5A3}" srcId="{A79C9E8D-382C-45B5-B90C-9A1303EC9C5C}" destId="{94D2469F-A77D-47AD-B55C-1FBE4DCB5440}" srcOrd="2" destOrd="0" parTransId="{F2CBB502-BE5B-457D-AEB7-1EFD206E4DD4}" sibTransId="{EB2C20E5-00A6-46DD-B32D-6E035B018941}"/>
    <dgm:cxn modelId="{3291E298-8AAB-452F-8770-FCA4DF6A0B29}" type="presOf" srcId="{8409EBF9-4907-485D-A13D-036CD89FD8C7}" destId="{243062EE-328D-4412-BEE3-E04FD3AC3A87}" srcOrd="0" destOrd="1" presId="urn:microsoft.com/office/officeart/2005/8/layout/process3"/>
    <dgm:cxn modelId="{2334CD9C-8F6B-4F51-BAEB-0297EA6C96CF}" type="presOf" srcId="{E1C60D29-97E0-4230-B4B9-C58F3191835F}" destId="{243062EE-328D-4412-BEE3-E04FD3AC3A87}" srcOrd="0" destOrd="0" presId="urn:microsoft.com/office/officeart/2005/8/layout/process3"/>
    <dgm:cxn modelId="{A47310AC-5BC3-4A44-BF2C-FFCC377C5672}" type="presOf" srcId="{2CAD50D4-3DAA-4FB1-8DDC-B3A24F23A59F}" destId="{3838C278-5A36-4DA6-A6BF-2DE30C8DD0AF}" srcOrd="0" destOrd="0" presId="urn:microsoft.com/office/officeart/2005/8/layout/process3"/>
    <dgm:cxn modelId="{D90F17B4-96CA-4BB5-846A-768D9626C5C8}" type="presOf" srcId="{64D902A6-7624-4FD7-BCBC-7F0CF9A4C92F}" destId="{4D39FB42-4997-40E6-AE7F-0087AC989840}" srcOrd="0" destOrd="3" presId="urn:microsoft.com/office/officeart/2005/8/layout/process3"/>
    <dgm:cxn modelId="{AF5259B5-CCA8-476B-8FD2-340BB8A37221}" type="presOf" srcId="{24F9E476-BB0C-446C-A23E-E4D084E50D60}" destId="{764E65B3-371E-4CF1-A28D-A92A37D0B74A}" srcOrd="1" destOrd="0" presId="urn:microsoft.com/office/officeart/2005/8/layout/process3"/>
    <dgm:cxn modelId="{4A32A5B8-5326-4B72-865D-5EC2780083AE}" type="presOf" srcId="{19F8BE5C-53EE-4EEC-892C-D0E5F5897786}" destId="{B6585EE3-555A-4E6E-A320-A638E23C49A9}" srcOrd="0" destOrd="0" presId="urn:microsoft.com/office/officeart/2005/8/layout/process3"/>
    <dgm:cxn modelId="{CF5A35C7-BAA4-44AF-8395-0B0B4A21E227}" type="presOf" srcId="{AA185DFB-3FD3-4EB9-8BA9-A84DD0056E5A}" destId="{4D39FB42-4997-40E6-AE7F-0087AC989840}" srcOrd="0" destOrd="0" presId="urn:microsoft.com/office/officeart/2005/8/layout/process3"/>
    <dgm:cxn modelId="{AE0908CA-79DF-4209-A008-8E047FF903D1}" srcId="{2CAD50D4-3DAA-4FB1-8DDC-B3A24F23A59F}" destId="{3742A909-4675-4A42-A687-F902E6EBB94E}" srcOrd="1" destOrd="0" parTransId="{CBFB6B36-82D5-478C-BD8F-4D507C1FD029}" sibTransId="{D3B69BFB-F63F-42BA-AB17-645FF4E9058F}"/>
    <dgm:cxn modelId="{4851E1D0-59D0-41AB-8AED-0EB447ADA59F}" type="presOf" srcId="{EB2C20E5-00A6-46DD-B32D-6E035B018941}" destId="{99BB7DBB-13F3-4FCD-8690-0725DCAC0BFE}" srcOrd="0" destOrd="0" presId="urn:microsoft.com/office/officeart/2005/8/layout/process3"/>
    <dgm:cxn modelId="{C94A86D9-C2A2-42B9-A3CC-6445D4C90743}" type="presOf" srcId="{2CAD50D4-3DAA-4FB1-8DDC-B3A24F23A59F}" destId="{367302CA-4FB0-4D30-B921-0C3B52266FED}" srcOrd="1" destOrd="0" presId="urn:microsoft.com/office/officeart/2005/8/layout/process3"/>
    <dgm:cxn modelId="{1AB3A3DA-43C6-41D6-8254-65D33F9D8052}" srcId="{24F9E476-BB0C-446C-A23E-E4D084E50D60}" destId="{64D902A6-7624-4FD7-BCBC-7F0CF9A4C92F}" srcOrd="3" destOrd="0" parTransId="{A2620A79-3FC1-4BD3-A1BD-0DD964203865}" sibTransId="{0E5F2846-234A-4562-88A0-4992254FEC42}"/>
    <dgm:cxn modelId="{CDAF3BDF-C16F-44DB-A03B-BA22A2693502}" type="presOf" srcId="{A79C9E8D-382C-45B5-B90C-9A1303EC9C5C}" destId="{D03DBFD7-5316-4744-A465-70DF49A0D764}" srcOrd="0" destOrd="0" presId="urn:microsoft.com/office/officeart/2005/8/layout/process3"/>
    <dgm:cxn modelId="{7BC9BEDF-F979-4F6D-A8F1-BAF1557AC1C8}" srcId="{24F9E476-BB0C-446C-A23E-E4D084E50D60}" destId="{962A3CA0-DDF4-4760-8C48-A77B2A225286}" srcOrd="2" destOrd="0" parTransId="{CF159F1A-96A7-414F-BCA8-6B2F27A5DB34}" sibTransId="{13DE2EC4-34B9-4AB2-BFC3-AED35C83CFFA}"/>
    <dgm:cxn modelId="{E86CE8E4-92B2-4D1D-AC63-6D3791BB8B19}" type="presOf" srcId="{7C38F42F-2ECD-4DE1-B227-CD9FCD8435E7}" destId="{8DE0E36B-AA75-4EC8-9E89-2FC783A2EA94}" srcOrd="0" destOrd="0" presId="urn:microsoft.com/office/officeart/2005/8/layout/process3"/>
    <dgm:cxn modelId="{B6AC70EB-ED63-435C-AFC8-D7F398CFAE86}" type="presOf" srcId="{4F17CC85-DA91-4DDB-8BEB-B34CAE1BCF00}" destId="{4D39FB42-4997-40E6-AE7F-0087AC989840}" srcOrd="0" destOrd="1" presId="urn:microsoft.com/office/officeart/2005/8/layout/process3"/>
    <dgm:cxn modelId="{214A00EE-3833-4625-ADD3-2F1A1760C9E8}" srcId="{24F9E476-BB0C-446C-A23E-E4D084E50D60}" destId="{AA185DFB-3FD3-4EB9-8BA9-A84DD0056E5A}" srcOrd="0" destOrd="0" parTransId="{D9632F08-9F7D-4137-A87C-8197BA7BCF0D}" sibTransId="{F5CBA41E-E11F-4D6A-9167-5F08A2A7DDC5}"/>
    <dgm:cxn modelId="{B9ABDBFF-6391-4B2D-AFC9-4C71937DDA94}" srcId="{A79C9E8D-382C-45B5-B90C-9A1303EC9C5C}" destId="{24F9E476-BB0C-446C-A23E-E4D084E50D60}" srcOrd="1" destOrd="0" parTransId="{599C8D5C-82CC-4E04-BF81-86883026B69C}" sibTransId="{7C38F42F-2ECD-4DE1-B227-CD9FCD8435E7}"/>
    <dgm:cxn modelId="{695A7D8B-CE66-4B01-8142-6E6BC6B2CAE2}" type="presParOf" srcId="{D03DBFD7-5316-4744-A465-70DF49A0D764}" destId="{81F1EF0A-F50C-4E76-ABC2-E4C5D09E96C8}" srcOrd="0" destOrd="0" presId="urn:microsoft.com/office/officeart/2005/8/layout/process3"/>
    <dgm:cxn modelId="{A41754B5-82EF-4936-82FC-6D11C5D2CB9B}" type="presParOf" srcId="{81F1EF0A-F50C-4E76-ABC2-E4C5D09E96C8}" destId="{3838C278-5A36-4DA6-A6BF-2DE30C8DD0AF}" srcOrd="0" destOrd="0" presId="urn:microsoft.com/office/officeart/2005/8/layout/process3"/>
    <dgm:cxn modelId="{9E49C928-8099-4772-9457-F7C4383F93E8}" type="presParOf" srcId="{81F1EF0A-F50C-4E76-ABC2-E4C5D09E96C8}" destId="{367302CA-4FB0-4D30-B921-0C3B52266FED}" srcOrd="1" destOrd="0" presId="urn:microsoft.com/office/officeart/2005/8/layout/process3"/>
    <dgm:cxn modelId="{58E4BE9F-4ED7-4885-A22D-73E03A73CE08}" type="presParOf" srcId="{81F1EF0A-F50C-4E76-ABC2-E4C5D09E96C8}" destId="{C852476B-6718-4EE1-A4EC-28FD231F9451}" srcOrd="2" destOrd="0" presId="urn:microsoft.com/office/officeart/2005/8/layout/process3"/>
    <dgm:cxn modelId="{B0F13834-F836-4453-B9D8-F1A9842BC42C}" type="presParOf" srcId="{D03DBFD7-5316-4744-A465-70DF49A0D764}" destId="{16BA0945-30CB-40B1-8CE5-0861B14432AD}" srcOrd="1" destOrd="0" presId="urn:microsoft.com/office/officeart/2005/8/layout/process3"/>
    <dgm:cxn modelId="{E30BDA9F-0D6D-42AD-AAA1-7AF35423F33E}" type="presParOf" srcId="{16BA0945-30CB-40B1-8CE5-0861B14432AD}" destId="{571BA34C-2057-4975-9DB1-7724FFF43F77}" srcOrd="0" destOrd="0" presId="urn:microsoft.com/office/officeart/2005/8/layout/process3"/>
    <dgm:cxn modelId="{8712E1C0-F18A-4A64-9AB9-A0ECFEF8A756}" type="presParOf" srcId="{D03DBFD7-5316-4744-A465-70DF49A0D764}" destId="{56CA88F0-188C-48B1-A1AB-E51E0F60B5A8}" srcOrd="2" destOrd="0" presId="urn:microsoft.com/office/officeart/2005/8/layout/process3"/>
    <dgm:cxn modelId="{86AA343E-956C-4A69-A668-7AA7791A8F2C}" type="presParOf" srcId="{56CA88F0-188C-48B1-A1AB-E51E0F60B5A8}" destId="{693353F7-98F5-4FBB-904A-7D978472EF1F}" srcOrd="0" destOrd="0" presId="urn:microsoft.com/office/officeart/2005/8/layout/process3"/>
    <dgm:cxn modelId="{CA46FDDE-6D74-4443-A9FF-BBF5C016D08A}" type="presParOf" srcId="{56CA88F0-188C-48B1-A1AB-E51E0F60B5A8}" destId="{764E65B3-371E-4CF1-A28D-A92A37D0B74A}" srcOrd="1" destOrd="0" presId="urn:microsoft.com/office/officeart/2005/8/layout/process3"/>
    <dgm:cxn modelId="{24EA8A84-7629-46B4-BA1A-DA7E3331AB72}" type="presParOf" srcId="{56CA88F0-188C-48B1-A1AB-E51E0F60B5A8}" destId="{4D39FB42-4997-40E6-AE7F-0087AC989840}" srcOrd="2" destOrd="0" presId="urn:microsoft.com/office/officeart/2005/8/layout/process3"/>
    <dgm:cxn modelId="{FBFC1576-C2CC-401B-86DA-4976398E26B3}" type="presParOf" srcId="{D03DBFD7-5316-4744-A465-70DF49A0D764}" destId="{8DE0E36B-AA75-4EC8-9E89-2FC783A2EA94}" srcOrd="3" destOrd="0" presId="urn:microsoft.com/office/officeart/2005/8/layout/process3"/>
    <dgm:cxn modelId="{4D20A6F3-9EAC-4653-8BF6-22734EC9275B}" type="presParOf" srcId="{8DE0E36B-AA75-4EC8-9E89-2FC783A2EA94}" destId="{FF070DF3-505C-471E-B992-1978376571B6}" srcOrd="0" destOrd="0" presId="urn:microsoft.com/office/officeart/2005/8/layout/process3"/>
    <dgm:cxn modelId="{1ECA524E-F8BF-4935-A273-8D6694DF8CB7}" type="presParOf" srcId="{D03DBFD7-5316-4744-A465-70DF49A0D764}" destId="{3F474740-1370-444E-BF30-EED1AED375F5}" srcOrd="4" destOrd="0" presId="urn:microsoft.com/office/officeart/2005/8/layout/process3"/>
    <dgm:cxn modelId="{1075A8B7-02D9-460A-9ADF-16B26FAB5DCB}" type="presParOf" srcId="{3F474740-1370-444E-BF30-EED1AED375F5}" destId="{CEABE762-53DA-403F-A0D7-CED34A1279AF}" srcOrd="0" destOrd="0" presId="urn:microsoft.com/office/officeart/2005/8/layout/process3"/>
    <dgm:cxn modelId="{E97578E3-283E-4823-9D54-4FD61C17D507}" type="presParOf" srcId="{3F474740-1370-444E-BF30-EED1AED375F5}" destId="{38ED9F29-343A-4870-9CE2-7986157AC933}" srcOrd="1" destOrd="0" presId="urn:microsoft.com/office/officeart/2005/8/layout/process3"/>
    <dgm:cxn modelId="{D53BE45A-8BCD-4368-8F2A-FC91E85CA795}" type="presParOf" srcId="{3F474740-1370-444E-BF30-EED1AED375F5}" destId="{B6585EE3-555A-4E6E-A320-A638E23C49A9}" srcOrd="2" destOrd="0" presId="urn:microsoft.com/office/officeart/2005/8/layout/process3"/>
    <dgm:cxn modelId="{D4D6B17F-1665-472A-BCD5-458D58F09053}" type="presParOf" srcId="{D03DBFD7-5316-4744-A465-70DF49A0D764}" destId="{99BB7DBB-13F3-4FCD-8690-0725DCAC0BFE}" srcOrd="5" destOrd="0" presId="urn:microsoft.com/office/officeart/2005/8/layout/process3"/>
    <dgm:cxn modelId="{FD6FEBCB-73B3-403C-8ABC-610F05067DC1}" type="presParOf" srcId="{99BB7DBB-13F3-4FCD-8690-0725DCAC0BFE}" destId="{20EA2E80-CB1E-438A-A8B3-93A26E501C38}" srcOrd="0" destOrd="0" presId="urn:microsoft.com/office/officeart/2005/8/layout/process3"/>
    <dgm:cxn modelId="{C9FD5DE9-585A-475E-B6E7-70C41F5A6D37}" type="presParOf" srcId="{D03DBFD7-5316-4744-A465-70DF49A0D764}" destId="{9168F484-E354-4473-BF2B-B12408216E10}" srcOrd="6" destOrd="0" presId="urn:microsoft.com/office/officeart/2005/8/layout/process3"/>
    <dgm:cxn modelId="{52188B15-9FFA-4480-9A2D-5DE6D286A0E6}" type="presParOf" srcId="{9168F484-E354-4473-BF2B-B12408216E10}" destId="{8BDB6EF6-FA4A-4017-83F7-560B5539D97A}" srcOrd="0" destOrd="0" presId="urn:microsoft.com/office/officeart/2005/8/layout/process3"/>
    <dgm:cxn modelId="{32A7D27D-0FA7-4263-9F45-2157B0D14BED}" type="presParOf" srcId="{9168F484-E354-4473-BF2B-B12408216E10}" destId="{85DD1499-C5C0-4A3C-8A2D-123FF1653DA2}" srcOrd="1" destOrd="0" presId="urn:microsoft.com/office/officeart/2005/8/layout/process3"/>
    <dgm:cxn modelId="{141DEB94-2995-4916-99A1-D6CF0F5F723B}" type="presParOf" srcId="{9168F484-E354-4473-BF2B-B12408216E10}" destId="{243062EE-328D-4412-BEE3-E04FD3AC3A87}" srcOrd="2" destOrd="0" presId="urn:microsoft.com/office/officeart/2005/8/layout/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79C9E8D-382C-45B5-B90C-9A1303EC9C5C}" type="doc">
      <dgm:prSet loTypeId="urn:microsoft.com/office/officeart/2005/8/layout/process3" loCatId="process" qsTypeId="urn:microsoft.com/office/officeart/2005/8/quickstyle/simple1" qsCatId="simple" csTypeId="urn:microsoft.com/office/officeart/2005/8/colors/accent1_2" csCatId="accent1" phldr="1"/>
      <dgm:spPr/>
    </dgm:pt>
    <dgm:pt modelId="{2CAD50D4-3DAA-4FB1-8DDC-B3A24F23A59F}">
      <dgm:prSet phldrT="[Texto]" custT="1"/>
      <dgm:spPr>
        <a:solidFill>
          <a:srgbClr val="2F3E46"/>
        </a:solidFill>
        <a:ln>
          <a:solidFill>
            <a:srgbClr val="2F3E46"/>
          </a:solidFill>
        </a:ln>
        <a:scene3d>
          <a:camera prst="orthographicFront"/>
          <a:lightRig rig="threePt" dir="t"/>
        </a:scene3d>
        <a:sp3d>
          <a:bevelT/>
        </a:sp3d>
      </dgm:spPr>
      <dgm:t>
        <a:bodyPr lIns="0" rIns="0"/>
        <a:lstStyle/>
        <a:p>
          <a:pPr algn="ctr"/>
          <a:r>
            <a:rPr lang="es-MX" sz="1800" b="1" dirty="0">
              <a:latin typeface="Montserrat" panose="00000500000000000000" pitchFamily="2" charset="0"/>
            </a:rPr>
            <a:t>Línea Recta</a:t>
          </a:r>
        </a:p>
      </dgm:t>
    </dgm:pt>
    <dgm:pt modelId="{98F405A1-C9CF-4448-BA19-AE188E040012}" type="parTrans" cxnId="{B9102B4E-97F1-43F4-BB5B-D05ADAE00AE6}">
      <dgm:prSet/>
      <dgm:spPr/>
      <dgm:t>
        <a:bodyPr/>
        <a:lstStyle/>
        <a:p>
          <a:endParaRPr lang="es-MX" sz="1400">
            <a:latin typeface="Montserrat" panose="00000500000000000000" pitchFamily="2" charset="0"/>
          </a:endParaRPr>
        </a:p>
      </dgm:t>
    </dgm:pt>
    <dgm:pt modelId="{57A97212-90EC-43AE-89A9-F5676D697C24}" type="sibTrans" cxnId="{B9102B4E-97F1-43F4-BB5B-D05ADAE00AE6}">
      <dgm:prSet custT="1"/>
      <dgm:spPr>
        <a:solidFill>
          <a:srgbClr val="52796F"/>
        </a:solidFill>
        <a:scene3d>
          <a:camera prst="orthographicFront"/>
          <a:lightRig rig="threePt" dir="t"/>
        </a:scene3d>
        <a:sp3d>
          <a:bevelT/>
        </a:sp3d>
      </dgm:spPr>
      <dgm:t>
        <a:bodyPr/>
        <a:lstStyle/>
        <a:p>
          <a:endParaRPr lang="es-MX" sz="1400">
            <a:latin typeface="Montserrat" panose="00000500000000000000" pitchFamily="2" charset="0"/>
          </a:endParaRPr>
        </a:p>
      </dgm:t>
    </dgm:pt>
    <dgm:pt modelId="{24F9E476-BB0C-446C-A23E-E4D084E50D60}">
      <dgm:prSet phldrT="[Texto]" custT="1"/>
      <dgm:spPr>
        <a:solidFill>
          <a:srgbClr val="2F3E46"/>
        </a:solidFill>
        <a:ln>
          <a:solidFill>
            <a:srgbClr val="2F3E46"/>
          </a:solidFill>
        </a:ln>
        <a:scene3d>
          <a:camera prst="orthographicFront"/>
          <a:lightRig rig="threePt" dir="t"/>
        </a:scene3d>
        <a:sp3d>
          <a:bevelT/>
        </a:sp3d>
      </dgm:spPr>
      <dgm:t>
        <a:bodyPr lIns="0" rIns="0"/>
        <a:lstStyle/>
        <a:p>
          <a:pPr algn="ctr"/>
          <a:r>
            <a:rPr lang="es-MX" sz="1800" b="1" dirty="0">
              <a:latin typeface="Montserrat" panose="00000500000000000000" pitchFamily="2" charset="0"/>
            </a:rPr>
            <a:t>Saldo Decreciente</a:t>
          </a:r>
        </a:p>
        <a:p>
          <a:pPr algn="ctr"/>
          <a:endParaRPr lang="es-MX" sz="1800" b="1" dirty="0">
            <a:latin typeface="Montserrat" panose="00000500000000000000" pitchFamily="2" charset="0"/>
          </a:endParaRPr>
        </a:p>
      </dgm:t>
    </dgm:pt>
    <dgm:pt modelId="{599C8D5C-82CC-4E04-BF81-86883026B69C}" type="parTrans" cxnId="{B9ABDBFF-6391-4B2D-AFC9-4C71937DDA94}">
      <dgm:prSet/>
      <dgm:spPr/>
      <dgm:t>
        <a:bodyPr/>
        <a:lstStyle/>
        <a:p>
          <a:endParaRPr lang="es-MX" sz="1400">
            <a:latin typeface="Montserrat" panose="00000500000000000000" pitchFamily="2" charset="0"/>
          </a:endParaRPr>
        </a:p>
      </dgm:t>
    </dgm:pt>
    <dgm:pt modelId="{7C38F42F-2ECD-4DE1-B227-CD9FCD8435E7}" type="sibTrans" cxnId="{B9ABDBFF-6391-4B2D-AFC9-4C71937DDA94}">
      <dgm:prSet custT="1"/>
      <dgm:spPr>
        <a:solidFill>
          <a:srgbClr val="52796F"/>
        </a:solidFill>
        <a:scene3d>
          <a:camera prst="orthographicFront"/>
          <a:lightRig rig="threePt" dir="t"/>
        </a:scene3d>
        <a:sp3d>
          <a:bevelT/>
        </a:sp3d>
      </dgm:spPr>
      <dgm:t>
        <a:bodyPr/>
        <a:lstStyle/>
        <a:p>
          <a:endParaRPr lang="es-MX" sz="1400">
            <a:latin typeface="Montserrat" panose="00000500000000000000" pitchFamily="2" charset="0"/>
          </a:endParaRPr>
        </a:p>
      </dgm:t>
    </dgm:pt>
    <dgm:pt modelId="{9DCDF5AF-86E2-47F3-98B1-FFB9D6D492BC}">
      <dgm:prSet phldrT="[Texto]" custT="1"/>
      <dgm:spPr>
        <a:solidFill>
          <a:srgbClr val="2F3E46"/>
        </a:solidFill>
        <a:ln>
          <a:solidFill>
            <a:srgbClr val="2F3E46"/>
          </a:solidFill>
        </a:ln>
        <a:scene3d>
          <a:camera prst="orthographicFront"/>
          <a:lightRig rig="threePt" dir="t"/>
        </a:scene3d>
        <a:sp3d>
          <a:bevelT/>
        </a:sp3d>
      </dgm:spPr>
      <dgm:t>
        <a:bodyPr lIns="0" rIns="0"/>
        <a:lstStyle/>
        <a:p>
          <a:pPr algn="ctr"/>
          <a:r>
            <a:rPr lang="es-ES" sz="1800" b="1" dirty="0">
              <a:latin typeface="Montserrat" panose="00000500000000000000" pitchFamily="2" charset="0"/>
            </a:rPr>
            <a:t>Acelerada</a:t>
          </a:r>
          <a:endParaRPr lang="es-MX" sz="1800" b="1" dirty="0">
            <a:latin typeface="Montserrat" panose="00000500000000000000" pitchFamily="2" charset="0"/>
          </a:endParaRPr>
        </a:p>
      </dgm:t>
    </dgm:pt>
    <dgm:pt modelId="{B7B39E63-F906-49BB-A0D4-99EF76C96964}" type="parTrans" cxnId="{88B24A3F-8855-4B6A-B614-8A7A0DF3FB43}">
      <dgm:prSet/>
      <dgm:spPr/>
      <dgm:t>
        <a:bodyPr/>
        <a:lstStyle/>
        <a:p>
          <a:endParaRPr lang="es-MX" sz="1400">
            <a:latin typeface="Montserrat" panose="00000500000000000000" pitchFamily="2" charset="0"/>
          </a:endParaRPr>
        </a:p>
      </dgm:t>
    </dgm:pt>
    <dgm:pt modelId="{A7CF9454-E4F2-40DC-B1CD-921AF2507E79}" type="sibTrans" cxnId="{88B24A3F-8855-4B6A-B614-8A7A0DF3FB43}">
      <dgm:prSet/>
      <dgm:spPr/>
      <dgm:t>
        <a:bodyPr/>
        <a:lstStyle/>
        <a:p>
          <a:endParaRPr lang="es-MX" sz="1400">
            <a:latin typeface="Montserrat" panose="00000500000000000000" pitchFamily="2" charset="0"/>
          </a:endParaRPr>
        </a:p>
      </dgm:t>
    </dgm:pt>
    <dgm:pt modelId="{94D2469F-A77D-47AD-B55C-1FBE4DCB5440}">
      <dgm:prSet custT="1"/>
      <dgm:spPr>
        <a:solidFill>
          <a:srgbClr val="2F3E46"/>
        </a:solidFill>
        <a:ln>
          <a:solidFill>
            <a:srgbClr val="2F3E46"/>
          </a:solidFill>
        </a:ln>
        <a:scene3d>
          <a:camera prst="orthographicFront"/>
          <a:lightRig rig="threePt" dir="t"/>
        </a:scene3d>
        <a:sp3d>
          <a:bevelT/>
        </a:sp3d>
      </dgm:spPr>
      <dgm:t>
        <a:bodyPr lIns="0" rIns="0"/>
        <a:lstStyle/>
        <a:p>
          <a:pPr algn="ctr"/>
          <a:r>
            <a:rPr lang="es-MX" sz="1800" b="1" dirty="0">
              <a:latin typeface="Montserrat" panose="00000500000000000000" pitchFamily="2" charset="0"/>
            </a:rPr>
            <a:t>Unidades de Producción</a:t>
          </a:r>
        </a:p>
        <a:p>
          <a:pPr algn="ctr"/>
          <a:endParaRPr lang="es-MX" sz="1800" b="1" dirty="0">
            <a:latin typeface="Montserrat" panose="00000500000000000000" pitchFamily="2" charset="0"/>
          </a:endParaRPr>
        </a:p>
      </dgm:t>
    </dgm:pt>
    <dgm:pt modelId="{F2CBB502-BE5B-457D-AEB7-1EFD206E4DD4}" type="parTrans" cxnId="{8D05BB94-B071-4ED8-9C6D-3F9A3E81E5A3}">
      <dgm:prSet/>
      <dgm:spPr/>
      <dgm:t>
        <a:bodyPr/>
        <a:lstStyle/>
        <a:p>
          <a:endParaRPr lang="es-MX" sz="1400">
            <a:latin typeface="Montserrat" panose="00000500000000000000" pitchFamily="2" charset="0"/>
          </a:endParaRPr>
        </a:p>
      </dgm:t>
    </dgm:pt>
    <dgm:pt modelId="{EB2C20E5-00A6-46DD-B32D-6E035B018941}" type="sibTrans" cxnId="{8D05BB94-B071-4ED8-9C6D-3F9A3E81E5A3}">
      <dgm:prSet custT="1"/>
      <dgm:spPr>
        <a:solidFill>
          <a:srgbClr val="52796F"/>
        </a:solidFill>
        <a:scene3d>
          <a:camera prst="orthographicFront"/>
          <a:lightRig rig="threePt" dir="t"/>
        </a:scene3d>
        <a:sp3d>
          <a:bevelT/>
        </a:sp3d>
      </dgm:spPr>
      <dgm:t>
        <a:bodyPr/>
        <a:lstStyle/>
        <a:p>
          <a:endParaRPr lang="es-MX" sz="1400">
            <a:latin typeface="Montserrat" panose="00000500000000000000" pitchFamily="2" charset="0"/>
          </a:endParaRPr>
        </a:p>
      </dgm:t>
    </dgm:pt>
    <dgm:pt modelId="{490B9EFC-D089-4D6B-931E-D2FD77AE6B4C}">
      <dgm:prSet custT="1"/>
      <dgm:spPr>
        <a:solidFill>
          <a:srgbClr val="84A98C"/>
        </a:solidFill>
        <a:ln>
          <a:solidFill>
            <a:srgbClr val="84A98C"/>
          </a:solidFill>
        </a:ln>
        <a:scene3d>
          <a:camera prst="orthographicFront"/>
          <a:lightRig rig="threePt" dir="t"/>
        </a:scene3d>
        <a:sp3d>
          <a:bevelT/>
        </a:sp3d>
      </dgm:spPr>
      <dgm:t>
        <a:bodyPr lIns="0" tIns="0" rIns="0" bIns="0" anchor="ctr" anchorCtr="0"/>
        <a:lstStyle/>
        <a:p>
          <a:pPr>
            <a:buNone/>
          </a:pPr>
          <a:r>
            <a:rPr lang="es-ES" sz="1800" dirty="0">
              <a:solidFill>
                <a:schemeClr val="bg1"/>
              </a:solidFill>
              <a:latin typeface="Montserrat" panose="00000500000000000000" pitchFamily="2" charset="0"/>
            </a:rPr>
            <a:t>Distribución uniforme</a:t>
          </a:r>
          <a:endParaRPr lang="es-MX" sz="1800" dirty="0">
            <a:solidFill>
              <a:schemeClr val="bg1"/>
            </a:solidFill>
            <a:latin typeface="Montserrat" panose="00000500000000000000" pitchFamily="2" charset="0"/>
          </a:endParaRPr>
        </a:p>
      </dgm:t>
    </dgm:pt>
    <dgm:pt modelId="{39CAF55A-D92E-49F1-B376-B2A8529AB0EF}" type="parTrans" cxnId="{37E60D1A-0E15-45A3-8760-B62F2FFDFC89}">
      <dgm:prSet/>
      <dgm:spPr/>
      <dgm:t>
        <a:bodyPr/>
        <a:lstStyle/>
        <a:p>
          <a:endParaRPr lang="es-MX" sz="1400">
            <a:latin typeface="Montserrat" panose="00000500000000000000" pitchFamily="2" charset="0"/>
          </a:endParaRPr>
        </a:p>
      </dgm:t>
    </dgm:pt>
    <dgm:pt modelId="{5783BD8A-43A7-4A59-88AD-A9AFD14F0EFB}" type="sibTrans" cxnId="{37E60D1A-0E15-45A3-8760-B62F2FFDFC89}">
      <dgm:prSet/>
      <dgm:spPr/>
      <dgm:t>
        <a:bodyPr/>
        <a:lstStyle/>
        <a:p>
          <a:endParaRPr lang="es-MX" sz="1400">
            <a:latin typeface="Montserrat" panose="00000500000000000000" pitchFamily="2" charset="0"/>
          </a:endParaRPr>
        </a:p>
      </dgm:t>
    </dgm:pt>
    <dgm:pt modelId="{AA185DFB-3FD3-4EB9-8BA9-A84DD0056E5A}">
      <dgm:prSet custT="1"/>
      <dgm:spPr>
        <a:solidFill>
          <a:srgbClr val="84A98C"/>
        </a:solidFill>
        <a:ln>
          <a:solidFill>
            <a:srgbClr val="84A98C"/>
          </a:solidFill>
        </a:ln>
        <a:scene3d>
          <a:camera prst="orthographicFront"/>
          <a:lightRig rig="threePt" dir="t"/>
        </a:scene3d>
        <a:sp3d>
          <a:bevelT/>
        </a:sp3d>
      </dgm:spPr>
      <dgm:t>
        <a:bodyPr lIns="0" rIns="0" anchor="ctr" anchorCtr="0"/>
        <a:lstStyle/>
        <a:p>
          <a:pPr marL="228600" lvl="1" indent="0" algn="l" defTabSz="889000">
            <a:lnSpc>
              <a:spcPct val="90000"/>
            </a:lnSpc>
            <a:spcBef>
              <a:spcPct val="0"/>
            </a:spcBef>
            <a:spcAft>
              <a:spcPct val="15000"/>
            </a:spcAft>
            <a:buNone/>
          </a:pPr>
          <a:r>
            <a:rPr lang="es-ES" sz="1800" kern="1200" dirty="0">
              <a:solidFill>
                <a:schemeClr val="bg1"/>
              </a:solidFill>
              <a:latin typeface="Montserrat" panose="00000500000000000000" pitchFamily="2" charset="0"/>
              <a:ea typeface="+mn-ea"/>
              <a:cs typeface="+mn-cs"/>
            </a:rPr>
            <a:t>Porcentaje fijo al valor en libros.</a:t>
          </a:r>
          <a:endParaRPr lang="es-MX" sz="1800" kern="1200" dirty="0">
            <a:solidFill>
              <a:schemeClr val="bg1"/>
            </a:solidFill>
            <a:latin typeface="Montserrat" panose="00000500000000000000" pitchFamily="2" charset="0"/>
            <a:ea typeface="+mn-ea"/>
            <a:cs typeface="+mn-cs"/>
          </a:endParaRPr>
        </a:p>
      </dgm:t>
    </dgm:pt>
    <dgm:pt modelId="{D9632F08-9F7D-4137-A87C-8197BA7BCF0D}" type="parTrans" cxnId="{214A00EE-3833-4625-ADD3-2F1A1760C9E8}">
      <dgm:prSet/>
      <dgm:spPr/>
      <dgm:t>
        <a:bodyPr/>
        <a:lstStyle/>
        <a:p>
          <a:endParaRPr lang="es-MX" sz="1400">
            <a:latin typeface="Montserrat" panose="00000500000000000000" pitchFamily="2" charset="0"/>
          </a:endParaRPr>
        </a:p>
      </dgm:t>
    </dgm:pt>
    <dgm:pt modelId="{F5CBA41E-E11F-4D6A-9167-5F08A2A7DDC5}" type="sibTrans" cxnId="{214A00EE-3833-4625-ADD3-2F1A1760C9E8}">
      <dgm:prSet/>
      <dgm:spPr/>
      <dgm:t>
        <a:bodyPr/>
        <a:lstStyle/>
        <a:p>
          <a:endParaRPr lang="es-MX" sz="1400">
            <a:latin typeface="Montserrat" panose="00000500000000000000" pitchFamily="2" charset="0"/>
          </a:endParaRPr>
        </a:p>
      </dgm:t>
    </dgm:pt>
    <dgm:pt modelId="{19F8BE5C-53EE-4EEC-892C-D0E5F5897786}">
      <dgm:prSet custT="1"/>
      <dgm:spPr>
        <a:solidFill>
          <a:srgbClr val="84A98C"/>
        </a:solidFill>
        <a:ln>
          <a:solidFill>
            <a:srgbClr val="84A98C"/>
          </a:solidFill>
        </a:ln>
        <a:scene3d>
          <a:camera prst="orthographicFront"/>
          <a:lightRig rig="threePt" dir="t"/>
        </a:scene3d>
        <a:sp3d>
          <a:bevelT/>
        </a:sp3d>
      </dgm:spPr>
      <dgm:t>
        <a:bodyPr lIns="0" tIns="0" rIns="0" bIns="0" anchor="ctr" anchorCtr="0"/>
        <a:lstStyle/>
        <a:p>
          <a:pPr marL="0" indent="0" algn="ctr">
            <a:buNone/>
          </a:pPr>
          <a:r>
            <a:rPr lang="es-MX" sz="1800" dirty="0">
              <a:solidFill>
                <a:schemeClr val="bg1"/>
              </a:solidFill>
              <a:latin typeface="Montserrat" panose="00000500000000000000" pitchFamily="2" charset="0"/>
            </a:rPr>
            <a:t>Uso real del activo (horas, unidades).</a:t>
          </a:r>
          <a:endParaRPr lang="es-MX" sz="1800" b="1" dirty="0">
            <a:solidFill>
              <a:schemeClr val="bg1"/>
            </a:solidFill>
            <a:latin typeface="Montserrat" panose="00000500000000000000" pitchFamily="2" charset="0"/>
          </a:endParaRPr>
        </a:p>
      </dgm:t>
    </dgm:pt>
    <dgm:pt modelId="{EBE8B114-895E-4385-80C3-07392380C09A}" type="parTrans" cxnId="{93EF5D04-5425-433D-81BC-57CB87BE6A04}">
      <dgm:prSet/>
      <dgm:spPr/>
      <dgm:t>
        <a:bodyPr/>
        <a:lstStyle/>
        <a:p>
          <a:endParaRPr lang="es-MX" sz="1400">
            <a:latin typeface="Montserrat" panose="00000500000000000000" pitchFamily="2" charset="0"/>
          </a:endParaRPr>
        </a:p>
      </dgm:t>
    </dgm:pt>
    <dgm:pt modelId="{58DEB6C2-F0B2-466E-9458-A277F5EF15A4}" type="sibTrans" cxnId="{93EF5D04-5425-433D-81BC-57CB87BE6A04}">
      <dgm:prSet/>
      <dgm:spPr/>
      <dgm:t>
        <a:bodyPr/>
        <a:lstStyle/>
        <a:p>
          <a:endParaRPr lang="es-MX" sz="1400">
            <a:latin typeface="Montserrat" panose="00000500000000000000" pitchFamily="2" charset="0"/>
          </a:endParaRPr>
        </a:p>
      </dgm:t>
    </dgm:pt>
    <dgm:pt modelId="{E1C60D29-97E0-4230-B4B9-C58F3191835F}">
      <dgm:prSet custT="1"/>
      <dgm:spPr>
        <a:solidFill>
          <a:srgbClr val="84A98C"/>
        </a:solidFill>
        <a:ln>
          <a:solidFill>
            <a:srgbClr val="84A98C"/>
          </a:solidFill>
        </a:ln>
        <a:scene3d>
          <a:camera prst="orthographicFront"/>
          <a:lightRig rig="threePt" dir="t"/>
        </a:scene3d>
        <a:sp3d>
          <a:bevelT/>
        </a:sp3d>
      </dgm:spPr>
      <dgm:t>
        <a:bodyPr lIns="0" rIns="0" anchor="ctr" anchorCtr="0"/>
        <a:lstStyle/>
        <a:p>
          <a:pPr marL="0" lvl="1" indent="0" algn="ctr" defTabSz="889000">
            <a:lnSpc>
              <a:spcPct val="90000"/>
            </a:lnSpc>
            <a:spcBef>
              <a:spcPct val="0"/>
            </a:spcBef>
            <a:spcAft>
              <a:spcPct val="15000"/>
            </a:spcAft>
            <a:buFont typeface="Arial" panose="020B0604020202020204" pitchFamily="34" charset="0"/>
            <a:buNone/>
          </a:pPr>
          <a:r>
            <a:rPr lang="es-ES" sz="1800" kern="1200" dirty="0">
              <a:solidFill>
                <a:schemeClr val="bg1"/>
              </a:solidFill>
              <a:latin typeface="Montserrat" panose="00000500000000000000" pitchFamily="2" charset="0"/>
              <a:ea typeface="+mn-ea"/>
              <a:cs typeface="+mn-cs"/>
            </a:rPr>
            <a:t>Mayor depreciación en los primeros años.</a:t>
          </a:r>
          <a:endParaRPr lang="es-MX" sz="1800" kern="1200" dirty="0">
            <a:solidFill>
              <a:schemeClr val="bg1"/>
            </a:solidFill>
            <a:latin typeface="Montserrat" panose="00000500000000000000" pitchFamily="2" charset="0"/>
            <a:ea typeface="+mn-ea"/>
            <a:cs typeface="+mn-cs"/>
          </a:endParaRPr>
        </a:p>
      </dgm:t>
    </dgm:pt>
    <dgm:pt modelId="{01F16538-34AE-47B8-B3A6-C1A906BB20B7}" type="parTrans" cxnId="{B117A857-250D-4017-8887-2E548DB85FE2}">
      <dgm:prSet/>
      <dgm:spPr/>
      <dgm:t>
        <a:bodyPr/>
        <a:lstStyle/>
        <a:p>
          <a:endParaRPr lang="es-MX" sz="1400">
            <a:latin typeface="Montserrat" panose="00000500000000000000" pitchFamily="2" charset="0"/>
          </a:endParaRPr>
        </a:p>
      </dgm:t>
    </dgm:pt>
    <dgm:pt modelId="{E29E50BC-EC10-4891-8F13-0C3546DA4B7A}" type="sibTrans" cxnId="{B117A857-250D-4017-8887-2E548DB85FE2}">
      <dgm:prSet/>
      <dgm:spPr/>
      <dgm:t>
        <a:bodyPr/>
        <a:lstStyle/>
        <a:p>
          <a:endParaRPr lang="es-MX" sz="1400">
            <a:latin typeface="Montserrat" panose="00000500000000000000" pitchFamily="2" charset="0"/>
          </a:endParaRPr>
        </a:p>
      </dgm:t>
    </dgm:pt>
    <dgm:pt modelId="{D03DBFD7-5316-4744-A465-70DF49A0D764}" type="pres">
      <dgm:prSet presAssocID="{A79C9E8D-382C-45B5-B90C-9A1303EC9C5C}" presName="linearFlow" presStyleCnt="0">
        <dgm:presLayoutVars>
          <dgm:dir/>
          <dgm:animLvl val="lvl"/>
          <dgm:resizeHandles val="exact"/>
        </dgm:presLayoutVars>
      </dgm:prSet>
      <dgm:spPr/>
    </dgm:pt>
    <dgm:pt modelId="{81F1EF0A-F50C-4E76-ABC2-E4C5D09E96C8}" type="pres">
      <dgm:prSet presAssocID="{2CAD50D4-3DAA-4FB1-8DDC-B3A24F23A59F}" presName="composite" presStyleCnt="0"/>
      <dgm:spPr>
        <a:scene3d>
          <a:camera prst="orthographicFront"/>
          <a:lightRig rig="threePt" dir="t"/>
        </a:scene3d>
        <a:sp3d>
          <a:bevelT/>
        </a:sp3d>
      </dgm:spPr>
    </dgm:pt>
    <dgm:pt modelId="{3838C278-5A36-4DA6-A6BF-2DE30C8DD0AF}" type="pres">
      <dgm:prSet presAssocID="{2CAD50D4-3DAA-4FB1-8DDC-B3A24F23A59F}" presName="parTx" presStyleLbl="node1" presStyleIdx="0" presStyleCnt="4">
        <dgm:presLayoutVars>
          <dgm:chMax val="0"/>
          <dgm:chPref val="0"/>
          <dgm:bulletEnabled val="1"/>
        </dgm:presLayoutVars>
      </dgm:prSet>
      <dgm:spPr/>
    </dgm:pt>
    <dgm:pt modelId="{367302CA-4FB0-4D30-B921-0C3B52266FED}" type="pres">
      <dgm:prSet presAssocID="{2CAD50D4-3DAA-4FB1-8DDC-B3A24F23A59F}" presName="parSh" presStyleLbl="node1" presStyleIdx="0" presStyleCnt="4" custLinFactNeighborY="-17088"/>
      <dgm:spPr/>
    </dgm:pt>
    <dgm:pt modelId="{C852476B-6718-4EE1-A4EC-28FD231F9451}" type="pres">
      <dgm:prSet presAssocID="{2CAD50D4-3DAA-4FB1-8DDC-B3A24F23A59F}" presName="desTx" presStyleLbl="fgAcc1" presStyleIdx="0" presStyleCnt="4" custScaleY="104050">
        <dgm:presLayoutVars>
          <dgm:bulletEnabled val="1"/>
        </dgm:presLayoutVars>
      </dgm:prSet>
      <dgm:spPr/>
    </dgm:pt>
    <dgm:pt modelId="{16BA0945-30CB-40B1-8CE5-0861B14432AD}" type="pres">
      <dgm:prSet presAssocID="{57A97212-90EC-43AE-89A9-F5676D697C24}" presName="sibTrans" presStyleLbl="sibTrans2D1" presStyleIdx="0" presStyleCnt="3"/>
      <dgm:spPr/>
    </dgm:pt>
    <dgm:pt modelId="{571BA34C-2057-4975-9DB1-7724FFF43F77}" type="pres">
      <dgm:prSet presAssocID="{57A97212-90EC-43AE-89A9-F5676D697C24}" presName="connTx" presStyleLbl="sibTrans2D1" presStyleIdx="0" presStyleCnt="3"/>
      <dgm:spPr/>
    </dgm:pt>
    <dgm:pt modelId="{56CA88F0-188C-48B1-A1AB-E51E0F60B5A8}" type="pres">
      <dgm:prSet presAssocID="{24F9E476-BB0C-446C-A23E-E4D084E50D60}" presName="composite" presStyleCnt="0"/>
      <dgm:spPr>
        <a:scene3d>
          <a:camera prst="orthographicFront"/>
          <a:lightRig rig="threePt" dir="t"/>
        </a:scene3d>
        <a:sp3d>
          <a:bevelT/>
        </a:sp3d>
      </dgm:spPr>
    </dgm:pt>
    <dgm:pt modelId="{693353F7-98F5-4FBB-904A-7D978472EF1F}" type="pres">
      <dgm:prSet presAssocID="{24F9E476-BB0C-446C-A23E-E4D084E50D60}" presName="parTx" presStyleLbl="node1" presStyleIdx="0" presStyleCnt="4">
        <dgm:presLayoutVars>
          <dgm:chMax val="0"/>
          <dgm:chPref val="0"/>
          <dgm:bulletEnabled val="1"/>
        </dgm:presLayoutVars>
      </dgm:prSet>
      <dgm:spPr/>
    </dgm:pt>
    <dgm:pt modelId="{764E65B3-371E-4CF1-A28D-A92A37D0B74A}" type="pres">
      <dgm:prSet presAssocID="{24F9E476-BB0C-446C-A23E-E4D084E50D60}" presName="parSh" presStyleLbl="node1" presStyleIdx="1" presStyleCnt="4" custLinFactNeighborY="-17088"/>
      <dgm:spPr/>
    </dgm:pt>
    <dgm:pt modelId="{4D39FB42-4997-40E6-AE7F-0087AC989840}" type="pres">
      <dgm:prSet presAssocID="{24F9E476-BB0C-446C-A23E-E4D084E50D60}" presName="desTx" presStyleLbl="fgAcc1" presStyleIdx="1" presStyleCnt="4" custScaleY="104050">
        <dgm:presLayoutVars>
          <dgm:bulletEnabled val="1"/>
        </dgm:presLayoutVars>
      </dgm:prSet>
      <dgm:spPr/>
    </dgm:pt>
    <dgm:pt modelId="{8DE0E36B-AA75-4EC8-9E89-2FC783A2EA94}" type="pres">
      <dgm:prSet presAssocID="{7C38F42F-2ECD-4DE1-B227-CD9FCD8435E7}" presName="sibTrans" presStyleLbl="sibTrans2D1" presStyleIdx="1" presStyleCnt="3"/>
      <dgm:spPr/>
    </dgm:pt>
    <dgm:pt modelId="{FF070DF3-505C-471E-B992-1978376571B6}" type="pres">
      <dgm:prSet presAssocID="{7C38F42F-2ECD-4DE1-B227-CD9FCD8435E7}" presName="connTx" presStyleLbl="sibTrans2D1" presStyleIdx="1" presStyleCnt="3"/>
      <dgm:spPr/>
    </dgm:pt>
    <dgm:pt modelId="{3F474740-1370-444E-BF30-EED1AED375F5}" type="pres">
      <dgm:prSet presAssocID="{94D2469F-A77D-47AD-B55C-1FBE4DCB5440}" presName="composite" presStyleCnt="0"/>
      <dgm:spPr>
        <a:scene3d>
          <a:camera prst="orthographicFront"/>
          <a:lightRig rig="threePt" dir="t"/>
        </a:scene3d>
        <a:sp3d>
          <a:bevelT/>
        </a:sp3d>
      </dgm:spPr>
    </dgm:pt>
    <dgm:pt modelId="{CEABE762-53DA-403F-A0D7-CED34A1279AF}" type="pres">
      <dgm:prSet presAssocID="{94D2469F-A77D-47AD-B55C-1FBE4DCB5440}" presName="parTx" presStyleLbl="node1" presStyleIdx="1" presStyleCnt="4">
        <dgm:presLayoutVars>
          <dgm:chMax val="0"/>
          <dgm:chPref val="0"/>
          <dgm:bulletEnabled val="1"/>
        </dgm:presLayoutVars>
      </dgm:prSet>
      <dgm:spPr/>
    </dgm:pt>
    <dgm:pt modelId="{38ED9F29-343A-4870-9CE2-7986157AC933}" type="pres">
      <dgm:prSet presAssocID="{94D2469F-A77D-47AD-B55C-1FBE4DCB5440}" presName="parSh" presStyleLbl="node1" presStyleIdx="2" presStyleCnt="4" custLinFactNeighborY="-17088"/>
      <dgm:spPr/>
    </dgm:pt>
    <dgm:pt modelId="{B6585EE3-555A-4E6E-A320-A638E23C49A9}" type="pres">
      <dgm:prSet presAssocID="{94D2469F-A77D-47AD-B55C-1FBE4DCB5440}" presName="desTx" presStyleLbl="fgAcc1" presStyleIdx="2" presStyleCnt="4" custScaleY="104050">
        <dgm:presLayoutVars>
          <dgm:bulletEnabled val="1"/>
        </dgm:presLayoutVars>
      </dgm:prSet>
      <dgm:spPr/>
    </dgm:pt>
    <dgm:pt modelId="{99BB7DBB-13F3-4FCD-8690-0725DCAC0BFE}" type="pres">
      <dgm:prSet presAssocID="{EB2C20E5-00A6-46DD-B32D-6E035B018941}" presName="sibTrans" presStyleLbl="sibTrans2D1" presStyleIdx="2" presStyleCnt="3"/>
      <dgm:spPr/>
    </dgm:pt>
    <dgm:pt modelId="{20EA2E80-CB1E-438A-A8B3-93A26E501C38}" type="pres">
      <dgm:prSet presAssocID="{EB2C20E5-00A6-46DD-B32D-6E035B018941}" presName="connTx" presStyleLbl="sibTrans2D1" presStyleIdx="2" presStyleCnt="3"/>
      <dgm:spPr/>
    </dgm:pt>
    <dgm:pt modelId="{9168F484-E354-4473-BF2B-B12408216E10}" type="pres">
      <dgm:prSet presAssocID="{9DCDF5AF-86E2-47F3-98B1-FFB9D6D492BC}" presName="composite" presStyleCnt="0"/>
      <dgm:spPr>
        <a:scene3d>
          <a:camera prst="orthographicFront"/>
          <a:lightRig rig="threePt" dir="t"/>
        </a:scene3d>
        <a:sp3d>
          <a:bevelT/>
        </a:sp3d>
      </dgm:spPr>
    </dgm:pt>
    <dgm:pt modelId="{8BDB6EF6-FA4A-4017-83F7-560B5539D97A}" type="pres">
      <dgm:prSet presAssocID="{9DCDF5AF-86E2-47F3-98B1-FFB9D6D492BC}" presName="parTx" presStyleLbl="node1" presStyleIdx="2" presStyleCnt="4">
        <dgm:presLayoutVars>
          <dgm:chMax val="0"/>
          <dgm:chPref val="0"/>
          <dgm:bulletEnabled val="1"/>
        </dgm:presLayoutVars>
      </dgm:prSet>
      <dgm:spPr/>
    </dgm:pt>
    <dgm:pt modelId="{85DD1499-C5C0-4A3C-8A2D-123FF1653DA2}" type="pres">
      <dgm:prSet presAssocID="{9DCDF5AF-86E2-47F3-98B1-FFB9D6D492BC}" presName="parSh" presStyleLbl="node1" presStyleIdx="3" presStyleCnt="4" custLinFactNeighborY="-17088"/>
      <dgm:spPr/>
    </dgm:pt>
    <dgm:pt modelId="{243062EE-328D-4412-BEE3-E04FD3AC3A87}" type="pres">
      <dgm:prSet presAssocID="{9DCDF5AF-86E2-47F3-98B1-FFB9D6D492BC}" presName="desTx" presStyleLbl="fgAcc1" presStyleIdx="3" presStyleCnt="4" custScaleY="104050">
        <dgm:presLayoutVars>
          <dgm:bulletEnabled val="1"/>
        </dgm:presLayoutVars>
      </dgm:prSet>
      <dgm:spPr/>
    </dgm:pt>
  </dgm:ptLst>
  <dgm:cxnLst>
    <dgm:cxn modelId="{93EF5D04-5425-433D-81BC-57CB87BE6A04}" srcId="{94D2469F-A77D-47AD-B55C-1FBE4DCB5440}" destId="{19F8BE5C-53EE-4EEC-892C-D0E5F5897786}" srcOrd="0" destOrd="0" parTransId="{EBE8B114-895E-4385-80C3-07392380C09A}" sibTransId="{58DEB6C2-F0B2-466E-9458-A277F5EF15A4}"/>
    <dgm:cxn modelId="{085CD809-3A7B-417B-B83A-1BC4C7205747}" type="presOf" srcId="{490B9EFC-D089-4D6B-931E-D2FD77AE6B4C}" destId="{C852476B-6718-4EE1-A4EC-28FD231F9451}" srcOrd="0" destOrd="0" presId="urn:microsoft.com/office/officeart/2005/8/layout/process3"/>
    <dgm:cxn modelId="{11D8F90A-BDBA-4BFF-A809-E86476426BB6}" type="presOf" srcId="{94D2469F-A77D-47AD-B55C-1FBE4DCB5440}" destId="{CEABE762-53DA-403F-A0D7-CED34A1279AF}" srcOrd="0" destOrd="0" presId="urn:microsoft.com/office/officeart/2005/8/layout/process3"/>
    <dgm:cxn modelId="{19AC1C0F-9886-4B39-A206-82EBA774C365}" type="presOf" srcId="{57A97212-90EC-43AE-89A9-F5676D697C24}" destId="{571BA34C-2057-4975-9DB1-7724FFF43F77}" srcOrd="1" destOrd="0" presId="urn:microsoft.com/office/officeart/2005/8/layout/process3"/>
    <dgm:cxn modelId="{37E60D1A-0E15-45A3-8760-B62F2FFDFC89}" srcId="{2CAD50D4-3DAA-4FB1-8DDC-B3A24F23A59F}" destId="{490B9EFC-D089-4D6B-931E-D2FD77AE6B4C}" srcOrd="0" destOrd="0" parTransId="{39CAF55A-D92E-49F1-B376-B2A8529AB0EF}" sibTransId="{5783BD8A-43A7-4A59-88AD-A9AFD14F0EFB}"/>
    <dgm:cxn modelId="{DCE9711B-F59D-4BA9-AE4A-0B0630D2AFB1}" type="presOf" srcId="{9DCDF5AF-86E2-47F3-98B1-FFB9D6D492BC}" destId="{85DD1499-C5C0-4A3C-8A2D-123FF1653DA2}" srcOrd="1" destOrd="0" presId="urn:microsoft.com/office/officeart/2005/8/layout/process3"/>
    <dgm:cxn modelId="{45449824-E7DA-41F3-B11B-BFEECB2D24EA}" type="presOf" srcId="{EB2C20E5-00A6-46DD-B32D-6E035B018941}" destId="{20EA2E80-CB1E-438A-A8B3-93A26E501C38}" srcOrd="1" destOrd="0" presId="urn:microsoft.com/office/officeart/2005/8/layout/process3"/>
    <dgm:cxn modelId="{A94A5439-D62A-4306-89BD-183EE0571CAA}" type="presOf" srcId="{9DCDF5AF-86E2-47F3-98B1-FFB9D6D492BC}" destId="{8BDB6EF6-FA4A-4017-83F7-560B5539D97A}" srcOrd="0" destOrd="0" presId="urn:microsoft.com/office/officeart/2005/8/layout/process3"/>
    <dgm:cxn modelId="{88B24A3F-8855-4B6A-B614-8A7A0DF3FB43}" srcId="{A79C9E8D-382C-45B5-B90C-9A1303EC9C5C}" destId="{9DCDF5AF-86E2-47F3-98B1-FFB9D6D492BC}" srcOrd="3" destOrd="0" parTransId="{B7B39E63-F906-49BB-A0D4-99EF76C96964}" sibTransId="{A7CF9454-E4F2-40DC-B1CD-921AF2507E79}"/>
    <dgm:cxn modelId="{76BDD160-FCD2-4B83-AD27-2D9AFACA8E9E}" type="presOf" srcId="{7C38F42F-2ECD-4DE1-B227-CD9FCD8435E7}" destId="{FF070DF3-505C-471E-B992-1978376571B6}" srcOrd="1" destOrd="0" presId="urn:microsoft.com/office/officeart/2005/8/layout/process3"/>
    <dgm:cxn modelId="{4684D461-1670-47A3-B69D-30C3EEAEA6D5}" type="presOf" srcId="{24F9E476-BB0C-446C-A23E-E4D084E50D60}" destId="{693353F7-98F5-4FBB-904A-7D978472EF1F}" srcOrd="0" destOrd="0" presId="urn:microsoft.com/office/officeart/2005/8/layout/process3"/>
    <dgm:cxn modelId="{B9102B4E-97F1-43F4-BB5B-D05ADAE00AE6}" srcId="{A79C9E8D-382C-45B5-B90C-9A1303EC9C5C}" destId="{2CAD50D4-3DAA-4FB1-8DDC-B3A24F23A59F}" srcOrd="0" destOrd="0" parTransId="{98F405A1-C9CF-4448-BA19-AE188E040012}" sibTransId="{57A97212-90EC-43AE-89A9-F5676D697C24}"/>
    <dgm:cxn modelId="{B117A857-250D-4017-8887-2E548DB85FE2}" srcId="{9DCDF5AF-86E2-47F3-98B1-FFB9D6D492BC}" destId="{E1C60D29-97E0-4230-B4B9-C58F3191835F}" srcOrd="0" destOrd="0" parTransId="{01F16538-34AE-47B8-B3A6-C1A906BB20B7}" sibTransId="{E29E50BC-EC10-4891-8F13-0C3546DA4B7A}"/>
    <dgm:cxn modelId="{D9584778-1E35-4CA9-AF4B-6B6EC2DC334D}" type="presOf" srcId="{57A97212-90EC-43AE-89A9-F5676D697C24}" destId="{16BA0945-30CB-40B1-8CE5-0861B14432AD}" srcOrd="0" destOrd="0" presId="urn:microsoft.com/office/officeart/2005/8/layout/process3"/>
    <dgm:cxn modelId="{3BCFDB7B-7D7D-469B-AECE-CEAD06026355}" type="presOf" srcId="{94D2469F-A77D-47AD-B55C-1FBE4DCB5440}" destId="{38ED9F29-343A-4870-9CE2-7986157AC933}" srcOrd="1" destOrd="0" presId="urn:microsoft.com/office/officeart/2005/8/layout/process3"/>
    <dgm:cxn modelId="{8D05BB94-B071-4ED8-9C6D-3F9A3E81E5A3}" srcId="{A79C9E8D-382C-45B5-B90C-9A1303EC9C5C}" destId="{94D2469F-A77D-47AD-B55C-1FBE4DCB5440}" srcOrd="2" destOrd="0" parTransId="{F2CBB502-BE5B-457D-AEB7-1EFD206E4DD4}" sibTransId="{EB2C20E5-00A6-46DD-B32D-6E035B018941}"/>
    <dgm:cxn modelId="{2334CD9C-8F6B-4F51-BAEB-0297EA6C96CF}" type="presOf" srcId="{E1C60D29-97E0-4230-B4B9-C58F3191835F}" destId="{243062EE-328D-4412-BEE3-E04FD3AC3A87}" srcOrd="0" destOrd="0" presId="urn:microsoft.com/office/officeart/2005/8/layout/process3"/>
    <dgm:cxn modelId="{A47310AC-5BC3-4A44-BF2C-FFCC377C5672}" type="presOf" srcId="{2CAD50D4-3DAA-4FB1-8DDC-B3A24F23A59F}" destId="{3838C278-5A36-4DA6-A6BF-2DE30C8DD0AF}" srcOrd="0" destOrd="0" presId="urn:microsoft.com/office/officeart/2005/8/layout/process3"/>
    <dgm:cxn modelId="{AF5259B5-CCA8-476B-8FD2-340BB8A37221}" type="presOf" srcId="{24F9E476-BB0C-446C-A23E-E4D084E50D60}" destId="{764E65B3-371E-4CF1-A28D-A92A37D0B74A}" srcOrd="1" destOrd="0" presId="urn:microsoft.com/office/officeart/2005/8/layout/process3"/>
    <dgm:cxn modelId="{4A32A5B8-5326-4B72-865D-5EC2780083AE}" type="presOf" srcId="{19F8BE5C-53EE-4EEC-892C-D0E5F5897786}" destId="{B6585EE3-555A-4E6E-A320-A638E23C49A9}" srcOrd="0" destOrd="0" presId="urn:microsoft.com/office/officeart/2005/8/layout/process3"/>
    <dgm:cxn modelId="{CF5A35C7-BAA4-44AF-8395-0B0B4A21E227}" type="presOf" srcId="{AA185DFB-3FD3-4EB9-8BA9-A84DD0056E5A}" destId="{4D39FB42-4997-40E6-AE7F-0087AC989840}" srcOrd="0" destOrd="0" presId="urn:microsoft.com/office/officeart/2005/8/layout/process3"/>
    <dgm:cxn modelId="{4851E1D0-59D0-41AB-8AED-0EB447ADA59F}" type="presOf" srcId="{EB2C20E5-00A6-46DD-B32D-6E035B018941}" destId="{99BB7DBB-13F3-4FCD-8690-0725DCAC0BFE}" srcOrd="0" destOrd="0" presId="urn:microsoft.com/office/officeart/2005/8/layout/process3"/>
    <dgm:cxn modelId="{C94A86D9-C2A2-42B9-A3CC-6445D4C90743}" type="presOf" srcId="{2CAD50D4-3DAA-4FB1-8DDC-B3A24F23A59F}" destId="{367302CA-4FB0-4D30-B921-0C3B52266FED}" srcOrd="1" destOrd="0" presId="urn:microsoft.com/office/officeart/2005/8/layout/process3"/>
    <dgm:cxn modelId="{CDAF3BDF-C16F-44DB-A03B-BA22A2693502}" type="presOf" srcId="{A79C9E8D-382C-45B5-B90C-9A1303EC9C5C}" destId="{D03DBFD7-5316-4744-A465-70DF49A0D764}" srcOrd="0" destOrd="0" presId="urn:microsoft.com/office/officeart/2005/8/layout/process3"/>
    <dgm:cxn modelId="{E86CE8E4-92B2-4D1D-AC63-6D3791BB8B19}" type="presOf" srcId="{7C38F42F-2ECD-4DE1-B227-CD9FCD8435E7}" destId="{8DE0E36B-AA75-4EC8-9E89-2FC783A2EA94}" srcOrd="0" destOrd="0" presId="urn:microsoft.com/office/officeart/2005/8/layout/process3"/>
    <dgm:cxn modelId="{214A00EE-3833-4625-ADD3-2F1A1760C9E8}" srcId="{24F9E476-BB0C-446C-A23E-E4D084E50D60}" destId="{AA185DFB-3FD3-4EB9-8BA9-A84DD0056E5A}" srcOrd="0" destOrd="0" parTransId="{D9632F08-9F7D-4137-A87C-8197BA7BCF0D}" sibTransId="{F5CBA41E-E11F-4D6A-9167-5F08A2A7DDC5}"/>
    <dgm:cxn modelId="{B9ABDBFF-6391-4B2D-AFC9-4C71937DDA94}" srcId="{A79C9E8D-382C-45B5-B90C-9A1303EC9C5C}" destId="{24F9E476-BB0C-446C-A23E-E4D084E50D60}" srcOrd="1" destOrd="0" parTransId="{599C8D5C-82CC-4E04-BF81-86883026B69C}" sibTransId="{7C38F42F-2ECD-4DE1-B227-CD9FCD8435E7}"/>
    <dgm:cxn modelId="{695A7D8B-CE66-4B01-8142-6E6BC6B2CAE2}" type="presParOf" srcId="{D03DBFD7-5316-4744-A465-70DF49A0D764}" destId="{81F1EF0A-F50C-4E76-ABC2-E4C5D09E96C8}" srcOrd="0" destOrd="0" presId="urn:microsoft.com/office/officeart/2005/8/layout/process3"/>
    <dgm:cxn modelId="{A41754B5-82EF-4936-82FC-6D11C5D2CB9B}" type="presParOf" srcId="{81F1EF0A-F50C-4E76-ABC2-E4C5D09E96C8}" destId="{3838C278-5A36-4DA6-A6BF-2DE30C8DD0AF}" srcOrd="0" destOrd="0" presId="urn:microsoft.com/office/officeart/2005/8/layout/process3"/>
    <dgm:cxn modelId="{9E49C928-8099-4772-9457-F7C4383F93E8}" type="presParOf" srcId="{81F1EF0A-F50C-4E76-ABC2-E4C5D09E96C8}" destId="{367302CA-4FB0-4D30-B921-0C3B52266FED}" srcOrd="1" destOrd="0" presId="urn:microsoft.com/office/officeart/2005/8/layout/process3"/>
    <dgm:cxn modelId="{58E4BE9F-4ED7-4885-A22D-73E03A73CE08}" type="presParOf" srcId="{81F1EF0A-F50C-4E76-ABC2-E4C5D09E96C8}" destId="{C852476B-6718-4EE1-A4EC-28FD231F9451}" srcOrd="2" destOrd="0" presId="urn:microsoft.com/office/officeart/2005/8/layout/process3"/>
    <dgm:cxn modelId="{B0F13834-F836-4453-B9D8-F1A9842BC42C}" type="presParOf" srcId="{D03DBFD7-5316-4744-A465-70DF49A0D764}" destId="{16BA0945-30CB-40B1-8CE5-0861B14432AD}" srcOrd="1" destOrd="0" presId="urn:microsoft.com/office/officeart/2005/8/layout/process3"/>
    <dgm:cxn modelId="{E30BDA9F-0D6D-42AD-AAA1-7AF35423F33E}" type="presParOf" srcId="{16BA0945-30CB-40B1-8CE5-0861B14432AD}" destId="{571BA34C-2057-4975-9DB1-7724FFF43F77}" srcOrd="0" destOrd="0" presId="urn:microsoft.com/office/officeart/2005/8/layout/process3"/>
    <dgm:cxn modelId="{8712E1C0-F18A-4A64-9AB9-A0ECFEF8A756}" type="presParOf" srcId="{D03DBFD7-5316-4744-A465-70DF49A0D764}" destId="{56CA88F0-188C-48B1-A1AB-E51E0F60B5A8}" srcOrd="2" destOrd="0" presId="urn:microsoft.com/office/officeart/2005/8/layout/process3"/>
    <dgm:cxn modelId="{86AA343E-956C-4A69-A668-7AA7791A8F2C}" type="presParOf" srcId="{56CA88F0-188C-48B1-A1AB-E51E0F60B5A8}" destId="{693353F7-98F5-4FBB-904A-7D978472EF1F}" srcOrd="0" destOrd="0" presId="urn:microsoft.com/office/officeart/2005/8/layout/process3"/>
    <dgm:cxn modelId="{CA46FDDE-6D74-4443-A9FF-BBF5C016D08A}" type="presParOf" srcId="{56CA88F0-188C-48B1-A1AB-E51E0F60B5A8}" destId="{764E65B3-371E-4CF1-A28D-A92A37D0B74A}" srcOrd="1" destOrd="0" presId="urn:microsoft.com/office/officeart/2005/8/layout/process3"/>
    <dgm:cxn modelId="{24EA8A84-7629-46B4-BA1A-DA7E3331AB72}" type="presParOf" srcId="{56CA88F0-188C-48B1-A1AB-E51E0F60B5A8}" destId="{4D39FB42-4997-40E6-AE7F-0087AC989840}" srcOrd="2" destOrd="0" presId="urn:microsoft.com/office/officeart/2005/8/layout/process3"/>
    <dgm:cxn modelId="{FBFC1576-C2CC-401B-86DA-4976398E26B3}" type="presParOf" srcId="{D03DBFD7-5316-4744-A465-70DF49A0D764}" destId="{8DE0E36B-AA75-4EC8-9E89-2FC783A2EA94}" srcOrd="3" destOrd="0" presId="urn:microsoft.com/office/officeart/2005/8/layout/process3"/>
    <dgm:cxn modelId="{4D20A6F3-9EAC-4653-8BF6-22734EC9275B}" type="presParOf" srcId="{8DE0E36B-AA75-4EC8-9E89-2FC783A2EA94}" destId="{FF070DF3-505C-471E-B992-1978376571B6}" srcOrd="0" destOrd="0" presId="urn:microsoft.com/office/officeart/2005/8/layout/process3"/>
    <dgm:cxn modelId="{1ECA524E-F8BF-4935-A273-8D6694DF8CB7}" type="presParOf" srcId="{D03DBFD7-5316-4744-A465-70DF49A0D764}" destId="{3F474740-1370-444E-BF30-EED1AED375F5}" srcOrd="4" destOrd="0" presId="urn:microsoft.com/office/officeart/2005/8/layout/process3"/>
    <dgm:cxn modelId="{1075A8B7-02D9-460A-9ADF-16B26FAB5DCB}" type="presParOf" srcId="{3F474740-1370-444E-BF30-EED1AED375F5}" destId="{CEABE762-53DA-403F-A0D7-CED34A1279AF}" srcOrd="0" destOrd="0" presId="urn:microsoft.com/office/officeart/2005/8/layout/process3"/>
    <dgm:cxn modelId="{E97578E3-283E-4823-9D54-4FD61C17D507}" type="presParOf" srcId="{3F474740-1370-444E-BF30-EED1AED375F5}" destId="{38ED9F29-343A-4870-9CE2-7986157AC933}" srcOrd="1" destOrd="0" presId="urn:microsoft.com/office/officeart/2005/8/layout/process3"/>
    <dgm:cxn modelId="{D53BE45A-8BCD-4368-8F2A-FC91E85CA795}" type="presParOf" srcId="{3F474740-1370-444E-BF30-EED1AED375F5}" destId="{B6585EE3-555A-4E6E-A320-A638E23C49A9}" srcOrd="2" destOrd="0" presId="urn:microsoft.com/office/officeart/2005/8/layout/process3"/>
    <dgm:cxn modelId="{D4D6B17F-1665-472A-BCD5-458D58F09053}" type="presParOf" srcId="{D03DBFD7-5316-4744-A465-70DF49A0D764}" destId="{99BB7DBB-13F3-4FCD-8690-0725DCAC0BFE}" srcOrd="5" destOrd="0" presId="urn:microsoft.com/office/officeart/2005/8/layout/process3"/>
    <dgm:cxn modelId="{FD6FEBCB-73B3-403C-8ABC-610F05067DC1}" type="presParOf" srcId="{99BB7DBB-13F3-4FCD-8690-0725DCAC0BFE}" destId="{20EA2E80-CB1E-438A-A8B3-93A26E501C38}" srcOrd="0" destOrd="0" presId="urn:microsoft.com/office/officeart/2005/8/layout/process3"/>
    <dgm:cxn modelId="{C9FD5DE9-585A-475E-B6E7-70C41F5A6D37}" type="presParOf" srcId="{D03DBFD7-5316-4744-A465-70DF49A0D764}" destId="{9168F484-E354-4473-BF2B-B12408216E10}" srcOrd="6" destOrd="0" presId="urn:microsoft.com/office/officeart/2005/8/layout/process3"/>
    <dgm:cxn modelId="{52188B15-9FFA-4480-9A2D-5DE6D286A0E6}" type="presParOf" srcId="{9168F484-E354-4473-BF2B-B12408216E10}" destId="{8BDB6EF6-FA4A-4017-83F7-560B5539D97A}" srcOrd="0" destOrd="0" presId="urn:microsoft.com/office/officeart/2005/8/layout/process3"/>
    <dgm:cxn modelId="{32A7D27D-0FA7-4263-9F45-2157B0D14BED}" type="presParOf" srcId="{9168F484-E354-4473-BF2B-B12408216E10}" destId="{85DD1499-C5C0-4A3C-8A2D-123FF1653DA2}" srcOrd="1" destOrd="0" presId="urn:microsoft.com/office/officeart/2005/8/layout/process3"/>
    <dgm:cxn modelId="{141DEB94-2995-4916-99A1-D6CF0F5F723B}" type="presParOf" srcId="{9168F484-E354-4473-BF2B-B12408216E10}" destId="{243062EE-328D-4412-BEE3-E04FD3AC3A87}" srcOrd="2" destOrd="0" presId="urn:microsoft.com/office/officeart/2005/8/layout/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AA4CA3E-AF4F-4185-A169-2349AE743CB9}" type="doc">
      <dgm:prSet loTypeId="urn:microsoft.com/office/officeart/2005/8/layout/arrow6" loCatId="process" qsTypeId="urn:microsoft.com/office/officeart/2005/8/quickstyle/simple1" qsCatId="simple" csTypeId="urn:microsoft.com/office/officeart/2005/8/colors/accent1_2" csCatId="accent1" phldr="1"/>
      <dgm:spPr/>
      <dgm:t>
        <a:bodyPr/>
        <a:lstStyle/>
        <a:p>
          <a:endParaRPr lang="es-MX"/>
        </a:p>
      </dgm:t>
    </dgm:pt>
    <dgm:pt modelId="{AA326D43-1183-4D36-82DC-2CF049588967}">
      <dgm:prSet phldrT="[Texto]"/>
      <dgm:spPr>
        <a:scene3d>
          <a:camera prst="orthographicFront"/>
          <a:lightRig rig="threePt" dir="t"/>
        </a:scene3d>
        <a:sp3d>
          <a:bevelB/>
        </a:sp3d>
      </dgm:spPr>
      <dgm:t>
        <a:bodyPr/>
        <a:lstStyle/>
        <a:p>
          <a:r>
            <a:rPr lang="es-ES" dirty="0"/>
            <a:t>Directos</a:t>
          </a:r>
          <a:endParaRPr lang="es-MX" dirty="0"/>
        </a:p>
      </dgm:t>
    </dgm:pt>
    <dgm:pt modelId="{9F711F8F-0878-42E3-8B57-746F37E3FAD6}" type="parTrans" cxnId="{7183F768-F0DC-4560-A040-7FAEEBEFB4FE}">
      <dgm:prSet/>
      <dgm:spPr/>
      <dgm:t>
        <a:bodyPr/>
        <a:lstStyle/>
        <a:p>
          <a:endParaRPr lang="es-MX"/>
        </a:p>
      </dgm:t>
    </dgm:pt>
    <dgm:pt modelId="{7543941C-6B15-4BCB-927B-066CE83A7B7A}" type="sibTrans" cxnId="{7183F768-F0DC-4560-A040-7FAEEBEFB4FE}">
      <dgm:prSet/>
      <dgm:spPr/>
      <dgm:t>
        <a:bodyPr/>
        <a:lstStyle/>
        <a:p>
          <a:endParaRPr lang="es-MX"/>
        </a:p>
      </dgm:t>
    </dgm:pt>
    <dgm:pt modelId="{7013B471-15B8-48D2-A284-5F61ED553575}">
      <dgm:prSet phldrT="[Texto]"/>
      <dgm:spPr>
        <a:scene3d>
          <a:camera prst="orthographicFront"/>
          <a:lightRig rig="threePt" dir="t"/>
        </a:scene3d>
        <a:sp3d>
          <a:bevelB/>
        </a:sp3d>
      </dgm:spPr>
      <dgm:t>
        <a:bodyPr/>
        <a:lstStyle/>
        <a:p>
          <a:r>
            <a:rPr lang="es-ES" dirty="0"/>
            <a:t>Indirectos</a:t>
          </a:r>
          <a:endParaRPr lang="es-MX" dirty="0"/>
        </a:p>
      </dgm:t>
    </dgm:pt>
    <dgm:pt modelId="{E3253A27-53CC-406C-838B-F4D90C29BD56}" type="parTrans" cxnId="{D4023175-8937-4772-86FB-21A5C8D580DD}">
      <dgm:prSet/>
      <dgm:spPr/>
      <dgm:t>
        <a:bodyPr/>
        <a:lstStyle/>
        <a:p>
          <a:endParaRPr lang="es-MX"/>
        </a:p>
      </dgm:t>
    </dgm:pt>
    <dgm:pt modelId="{8E447A3C-7D9F-4762-AE35-14A8A3BF5257}" type="sibTrans" cxnId="{D4023175-8937-4772-86FB-21A5C8D580DD}">
      <dgm:prSet/>
      <dgm:spPr/>
      <dgm:t>
        <a:bodyPr/>
        <a:lstStyle/>
        <a:p>
          <a:endParaRPr lang="es-MX"/>
        </a:p>
      </dgm:t>
    </dgm:pt>
    <dgm:pt modelId="{BDD0045E-D563-4FA5-97E5-7247B45E8F49}" type="pres">
      <dgm:prSet presAssocID="{CAA4CA3E-AF4F-4185-A169-2349AE743CB9}" presName="compositeShape" presStyleCnt="0">
        <dgm:presLayoutVars>
          <dgm:chMax val="2"/>
          <dgm:dir/>
          <dgm:resizeHandles val="exact"/>
        </dgm:presLayoutVars>
      </dgm:prSet>
      <dgm:spPr/>
    </dgm:pt>
    <dgm:pt modelId="{0A92463B-4F20-4395-A987-F1934E289B9D}" type="pres">
      <dgm:prSet presAssocID="{CAA4CA3E-AF4F-4185-A169-2349AE743CB9}" presName="ribbon" presStyleLbl="node1" presStyleIdx="0" presStyleCnt="1"/>
      <dgm:spPr>
        <a:solidFill>
          <a:srgbClr val="2F3E46"/>
        </a:solidFill>
        <a:scene3d>
          <a:camera prst="orthographicFront"/>
          <a:lightRig rig="threePt" dir="t"/>
        </a:scene3d>
        <a:sp3d>
          <a:bevelT/>
          <a:bevelB/>
        </a:sp3d>
      </dgm:spPr>
    </dgm:pt>
    <dgm:pt modelId="{6A64AEDB-713C-40AD-81B2-2588C154346F}" type="pres">
      <dgm:prSet presAssocID="{CAA4CA3E-AF4F-4185-A169-2349AE743CB9}" presName="leftArrowText" presStyleLbl="node1" presStyleIdx="0" presStyleCnt="1">
        <dgm:presLayoutVars>
          <dgm:chMax val="0"/>
          <dgm:bulletEnabled val="1"/>
        </dgm:presLayoutVars>
      </dgm:prSet>
      <dgm:spPr/>
    </dgm:pt>
    <dgm:pt modelId="{B149BBB3-1ADB-4B26-AB41-C0077DB820BA}" type="pres">
      <dgm:prSet presAssocID="{CAA4CA3E-AF4F-4185-A169-2349AE743CB9}" presName="rightArrowText" presStyleLbl="node1" presStyleIdx="0" presStyleCnt="1">
        <dgm:presLayoutVars>
          <dgm:chMax val="0"/>
          <dgm:bulletEnabled val="1"/>
        </dgm:presLayoutVars>
      </dgm:prSet>
      <dgm:spPr/>
    </dgm:pt>
  </dgm:ptLst>
  <dgm:cxnLst>
    <dgm:cxn modelId="{63F77F27-78C6-41F4-91D6-8DDBD73C7788}" type="presOf" srcId="{CAA4CA3E-AF4F-4185-A169-2349AE743CB9}" destId="{BDD0045E-D563-4FA5-97E5-7247B45E8F49}" srcOrd="0" destOrd="0" presId="urn:microsoft.com/office/officeart/2005/8/layout/arrow6"/>
    <dgm:cxn modelId="{7CB3243C-8378-497B-BF2F-171A63B08047}" type="presOf" srcId="{AA326D43-1183-4D36-82DC-2CF049588967}" destId="{6A64AEDB-713C-40AD-81B2-2588C154346F}" srcOrd="0" destOrd="0" presId="urn:microsoft.com/office/officeart/2005/8/layout/arrow6"/>
    <dgm:cxn modelId="{7183F768-F0DC-4560-A040-7FAEEBEFB4FE}" srcId="{CAA4CA3E-AF4F-4185-A169-2349AE743CB9}" destId="{AA326D43-1183-4D36-82DC-2CF049588967}" srcOrd="0" destOrd="0" parTransId="{9F711F8F-0878-42E3-8B57-746F37E3FAD6}" sibTransId="{7543941C-6B15-4BCB-927B-066CE83A7B7A}"/>
    <dgm:cxn modelId="{D4023175-8937-4772-86FB-21A5C8D580DD}" srcId="{CAA4CA3E-AF4F-4185-A169-2349AE743CB9}" destId="{7013B471-15B8-48D2-A284-5F61ED553575}" srcOrd="1" destOrd="0" parTransId="{E3253A27-53CC-406C-838B-F4D90C29BD56}" sibTransId="{8E447A3C-7D9F-4762-AE35-14A8A3BF5257}"/>
    <dgm:cxn modelId="{BC9E6ADD-85CB-4548-989C-ADD996049076}" type="presOf" srcId="{7013B471-15B8-48D2-A284-5F61ED553575}" destId="{B149BBB3-1ADB-4B26-AB41-C0077DB820BA}" srcOrd="0" destOrd="0" presId="urn:microsoft.com/office/officeart/2005/8/layout/arrow6"/>
    <dgm:cxn modelId="{5B7EC627-382A-434F-8148-7F0528BC6DD6}" type="presParOf" srcId="{BDD0045E-D563-4FA5-97E5-7247B45E8F49}" destId="{0A92463B-4F20-4395-A987-F1934E289B9D}" srcOrd="0" destOrd="0" presId="urn:microsoft.com/office/officeart/2005/8/layout/arrow6"/>
    <dgm:cxn modelId="{D003FC11-F2E2-4C4F-8925-AA040E652FDF}" type="presParOf" srcId="{BDD0045E-D563-4FA5-97E5-7247B45E8F49}" destId="{6A64AEDB-713C-40AD-81B2-2588C154346F}" srcOrd="1" destOrd="0" presId="urn:microsoft.com/office/officeart/2005/8/layout/arrow6"/>
    <dgm:cxn modelId="{267125F5-E709-4AA0-A85D-CF3C28D244F5}" type="presParOf" srcId="{BDD0045E-D563-4FA5-97E5-7247B45E8F49}" destId="{B149BBB3-1ADB-4B26-AB41-C0077DB820BA}" srcOrd="2" destOrd="0" presId="urn:microsoft.com/office/officeart/2005/8/layout/arrow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8EA502D-CDFB-40F9-BCBA-286988F0E200}"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MX"/>
        </a:p>
      </dgm:t>
    </dgm:pt>
    <dgm:pt modelId="{CD20C578-FC61-4496-AD26-C815C8D1802F}">
      <dgm:prSet phldrT="[Texto]" phldr="1" custT="1"/>
      <dgm:spPr>
        <a:blipFill rotWithShape="0">
          <a:blip xmlns:r="http://schemas.openxmlformats.org/officeDocument/2006/relationships" r:embed="rId1"/>
          <a:srcRect/>
          <a:stretch>
            <a:fillRect l="-33000" r="-33000"/>
          </a:stretch>
        </a:blipFill>
        <a:scene3d>
          <a:camera prst="orthographicFront"/>
          <a:lightRig rig="threePt" dir="t"/>
        </a:scene3d>
        <a:sp3d>
          <a:bevelT/>
        </a:sp3d>
      </dgm:spPr>
      <dgm:t>
        <a:bodyPr/>
        <a:lstStyle/>
        <a:p>
          <a:endParaRPr lang="es-MX" sz="6000" dirty="0">
            <a:noFill/>
            <a:latin typeface="Montserrat" panose="00000500000000000000" pitchFamily="2" charset="0"/>
          </a:endParaRPr>
        </a:p>
      </dgm:t>
    </dgm:pt>
    <dgm:pt modelId="{945D3B97-070E-4A76-B432-2357F48D59DE}" type="parTrans" cxnId="{FCFDAE0C-80D9-44BD-B12A-6D1FDFE7B7E5}">
      <dgm:prSet/>
      <dgm:spPr/>
      <dgm:t>
        <a:bodyPr/>
        <a:lstStyle/>
        <a:p>
          <a:endParaRPr lang="es-MX" sz="2400">
            <a:latin typeface="Montserrat" panose="00000500000000000000" pitchFamily="2" charset="0"/>
          </a:endParaRPr>
        </a:p>
      </dgm:t>
    </dgm:pt>
    <dgm:pt modelId="{762F62A8-2162-4616-ADDB-02CFEA9F65EB}" type="sibTrans" cxnId="{FCFDAE0C-80D9-44BD-B12A-6D1FDFE7B7E5}">
      <dgm:prSet/>
      <dgm:spPr/>
      <dgm:t>
        <a:bodyPr/>
        <a:lstStyle/>
        <a:p>
          <a:endParaRPr lang="es-MX" sz="2400">
            <a:latin typeface="Montserrat" panose="00000500000000000000" pitchFamily="2" charset="0"/>
          </a:endParaRPr>
        </a:p>
      </dgm:t>
    </dgm:pt>
    <dgm:pt modelId="{A3DF39A9-9A5A-4EF6-B66C-3C9D2BB2CF8E}">
      <dgm:prSet phldrT="[Texto]" custT="1"/>
      <dgm:spPr>
        <a:solidFill>
          <a:srgbClr val="84A98C"/>
        </a:solidFill>
        <a:scene3d>
          <a:camera prst="orthographicFront"/>
          <a:lightRig rig="threePt" dir="t"/>
        </a:scene3d>
        <a:sp3d>
          <a:bevelT/>
        </a:sp3d>
      </dgm:spPr>
      <dgm:t>
        <a:bodyPr/>
        <a:lstStyle/>
        <a:p>
          <a:r>
            <a:rPr lang="es-ES" sz="1800" b="1" dirty="0">
              <a:solidFill>
                <a:schemeClr val="bg1"/>
              </a:solidFill>
              <a:latin typeface="Montserrat" panose="00000500000000000000" pitchFamily="2" charset="0"/>
            </a:rPr>
            <a:t>Sobre la Renta</a:t>
          </a:r>
          <a:endParaRPr lang="es-MX" sz="1800" b="1" dirty="0">
            <a:solidFill>
              <a:schemeClr val="bg1"/>
            </a:solidFill>
            <a:latin typeface="Montserrat" panose="00000500000000000000" pitchFamily="2" charset="0"/>
          </a:endParaRPr>
        </a:p>
      </dgm:t>
    </dgm:pt>
    <dgm:pt modelId="{A6B60437-BAA3-4599-AD68-7E8A7270CB97}" type="parTrans" cxnId="{61F1CAAF-E46B-4070-BE40-838244D38CFB}">
      <dgm:prSet/>
      <dgm:spPr/>
      <dgm:t>
        <a:bodyPr/>
        <a:lstStyle/>
        <a:p>
          <a:endParaRPr lang="es-MX" sz="2400">
            <a:latin typeface="Montserrat" panose="00000500000000000000" pitchFamily="2" charset="0"/>
          </a:endParaRPr>
        </a:p>
      </dgm:t>
    </dgm:pt>
    <dgm:pt modelId="{5108EC23-AF0F-4362-83B8-F6CFD1770D31}" type="sibTrans" cxnId="{61F1CAAF-E46B-4070-BE40-838244D38CFB}">
      <dgm:prSet/>
      <dgm:spPr/>
      <dgm:t>
        <a:bodyPr/>
        <a:lstStyle/>
        <a:p>
          <a:endParaRPr lang="es-MX" sz="2400">
            <a:latin typeface="Montserrat" panose="00000500000000000000" pitchFamily="2" charset="0"/>
          </a:endParaRPr>
        </a:p>
      </dgm:t>
    </dgm:pt>
    <dgm:pt modelId="{52EDBA16-7C19-4D9D-AEF2-43C13CF3FAA2}">
      <dgm:prSet phldrT="[Texto]" custT="1"/>
      <dgm:spPr>
        <a:solidFill>
          <a:srgbClr val="2F3E46"/>
        </a:solidFill>
        <a:scene3d>
          <a:camera prst="orthographicFront"/>
          <a:lightRig rig="threePt" dir="t"/>
        </a:scene3d>
        <a:sp3d>
          <a:bevelT/>
        </a:sp3d>
      </dgm:spPr>
      <dgm:t>
        <a:bodyPr/>
        <a:lstStyle/>
        <a:p>
          <a:r>
            <a:rPr lang="es-ES" sz="1800" b="1" dirty="0">
              <a:solidFill>
                <a:schemeClr val="bg1"/>
              </a:solidFill>
              <a:latin typeface="Montserrat" panose="00000500000000000000" pitchFamily="2" charset="0"/>
            </a:rPr>
            <a:t>IVA</a:t>
          </a:r>
          <a:endParaRPr lang="es-MX" sz="1800" b="1" dirty="0">
            <a:solidFill>
              <a:schemeClr val="bg1"/>
            </a:solidFill>
            <a:latin typeface="Montserrat" panose="00000500000000000000" pitchFamily="2" charset="0"/>
          </a:endParaRPr>
        </a:p>
      </dgm:t>
    </dgm:pt>
    <dgm:pt modelId="{558E3994-F4BC-4A21-9354-6EA6CE4623F6}" type="parTrans" cxnId="{6F3C1EFC-BB82-4631-9ADA-638F9AF186EF}">
      <dgm:prSet/>
      <dgm:spPr/>
      <dgm:t>
        <a:bodyPr/>
        <a:lstStyle/>
        <a:p>
          <a:endParaRPr lang="es-MX" sz="2400">
            <a:latin typeface="Montserrat" panose="00000500000000000000" pitchFamily="2" charset="0"/>
          </a:endParaRPr>
        </a:p>
      </dgm:t>
    </dgm:pt>
    <dgm:pt modelId="{08B88088-E70A-41F6-AC94-C8CE7AFD0A06}" type="sibTrans" cxnId="{6F3C1EFC-BB82-4631-9ADA-638F9AF186EF}">
      <dgm:prSet/>
      <dgm:spPr/>
      <dgm:t>
        <a:bodyPr/>
        <a:lstStyle/>
        <a:p>
          <a:endParaRPr lang="es-MX" sz="2400">
            <a:latin typeface="Montserrat" panose="00000500000000000000" pitchFamily="2" charset="0"/>
          </a:endParaRPr>
        </a:p>
      </dgm:t>
    </dgm:pt>
    <dgm:pt modelId="{9566B943-D288-42BC-B534-DB7EF540CCDD}">
      <dgm:prSet phldrT="[Texto]" custT="1"/>
      <dgm:spPr>
        <a:solidFill>
          <a:srgbClr val="354F52"/>
        </a:solidFill>
        <a:scene3d>
          <a:camera prst="orthographicFront"/>
          <a:lightRig rig="threePt" dir="t"/>
        </a:scene3d>
        <a:sp3d>
          <a:bevelT/>
        </a:sp3d>
      </dgm:spPr>
      <dgm:t>
        <a:bodyPr/>
        <a:lstStyle/>
        <a:p>
          <a:r>
            <a:rPr lang="es-ES" sz="1800" b="1" dirty="0">
              <a:solidFill>
                <a:schemeClr val="bg1"/>
              </a:solidFill>
              <a:latin typeface="Montserrat" panose="00000500000000000000" pitchFamily="2" charset="0"/>
            </a:rPr>
            <a:t>Jurídicas</a:t>
          </a:r>
          <a:endParaRPr lang="es-MX" sz="1800" b="1" dirty="0">
            <a:solidFill>
              <a:schemeClr val="bg1"/>
            </a:solidFill>
            <a:latin typeface="Montserrat" panose="00000500000000000000" pitchFamily="2" charset="0"/>
          </a:endParaRPr>
        </a:p>
      </dgm:t>
    </dgm:pt>
    <dgm:pt modelId="{C99DD351-B2A5-48CA-BCD9-1207743F0232}" type="parTrans" cxnId="{816AAB43-3BB8-4765-816D-0DD387CC901D}">
      <dgm:prSet/>
      <dgm:spPr/>
      <dgm:t>
        <a:bodyPr/>
        <a:lstStyle/>
        <a:p>
          <a:endParaRPr lang="es-MX" sz="2400">
            <a:latin typeface="Montserrat" panose="00000500000000000000" pitchFamily="2" charset="0"/>
          </a:endParaRPr>
        </a:p>
      </dgm:t>
    </dgm:pt>
    <dgm:pt modelId="{A125DDC9-6425-4CF4-9E19-5B56E13A463E}" type="sibTrans" cxnId="{816AAB43-3BB8-4765-816D-0DD387CC901D}">
      <dgm:prSet/>
      <dgm:spPr/>
      <dgm:t>
        <a:bodyPr/>
        <a:lstStyle/>
        <a:p>
          <a:endParaRPr lang="es-MX" sz="2400">
            <a:latin typeface="Montserrat" panose="00000500000000000000" pitchFamily="2" charset="0"/>
          </a:endParaRPr>
        </a:p>
      </dgm:t>
    </dgm:pt>
    <dgm:pt modelId="{C780AF37-6557-45E9-8944-AF6DD8428A04}">
      <dgm:prSet phldrT="[Texto]" custT="1"/>
      <dgm:spPr>
        <a:solidFill>
          <a:srgbClr val="52796F"/>
        </a:solidFill>
        <a:scene3d>
          <a:camera prst="orthographicFront"/>
          <a:lightRig rig="threePt" dir="t"/>
        </a:scene3d>
        <a:sp3d>
          <a:bevelT/>
        </a:sp3d>
      </dgm:spPr>
      <dgm:t>
        <a:bodyPr lIns="0" rIns="0"/>
        <a:lstStyle/>
        <a:p>
          <a:endParaRPr lang="es-MX" sz="1800" b="1" dirty="0">
            <a:solidFill>
              <a:schemeClr val="bg1"/>
            </a:solidFill>
            <a:latin typeface="Montserrat" panose="00000500000000000000" pitchFamily="2" charset="0"/>
          </a:endParaRPr>
        </a:p>
      </dgm:t>
    </dgm:pt>
    <dgm:pt modelId="{AAF92ABA-48FD-42FF-92D6-66B4485F6022}" type="parTrans" cxnId="{4D7505E9-DE41-4262-9DF0-2C1E46D70095}">
      <dgm:prSet/>
      <dgm:spPr/>
      <dgm:t>
        <a:bodyPr/>
        <a:lstStyle/>
        <a:p>
          <a:endParaRPr lang="es-MX" sz="2400">
            <a:latin typeface="Montserrat" panose="00000500000000000000" pitchFamily="2" charset="0"/>
          </a:endParaRPr>
        </a:p>
      </dgm:t>
    </dgm:pt>
    <dgm:pt modelId="{A0B36A38-B780-4498-A4A0-3B7A69A1101E}" type="sibTrans" cxnId="{4D7505E9-DE41-4262-9DF0-2C1E46D70095}">
      <dgm:prSet/>
      <dgm:spPr/>
      <dgm:t>
        <a:bodyPr/>
        <a:lstStyle/>
        <a:p>
          <a:endParaRPr lang="es-MX" sz="2400">
            <a:latin typeface="Montserrat" panose="00000500000000000000" pitchFamily="2" charset="0"/>
          </a:endParaRPr>
        </a:p>
      </dgm:t>
    </dgm:pt>
    <dgm:pt modelId="{FEA9AFD3-DDB4-4CF1-85BD-735F2BB336DE}">
      <dgm:prSet custT="1"/>
      <dgm:spPr>
        <a:solidFill>
          <a:srgbClr val="52796F"/>
        </a:solidFill>
        <a:scene3d>
          <a:camera prst="orthographicFront"/>
          <a:lightRig rig="threePt" dir="t"/>
        </a:scene3d>
        <a:sp3d>
          <a:bevelT/>
        </a:sp3d>
      </dgm:spPr>
      <dgm:t>
        <a:bodyPr/>
        <a:lstStyle/>
        <a:p>
          <a:r>
            <a:rPr lang="es-ES" sz="1800" b="1" dirty="0">
              <a:solidFill>
                <a:schemeClr val="bg1"/>
              </a:solidFill>
              <a:latin typeface="Montserrat" panose="00000500000000000000" pitchFamily="2" charset="0"/>
            </a:rPr>
            <a:t>Herencia</a:t>
          </a:r>
          <a:endParaRPr lang="es-MX" sz="1800" b="1" dirty="0">
            <a:solidFill>
              <a:schemeClr val="bg1"/>
            </a:solidFill>
            <a:latin typeface="Montserrat" panose="00000500000000000000" pitchFamily="2" charset="0"/>
          </a:endParaRPr>
        </a:p>
      </dgm:t>
    </dgm:pt>
    <dgm:pt modelId="{B759B1D9-17BF-4BF2-97C3-4FE1952D2B72}" type="parTrans" cxnId="{FFFF6C48-9496-4147-B35B-A550ABB193D8}">
      <dgm:prSet/>
      <dgm:spPr/>
      <dgm:t>
        <a:bodyPr/>
        <a:lstStyle/>
        <a:p>
          <a:endParaRPr lang="es-MX" sz="2400">
            <a:latin typeface="Montserrat" panose="00000500000000000000" pitchFamily="2" charset="0"/>
          </a:endParaRPr>
        </a:p>
      </dgm:t>
    </dgm:pt>
    <dgm:pt modelId="{15582B0C-80BA-4F65-9CD6-68257CDD0294}" type="sibTrans" cxnId="{FFFF6C48-9496-4147-B35B-A550ABB193D8}">
      <dgm:prSet/>
      <dgm:spPr/>
      <dgm:t>
        <a:bodyPr/>
        <a:lstStyle/>
        <a:p>
          <a:endParaRPr lang="es-MX" sz="2400">
            <a:latin typeface="Montserrat" panose="00000500000000000000" pitchFamily="2" charset="0"/>
          </a:endParaRPr>
        </a:p>
      </dgm:t>
    </dgm:pt>
    <dgm:pt modelId="{7CF54084-BA75-4512-8E23-289797DCE158}">
      <dgm:prSet custT="1"/>
      <dgm:spPr>
        <a:solidFill>
          <a:srgbClr val="354F52"/>
        </a:solidFill>
        <a:scene3d>
          <a:camera prst="orthographicFront"/>
          <a:lightRig rig="threePt" dir="t"/>
        </a:scene3d>
        <a:sp3d>
          <a:bevelT/>
        </a:sp3d>
      </dgm:spPr>
      <dgm:t>
        <a:bodyPr lIns="0" rIns="0"/>
        <a:lstStyle/>
        <a:p>
          <a:endParaRPr lang="es-MX" sz="1800" b="1" dirty="0">
            <a:solidFill>
              <a:schemeClr val="bg1"/>
            </a:solidFill>
            <a:latin typeface="Montserrat" panose="00000500000000000000" pitchFamily="2" charset="0"/>
          </a:endParaRPr>
        </a:p>
      </dgm:t>
    </dgm:pt>
    <dgm:pt modelId="{EFBA2A5B-1D48-4912-8E5B-BB0CECF53E1B}" type="parTrans" cxnId="{9A40600C-48C4-4E92-BCFF-879021AF8F5C}">
      <dgm:prSet/>
      <dgm:spPr/>
      <dgm:t>
        <a:bodyPr/>
        <a:lstStyle/>
        <a:p>
          <a:endParaRPr lang="es-MX" sz="2400">
            <a:latin typeface="Montserrat" panose="00000500000000000000" pitchFamily="2" charset="0"/>
          </a:endParaRPr>
        </a:p>
      </dgm:t>
    </dgm:pt>
    <dgm:pt modelId="{D39D6665-6EB1-4C61-9239-A2C7709A5909}" type="sibTrans" cxnId="{9A40600C-48C4-4E92-BCFF-879021AF8F5C}">
      <dgm:prSet/>
      <dgm:spPr/>
      <dgm:t>
        <a:bodyPr/>
        <a:lstStyle/>
        <a:p>
          <a:endParaRPr lang="es-MX" sz="2400">
            <a:latin typeface="Montserrat" panose="00000500000000000000" pitchFamily="2" charset="0"/>
          </a:endParaRPr>
        </a:p>
      </dgm:t>
    </dgm:pt>
    <dgm:pt modelId="{3841CA60-44D0-4D55-ADFD-5F8ADF73378F}">
      <dgm:prSet custT="1"/>
      <dgm:spPr>
        <a:solidFill>
          <a:srgbClr val="2F3E46"/>
        </a:solidFill>
        <a:scene3d>
          <a:camera prst="orthographicFront"/>
          <a:lightRig rig="threePt" dir="t"/>
        </a:scene3d>
        <a:sp3d>
          <a:bevelT/>
        </a:sp3d>
      </dgm:spPr>
      <dgm:t>
        <a:bodyPr/>
        <a:lstStyle/>
        <a:p>
          <a:r>
            <a:rPr lang="es-ES" sz="1800" b="1" dirty="0">
              <a:solidFill>
                <a:schemeClr val="bg1"/>
              </a:solidFill>
              <a:latin typeface="Montserrat" panose="00000500000000000000" pitchFamily="2" charset="0"/>
            </a:rPr>
            <a:t>Seguro Social</a:t>
          </a:r>
          <a:endParaRPr lang="es-MX" sz="1800" b="1" dirty="0">
            <a:solidFill>
              <a:schemeClr val="bg1"/>
            </a:solidFill>
            <a:latin typeface="Montserrat" panose="00000500000000000000" pitchFamily="2" charset="0"/>
          </a:endParaRPr>
        </a:p>
      </dgm:t>
    </dgm:pt>
    <dgm:pt modelId="{C1C2E592-58C7-478B-9D96-0F1881A0AACA}" type="parTrans" cxnId="{03824D09-BE3A-4A0B-AA0E-A469A06A50E9}">
      <dgm:prSet/>
      <dgm:spPr/>
      <dgm:t>
        <a:bodyPr/>
        <a:lstStyle/>
        <a:p>
          <a:endParaRPr lang="es-MX" sz="2400">
            <a:latin typeface="Montserrat" panose="00000500000000000000" pitchFamily="2" charset="0"/>
          </a:endParaRPr>
        </a:p>
      </dgm:t>
    </dgm:pt>
    <dgm:pt modelId="{5D7FE838-B58D-4DED-8475-1B7FBA988A8A}" type="sibTrans" cxnId="{03824D09-BE3A-4A0B-AA0E-A469A06A50E9}">
      <dgm:prSet/>
      <dgm:spPr/>
      <dgm:t>
        <a:bodyPr/>
        <a:lstStyle/>
        <a:p>
          <a:endParaRPr lang="es-MX" sz="2400">
            <a:latin typeface="Montserrat" panose="00000500000000000000" pitchFamily="2" charset="0"/>
          </a:endParaRPr>
        </a:p>
      </dgm:t>
    </dgm:pt>
    <dgm:pt modelId="{34D5BEB2-3940-4D77-9AAF-3BC00A57C0AC}" type="pres">
      <dgm:prSet presAssocID="{A8EA502D-CDFB-40F9-BCBA-286988F0E200}" presName="composite" presStyleCnt="0">
        <dgm:presLayoutVars>
          <dgm:chMax val="1"/>
          <dgm:dir/>
          <dgm:resizeHandles val="exact"/>
        </dgm:presLayoutVars>
      </dgm:prSet>
      <dgm:spPr/>
    </dgm:pt>
    <dgm:pt modelId="{19CEB2FA-43B2-44F7-BA5E-A6C6D4387047}" type="pres">
      <dgm:prSet presAssocID="{A8EA502D-CDFB-40F9-BCBA-286988F0E200}" presName="radial" presStyleCnt="0">
        <dgm:presLayoutVars>
          <dgm:animLvl val="ctr"/>
        </dgm:presLayoutVars>
      </dgm:prSet>
      <dgm:spPr>
        <a:scene3d>
          <a:camera prst="orthographicFront"/>
          <a:lightRig rig="threePt" dir="t"/>
        </a:scene3d>
        <a:sp3d>
          <a:bevelT/>
        </a:sp3d>
      </dgm:spPr>
    </dgm:pt>
    <dgm:pt modelId="{436E8E32-7F75-47FE-9A3A-001BF25C5D03}" type="pres">
      <dgm:prSet presAssocID="{CD20C578-FC61-4496-AD26-C815C8D1802F}" presName="centerShape" presStyleLbl="vennNode1" presStyleIdx="0" presStyleCnt="8"/>
      <dgm:spPr/>
    </dgm:pt>
    <dgm:pt modelId="{08DFB4B4-0A38-4467-A04A-20FD354DF55F}" type="pres">
      <dgm:prSet presAssocID="{A3DF39A9-9A5A-4EF6-B66C-3C9D2BB2CF8E}" presName="node" presStyleLbl="vennNode1" presStyleIdx="1" presStyleCnt="8">
        <dgm:presLayoutVars>
          <dgm:bulletEnabled val="1"/>
        </dgm:presLayoutVars>
      </dgm:prSet>
      <dgm:spPr/>
    </dgm:pt>
    <dgm:pt modelId="{EEF43DB9-0AE2-40B3-974E-CD4E815DBE8F}" type="pres">
      <dgm:prSet presAssocID="{52EDBA16-7C19-4D9D-AEF2-43C13CF3FAA2}" presName="node" presStyleLbl="vennNode1" presStyleIdx="2" presStyleCnt="8">
        <dgm:presLayoutVars>
          <dgm:bulletEnabled val="1"/>
        </dgm:presLayoutVars>
      </dgm:prSet>
      <dgm:spPr/>
    </dgm:pt>
    <dgm:pt modelId="{0E8B2CA0-FF76-4C6E-85C9-CC9A3C0ACEE2}" type="pres">
      <dgm:prSet presAssocID="{9566B943-D288-42BC-B534-DB7EF540CCDD}" presName="node" presStyleLbl="vennNode1" presStyleIdx="3" presStyleCnt="8">
        <dgm:presLayoutVars>
          <dgm:bulletEnabled val="1"/>
        </dgm:presLayoutVars>
      </dgm:prSet>
      <dgm:spPr/>
    </dgm:pt>
    <dgm:pt modelId="{904120DD-66DA-4B0B-BE27-A29B4EF53F77}" type="pres">
      <dgm:prSet presAssocID="{C780AF37-6557-45E9-8944-AF6DD8428A04}" presName="node" presStyleLbl="vennNode1" presStyleIdx="4" presStyleCnt="8">
        <dgm:presLayoutVars>
          <dgm:bulletEnabled val="1"/>
        </dgm:presLayoutVars>
      </dgm:prSet>
      <dgm:spPr/>
    </dgm:pt>
    <dgm:pt modelId="{BE4407CC-76C6-4399-A9DD-F4817B900E61}" type="pres">
      <dgm:prSet presAssocID="{FEA9AFD3-DDB4-4CF1-85BD-735F2BB336DE}" presName="node" presStyleLbl="vennNode1" presStyleIdx="5" presStyleCnt="8">
        <dgm:presLayoutVars>
          <dgm:bulletEnabled val="1"/>
        </dgm:presLayoutVars>
      </dgm:prSet>
      <dgm:spPr/>
    </dgm:pt>
    <dgm:pt modelId="{03701428-F08F-4A5E-B71B-F6EFB8AB0872}" type="pres">
      <dgm:prSet presAssocID="{7CF54084-BA75-4512-8E23-289797DCE158}" presName="node" presStyleLbl="vennNode1" presStyleIdx="6" presStyleCnt="8">
        <dgm:presLayoutVars>
          <dgm:bulletEnabled val="1"/>
        </dgm:presLayoutVars>
      </dgm:prSet>
      <dgm:spPr/>
    </dgm:pt>
    <dgm:pt modelId="{06680110-CA7E-413E-A026-FC2130FDC44E}" type="pres">
      <dgm:prSet presAssocID="{3841CA60-44D0-4D55-ADFD-5F8ADF73378F}" presName="node" presStyleLbl="vennNode1" presStyleIdx="7" presStyleCnt="8">
        <dgm:presLayoutVars>
          <dgm:bulletEnabled val="1"/>
        </dgm:presLayoutVars>
      </dgm:prSet>
      <dgm:spPr/>
    </dgm:pt>
  </dgm:ptLst>
  <dgm:cxnLst>
    <dgm:cxn modelId="{974E4101-052E-42F0-9D0E-C12FAB4B730D}" type="presOf" srcId="{52EDBA16-7C19-4D9D-AEF2-43C13CF3FAA2}" destId="{EEF43DB9-0AE2-40B3-974E-CD4E815DBE8F}" srcOrd="0" destOrd="0" presId="urn:microsoft.com/office/officeart/2005/8/layout/radial3"/>
    <dgm:cxn modelId="{03824D09-BE3A-4A0B-AA0E-A469A06A50E9}" srcId="{CD20C578-FC61-4496-AD26-C815C8D1802F}" destId="{3841CA60-44D0-4D55-ADFD-5F8ADF73378F}" srcOrd="6" destOrd="0" parTransId="{C1C2E592-58C7-478B-9D96-0F1881A0AACA}" sibTransId="{5D7FE838-B58D-4DED-8475-1B7FBA988A8A}"/>
    <dgm:cxn modelId="{9A40600C-48C4-4E92-BCFF-879021AF8F5C}" srcId="{CD20C578-FC61-4496-AD26-C815C8D1802F}" destId="{7CF54084-BA75-4512-8E23-289797DCE158}" srcOrd="5" destOrd="0" parTransId="{EFBA2A5B-1D48-4912-8E5B-BB0CECF53E1B}" sibTransId="{D39D6665-6EB1-4C61-9239-A2C7709A5909}"/>
    <dgm:cxn modelId="{FCFDAE0C-80D9-44BD-B12A-6D1FDFE7B7E5}" srcId="{A8EA502D-CDFB-40F9-BCBA-286988F0E200}" destId="{CD20C578-FC61-4496-AD26-C815C8D1802F}" srcOrd="0" destOrd="0" parTransId="{945D3B97-070E-4A76-B432-2357F48D59DE}" sibTransId="{762F62A8-2162-4616-ADDB-02CFEA9F65EB}"/>
    <dgm:cxn modelId="{CBEA0340-6829-451A-8124-CBF197CD5378}" type="presOf" srcId="{C780AF37-6557-45E9-8944-AF6DD8428A04}" destId="{904120DD-66DA-4B0B-BE27-A29B4EF53F77}" srcOrd="0" destOrd="0" presId="urn:microsoft.com/office/officeart/2005/8/layout/radial3"/>
    <dgm:cxn modelId="{A72A1243-576F-4656-9DBC-14343B2C44F1}" type="presOf" srcId="{A3DF39A9-9A5A-4EF6-B66C-3C9D2BB2CF8E}" destId="{08DFB4B4-0A38-4467-A04A-20FD354DF55F}" srcOrd="0" destOrd="0" presId="urn:microsoft.com/office/officeart/2005/8/layout/radial3"/>
    <dgm:cxn modelId="{816AAB43-3BB8-4765-816D-0DD387CC901D}" srcId="{CD20C578-FC61-4496-AD26-C815C8D1802F}" destId="{9566B943-D288-42BC-B534-DB7EF540CCDD}" srcOrd="2" destOrd="0" parTransId="{C99DD351-B2A5-48CA-BCD9-1207743F0232}" sibTransId="{A125DDC9-6425-4CF4-9E19-5B56E13A463E}"/>
    <dgm:cxn modelId="{FFFF6C48-9496-4147-B35B-A550ABB193D8}" srcId="{CD20C578-FC61-4496-AD26-C815C8D1802F}" destId="{FEA9AFD3-DDB4-4CF1-85BD-735F2BB336DE}" srcOrd="4" destOrd="0" parTransId="{B759B1D9-17BF-4BF2-97C3-4FE1952D2B72}" sibTransId="{15582B0C-80BA-4F65-9CD6-68257CDD0294}"/>
    <dgm:cxn modelId="{1537C56D-3600-45CE-98DF-73715219726C}" type="presOf" srcId="{A8EA502D-CDFB-40F9-BCBA-286988F0E200}" destId="{34D5BEB2-3940-4D77-9AAF-3BC00A57C0AC}" srcOrd="0" destOrd="0" presId="urn:microsoft.com/office/officeart/2005/8/layout/radial3"/>
    <dgm:cxn modelId="{52D0C875-65E0-4866-BC21-00108D9D5D6A}" type="presOf" srcId="{9566B943-D288-42BC-B534-DB7EF540CCDD}" destId="{0E8B2CA0-FF76-4C6E-85C9-CC9A3C0ACEE2}" srcOrd="0" destOrd="0" presId="urn:microsoft.com/office/officeart/2005/8/layout/radial3"/>
    <dgm:cxn modelId="{BD710990-A2AE-4863-B14E-E9716AE9C4A7}" type="presOf" srcId="{FEA9AFD3-DDB4-4CF1-85BD-735F2BB336DE}" destId="{BE4407CC-76C6-4399-A9DD-F4817B900E61}" srcOrd="0" destOrd="0" presId="urn:microsoft.com/office/officeart/2005/8/layout/radial3"/>
    <dgm:cxn modelId="{A3A41395-A3E6-45E0-A3A7-DD4A019177FE}" type="presOf" srcId="{7CF54084-BA75-4512-8E23-289797DCE158}" destId="{03701428-F08F-4A5E-B71B-F6EFB8AB0872}" srcOrd="0" destOrd="0" presId="urn:microsoft.com/office/officeart/2005/8/layout/radial3"/>
    <dgm:cxn modelId="{7F36AD9C-AF4D-452E-A818-11A759BA4A39}" type="presOf" srcId="{CD20C578-FC61-4496-AD26-C815C8D1802F}" destId="{436E8E32-7F75-47FE-9A3A-001BF25C5D03}" srcOrd="0" destOrd="0" presId="urn:microsoft.com/office/officeart/2005/8/layout/radial3"/>
    <dgm:cxn modelId="{61F1CAAF-E46B-4070-BE40-838244D38CFB}" srcId="{CD20C578-FC61-4496-AD26-C815C8D1802F}" destId="{A3DF39A9-9A5A-4EF6-B66C-3C9D2BB2CF8E}" srcOrd="0" destOrd="0" parTransId="{A6B60437-BAA3-4599-AD68-7E8A7270CB97}" sibTransId="{5108EC23-AF0F-4362-83B8-F6CFD1770D31}"/>
    <dgm:cxn modelId="{0FC934D7-A4B4-4713-8613-68AFE141FDC7}" type="presOf" srcId="{3841CA60-44D0-4D55-ADFD-5F8ADF73378F}" destId="{06680110-CA7E-413E-A026-FC2130FDC44E}" srcOrd="0" destOrd="0" presId="urn:microsoft.com/office/officeart/2005/8/layout/radial3"/>
    <dgm:cxn modelId="{4D7505E9-DE41-4262-9DF0-2C1E46D70095}" srcId="{CD20C578-FC61-4496-AD26-C815C8D1802F}" destId="{C780AF37-6557-45E9-8944-AF6DD8428A04}" srcOrd="3" destOrd="0" parTransId="{AAF92ABA-48FD-42FF-92D6-66B4485F6022}" sibTransId="{A0B36A38-B780-4498-A4A0-3B7A69A1101E}"/>
    <dgm:cxn modelId="{6F3C1EFC-BB82-4631-9ADA-638F9AF186EF}" srcId="{CD20C578-FC61-4496-AD26-C815C8D1802F}" destId="{52EDBA16-7C19-4D9D-AEF2-43C13CF3FAA2}" srcOrd="1" destOrd="0" parTransId="{558E3994-F4BC-4A21-9354-6EA6CE4623F6}" sibTransId="{08B88088-E70A-41F6-AC94-C8CE7AFD0A06}"/>
    <dgm:cxn modelId="{316FB1C0-8B13-404E-9A59-21F009D270A9}" type="presParOf" srcId="{34D5BEB2-3940-4D77-9AAF-3BC00A57C0AC}" destId="{19CEB2FA-43B2-44F7-BA5E-A6C6D4387047}" srcOrd="0" destOrd="0" presId="urn:microsoft.com/office/officeart/2005/8/layout/radial3"/>
    <dgm:cxn modelId="{C1B42A4B-5A26-4624-AFA0-695CC53703A2}" type="presParOf" srcId="{19CEB2FA-43B2-44F7-BA5E-A6C6D4387047}" destId="{436E8E32-7F75-47FE-9A3A-001BF25C5D03}" srcOrd="0" destOrd="0" presId="urn:microsoft.com/office/officeart/2005/8/layout/radial3"/>
    <dgm:cxn modelId="{0F568641-DA20-407D-B3AC-D18F2C3BFAC2}" type="presParOf" srcId="{19CEB2FA-43B2-44F7-BA5E-A6C6D4387047}" destId="{08DFB4B4-0A38-4467-A04A-20FD354DF55F}" srcOrd="1" destOrd="0" presId="urn:microsoft.com/office/officeart/2005/8/layout/radial3"/>
    <dgm:cxn modelId="{0286E7F1-FC2E-426D-8E8B-E8FB73971CEC}" type="presParOf" srcId="{19CEB2FA-43B2-44F7-BA5E-A6C6D4387047}" destId="{EEF43DB9-0AE2-40B3-974E-CD4E815DBE8F}" srcOrd="2" destOrd="0" presId="urn:microsoft.com/office/officeart/2005/8/layout/radial3"/>
    <dgm:cxn modelId="{0C69B493-7D06-4D8E-9BDE-A5AC2AE3E70B}" type="presParOf" srcId="{19CEB2FA-43B2-44F7-BA5E-A6C6D4387047}" destId="{0E8B2CA0-FF76-4C6E-85C9-CC9A3C0ACEE2}" srcOrd="3" destOrd="0" presId="urn:microsoft.com/office/officeart/2005/8/layout/radial3"/>
    <dgm:cxn modelId="{6BEB3745-8DA0-4B09-AAF9-DDFD5BAB4107}" type="presParOf" srcId="{19CEB2FA-43B2-44F7-BA5E-A6C6D4387047}" destId="{904120DD-66DA-4B0B-BE27-A29B4EF53F77}" srcOrd="4" destOrd="0" presId="urn:microsoft.com/office/officeart/2005/8/layout/radial3"/>
    <dgm:cxn modelId="{9546C8A5-012C-49F3-B38C-34D93A255C58}" type="presParOf" srcId="{19CEB2FA-43B2-44F7-BA5E-A6C6D4387047}" destId="{BE4407CC-76C6-4399-A9DD-F4817B900E61}" srcOrd="5" destOrd="0" presId="urn:microsoft.com/office/officeart/2005/8/layout/radial3"/>
    <dgm:cxn modelId="{7B34C6DE-2248-4351-8DBB-71BFE75CE06A}" type="presParOf" srcId="{19CEB2FA-43B2-44F7-BA5E-A6C6D4387047}" destId="{03701428-F08F-4A5E-B71B-F6EFB8AB0872}" srcOrd="6" destOrd="0" presId="urn:microsoft.com/office/officeart/2005/8/layout/radial3"/>
    <dgm:cxn modelId="{47EF36A5-31BC-4374-A6C2-BC021BA66A2E}" type="presParOf" srcId="{19CEB2FA-43B2-44F7-BA5E-A6C6D4387047}" destId="{06680110-CA7E-413E-A026-FC2130FDC44E}" srcOrd="7" destOrd="0" presId="urn:microsoft.com/office/officeart/2005/8/layout/radial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44928E-FCB3-40C9-BAB3-2229EBB4043B}"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s-MX"/>
        </a:p>
      </dgm:t>
    </dgm:pt>
    <dgm:pt modelId="{CAFBF008-A67C-43F6-9B43-FC1C6C015202}">
      <dgm:prSet phldrT="[Texto]" custT="1"/>
      <dgm:spPr/>
      <dgm:t>
        <a:bodyPr lIns="0" rIns="0"/>
        <a:lstStyle/>
        <a:p>
          <a:pPr algn="ctr"/>
          <a:r>
            <a:rPr lang="es-ES" sz="1300" b="1" dirty="0">
              <a:solidFill>
                <a:srgbClr val="131D3F"/>
              </a:solidFill>
              <a:latin typeface="Montserrat" panose="00000500000000000000" pitchFamily="2" charset="0"/>
            </a:rPr>
            <a:t>Planificación financiera</a:t>
          </a:r>
          <a:endParaRPr lang="es-MX" sz="1300" b="1" dirty="0">
            <a:solidFill>
              <a:srgbClr val="131D3F"/>
            </a:solidFill>
            <a:latin typeface="Montserrat" panose="00000500000000000000" pitchFamily="2" charset="0"/>
          </a:endParaRPr>
        </a:p>
      </dgm:t>
    </dgm:pt>
    <dgm:pt modelId="{C010A7BB-8292-4954-BC39-0CAAF7292DAB}" type="parTrans" cxnId="{980ADB77-AE2C-4AF0-903D-6F20A59B5892}">
      <dgm:prSet/>
      <dgm:spPr/>
      <dgm:t>
        <a:bodyPr/>
        <a:lstStyle/>
        <a:p>
          <a:pPr algn="just"/>
          <a:endParaRPr lang="es-MX">
            <a:latin typeface="Montserrat" panose="00000500000000000000" pitchFamily="2" charset="0"/>
          </a:endParaRPr>
        </a:p>
      </dgm:t>
    </dgm:pt>
    <dgm:pt modelId="{64B2D565-5688-4A4C-912B-99C8DB99F70D}" type="sibTrans" cxnId="{980ADB77-AE2C-4AF0-903D-6F20A59B5892}">
      <dgm:prSet/>
      <dgm:spPr/>
      <dgm:t>
        <a:bodyPr/>
        <a:lstStyle/>
        <a:p>
          <a:pPr algn="just"/>
          <a:endParaRPr lang="es-MX">
            <a:latin typeface="Montserrat" panose="00000500000000000000" pitchFamily="2" charset="0"/>
          </a:endParaRPr>
        </a:p>
      </dgm:t>
    </dgm:pt>
    <dgm:pt modelId="{63A16410-D0E9-48F1-B379-117896832C8F}">
      <dgm:prSet phldrT="[Texto]" custT="1"/>
      <dgm:spPr/>
      <dgm:t>
        <a:bodyPr lIns="0" rIns="0"/>
        <a:lstStyle/>
        <a:p>
          <a:pPr algn="ctr"/>
          <a:r>
            <a:rPr lang="es-ES" sz="1300" b="1" dirty="0">
              <a:solidFill>
                <a:srgbClr val="131D3F"/>
              </a:solidFill>
              <a:latin typeface="Montserrat" panose="00000500000000000000" pitchFamily="2" charset="0"/>
            </a:rPr>
            <a:t>Gestión del tiempo</a:t>
          </a:r>
          <a:endParaRPr lang="es-MX" sz="1300" b="1" dirty="0">
            <a:solidFill>
              <a:srgbClr val="131D3F"/>
            </a:solidFill>
            <a:latin typeface="Montserrat" panose="00000500000000000000" pitchFamily="2" charset="0"/>
          </a:endParaRPr>
        </a:p>
      </dgm:t>
    </dgm:pt>
    <dgm:pt modelId="{22447003-60BD-47F1-849B-EDF4FE773CDA}" type="parTrans" cxnId="{A6AEBE0D-5769-49EB-92B0-3F309395C1B3}">
      <dgm:prSet/>
      <dgm:spPr/>
      <dgm:t>
        <a:bodyPr/>
        <a:lstStyle/>
        <a:p>
          <a:pPr algn="just"/>
          <a:endParaRPr lang="es-MX">
            <a:latin typeface="Montserrat" panose="00000500000000000000" pitchFamily="2" charset="0"/>
          </a:endParaRPr>
        </a:p>
      </dgm:t>
    </dgm:pt>
    <dgm:pt modelId="{42E27436-AEE5-4A3D-A2E6-746D078E6144}" type="sibTrans" cxnId="{A6AEBE0D-5769-49EB-92B0-3F309395C1B3}">
      <dgm:prSet/>
      <dgm:spPr/>
      <dgm:t>
        <a:bodyPr/>
        <a:lstStyle/>
        <a:p>
          <a:pPr algn="just"/>
          <a:endParaRPr lang="es-MX">
            <a:latin typeface="Montserrat" panose="00000500000000000000" pitchFamily="2" charset="0"/>
          </a:endParaRPr>
        </a:p>
      </dgm:t>
    </dgm:pt>
    <dgm:pt modelId="{3A9C50BE-BA7A-46A3-A322-31BCCBECD313}">
      <dgm:prSet phldrT="[Texto]" custT="1"/>
      <dgm:spPr/>
      <dgm:t>
        <a:bodyPr lIns="0" rIns="0"/>
        <a:lstStyle/>
        <a:p>
          <a:pPr algn="ctr"/>
          <a:r>
            <a:rPr lang="es-ES" sz="1300" b="1" dirty="0">
              <a:solidFill>
                <a:srgbClr val="131D3F"/>
              </a:solidFill>
              <a:latin typeface="Montserrat" panose="00000500000000000000" pitchFamily="2" charset="0"/>
            </a:rPr>
            <a:t>Optimización de recursos</a:t>
          </a:r>
          <a:endParaRPr lang="es-MX" sz="1300" b="1" dirty="0">
            <a:solidFill>
              <a:srgbClr val="131D3F"/>
            </a:solidFill>
            <a:latin typeface="Montserrat" panose="00000500000000000000" pitchFamily="2" charset="0"/>
          </a:endParaRPr>
        </a:p>
      </dgm:t>
    </dgm:pt>
    <dgm:pt modelId="{DD730D5E-68B8-49A5-9BED-5305BF77B9B5}" type="parTrans" cxnId="{97B33F25-1DEC-4615-BBD9-5AD075BC05CE}">
      <dgm:prSet/>
      <dgm:spPr/>
      <dgm:t>
        <a:bodyPr/>
        <a:lstStyle/>
        <a:p>
          <a:pPr algn="just"/>
          <a:endParaRPr lang="es-MX">
            <a:latin typeface="Montserrat" panose="00000500000000000000" pitchFamily="2" charset="0"/>
          </a:endParaRPr>
        </a:p>
      </dgm:t>
    </dgm:pt>
    <dgm:pt modelId="{A6D09F1A-EC62-4560-B308-0598B55FEB99}" type="sibTrans" cxnId="{97B33F25-1DEC-4615-BBD9-5AD075BC05CE}">
      <dgm:prSet/>
      <dgm:spPr/>
      <dgm:t>
        <a:bodyPr/>
        <a:lstStyle/>
        <a:p>
          <a:pPr algn="just"/>
          <a:endParaRPr lang="es-MX">
            <a:latin typeface="Montserrat" panose="00000500000000000000" pitchFamily="2" charset="0"/>
          </a:endParaRPr>
        </a:p>
      </dgm:t>
    </dgm:pt>
    <dgm:pt modelId="{45BAF87E-AC90-4D76-89BB-93FE0D5785A7}">
      <dgm:prSet phldrT="[Texto]" custT="1"/>
      <dgm:spPr/>
      <dgm:t>
        <a:bodyPr lIns="0" rIns="0"/>
        <a:lstStyle/>
        <a:p>
          <a:pPr algn="ctr"/>
          <a:r>
            <a:rPr lang="es-ES" sz="1300" b="1" dirty="0">
              <a:solidFill>
                <a:srgbClr val="131D3F"/>
              </a:solidFill>
              <a:latin typeface="Montserrat" panose="00000500000000000000" pitchFamily="2" charset="0"/>
            </a:rPr>
            <a:t>Herramientas y tecnología</a:t>
          </a:r>
          <a:endParaRPr lang="es-MX" sz="1300" b="1" dirty="0">
            <a:solidFill>
              <a:srgbClr val="131D3F"/>
            </a:solidFill>
            <a:latin typeface="Montserrat" panose="00000500000000000000" pitchFamily="2" charset="0"/>
          </a:endParaRPr>
        </a:p>
      </dgm:t>
    </dgm:pt>
    <dgm:pt modelId="{A754A091-E0E8-4A3F-B832-96D8CFCAB5F5}" type="parTrans" cxnId="{4340A939-DF61-4D97-8DBD-8632E39FFE43}">
      <dgm:prSet/>
      <dgm:spPr/>
      <dgm:t>
        <a:bodyPr/>
        <a:lstStyle/>
        <a:p>
          <a:pPr algn="just"/>
          <a:endParaRPr lang="es-MX">
            <a:latin typeface="Montserrat" panose="00000500000000000000" pitchFamily="2" charset="0"/>
          </a:endParaRPr>
        </a:p>
      </dgm:t>
    </dgm:pt>
    <dgm:pt modelId="{975A0668-D661-4114-9E21-1F7AB5DC0403}" type="sibTrans" cxnId="{4340A939-DF61-4D97-8DBD-8632E39FFE43}">
      <dgm:prSet/>
      <dgm:spPr/>
      <dgm:t>
        <a:bodyPr/>
        <a:lstStyle/>
        <a:p>
          <a:pPr algn="just"/>
          <a:endParaRPr lang="es-MX">
            <a:latin typeface="Montserrat" panose="00000500000000000000" pitchFamily="2" charset="0"/>
          </a:endParaRPr>
        </a:p>
      </dgm:t>
    </dgm:pt>
    <dgm:pt modelId="{FE84CD23-C735-43A0-988E-80716C68B4A0}">
      <dgm:prSet phldrT="[Texto]" custT="1"/>
      <dgm:spPr/>
      <dgm:t>
        <a:bodyPr lIns="0" rIns="0"/>
        <a:lstStyle/>
        <a:p>
          <a:pPr algn="ctr"/>
          <a:r>
            <a:rPr lang="es-ES" sz="1300" b="1" dirty="0">
              <a:solidFill>
                <a:srgbClr val="131D3F"/>
              </a:solidFill>
              <a:latin typeface="Montserrat" panose="00000500000000000000" pitchFamily="2" charset="0"/>
            </a:rPr>
            <a:t>Educación Financiera</a:t>
          </a:r>
          <a:endParaRPr lang="es-MX" sz="1300" b="1" dirty="0">
            <a:solidFill>
              <a:srgbClr val="131D3F"/>
            </a:solidFill>
            <a:latin typeface="Montserrat" panose="00000500000000000000" pitchFamily="2" charset="0"/>
          </a:endParaRPr>
        </a:p>
      </dgm:t>
    </dgm:pt>
    <dgm:pt modelId="{AC6A8471-A4D9-4991-936D-6099FCB15A19}" type="parTrans" cxnId="{01FD23A0-D11A-4D9B-8B41-0345359C4164}">
      <dgm:prSet/>
      <dgm:spPr/>
      <dgm:t>
        <a:bodyPr/>
        <a:lstStyle/>
        <a:p>
          <a:pPr algn="just"/>
          <a:endParaRPr lang="es-MX">
            <a:latin typeface="Montserrat" panose="00000500000000000000" pitchFamily="2" charset="0"/>
          </a:endParaRPr>
        </a:p>
      </dgm:t>
    </dgm:pt>
    <dgm:pt modelId="{93E720E5-F13C-4685-B5B8-DE0076AA408F}" type="sibTrans" cxnId="{01FD23A0-D11A-4D9B-8B41-0345359C4164}">
      <dgm:prSet/>
      <dgm:spPr/>
      <dgm:t>
        <a:bodyPr/>
        <a:lstStyle/>
        <a:p>
          <a:pPr algn="just"/>
          <a:endParaRPr lang="es-MX">
            <a:latin typeface="Montserrat" panose="00000500000000000000" pitchFamily="2" charset="0"/>
          </a:endParaRPr>
        </a:p>
      </dgm:t>
    </dgm:pt>
    <dgm:pt modelId="{410C01C5-5BBF-42FE-AE19-8DF5BB30C52D}">
      <dgm:prSet phldrT="[Texto]" custT="1"/>
      <dgm:spPr/>
      <dgm:t>
        <a:bodyPr lIns="0" rIns="0"/>
        <a:lstStyle/>
        <a:p>
          <a:pPr algn="ctr"/>
          <a:r>
            <a:rPr lang="es-ES" sz="1300" b="1" dirty="0">
              <a:solidFill>
                <a:srgbClr val="131D3F"/>
              </a:solidFill>
              <a:latin typeface="Montserrat" panose="00000500000000000000" pitchFamily="2" charset="0"/>
            </a:rPr>
            <a:t>Optimización de costos</a:t>
          </a:r>
          <a:endParaRPr lang="es-MX" sz="1300" b="1" dirty="0">
            <a:solidFill>
              <a:srgbClr val="131D3F"/>
            </a:solidFill>
            <a:latin typeface="Montserrat" panose="00000500000000000000" pitchFamily="2" charset="0"/>
          </a:endParaRPr>
        </a:p>
      </dgm:t>
    </dgm:pt>
    <dgm:pt modelId="{D0C1BC42-8143-4514-804A-D954D74DB079}" type="parTrans" cxnId="{1A74246A-470B-4045-B6AC-74E95131581C}">
      <dgm:prSet/>
      <dgm:spPr/>
      <dgm:t>
        <a:bodyPr/>
        <a:lstStyle/>
        <a:p>
          <a:pPr algn="just"/>
          <a:endParaRPr lang="es-MX">
            <a:latin typeface="Montserrat" panose="00000500000000000000" pitchFamily="2" charset="0"/>
          </a:endParaRPr>
        </a:p>
      </dgm:t>
    </dgm:pt>
    <dgm:pt modelId="{2296CC12-9DD1-4EFC-9B93-78E33830A286}" type="sibTrans" cxnId="{1A74246A-470B-4045-B6AC-74E95131581C}">
      <dgm:prSet/>
      <dgm:spPr/>
      <dgm:t>
        <a:bodyPr/>
        <a:lstStyle/>
        <a:p>
          <a:pPr algn="just"/>
          <a:endParaRPr lang="es-MX">
            <a:latin typeface="Montserrat" panose="00000500000000000000" pitchFamily="2" charset="0"/>
          </a:endParaRPr>
        </a:p>
      </dgm:t>
    </dgm:pt>
    <dgm:pt modelId="{66AD57F2-DAE8-4AB4-A844-76D8F8771A84}">
      <dgm:prSet phldrT="[Texto]" custT="1"/>
      <dgm:spPr/>
      <dgm:t>
        <a:bodyPr lIns="0" rIns="0"/>
        <a:lstStyle/>
        <a:p>
          <a:pPr algn="ctr"/>
          <a:r>
            <a:rPr lang="es-ES" sz="1300" b="1" dirty="0">
              <a:solidFill>
                <a:srgbClr val="131D3F"/>
              </a:solidFill>
              <a:latin typeface="Montserrat" panose="00000500000000000000" pitchFamily="2" charset="0"/>
            </a:rPr>
            <a:t>Seguimiento y evaluación</a:t>
          </a:r>
          <a:endParaRPr lang="es-MX" sz="1300" b="1" dirty="0">
            <a:solidFill>
              <a:srgbClr val="131D3F"/>
            </a:solidFill>
            <a:latin typeface="Montserrat" panose="00000500000000000000" pitchFamily="2" charset="0"/>
          </a:endParaRPr>
        </a:p>
      </dgm:t>
    </dgm:pt>
    <dgm:pt modelId="{E93C4C96-E727-4C06-8B93-02BAFEB783CD}" type="parTrans" cxnId="{CCBFB4DB-E221-4899-A06F-17A8C3F92C95}">
      <dgm:prSet/>
      <dgm:spPr/>
      <dgm:t>
        <a:bodyPr/>
        <a:lstStyle/>
        <a:p>
          <a:pPr algn="just"/>
          <a:endParaRPr lang="es-MX">
            <a:latin typeface="Montserrat" panose="00000500000000000000" pitchFamily="2" charset="0"/>
          </a:endParaRPr>
        </a:p>
      </dgm:t>
    </dgm:pt>
    <dgm:pt modelId="{257AF868-E722-4F42-B61B-69ABC65AA0FF}" type="sibTrans" cxnId="{CCBFB4DB-E221-4899-A06F-17A8C3F92C95}">
      <dgm:prSet/>
      <dgm:spPr/>
      <dgm:t>
        <a:bodyPr/>
        <a:lstStyle/>
        <a:p>
          <a:pPr algn="just"/>
          <a:endParaRPr lang="es-MX">
            <a:latin typeface="Montserrat" panose="00000500000000000000" pitchFamily="2" charset="0"/>
          </a:endParaRPr>
        </a:p>
      </dgm:t>
    </dgm:pt>
    <dgm:pt modelId="{2DC1450E-41CF-4166-A64C-DB2523976EE6}" type="pres">
      <dgm:prSet presAssocID="{1E44928E-FCB3-40C9-BAB3-2229EBB4043B}" presName="rootnode" presStyleCnt="0">
        <dgm:presLayoutVars>
          <dgm:chMax/>
          <dgm:chPref/>
          <dgm:dir/>
          <dgm:animLvl val="lvl"/>
        </dgm:presLayoutVars>
      </dgm:prSet>
      <dgm:spPr/>
    </dgm:pt>
    <dgm:pt modelId="{322B5121-EB97-4170-85BD-59E0097584EB}" type="pres">
      <dgm:prSet presAssocID="{CAFBF008-A67C-43F6-9B43-FC1C6C015202}" presName="composite" presStyleCnt="0"/>
      <dgm:spPr/>
    </dgm:pt>
    <dgm:pt modelId="{6E0DCA6F-3CE1-4613-8844-AC794B9A66C6}" type="pres">
      <dgm:prSet presAssocID="{CAFBF008-A67C-43F6-9B43-FC1C6C015202}" presName="LShape" presStyleLbl="alignNode1" presStyleIdx="0" presStyleCnt="13" custScaleY="131566"/>
      <dgm:spPr>
        <a:solidFill>
          <a:srgbClr val="2F3E46"/>
        </a:solidFill>
        <a:scene3d>
          <a:camera prst="orthographicFront"/>
          <a:lightRig rig="threePt" dir="t"/>
        </a:scene3d>
        <a:sp3d>
          <a:bevelT/>
        </a:sp3d>
      </dgm:spPr>
    </dgm:pt>
    <dgm:pt modelId="{A4DD46EC-6DBA-4793-9209-D267436BA805}" type="pres">
      <dgm:prSet presAssocID="{CAFBF008-A67C-43F6-9B43-FC1C6C015202}" presName="ParentText" presStyleLbl="revTx" presStyleIdx="0" presStyleCnt="7">
        <dgm:presLayoutVars>
          <dgm:chMax val="0"/>
          <dgm:chPref val="0"/>
          <dgm:bulletEnabled val="1"/>
        </dgm:presLayoutVars>
      </dgm:prSet>
      <dgm:spPr/>
    </dgm:pt>
    <dgm:pt modelId="{56FD0E3D-E9FE-4B8D-AB69-7C9A807D573C}" type="pres">
      <dgm:prSet presAssocID="{CAFBF008-A67C-43F6-9B43-FC1C6C015202}" presName="Triangle" presStyleLbl="alignNode1" presStyleIdx="1" presStyleCnt="13"/>
      <dgm:spPr>
        <a:solidFill>
          <a:srgbClr val="CAD2C5"/>
        </a:solidFill>
        <a:ln>
          <a:noFill/>
        </a:ln>
        <a:scene3d>
          <a:camera prst="orthographicFront"/>
          <a:lightRig rig="threePt" dir="t"/>
        </a:scene3d>
        <a:sp3d>
          <a:bevelT/>
        </a:sp3d>
      </dgm:spPr>
    </dgm:pt>
    <dgm:pt modelId="{6B0889AE-4C70-4210-B194-E3E944FCB9AD}" type="pres">
      <dgm:prSet presAssocID="{64B2D565-5688-4A4C-912B-99C8DB99F70D}" presName="sibTrans" presStyleCnt="0"/>
      <dgm:spPr/>
    </dgm:pt>
    <dgm:pt modelId="{AF47A0B6-A15B-4E73-8CC2-BF0A0F5F60B7}" type="pres">
      <dgm:prSet presAssocID="{64B2D565-5688-4A4C-912B-99C8DB99F70D}" presName="space" presStyleCnt="0"/>
      <dgm:spPr/>
    </dgm:pt>
    <dgm:pt modelId="{C1F4E77E-77D3-45FC-86A7-3A5FF837473F}" type="pres">
      <dgm:prSet presAssocID="{63A16410-D0E9-48F1-B379-117896832C8F}" presName="composite" presStyleCnt="0"/>
      <dgm:spPr/>
    </dgm:pt>
    <dgm:pt modelId="{F42A5B2E-5B09-4BB6-97F7-D82FC6308E76}" type="pres">
      <dgm:prSet presAssocID="{63A16410-D0E9-48F1-B379-117896832C8F}" presName="LShape" presStyleLbl="alignNode1" presStyleIdx="2" presStyleCnt="13" custScaleY="131566"/>
      <dgm:spPr>
        <a:solidFill>
          <a:srgbClr val="354F52"/>
        </a:solidFill>
        <a:ln>
          <a:noFill/>
        </a:ln>
        <a:scene3d>
          <a:camera prst="orthographicFront"/>
          <a:lightRig rig="threePt" dir="t"/>
        </a:scene3d>
        <a:sp3d>
          <a:bevelT/>
        </a:sp3d>
      </dgm:spPr>
    </dgm:pt>
    <dgm:pt modelId="{D59BF341-E979-4D0E-8889-0C0947DA589D}" type="pres">
      <dgm:prSet presAssocID="{63A16410-D0E9-48F1-B379-117896832C8F}" presName="ParentText" presStyleLbl="revTx" presStyleIdx="1" presStyleCnt="7">
        <dgm:presLayoutVars>
          <dgm:chMax val="0"/>
          <dgm:chPref val="0"/>
          <dgm:bulletEnabled val="1"/>
        </dgm:presLayoutVars>
      </dgm:prSet>
      <dgm:spPr/>
    </dgm:pt>
    <dgm:pt modelId="{5955598A-9B84-401C-8F1A-102FBD8654A1}" type="pres">
      <dgm:prSet presAssocID="{63A16410-D0E9-48F1-B379-117896832C8F}" presName="Triangle" presStyleLbl="alignNode1" presStyleIdx="3" presStyleCnt="13"/>
      <dgm:spPr>
        <a:solidFill>
          <a:srgbClr val="CAD2C5"/>
        </a:solidFill>
        <a:ln>
          <a:noFill/>
        </a:ln>
        <a:scene3d>
          <a:camera prst="orthographicFront"/>
          <a:lightRig rig="threePt" dir="t"/>
        </a:scene3d>
        <a:sp3d>
          <a:bevelT/>
        </a:sp3d>
      </dgm:spPr>
    </dgm:pt>
    <dgm:pt modelId="{238705B4-0444-44BB-9497-216FCB667608}" type="pres">
      <dgm:prSet presAssocID="{42E27436-AEE5-4A3D-A2E6-746D078E6144}" presName="sibTrans" presStyleCnt="0"/>
      <dgm:spPr/>
    </dgm:pt>
    <dgm:pt modelId="{8C525E90-4046-453F-AA0C-0CC7978B1745}" type="pres">
      <dgm:prSet presAssocID="{42E27436-AEE5-4A3D-A2E6-746D078E6144}" presName="space" presStyleCnt="0"/>
      <dgm:spPr/>
    </dgm:pt>
    <dgm:pt modelId="{05C41C12-A187-48A1-B521-BC63361F788A}" type="pres">
      <dgm:prSet presAssocID="{3A9C50BE-BA7A-46A3-A322-31BCCBECD313}" presName="composite" presStyleCnt="0"/>
      <dgm:spPr/>
    </dgm:pt>
    <dgm:pt modelId="{F9F3CE01-8DD0-4E0E-85BE-7BB25AAC0154}" type="pres">
      <dgm:prSet presAssocID="{3A9C50BE-BA7A-46A3-A322-31BCCBECD313}" presName="LShape" presStyleLbl="alignNode1" presStyleIdx="4" presStyleCnt="13" custScaleY="131566"/>
      <dgm:spPr>
        <a:solidFill>
          <a:srgbClr val="52796F"/>
        </a:solidFill>
        <a:ln>
          <a:noFill/>
        </a:ln>
        <a:scene3d>
          <a:camera prst="orthographicFront"/>
          <a:lightRig rig="threePt" dir="t"/>
        </a:scene3d>
        <a:sp3d>
          <a:bevelT/>
        </a:sp3d>
      </dgm:spPr>
    </dgm:pt>
    <dgm:pt modelId="{993FD98F-2BC7-4733-824C-69D77D2B1B23}" type="pres">
      <dgm:prSet presAssocID="{3A9C50BE-BA7A-46A3-A322-31BCCBECD313}" presName="ParentText" presStyleLbl="revTx" presStyleIdx="2" presStyleCnt="7">
        <dgm:presLayoutVars>
          <dgm:chMax val="0"/>
          <dgm:chPref val="0"/>
          <dgm:bulletEnabled val="1"/>
        </dgm:presLayoutVars>
      </dgm:prSet>
      <dgm:spPr/>
    </dgm:pt>
    <dgm:pt modelId="{BAFB5D97-9C78-419C-8115-BD4E5D93185E}" type="pres">
      <dgm:prSet presAssocID="{3A9C50BE-BA7A-46A3-A322-31BCCBECD313}" presName="Triangle" presStyleLbl="alignNode1" presStyleIdx="5" presStyleCnt="13"/>
      <dgm:spPr>
        <a:solidFill>
          <a:srgbClr val="CAD2C5"/>
        </a:solidFill>
        <a:ln>
          <a:noFill/>
        </a:ln>
        <a:scene3d>
          <a:camera prst="orthographicFront"/>
          <a:lightRig rig="threePt" dir="t"/>
        </a:scene3d>
        <a:sp3d>
          <a:bevelT/>
        </a:sp3d>
      </dgm:spPr>
    </dgm:pt>
    <dgm:pt modelId="{0AABDC9F-73F0-4F6E-9656-6F3644FFD244}" type="pres">
      <dgm:prSet presAssocID="{A6D09F1A-EC62-4560-B308-0598B55FEB99}" presName="sibTrans" presStyleCnt="0"/>
      <dgm:spPr/>
    </dgm:pt>
    <dgm:pt modelId="{A1C4E30C-71E6-4DE4-A3CB-6BF1AEF7BC2E}" type="pres">
      <dgm:prSet presAssocID="{A6D09F1A-EC62-4560-B308-0598B55FEB99}" presName="space" presStyleCnt="0"/>
      <dgm:spPr/>
    </dgm:pt>
    <dgm:pt modelId="{B22B923E-819F-4ABA-B100-24A5E159AB9A}" type="pres">
      <dgm:prSet presAssocID="{45BAF87E-AC90-4D76-89BB-93FE0D5785A7}" presName="composite" presStyleCnt="0"/>
      <dgm:spPr/>
    </dgm:pt>
    <dgm:pt modelId="{08A84858-872A-48C3-881F-A0986D5E1AB4}" type="pres">
      <dgm:prSet presAssocID="{45BAF87E-AC90-4D76-89BB-93FE0D5785A7}" presName="LShape" presStyleLbl="alignNode1" presStyleIdx="6" presStyleCnt="13" custScaleY="131566"/>
      <dgm:spPr>
        <a:solidFill>
          <a:srgbClr val="84A98C"/>
        </a:solidFill>
        <a:ln>
          <a:noFill/>
        </a:ln>
        <a:scene3d>
          <a:camera prst="orthographicFront"/>
          <a:lightRig rig="threePt" dir="t"/>
        </a:scene3d>
        <a:sp3d>
          <a:bevelT/>
        </a:sp3d>
      </dgm:spPr>
    </dgm:pt>
    <dgm:pt modelId="{7FF1AFA7-8E32-441A-8D38-4DA057D08B9B}" type="pres">
      <dgm:prSet presAssocID="{45BAF87E-AC90-4D76-89BB-93FE0D5785A7}" presName="ParentText" presStyleLbl="revTx" presStyleIdx="3" presStyleCnt="7">
        <dgm:presLayoutVars>
          <dgm:chMax val="0"/>
          <dgm:chPref val="0"/>
          <dgm:bulletEnabled val="1"/>
        </dgm:presLayoutVars>
      </dgm:prSet>
      <dgm:spPr/>
    </dgm:pt>
    <dgm:pt modelId="{61EBD819-D40D-4781-8646-B03CCAC771E9}" type="pres">
      <dgm:prSet presAssocID="{45BAF87E-AC90-4D76-89BB-93FE0D5785A7}" presName="Triangle" presStyleLbl="alignNode1" presStyleIdx="7" presStyleCnt="13"/>
      <dgm:spPr>
        <a:solidFill>
          <a:srgbClr val="CAD2C5"/>
        </a:solidFill>
        <a:ln>
          <a:noFill/>
        </a:ln>
        <a:scene3d>
          <a:camera prst="orthographicFront"/>
          <a:lightRig rig="threePt" dir="t"/>
        </a:scene3d>
        <a:sp3d>
          <a:bevelT/>
        </a:sp3d>
      </dgm:spPr>
    </dgm:pt>
    <dgm:pt modelId="{D9243600-B1A1-4FE0-8754-2409A379CED4}" type="pres">
      <dgm:prSet presAssocID="{975A0668-D661-4114-9E21-1F7AB5DC0403}" presName="sibTrans" presStyleCnt="0"/>
      <dgm:spPr/>
    </dgm:pt>
    <dgm:pt modelId="{1B4A4717-FA34-4D4B-BDC5-16FA7D0B6DB4}" type="pres">
      <dgm:prSet presAssocID="{975A0668-D661-4114-9E21-1F7AB5DC0403}" presName="space" presStyleCnt="0"/>
      <dgm:spPr/>
    </dgm:pt>
    <dgm:pt modelId="{A889D468-81F3-4250-BB42-89FEC3AAB7F1}" type="pres">
      <dgm:prSet presAssocID="{FE84CD23-C735-43A0-988E-80716C68B4A0}" presName="composite" presStyleCnt="0"/>
      <dgm:spPr/>
    </dgm:pt>
    <dgm:pt modelId="{4DEDB585-6166-492D-982B-BC326BFE086B}" type="pres">
      <dgm:prSet presAssocID="{FE84CD23-C735-43A0-988E-80716C68B4A0}" presName="LShape" presStyleLbl="alignNode1" presStyleIdx="8" presStyleCnt="13" custScaleY="131566"/>
      <dgm:spPr>
        <a:solidFill>
          <a:srgbClr val="52796F"/>
        </a:solidFill>
        <a:ln>
          <a:noFill/>
        </a:ln>
        <a:scene3d>
          <a:camera prst="orthographicFront"/>
          <a:lightRig rig="threePt" dir="t"/>
        </a:scene3d>
        <a:sp3d>
          <a:bevelT/>
        </a:sp3d>
      </dgm:spPr>
    </dgm:pt>
    <dgm:pt modelId="{F0D66743-9A54-475C-A9F2-BD69759F8007}" type="pres">
      <dgm:prSet presAssocID="{FE84CD23-C735-43A0-988E-80716C68B4A0}" presName="ParentText" presStyleLbl="revTx" presStyleIdx="4" presStyleCnt="7">
        <dgm:presLayoutVars>
          <dgm:chMax val="0"/>
          <dgm:chPref val="0"/>
          <dgm:bulletEnabled val="1"/>
        </dgm:presLayoutVars>
      </dgm:prSet>
      <dgm:spPr/>
    </dgm:pt>
    <dgm:pt modelId="{8A4A2425-6557-4F75-8281-5C6F8F6DA59F}" type="pres">
      <dgm:prSet presAssocID="{FE84CD23-C735-43A0-988E-80716C68B4A0}" presName="Triangle" presStyleLbl="alignNode1" presStyleIdx="9" presStyleCnt="13"/>
      <dgm:spPr>
        <a:solidFill>
          <a:srgbClr val="CAD2C5"/>
        </a:solidFill>
        <a:ln>
          <a:noFill/>
        </a:ln>
        <a:scene3d>
          <a:camera prst="orthographicFront"/>
          <a:lightRig rig="threePt" dir="t"/>
        </a:scene3d>
        <a:sp3d>
          <a:bevelT/>
        </a:sp3d>
      </dgm:spPr>
    </dgm:pt>
    <dgm:pt modelId="{322BB8F6-E5A3-43AD-9547-D047AAB097D3}" type="pres">
      <dgm:prSet presAssocID="{93E720E5-F13C-4685-B5B8-DE0076AA408F}" presName="sibTrans" presStyleCnt="0"/>
      <dgm:spPr/>
    </dgm:pt>
    <dgm:pt modelId="{812E3554-B9D9-4B64-99F0-0193B0D71F49}" type="pres">
      <dgm:prSet presAssocID="{93E720E5-F13C-4685-B5B8-DE0076AA408F}" presName="space" presStyleCnt="0"/>
      <dgm:spPr/>
    </dgm:pt>
    <dgm:pt modelId="{57368011-7834-46DD-A17F-0ED070D606EF}" type="pres">
      <dgm:prSet presAssocID="{410C01C5-5BBF-42FE-AE19-8DF5BB30C52D}" presName="composite" presStyleCnt="0"/>
      <dgm:spPr/>
    </dgm:pt>
    <dgm:pt modelId="{B4A303C5-E1A3-4AF4-A343-FB4FDCB237EA}" type="pres">
      <dgm:prSet presAssocID="{410C01C5-5BBF-42FE-AE19-8DF5BB30C52D}" presName="LShape" presStyleLbl="alignNode1" presStyleIdx="10" presStyleCnt="13" custScaleY="131566"/>
      <dgm:spPr>
        <a:solidFill>
          <a:srgbClr val="354F52"/>
        </a:solidFill>
        <a:ln>
          <a:noFill/>
        </a:ln>
        <a:scene3d>
          <a:camera prst="orthographicFront"/>
          <a:lightRig rig="threePt" dir="t"/>
        </a:scene3d>
        <a:sp3d>
          <a:bevelT/>
        </a:sp3d>
      </dgm:spPr>
    </dgm:pt>
    <dgm:pt modelId="{A9BCC5D8-5A68-4F31-9EFB-4DCECCF53E8F}" type="pres">
      <dgm:prSet presAssocID="{410C01C5-5BBF-42FE-AE19-8DF5BB30C52D}" presName="ParentText" presStyleLbl="revTx" presStyleIdx="5" presStyleCnt="7">
        <dgm:presLayoutVars>
          <dgm:chMax val="0"/>
          <dgm:chPref val="0"/>
          <dgm:bulletEnabled val="1"/>
        </dgm:presLayoutVars>
      </dgm:prSet>
      <dgm:spPr/>
    </dgm:pt>
    <dgm:pt modelId="{DDA1086D-B78F-41A6-A9D7-7D5FCDCE5AE6}" type="pres">
      <dgm:prSet presAssocID="{410C01C5-5BBF-42FE-AE19-8DF5BB30C52D}" presName="Triangle" presStyleLbl="alignNode1" presStyleIdx="11" presStyleCnt="13"/>
      <dgm:spPr>
        <a:solidFill>
          <a:srgbClr val="CAD2C5"/>
        </a:solidFill>
        <a:ln>
          <a:noFill/>
        </a:ln>
        <a:scene3d>
          <a:camera prst="orthographicFront"/>
          <a:lightRig rig="threePt" dir="t"/>
        </a:scene3d>
        <a:sp3d>
          <a:bevelT/>
        </a:sp3d>
      </dgm:spPr>
    </dgm:pt>
    <dgm:pt modelId="{FCE5A6BC-C4C5-4906-8935-220B0B2F31EC}" type="pres">
      <dgm:prSet presAssocID="{2296CC12-9DD1-4EFC-9B93-78E33830A286}" presName="sibTrans" presStyleCnt="0"/>
      <dgm:spPr/>
    </dgm:pt>
    <dgm:pt modelId="{A6822997-2BF1-4C9C-B6CE-4537A36DFA24}" type="pres">
      <dgm:prSet presAssocID="{2296CC12-9DD1-4EFC-9B93-78E33830A286}" presName="space" presStyleCnt="0"/>
      <dgm:spPr/>
    </dgm:pt>
    <dgm:pt modelId="{52CBD380-CDBE-4A71-B48D-7F5AFAF629B6}" type="pres">
      <dgm:prSet presAssocID="{66AD57F2-DAE8-4AB4-A844-76D8F8771A84}" presName="composite" presStyleCnt="0"/>
      <dgm:spPr/>
    </dgm:pt>
    <dgm:pt modelId="{B8E645B2-023A-4424-AA11-22069B0DDA99}" type="pres">
      <dgm:prSet presAssocID="{66AD57F2-DAE8-4AB4-A844-76D8F8771A84}" presName="LShape" presStyleLbl="alignNode1" presStyleIdx="12" presStyleCnt="13" custScaleY="131566"/>
      <dgm:spPr>
        <a:solidFill>
          <a:srgbClr val="2F3E46"/>
        </a:solidFill>
        <a:ln>
          <a:noFill/>
        </a:ln>
        <a:scene3d>
          <a:camera prst="orthographicFront"/>
          <a:lightRig rig="threePt" dir="t"/>
        </a:scene3d>
        <a:sp3d>
          <a:bevelT/>
        </a:sp3d>
      </dgm:spPr>
    </dgm:pt>
    <dgm:pt modelId="{864183EF-002F-4A7E-A39E-20915529845F}" type="pres">
      <dgm:prSet presAssocID="{66AD57F2-DAE8-4AB4-A844-76D8F8771A84}" presName="ParentText" presStyleLbl="revTx" presStyleIdx="6" presStyleCnt="7">
        <dgm:presLayoutVars>
          <dgm:chMax val="0"/>
          <dgm:chPref val="0"/>
          <dgm:bulletEnabled val="1"/>
        </dgm:presLayoutVars>
      </dgm:prSet>
      <dgm:spPr/>
    </dgm:pt>
  </dgm:ptLst>
  <dgm:cxnLst>
    <dgm:cxn modelId="{6329AB03-0739-4806-ABF6-C5AC6CCF922E}" type="presOf" srcId="{66AD57F2-DAE8-4AB4-A844-76D8F8771A84}" destId="{864183EF-002F-4A7E-A39E-20915529845F}" srcOrd="0" destOrd="0" presId="urn:microsoft.com/office/officeart/2009/3/layout/StepUpProcess"/>
    <dgm:cxn modelId="{A6AEBE0D-5769-49EB-92B0-3F309395C1B3}" srcId="{1E44928E-FCB3-40C9-BAB3-2229EBB4043B}" destId="{63A16410-D0E9-48F1-B379-117896832C8F}" srcOrd="1" destOrd="0" parTransId="{22447003-60BD-47F1-849B-EDF4FE773CDA}" sibTransId="{42E27436-AEE5-4A3D-A2E6-746D078E6144}"/>
    <dgm:cxn modelId="{97B33F25-1DEC-4615-BBD9-5AD075BC05CE}" srcId="{1E44928E-FCB3-40C9-BAB3-2229EBB4043B}" destId="{3A9C50BE-BA7A-46A3-A322-31BCCBECD313}" srcOrd="2" destOrd="0" parTransId="{DD730D5E-68B8-49A5-9BED-5305BF77B9B5}" sibTransId="{A6D09F1A-EC62-4560-B308-0598B55FEB99}"/>
    <dgm:cxn modelId="{4340A939-DF61-4D97-8DBD-8632E39FFE43}" srcId="{1E44928E-FCB3-40C9-BAB3-2229EBB4043B}" destId="{45BAF87E-AC90-4D76-89BB-93FE0D5785A7}" srcOrd="3" destOrd="0" parTransId="{A754A091-E0E8-4A3F-B832-96D8CFCAB5F5}" sibTransId="{975A0668-D661-4114-9E21-1F7AB5DC0403}"/>
    <dgm:cxn modelId="{08F5123D-92C8-4920-9121-8079335A178E}" type="presOf" srcId="{FE84CD23-C735-43A0-988E-80716C68B4A0}" destId="{F0D66743-9A54-475C-A9F2-BD69759F8007}" srcOrd="0" destOrd="0" presId="urn:microsoft.com/office/officeart/2009/3/layout/StepUpProcess"/>
    <dgm:cxn modelId="{1A74246A-470B-4045-B6AC-74E95131581C}" srcId="{1E44928E-FCB3-40C9-BAB3-2229EBB4043B}" destId="{410C01C5-5BBF-42FE-AE19-8DF5BB30C52D}" srcOrd="5" destOrd="0" parTransId="{D0C1BC42-8143-4514-804A-D954D74DB079}" sibTransId="{2296CC12-9DD1-4EFC-9B93-78E33830A286}"/>
    <dgm:cxn modelId="{84B30775-E088-44D3-9958-D5B6EDD3B532}" type="presOf" srcId="{CAFBF008-A67C-43F6-9B43-FC1C6C015202}" destId="{A4DD46EC-6DBA-4793-9209-D267436BA805}" srcOrd="0" destOrd="0" presId="urn:microsoft.com/office/officeart/2009/3/layout/StepUpProcess"/>
    <dgm:cxn modelId="{980ADB77-AE2C-4AF0-903D-6F20A59B5892}" srcId="{1E44928E-FCB3-40C9-BAB3-2229EBB4043B}" destId="{CAFBF008-A67C-43F6-9B43-FC1C6C015202}" srcOrd="0" destOrd="0" parTransId="{C010A7BB-8292-4954-BC39-0CAAF7292DAB}" sibTransId="{64B2D565-5688-4A4C-912B-99C8DB99F70D}"/>
    <dgm:cxn modelId="{8AF82958-45DB-4B42-8DE5-E5368DA82B98}" type="presOf" srcId="{3A9C50BE-BA7A-46A3-A322-31BCCBECD313}" destId="{993FD98F-2BC7-4733-824C-69D77D2B1B23}" srcOrd="0" destOrd="0" presId="urn:microsoft.com/office/officeart/2009/3/layout/StepUpProcess"/>
    <dgm:cxn modelId="{01FD23A0-D11A-4D9B-8B41-0345359C4164}" srcId="{1E44928E-FCB3-40C9-BAB3-2229EBB4043B}" destId="{FE84CD23-C735-43A0-988E-80716C68B4A0}" srcOrd="4" destOrd="0" parTransId="{AC6A8471-A4D9-4991-936D-6099FCB15A19}" sibTransId="{93E720E5-F13C-4685-B5B8-DE0076AA408F}"/>
    <dgm:cxn modelId="{615E0FA1-8575-40BD-84A4-3DA0869EC369}" type="presOf" srcId="{45BAF87E-AC90-4D76-89BB-93FE0D5785A7}" destId="{7FF1AFA7-8E32-441A-8D38-4DA057D08B9B}" srcOrd="0" destOrd="0" presId="urn:microsoft.com/office/officeart/2009/3/layout/StepUpProcess"/>
    <dgm:cxn modelId="{70178DA7-31BA-4A1D-A098-43379ED89503}" type="presOf" srcId="{63A16410-D0E9-48F1-B379-117896832C8F}" destId="{D59BF341-E979-4D0E-8889-0C0947DA589D}" srcOrd="0" destOrd="0" presId="urn:microsoft.com/office/officeart/2009/3/layout/StepUpProcess"/>
    <dgm:cxn modelId="{A41384C3-4112-4B17-B1E2-948568CE9381}" type="presOf" srcId="{1E44928E-FCB3-40C9-BAB3-2229EBB4043B}" destId="{2DC1450E-41CF-4166-A64C-DB2523976EE6}" srcOrd="0" destOrd="0" presId="urn:microsoft.com/office/officeart/2009/3/layout/StepUpProcess"/>
    <dgm:cxn modelId="{91366EDA-9B3A-46FD-AFCF-813A619457B0}" type="presOf" srcId="{410C01C5-5BBF-42FE-AE19-8DF5BB30C52D}" destId="{A9BCC5D8-5A68-4F31-9EFB-4DCECCF53E8F}" srcOrd="0" destOrd="0" presId="urn:microsoft.com/office/officeart/2009/3/layout/StepUpProcess"/>
    <dgm:cxn modelId="{CCBFB4DB-E221-4899-A06F-17A8C3F92C95}" srcId="{1E44928E-FCB3-40C9-BAB3-2229EBB4043B}" destId="{66AD57F2-DAE8-4AB4-A844-76D8F8771A84}" srcOrd="6" destOrd="0" parTransId="{E93C4C96-E727-4C06-8B93-02BAFEB783CD}" sibTransId="{257AF868-E722-4F42-B61B-69ABC65AA0FF}"/>
    <dgm:cxn modelId="{FEE0D530-5340-49EE-B66F-C6157AAFA4CE}" type="presParOf" srcId="{2DC1450E-41CF-4166-A64C-DB2523976EE6}" destId="{322B5121-EB97-4170-85BD-59E0097584EB}" srcOrd="0" destOrd="0" presId="urn:microsoft.com/office/officeart/2009/3/layout/StepUpProcess"/>
    <dgm:cxn modelId="{64ADF499-CA72-4745-862A-BA96EA0AE5F1}" type="presParOf" srcId="{322B5121-EB97-4170-85BD-59E0097584EB}" destId="{6E0DCA6F-3CE1-4613-8844-AC794B9A66C6}" srcOrd="0" destOrd="0" presId="urn:microsoft.com/office/officeart/2009/3/layout/StepUpProcess"/>
    <dgm:cxn modelId="{6232C5A2-A4BA-48F3-AB70-881AC1C91C6E}" type="presParOf" srcId="{322B5121-EB97-4170-85BD-59E0097584EB}" destId="{A4DD46EC-6DBA-4793-9209-D267436BA805}" srcOrd="1" destOrd="0" presId="urn:microsoft.com/office/officeart/2009/3/layout/StepUpProcess"/>
    <dgm:cxn modelId="{966E4041-FC00-4758-A866-D3F611FA41A7}" type="presParOf" srcId="{322B5121-EB97-4170-85BD-59E0097584EB}" destId="{56FD0E3D-E9FE-4B8D-AB69-7C9A807D573C}" srcOrd="2" destOrd="0" presId="urn:microsoft.com/office/officeart/2009/3/layout/StepUpProcess"/>
    <dgm:cxn modelId="{B35E5F91-7FCB-48B0-8BD0-BB4962916A96}" type="presParOf" srcId="{2DC1450E-41CF-4166-A64C-DB2523976EE6}" destId="{6B0889AE-4C70-4210-B194-E3E944FCB9AD}" srcOrd="1" destOrd="0" presId="urn:microsoft.com/office/officeart/2009/3/layout/StepUpProcess"/>
    <dgm:cxn modelId="{2AD93442-1AA5-45F3-9F7E-CF8175D3C6A2}" type="presParOf" srcId="{6B0889AE-4C70-4210-B194-E3E944FCB9AD}" destId="{AF47A0B6-A15B-4E73-8CC2-BF0A0F5F60B7}" srcOrd="0" destOrd="0" presId="urn:microsoft.com/office/officeart/2009/3/layout/StepUpProcess"/>
    <dgm:cxn modelId="{D9B69D7A-B149-4E5E-B42C-8CC90BC324F0}" type="presParOf" srcId="{2DC1450E-41CF-4166-A64C-DB2523976EE6}" destId="{C1F4E77E-77D3-45FC-86A7-3A5FF837473F}" srcOrd="2" destOrd="0" presId="urn:microsoft.com/office/officeart/2009/3/layout/StepUpProcess"/>
    <dgm:cxn modelId="{1A208ACE-5DE2-469A-9088-538137869692}" type="presParOf" srcId="{C1F4E77E-77D3-45FC-86A7-3A5FF837473F}" destId="{F42A5B2E-5B09-4BB6-97F7-D82FC6308E76}" srcOrd="0" destOrd="0" presId="urn:microsoft.com/office/officeart/2009/3/layout/StepUpProcess"/>
    <dgm:cxn modelId="{91B158FE-21B4-4978-B0C7-8F0F9AEA517A}" type="presParOf" srcId="{C1F4E77E-77D3-45FC-86A7-3A5FF837473F}" destId="{D59BF341-E979-4D0E-8889-0C0947DA589D}" srcOrd="1" destOrd="0" presId="urn:microsoft.com/office/officeart/2009/3/layout/StepUpProcess"/>
    <dgm:cxn modelId="{082605FE-0758-47FD-8F7C-91A9BCF0B4F2}" type="presParOf" srcId="{C1F4E77E-77D3-45FC-86A7-3A5FF837473F}" destId="{5955598A-9B84-401C-8F1A-102FBD8654A1}" srcOrd="2" destOrd="0" presId="urn:microsoft.com/office/officeart/2009/3/layout/StepUpProcess"/>
    <dgm:cxn modelId="{D89F4411-9347-45FB-9B35-FE2A59130B27}" type="presParOf" srcId="{2DC1450E-41CF-4166-A64C-DB2523976EE6}" destId="{238705B4-0444-44BB-9497-216FCB667608}" srcOrd="3" destOrd="0" presId="urn:microsoft.com/office/officeart/2009/3/layout/StepUpProcess"/>
    <dgm:cxn modelId="{AA95B843-BDB4-4C56-B9E4-EA92D986F59E}" type="presParOf" srcId="{238705B4-0444-44BB-9497-216FCB667608}" destId="{8C525E90-4046-453F-AA0C-0CC7978B1745}" srcOrd="0" destOrd="0" presId="urn:microsoft.com/office/officeart/2009/3/layout/StepUpProcess"/>
    <dgm:cxn modelId="{41D7EDFD-4369-4C44-9C73-BAF10FCEB12A}" type="presParOf" srcId="{2DC1450E-41CF-4166-A64C-DB2523976EE6}" destId="{05C41C12-A187-48A1-B521-BC63361F788A}" srcOrd="4" destOrd="0" presId="urn:microsoft.com/office/officeart/2009/3/layout/StepUpProcess"/>
    <dgm:cxn modelId="{F2B54537-A980-48F8-A468-63DCFF702D35}" type="presParOf" srcId="{05C41C12-A187-48A1-B521-BC63361F788A}" destId="{F9F3CE01-8DD0-4E0E-85BE-7BB25AAC0154}" srcOrd="0" destOrd="0" presId="urn:microsoft.com/office/officeart/2009/3/layout/StepUpProcess"/>
    <dgm:cxn modelId="{1DFDCE62-4043-404D-952D-DDFF9210FA67}" type="presParOf" srcId="{05C41C12-A187-48A1-B521-BC63361F788A}" destId="{993FD98F-2BC7-4733-824C-69D77D2B1B23}" srcOrd="1" destOrd="0" presId="urn:microsoft.com/office/officeart/2009/3/layout/StepUpProcess"/>
    <dgm:cxn modelId="{284B9095-F63E-4795-998B-819409DD9CE9}" type="presParOf" srcId="{05C41C12-A187-48A1-B521-BC63361F788A}" destId="{BAFB5D97-9C78-419C-8115-BD4E5D93185E}" srcOrd="2" destOrd="0" presId="urn:microsoft.com/office/officeart/2009/3/layout/StepUpProcess"/>
    <dgm:cxn modelId="{EDD185D3-8BA0-44C6-8936-CA9E753B13FC}" type="presParOf" srcId="{2DC1450E-41CF-4166-A64C-DB2523976EE6}" destId="{0AABDC9F-73F0-4F6E-9656-6F3644FFD244}" srcOrd="5" destOrd="0" presId="urn:microsoft.com/office/officeart/2009/3/layout/StepUpProcess"/>
    <dgm:cxn modelId="{11A51ECA-DA82-4C13-9418-BB2D1FA6F55F}" type="presParOf" srcId="{0AABDC9F-73F0-4F6E-9656-6F3644FFD244}" destId="{A1C4E30C-71E6-4DE4-A3CB-6BF1AEF7BC2E}" srcOrd="0" destOrd="0" presId="urn:microsoft.com/office/officeart/2009/3/layout/StepUpProcess"/>
    <dgm:cxn modelId="{02F3EE90-0EEC-4687-9042-96D48382541B}" type="presParOf" srcId="{2DC1450E-41CF-4166-A64C-DB2523976EE6}" destId="{B22B923E-819F-4ABA-B100-24A5E159AB9A}" srcOrd="6" destOrd="0" presId="urn:microsoft.com/office/officeart/2009/3/layout/StepUpProcess"/>
    <dgm:cxn modelId="{951C5CE3-D35E-42E5-9339-2121C751AF1A}" type="presParOf" srcId="{B22B923E-819F-4ABA-B100-24A5E159AB9A}" destId="{08A84858-872A-48C3-881F-A0986D5E1AB4}" srcOrd="0" destOrd="0" presId="urn:microsoft.com/office/officeart/2009/3/layout/StepUpProcess"/>
    <dgm:cxn modelId="{A8E45598-D618-4E48-88CD-2F082C76647A}" type="presParOf" srcId="{B22B923E-819F-4ABA-B100-24A5E159AB9A}" destId="{7FF1AFA7-8E32-441A-8D38-4DA057D08B9B}" srcOrd="1" destOrd="0" presId="urn:microsoft.com/office/officeart/2009/3/layout/StepUpProcess"/>
    <dgm:cxn modelId="{786BC93C-1352-422A-B21E-22D5D5DC57D0}" type="presParOf" srcId="{B22B923E-819F-4ABA-B100-24A5E159AB9A}" destId="{61EBD819-D40D-4781-8646-B03CCAC771E9}" srcOrd="2" destOrd="0" presId="urn:microsoft.com/office/officeart/2009/3/layout/StepUpProcess"/>
    <dgm:cxn modelId="{A104DB99-EFBB-46E2-BAA8-84911BAB8049}" type="presParOf" srcId="{2DC1450E-41CF-4166-A64C-DB2523976EE6}" destId="{D9243600-B1A1-4FE0-8754-2409A379CED4}" srcOrd="7" destOrd="0" presId="urn:microsoft.com/office/officeart/2009/3/layout/StepUpProcess"/>
    <dgm:cxn modelId="{E55771E0-B49F-472C-9ED0-D6D3C1B7EDFB}" type="presParOf" srcId="{D9243600-B1A1-4FE0-8754-2409A379CED4}" destId="{1B4A4717-FA34-4D4B-BDC5-16FA7D0B6DB4}" srcOrd="0" destOrd="0" presId="urn:microsoft.com/office/officeart/2009/3/layout/StepUpProcess"/>
    <dgm:cxn modelId="{A0ACCC63-65FB-4E31-B465-B52193F5D0B1}" type="presParOf" srcId="{2DC1450E-41CF-4166-A64C-DB2523976EE6}" destId="{A889D468-81F3-4250-BB42-89FEC3AAB7F1}" srcOrd="8" destOrd="0" presId="urn:microsoft.com/office/officeart/2009/3/layout/StepUpProcess"/>
    <dgm:cxn modelId="{24BCE723-D785-4911-8BA3-B565CD156AF1}" type="presParOf" srcId="{A889D468-81F3-4250-BB42-89FEC3AAB7F1}" destId="{4DEDB585-6166-492D-982B-BC326BFE086B}" srcOrd="0" destOrd="0" presId="urn:microsoft.com/office/officeart/2009/3/layout/StepUpProcess"/>
    <dgm:cxn modelId="{E979C393-E10F-412A-BB63-7BC55DBA8D52}" type="presParOf" srcId="{A889D468-81F3-4250-BB42-89FEC3AAB7F1}" destId="{F0D66743-9A54-475C-A9F2-BD69759F8007}" srcOrd="1" destOrd="0" presId="urn:microsoft.com/office/officeart/2009/3/layout/StepUpProcess"/>
    <dgm:cxn modelId="{0FE12228-3817-480E-BA6D-78FAD52037CF}" type="presParOf" srcId="{A889D468-81F3-4250-BB42-89FEC3AAB7F1}" destId="{8A4A2425-6557-4F75-8281-5C6F8F6DA59F}" srcOrd="2" destOrd="0" presId="urn:microsoft.com/office/officeart/2009/3/layout/StepUpProcess"/>
    <dgm:cxn modelId="{EAF95D10-E48E-45B7-A5B8-ADABFE8A4951}" type="presParOf" srcId="{2DC1450E-41CF-4166-A64C-DB2523976EE6}" destId="{322BB8F6-E5A3-43AD-9547-D047AAB097D3}" srcOrd="9" destOrd="0" presId="urn:microsoft.com/office/officeart/2009/3/layout/StepUpProcess"/>
    <dgm:cxn modelId="{CE860707-86E0-469D-83C4-F302F9EB01C7}" type="presParOf" srcId="{322BB8F6-E5A3-43AD-9547-D047AAB097D3}" destId="{812E3554-B9D9-4B64-99F0-0193B0D71F49}" srcOrd="0" destOrd="0" presId="urn:microsoft.com/office/officeart/2009/3/layout/StepUpProcess"/>
    <dgm:cxn modelId="{240853F9-1F91-4827-B6E3-768249098B8B}" type="presParOf" srcId="{2DC1450E-41CF-4166-A64C-DB2523976EE6}" destId="{57368011-7834-46DD-A17F-0ED070D606EF}" srcOrd="10" destOrd="0" presId="urn:microsoft.com/office/officeart/2009/3/layout/StepUpProcess"/>
    <dgm:cxn modelId="{5B872D7F-1106-49AF-B757-A4E17205C4ED}" type="presParOf" srcId="{57368011-7834-46DD-A17F-0ED070D606EF}" destId="{B4A303C5-E1A3-4AF4-A343-FB4FDCB237EA}" srcOrd="0" destOrd="0" presId="urn:microsoft.com/office/officeart/2009/3/layout/StepUpProcess"/>
    <dgm:cxn modelId="{07E2B556-7FC9-47BD-B560-8D301F0CA2A0}" type="presParOf" srcId="{57368011-7834-46DD-A17F-0ED070D606EF}" destId="{A9BCC5D8-5A68-4F31-9EFB-4DCECCF53E8F}" srcOrd="1" destOrd="0" presId="urn:microsoft.com/office/officeart/2009/3/layout/StepUpProcess"/>
    <dgm:cxn modelId="{C646ADCA-9C54-40B6-ABCA-32E5857079A4}" type="presParOf" srcId="{57368011-7834-46DD-A17F-0ED070D606EF}" destId="{DDA1086D-B78F-41A6-A9D7-7D5FCDCE5AE6}" srcOrd="2" destOrd="0" presId="urn:microsoft.com/office/officeart/2009/3/layout/StepUpProcess"/>
    <dgm:cxn modelId="{6ACBD4C0-2385-4AD2-8FCC-38CDDC18B546}" type="presParOf" srcId="{2DC1450E-41CF-4166-A64C-DB2523976EE6}" destId="{FCE5A6BC-C4C5-4906-8935-220B0B2F31EC}" srcOrd="11" destOrd="0" presId="urn:microsoft.com/office/officeart/2009/3/layout/StepUpProcess"/>
    <dgm:cxn modelId="{9469B086-3559-470C-803E-818F5B9885C6}" type="presParOf" srcId="{FCE5A6BC-C4C5-4906-8935-220B0B2F31EC}" destId="{A6822997-2BF1-4C9C-B6CE-4537A36DFA24}" srcOrd="0" destOrd="0" presId="urn:microsoft.com/office/officeart/2009/3/layout/StepUpProcess"/>
    <dgm:cxn modelId="{611C09F0-D39C-4CA9-98ED-4948B41748C9}" type="presParOf" srcId="{2DC1450E-41CF-4166-A64C-DB2523976EE6}" destId="{52CBD380-CDBE-4A71-B48D-7F5AFAF629B6}" srcOrd="12" destOrd="0" presId="urn:microsoft.com/office/officeart/2009/3/layout/StepUpProcess"/>
    <dgm:cxn modelId="{1FEBF311-346F-4D06-8A2A-4F54329C6E78}" type="presParOf" srcId="{52CBD380-CDBE-4A71-B48D-7F5AFAF629B6}" destId="{B8E645B2-023A-4424-AA11-22069B0DDA99}" srcOrd="0" destOrd="0" presId="urn:microsoft.com/office/officeart/2009/3/layout/StepUpProcess"/>
    <dgm:cxn modelId="{06789C19-42DD-44AB-8A55-9BCB6EFE4F2C}" type="presParOf" srcId="{52CBD380-CDBE-4A71-B48D-7F5AFAF629B6}" destId="{864183EF-002F-4A7E-A39E-20915529845F}" srcOrd="1" destOrd="0" presId="urn:microsoft.com/office/officeart/2009/3/layout/StepUp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8BB9F3C-6414-43A0-AA46-1C20ED29F218}" type="doc">
      <dgm:prSet loTypeId="urn:microsoft.com/office/officeart/2005/8/layout/chevron1" loCatId="process" qsTypeId="urn:microsoft.com/office/officeart/2005/8/quickstyle/simple1" qsCatId="simple" csTypeId="urn:microsoft.com/office/officeart/2005/8/colors/accent1_2" csCatId="accent1" phldr="1"/>
      <dgm:spPr/>
    </dgm:pt>
    <dgm:pt modelId="{2A481881-9FDA-4FA1-9E6E-703404B0FA1E}">
      <dgm:prSet phldrT="[Texto]" custT="1"/>
      <dgm:spPr>
        <a:solidFill>
          <a:srgbClr val="CAD2C5"/>
        </a:solidFill>
        <a:ln>
          <a:solidFill>
            <a:srgbClr val="CAD2C5"/>
          </a:solidFill>
        </a:ln>
        <a:scene3d>
          <a:camera prst="orthographicFront"/>
          <a:lightRig rig="threePt" dir="t"/>
        </a:scene3d>
        <a:sp3d>
          <a:bevelT/>
        </a:sp3d>
      </dgm:spPr>
      <dgm:t>
        <a:bodyPr lIns="72000" rIns="0"/>
        <a:lstStyle/>
        <a:p>
          <a:endParaRPr lang="es-MX" sz="2200" b="1" dirty="0">
            <a:solidFill>
              <a:srgbClr val="131D3F"/>
            </a:solidFill>
            <a:latin typeface="Montserrat" panose="00000500000000000000" pitchFamily="2" charset="0"/>
          </a:endParaRPr>
        </a:p>
      </dgm:t>
    </dgm:pt>
    <dgm:pt modelId="{619EBDBB-2F9C-482D-956D-7BD6BC9647C3}" type="parTrans" cxnId="{48D48A14-5C3A-42AD-A889-E174142CFEC9}">
      <dgm:prSet/>
      <dgm:spPr/>
      <dgm:t>
        <a:bodyPr/>
        <a:lstStyle/>
        <a:p>
          <a:endParaRPr lang="es-MX" sz="2200">
            <a:latin typeface="Montserrat" panose="00000500000000000000" pitchFamily="2" charset="0"/>
          </a:endParaRPr>
        </a:p>
      </dgm:t>
    </dgm:pt>
    <dgm:pt modelId="{D8CAB810-5D28-4509-9A3C-3A3FDF5C7C06}" type="sibTrans" cxnId="{48D48A14-5C3A-42AD-A889-E174142CFEC9}">
      <dgm:prSet/>
      <dgm:spPr/>
      <dgm:t>
        <a:bodyPr/>
        <a:lstStyle/>
        <a:p>
          <a:endParaRPr lang="es-MX" sz="2200">
            <a:latin typeface="Montserrat" panose="00000500000000000000" pitchFamily="2" charset="0"/>
          </a:endParaRPr>
        </a:p>
      </dgm:t>
    </dgm:pt>
    <dgm:pt modelId="{A55992B3-8EA6-47D5-8950-93BF54D62980}">
      <dgm:prSet phldrT="[Texto]" custT="1"/>
      <dgm:spPr>
        <a:solidFill>
          <a:srgbClr val="84A98C"/>
        </a:solidFill>
        <a:ln>
          <a:solidFill>
            <a:srgbClr val="84A98C"/>
          </a:solidFill>
        </a:ln>
        <a:scene3d>
          <a:camera prst="orthographicFront"/>
          <a:lightRig rig="threePt" dir="t"/>
        </a:scene3d>
        <a:sp3d>
          <a:bevelT/>
        </a:sp3d>
      </dgm:spPr>
      <dgm:t>
        <a:bodyPr lIns="72000" rIns="0"/>
        <a:lstStyle/>
        <a:p>
          <a:pPr>
            <a:spcAft>
              <a:spcPts val="0"/>
            </a:spcAft>
          </a:pPr>
          <a:endParaRPr lang="es-MX" sz="2200" b="1" dirty="0">
            <a:latin typeface="Montserrat" panose="00000500000000000000" pitchFamily="2" charset="0"/>
          </a:endParaRPr>
        </a:p>
      </dgm:t>
    </dgm:pt>
    <dgm:pt modelId="{3C3BE1F9-67A3-4579-BA78-4CA1C872D25D}" type="parTrans" cxnId="{26F64FD2-046E-4FE2-8C88-FF3270B8D18F}">
      <dgm:prSet/>
      <dgm:spPr/>
      <dgm:t>
        <a:bodyPr/>
        <a:lstStyle/>
        <a:p>
          <a:endParaRPr lang="es-MX" sz="2200">
            <a:latin typeface="Montserrat" panose="00000500000000000000" pitchFamily="2" charset="0"/>
          </a:endParaRPr>
        </a:p>
      </dgm:t>
    </dgm:pt>
    <dgm:pt modelId="{4AC29E3E-1676-4664-82D0-3440BAE303E3}" type="sibTrans" cxnId="{26F64FD2-046E-4FE2-8C88-FF3270B8D18F}">
      <dgm:prSet/>
      <dgm:spPr/>
      <dgm:t>
        <a:bodyPr/>
        <a:lstStyle/>
        <a:p>
          <a:endParaRPr lang="es-MX" sz="2200">
            <a:latin typeface="Montserrat" panose="00000500000000000000" pitchFamily="2" charset="0"/>
          </a:endParaRPr>
        </a:p>
      </dgm:t>
    </dgm:pt>
    <dgm:pt modelId="{46591D0E-6C76-4082-8CA6-EFC1CBF49E8C}">
      <dgm:prSet phldrT="[Texto]" custT="1"/>
      <dgm:spPr>
        <a:solidFill>
          <a:srgbClr val="2F3E46"/>
        </a:solidFill>
        <a:ln>
          <a:solidFill>
            <a:srgbClr val="2F3E46"/>
          </a:solidFill>
        </a:ln>
        <a:scene3d>
          <a:camera prst="orthographicFront"/>
          <a:lightRig rig="threePt" dir="t"/>
        </a:scene3d>
        <a:sp3d>
          <a:bevelT/>
        </a:sp3d>
      </dgm:spPr>
      <dgm:t>
        <a:bodyPr lIns="72000" rIns="0"/>
        <a:lstStyle/>
        <a:p>
          <a:r>
            <a:rPr lang="es-ES" sz="2200" b="1" dirty="0">
              <a:latin typeface="Montserrat" panose="00000500000000000000" pitchFamily="2" charset="0"/>
            </a:rPr>
            <a:t>Cierre</a:t>
          </a:r>
          <a:endParaRPr lang="es-MX" sz="2200" b="1" dirty="0">
            <a:latin typeface="Montserrat" panose="00000500000000000000" pitchFamily="2" charset="0"/>
          </a:endParaRPr>
        </a:p>
      </dgm:t>
    </dgm:pt>
    <dgm:pt modelId="{F3E18087-17A0-4988-AD62-F5A68919A8E4}" type="parTrans" cxnId="{1731FAC2-82E4-48E5-A774-D3FA562CF141}">
      <dgm:prSet/>
      <dgm:spPr/>
      <dgm:t>
        <a:bodyPr/>
        <a:lstStyle/>
        <a:p>
          <a:endParaRPr lang="es-MX" sz="2200">
            <a:latin typeface="Montserrat" panose="00000500000000000000" pitchFamily="2" charset="0"/>
          </a:endParaRPr>
        </a:p>
      </dgm:t>
    </dgm:pt>
    <dgm:pt modelId="{9BF51D80-4454-4372-AEB2-D96EF2121BD2}" type="sibTrans" cxnId="{1731FAC2-82E4-48E5-A774-D3FA562CF141}">
      <dgm:prSet/>
      <dgm:spPr/>
      <dgm:t>
        <a:bodyPr/>
        <a:lstStyle/>
        <a:p>
          <a:endParaRPr lang="es-MX" sz="2200">
            <a:latin typeface="Montserrat" panose="00000500000000000000" pitchFamily="2" charset="0"/>
          </a:endParaRPr>
        </a:p>
      </dgm:t>
    </dgm:pt>
    <dgm:pt modelId="{CFD0B84D-2B2D-4050-A7E7-3B0725991FB6}">
      <dgm:prSet phldrT="[Texto]" custT="1"/>
      <dgm:spPr>
        <a:solidFill>
          <a:srgbClr val="52796F"/>
        </a:solidFill>
        <a:ln>
          <a:solidFill>
            <a:srgbClr val="52796F"/>
          </a:solidFill>
        </a:ln>
        <a:scene3d>
          <a:camera prst="orthographicFront"/>
          <a:lightRig rig="threePt" dir="t"/>
        </a:scene3d>
        <a:sp3d>
          <a:bevelT/>
        </a:sp3d>
      </dgm:spPr>
      <dgm:t>
        <a:bodyPr lIns="72000" rIns="0"/>
        <a:lstStyle/>
        <a:p>
          <a:endParaRPr lang="es-MX" sz="2200" b="1" dirty="0">
            <a:latin typeface="Montserrat" panose="00000500000000000000" pitchFamily="2" charset="0"/>
          </a:endParaRPr>
        </a:p>
      </dgm:t>
    </dgm:pt>
    <dgm:pt modelId="{16C8DE24-3D45-4FBB-8DFC-5ED89BF80C39}" type="parTrans" cxnId="{D12E47B4-2588-4B57-8900-D4093368B432}">
      <dgm:prSet/>
      <dgm:spPr/>
      <dgm:t>
        <a:bodyPr/>
        <a:lstStyle/>
        <a:p>
          <a:endParaRPr lang="es-MX" sz="2200">
            <a:latin typeface="Montserrat" panose="00000500000000000000" pitchFamily="2" charset="0"/>
          </a:endParaRPr>
        </a:p>
      </dgm:t>
    </dgm:pt>
    <dgm:pt modelId="{84C9692B-7C61-4AE0-977F-514E29DFD4C8}" type="sibTrans" cxnId="{D12E47B4-2588-4B57-8900-D4093368B432}">
      <dgm:prSet/>
      <dgm:spPr/>
      <dgm:t>
        <a:bodyPr/>
        <a:lstStyle/>
        <a:p>
          <a:endParaRPr lang="es-MX" sz="2200">
            <a:latin typeface="Montserrat" panose="00000500000000000000" pitchFamily="2" charset="0"/>
          </a:endParaRPr>
        </a:p>
      </dgm:t>
    </dgm:pt>
    <dgm:pt modelId="{AB4FA809-5A5D-467B-9A0D-F6E206D36E7D}">
      <dgm:prSet phldrT="[Texto]" custT="1"/>
      <dgm:spPr>
        <a:solidFill>
          <a:srgbClr val="354F52"/>
        </a:solidFill>
        <a:ln>
          <a:solidFill>
            <a:srgbClr val="354F52"/>
          </a:solidFill>
        </a:ln>
        <a:scene3d>
          <a:camera prst="orthographicFront"/>
          <a:lightRig rig="threePt" dir="t"/>
        </a:scene3d>
        <a:sp3d>
          <a:bevelT/>
        </a:sp3d>
      </dgm:spPr>
      <dgm:t>
        <a:bodyPr lIns="72000" rIns="0"/>
        <a:lstStyle/>
        <a:p>
          <a:endParaRPr lang="es-MX" sz="2200" b="1" dirty="0">
            <a:latin typeface="Montserrat" panose="00000500000000000000" pitchFamily="2" charset="0"/>
          </a:endParaRPr>
        </a:p>
      </dgm:t>
    </dgm:pt>
    <dgm:pt modelId="{E19B4763-BB12-4221-B931-7B560E6EEC06}" type="parTrans" cxnId="{454D70B7-2C54-4E44-B71A-8C5CC74C076E}">
      <dgm:prSet/>
      <dgm:spPr/>
      <dgm:t>
        <a:bodyPr/>
        <a:lstStyle/>
        <a:p>
          <a:endParaRPr lang="es-MX" sz="2200">
            <a:latin typeface="Montserrat" panose="00000500000000000000" pitchFamily="2" charset="0"/>
          </a:endParaRPr>
        </a:p>
      </dgm:t>
    </dgm:pt>
    <dgm:pt modelId="{DD844231-A820-4239-924A-2622E29E3CE5}" type="sibTrans" cxnId="{454D70B7-2C54-4E44-B71A-8C5CC74C076E}">
      <dgm:prSet/>
      <dgm:spPr/>
      <dgm:t>
        <a:bodyPr/>
        <a:lstStyle/>
        <a:p>
          <a:endParaRPr lang="es-MX" sz="2200">
            <a:latin typeface="Montserrat" panose="00000500000000000000" pitchFamily="2" charset="0"/>
          </a:endParaRPr>
        </a:p>
      </dgm:t>
    </dgm:pt>
    <dgm:pt modelId="{34B99F1B-F1D5-4635-AABE-5A77ED2400A4}" type="pres">
      <dgm:prSet presAssocID="{68BB9F3C-6414-43A0-AA46-1C20ED29F218}" presName="Name0" presStyleCnt="0">
        <dgm:presLayoutVars>
          <dgm:dir/>
          <dgm:animLvl val="lvl"/>
          <dgm:resizeHandles val="exact"/>
        </dgm:presLayoutVars>
      </dgm:prSet>
      <dgm:spPr/>
    </dgm:pt>
    <dgm:pt modelId="{90C8C16E-067B-44A5-81B1-EE28450CAEF7}" type="pres">
      <dgm:prSet presAssocID="{2A481881-9FDA-4FA1-9E6E-703404B0FA1E}" presName="parTxOnly" presStyleLbl="node1" presStyleIdx="0" presStyleCnt="5">
        <dgm:presLayoutVars>
          <dgm:chMax val="0"/>
          <dgm:chPref val="0"/>
          <dgm:bulletEnabled val="1"/>
        </dgm:presLayoutVars>
      </dgm:prSet>
      <dgm:spPr/>
    </dgm:pt>
    <dgm:pt modelId="{28C111CE-A359-4E4A-A265-2B3C1A0062FC}" type="pres">
      <dgm:prSet presAssocID="{D8CAB810-5D28-4509-9A3C-3A3FDF5C7C06}" presName="parTxOnlySpace" presStyleCnt="0"/>
      <dgm:spPr>
        <a:scene3d>
          <a:camera prst="orthographicFront"/>
          <a:lightRig rig="threePt" dir="t"/>
        </a:scene3d>
        <a:sp3d>
          <a:bevelT/>
        </a:sp3d>
      </dgm:spPr>
    </dgm:pt>
    <dgm:pt modelId="{3F975E1E-7347-46B9-82CF-956BCD3091BA}" type="pres">
      <dgm:prSet presAssocID="{A55992B3-8EA6-47D5-8950-93BF54D62980}" presName="parTxOnly" presStyleLbl="node1" presStyleIdx="1" presStyleCnt="5">
        <dgm:presLayoutVars>
          <dgm:chMax val="0"/>
          <dgm:chPref val="0"/>
          <dgm:bulletEnabled val="1"/>
        </dgm:presLayoutVars>
      </dgm:prSet>
      <dgm:spPr/>
    </dgm:pt>
    <dgm:pt modelId="{3EE18007-E9AF-4BDE-B6DA-3DA8B1F3A0B8}" type="pres">
      <dgm:prSet presAssocID="{4AC29E3E-1676-4664-82D0-3440BAE303E3}" presName="parTxOnlySpace" presStyleCnt="0"/>
      <dgm:spPr>
        <a:scene3d>
          <a:camera prst="orthographicFront"/>
          <a:lightRig rig="threePt" dir="t"/>
        </a:scene3d>
        <a:sp3d>
          <a:bevelT/>
        </a:sp3d>
      </dgm:spPr>
    </dgm:pt>
    <dgm:pt modelId="{906A790E-97E2-44C0-94BD-F77E8D2304CA}" type="pres">
      <dgm:prSet presAssocID="{CFD0B84D-2B2D-4050-A7E7-3B0725991FB6}" presName="parTxOnly" presStyleLbl="node1" presStyleIdx="2" presStyleCnt="5">
        <dgm:presLayoutVars>
          <dgm:chMax val="0"/>
          <dgm:chPref val="0"/>
          <dgm:bulletEnabled val="1"/>
        </dgm:presLayoutVars>
      </dgm:prSet>
      <dgm:spPr/>
    </dgm:pt>
    <dgm:pt modelId="{E69D32C8-E84C-46EA-B20F-9ABB00967B8B}" type="pres">
      <dgm:prSet presAssocID="{84C9692B-7C61-4AE0-977F-514E29DFD4C8}" presName="parTxOnlySpace" presStyleCnt="0"/>
      <dgm:spPr>
        <a:scene3d>
          <a:camera prst="orthographicFront"/>
          <a:lightRig rig="threePt" dir="t"/>
        </a:scene3d>
        <a:sp3d>
          <a:bevelT/>
        </a:sp3d>
      </dgm:spPr>
    </dgm:pt>
    <dgm:pt modelId="{5E4653E9-AB45-4F1B-A55C-EF8756702BAB}" type="pres">
      <dgm:prSet presAssocID="{AB4FA809-5A5D-467B-9A0D-F6E206D36E7D}" presName="parTxOnly" presStyleLbl="node1" presStyleIdx="3" presStyleCnt="5">
        <dgm:presLayoutVars>
          <dgm:chMax val="0"/>
          <dgm:chPref val="0"/>
          <dgm:bulletEnabled val="1"/>
        </dgm:presLayoutVars>
      </dgm:prSet>
      <dgm:spPr/>
    </dgm:pt>
    <dgm:pt modelId="{53379383-3833-41E6-9796-07FDFFFF0AE5}" type="pres">
      <dgm:prSet presAssocID="{DD844231-A820-4239-924A-2622E29E3CE5}" presName="parTxOnlySpace" presStyleCnt="0"/>
      <dgm:spPr>
        <a:scene3d>
          <a:camera prst="orthographicFront"/>
          <a:lightRig rig="threePt" dir="t"/>
        </a:scene3d>
        <a:sp3d>
          <a:bevelT/>
        </a:sp3d>
      </dgm:spPr>
    </dgm:pt>
    <dgm:pt modelId="{EA2EBE62-BAE0-416E-9847-12AD04F48DB8}" type="pres">
      <dgm:prSet presAssocID="{46591D0E-6C76-4082-8CA6-EFC1CBF49E8C}" presName="parTxOnly" presStyleLbl="node1" presStyleIdx="4" presStyleCnt="5">
        <dgm:presLayoutVars>
          <dgm:chMax val="0"/>
          <dgm:chPref val="0"/>
          <dgm:bulletEnabled val="1"/>
        </dgm:presLayoutVars>
      </dgm:prSet>
      <dgm:spPr/>
    </dgm:pt>
  </dgm:ptLst>
  <dgm:cxnLst>
    <dgm:cxn modelId="{48D48A14-5C3A-42AD-A889-E174142CFEC9}" srcId="{68BB9F3C-6414-43A0-AA46-1C20ED29F218}" destId="{2A481881-9FDA-4FA1-9E6E-703404B0FA1E}" srcOrd="0" destOrd="0" parTransId="{619EBDBB-2F9C-482D-956D-7BD6BC9647C3}" sibTransId="{D8CAB810-5D28-4509-9A3C-3A3FDF5C7C06}"/>
    <dgm:cxn modelId="{5D123539-11AB-4006-A420-DC1D1C09EA56}" type="presOf" srcId="{2A481881-9FDA-4FA1-9E6E-703404B0FA1E}" destId="{90C8C16E-067B-44A5-81B1-EE28450CAEF7}" srcOrd="0" destOrd="0" presId="urn:microsoft.com/office/officeart/2005/8/layout/chevron1"/>
    <dgm:cxn modelId="{EB005161-0FD0-4E3A-B087-941A2635E675}" type="presOf" srcId="{68BB9F3C-6414-43A0-AA46-1C20ED29F218}" destId="{34B99F1B-F1D5-4635-AABE-5A77ED2400A4}" srcOrd="0" destOrd="0" presId="urn:microsoft.com/office/officeart/2005/8/layout/chevron1"/>
    <dgm:cxn modelId="{EA60BC73-E3C9-4591-90D2-4BFB64FBDA68}" type="presOf" srcId="{AB4FA809-5A5D-467B-9A0D-F6E206D36E7D}" destId="{5E4653E9-AB45-4F1B-A55C-EF8756702BAB}" srcOrd="0" destOrd="0" presId="urn:microsoft.com/office/officeart/2005/8/layout/chevron1"/>
    <dgm:cxn modelId="{FAF0CF98-157E-44FF-B584-276BE09E1814}" type="presOf" srcId="{46591D0E-6C76-4082-8CA6-EFC1CBF49E8C}" destId="{EA2EBE62-BAE0-416E-9847-12AD04F48DB8}" srcOrd="0" destOrd="0" presId="urn:microsoft.com/office/officeart/2005/8/layout/chevron1"/>
    <dgm:cxn modelId="{D12E47B4-2588-4B57-8900-D4093368B432}" srcId="{68BB9F3C-6414-43A0-AA46-1C20ED29F218}" destId="{CFD0B84D-2B2D-4050-A7E7-3B0725991FB6}" srcOrd="2" destOrd="0" parTransId="{16C8DE24-3D45-4FBB-8DFC-5ED89BF80C39}" sibTransId="{84C9692B-7C61-4AE0-977F-514E29DFD4C8}"/>
    <dgm:cxn modelId="{454D70B7-2C54-4E44-B71A-8C5CC74C076E}" srcId="{68BB9F3C-6414-43A0-AA46-1C20ED29F218}" destId="{AB4FA809-5A5D-467B-9A0D-F6E206D36E7D}" srcOrd="3" destOrd="0" parTransId="{E19B4763-BB12-4221-B931-7B560E6EEC06}" sibTransId="{DD844231-A820-4239-924A-2622E29E3CE5}"/>
    <dgm:cxn modelId="{1731FAC2-82E4-48E5-A774-D3FA562CF141}" srcId="{68BB9F3C-6414-43A0-AA46-1C20ED29F218}" destId="{46591D0E-6C76-4082-8CA6-EFC1CBF49E8C}" srcOrd="4" destOrd="0" parTransId="{F3E18087-17A0-4988-AD62-F5A68919A8E4}" sibTransId="{9BF51D80-4454-4372-AEB2-D96EF2121BD2}"/>
    <dgm:cxn modelId="{26F64FD2-046E-4FE2-8C88-FF3270B8D18F}" srcId="{68BB9F3C-6414-43A0-AA46-1C20ED29F218}" destId="{A55992B3-8EA6-47D5-8950-93BF54D62980}" srcOrd="1" destOrd="0" parTransId="{3C3BE1F9-67A3-4579-BA78-4CA1C872D25D}" sibTransId="{4AC29E3E-1676-4664-82D0-3440BAE303E3}"/>
    <dgm:cxn modelId="{C98A55D7-15F7-4ED9-95A4-7CDEA2EE58B3}" type="presOf" srcId="{A55992B3-8EA6-47D5-8950-93BF54D62980}" destId="{3F975E1E-7347-46B9-82CF-956BCD3091BA}" srcOrd="0" destOrd="0" presId="urn:microsoft.com/office/officeart/2005/8/layout/chevron1"/>
    <dgm:cxn modelId="{1611F1E2-8DFF-4EEF-80D2-D5B3B44109B7}" type="presOf" srcId="{CFD0B84D-2B2D-4050-A7E7-3B0725991FB6}" destId="{906A790E-97E2-44C0-94BD-F77E8D2304CA}" srcOrd="0" destOrd="0" presId="urn:microsoft.com/office/officeart/2005/8/layout/chevron1"/>
    <dgm:cxn modelId="{DEEBDA55-A224-4319-8641-B8912E47B7C9}" type="presParOf" srcId="{34B99F1B-F1D5-4635-AABE-5A77ED2400A4}" destId="{90C8C16E-067B-44A5-81B1-EE28450CAEF7}" srcOrd="0" destOrd="0" presId="urn:microsoft.com/office/officeart/2005/8/layout/chevron1"/>
    <dgm:cxn modelId="{419C0AEC-E5AF-443B-AB4A-FAAC84445F17}" type="presParOf" srcId="{34B99F1B-F1D5-4635-AABE-5A77ED2400A4}" destId="{28C111CE-A359-4E4A-A265-2B3C1A0062FC}" srcOrd="1" destOrd="0" presId="urn:microsoft.com/office/officeart/2005/8/layout/chevron1"/>
    <dgm:cxn modelId="{6A3EF406-3D78-49EC-8725-3BD29E6DA531}" type="presParOf" srcId="{34B99F1B-F1D5-4635-AABE-5A77ED2400A4}" destId="{3F975E1E-7347-46B9-82CF-956BCD3091BA}" srcOrd="2" destOrd="0" presId="urn:microsoft.com/office/officeart/2005/8/layout/chevron1"/>
    <dgm:cxn modelId="{CB9C7746-005C-4D2C-8F2F-088C0CCDBC27}" type="presParOf" srcId="{34B99F1B-F1D5-4635-AABE-5A77ED2400A4}" destId="{3EE18007-E9AF-4BDE-B6DA-3DA8B1F3A0B8}" srcOrd="3" destOrd="0" presId="urn:microsoft.com/office/officeart/2005/8/layout/chevron1"/>
    <dgm:cxn modelId="{76E4DFE8-2C00-4954-88CD-3EAC841677C4}" type="presParOf" srcId="{34B99F1B-F1D5-4635-AABE-5A77ED2400A4}" destId="{906A790E-97E2-44C0-94BD-F77E8D2304CA}" srcOrd="4" destOrd="0" presId="urn:microsoft.com/office/officeart/2005/8/layout/chevron1"/>
    <dgm:cxn modelId="{9F90F981-462B-4264-B42A-704BDFE56996}" type="presParOf" srcId="{34B99F1B-F1D5-4635-AABE-5A77ED2400A4}" destId="{E69D32C8-E84C-46EA-B20F-9ABB00967B8B}" srcOrd="5" destOrd="0" presId="urn:microsoft.com/office/officeart/2005/8/layout/chevron1"/>
    <dgm:cxn modelId="{446EEDCD-20CF-4984-8F2C-7FB4E58B65EF}" type="presParOf" srcId="{34B99F1B-F1D5-4635-AABE-5A77ED2400A4}" destId="{5E4653E9-AB45-4F1B-A55C-EF8756702BAB}" srcOrd="6" destOrd="0" presId="urn:microsoft.com/office/officeart/2005/8/layout/chevron1"/>
    <dgm:cxn modelId="{07DC5C6A-2821-4047-9822-DC3CAC55D4A7}" type="presParOf" srcId="{34B99F1B-F1D5-4635-AABE-5A77ED2400A4}" destId="{53379383-3833-41E6-9796-07FDFFFF0AE5}" srcOrd="7" destOrd="0" presId="urn:microsoft.com/office/officeart/2005/8/layout/chevron1"/>
    <dgm:cxn modelId="{6E5779F4-80F1-47BE-95A4-5D56C82FEEF3}" type="presParOf" srcId="{34B99F1B-F1D5-4635-AABE-5A77ED2400A4}" destId="{EA2EBE62-BAE0-416E-9847-12AD04F48DB8}"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43F403B-B745-4841-B550-BA501C2D7F99}"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MX"/>
        </a:p>
      </dgm:t>
    </dgm:pt>
    <dgm:pt modelId="{FF85DFE5-E889-4E60-90E1-3AA292702D70}">
      <dgm:prSet phldrT="[Texto]" custT="1"/>
      <dgm:spPr>
        <a:solidFill>
          <a:srgbClr val="CAD2C5"/>
        </a:solidFill>
        <a:ln>
          <a:solidFill>
            <a:srgbClr val="CAD2C5"/>
          </a:solidFill>
        </a:ln>
        <a:scene3d>
          <a:camera prst="orthographicFront"/>
          <a:lightRig rig="threePt" dir="t"/>
        </a:scene3d>
        <a:sp3d>
          <a:bevelT/>
        </a:sp3d>
      </dgm:spPr>
      <dgm:t>
        <a:bodyPr lIns="0" tIns="0" rIns="0" bIns="0"/>
        <a:lstStyle/>
        <a:p>
          <a:endParaRPr lang="es-MX" sz="900" dirty="0">
            <a:latin typeface="Montserrat" panose="00000500000000000000" pitchFamily="2" charset="0"/>
          </a:endParaRPr>
        </a:p>
      </dgm:t>
    </dgm:pt>
    <dgm:pt modelId="{42D34C3F-954D-4DFE-830F-B8A9752C4761}" type="parTrans" cxnId="{AF3FFB49-5C44-48C2-989B-DE7B56BBFD2C}">
      <dgm:prSet/>
      <dgm:spPr/>
      <dgm:t>
        <a:bodyPr/>
        <a:lstStyle/>
        <a:p>
          <a:endParaRPr lang="es-MX" sz="900">
            <a:latin typeface="Montserrat" panose="00000500000000000000" pitchFamily="2" charset="0"/>
          </a:endParaRPr>
        </a:p>
      </dgm:t>
    </dgm:pt>
    <dgm:pt modelId="{9E3961C9-DA58-46A0-A5F9-A89A23C3FCC1}" type="sibTrans" cxnId="{AF3FFB49-5C44-48C2-989B-DE7B56BBFD2C}">
      <dgm:prSet custT="1"/>
      <dgm:spPr>
        <a:solidFill>
          <a:srgbClr val="2F3E46"/>
        </a:solidFill>
        <a:scene3d>
          <a:camera prst="orthographicFront"/>
          <a:lightRig rig="threePt" dir="t"/>
        </a:scene3d>
        <a:sp3d>
          <a:bevelT/>
        </a:sp3d>
      </dgm:spPr>
      <dgm:t>
        <a:bodyPr/>
        <a:lstStyle/>
        <a:p>
          <a:endParaRPr lang="es-MX" sz="900">
            <a:latin typeface="Montserrat" panose="00000500000000000000" pitchFamily="2" charset="0"/>
          </a:endParaRPr>
        </a:p>
      </dgm:t>
    </dgm:pt>
    <dgm:pt modelId="{408321DD-0003-4464-AA13-78D8A9266E87}">
      <dgm:prSet phldrT="[Texto]" custT="1"/>
      <dgm:spPr>
        <a:solidFill>
          <a:srgbClr val="84A98C"/>
        </a:solidFill>
        <a:ln>
          <a:solidFill>
            <a:srgbClr val="84A98C"/>
          </a:solidFill>
        </a:ln>
        <a:scene3d>
          <a:camera prst="orthographicFront"/>
          <a:lightRig rig="threePt" dir="t"/>
        </a:scene3d>
        <a:sp3d>
          <a:bevelT/>
        </a:sp3d>
      </dgm:spPr>
      <dgm:t>
        <a:bodyPr lIns="0" tIns="0" rIns="0" bIns="0"/>
        <a:lstStyle/>
        <a:p>
          <a:endParaRPr lang="es-MX" sz="900" dirty="0">
            <a:latin typeface="Montserrat" panose="00000500000000000000" pitchFamily="2" charset="0"/>
          </a:endParaRPr>
        </a:p>
      </dgm:t>
    </dgm:pt>
    <dgm:pt modelId="{4DA8A6D8-F7E8-4A1F-80CA-5000D635FF04}" type="parTrans" cxnId="{5DF39E50-0E4C-41FD-95E5-1B27F090314E}">
      <dgm:prSet/>
      <dgm:spPr/>
      <dgm:t>
        <a:bodyPr/>
        <a:lstStyle/>
        <a:p>
          <a:endParaRPr lang="es-MX" sz="900">
            <a:latin typeface="Montserrat" panose="00000500000000000000" pitchFamily="2" charset="0"/>
          </a:endParaRPr>
        </a:p>
      </dgm:t>
    </dgm:pt>
    <dgm:pt modelId="{5B4A5773-D40E-4972-B4F0-A89A72EDD465}" type="sibTrans" cxnId="{5DF39E50-0E4C-41FD-95E5-1B27F090314E}">
      <dgm:prSet custT="1"/>
      <dgm:spPr>
        <a:solidFill>
          <a:srgbClr val="2F3E46"/>
        </a:solidFill>
        <a:scene3d>
          <a:camera prst="orthographicFront"/>
          <a:lightRig rig="threePt" dir="t"/>
        </a:scene3d>
        <a:sp3d>
          <a:bevelT/>
        </a:sp3d>
      </dgm:spPr>
      <dgm:t>
        <a:bodyPr/>
        <a:lstStyle/>
        <a:p>
          <a:endParaRPr lang="es-MX" sz="900">
            <a:latin typeface="Montserrat" panose="00000500000000000000" pitchFamily="2" charset="0"/>
          </a:endParaRPr>
        </a:p>
      </dgm:t>
    </dgm:pt>
    <dgm:pt modelId="{978029CA-B7E8-48B9-917B-9017B35921EC}">
      <dgm:prSet phldrT="[Texto]" custT="1"/>
      <dgm:spPr>
        <a:solidFill>
          <a:srgbClr val="52796F"/>
        </a:solidFill>
        <a:ln>
          <a:solidFill>
            <a:srgbClr val="52796F"/>
          </a:solidFill>
        </a:ln>
        <a:scene3d>
          <a:camera prst="orthographicFront"/>
          <a:lightRig rig="threePt" dir="t"/>
        </a:scene3d>
        <a:sp3d>
          <a:bevelT/>
        </a:sp3d>
      </dgm:spPr>
      <dgm:t>
        <a:bodyPr lIns="0" tIns="0" rIns="0" bIns="0"/>
        <a:lstStyle/>
        <a:p>
          <a:endParaRPr lang="es-MX" sz="900" dirty="0">
            <a:latin typeface="Montserrat" panose="00000500000000000000" pitchFamily="2" charset="0"/>
          </a:endParaRPr>
        </a:p>
      </dgm:t>
    </dgm:pt>
    <dgm:pt modelId="{836438D0-ED8B-49C2-BFC9-260B7B30F6CA}" type="parTrans" cxnId="{C2FC3840-752F-446D-9AC0-AA1688375767}">
      <dgm:prSet/>
      <dgm:spPr/>
      <dgm:t>
        <a:bodyPr/>
        <a:lstStyle/>
        <a:p>
          <a:endParaRPr lang="es-MX" sz="900">
            <a:latin typeface="Montserrat" panose="00000500000000000000" pitchFamily="2" charset="0"/>
          </a:endParaRPr>
        </a:p>
      </dgm:t>
    </dgm:pt>
    <dgm:pt modelId="{FBE67F3D-435B-47AE-B3F9-FFF655DA4925}" type="sibTrans" cxnId="{C2FC3840-752F-446D-9AC0-AA1688375767}">
      <dgm:prSet custT="1"/>
      <dgm:spPr>
        <a:solidFill>
          <a:srgbClr val="2F3E46"/>
        </a:solidFill>
        <a:scene3d>
          <a:camera prst="orthographicFront"/>
          <a:lightRig rig="threePt" dir="t"/>
        </a:scene3d>
        <a:sp3d>
          <a:bevelT/>
        </a:sp3d>
      </dgm:spPr>
      <dgm:t>
        <a:bodyPr/>
        <a:lstStyle/>
        <a:p>
          <a:endParaRPr lang="es-MX" sz="900">
            <a:latin typeface="Montserrat" panose="00000500000000000000" pitchFamily="2" charset="0"/>
          </a:endParaRPr>
        </a:p>
      </dgm:t>
    </dgm:pt>
    <dgm:pt modelId="{EF4585A0-E7CA-455E-B034-127E40C9B5F9}">
      <dgm:prSet phldrT="[Texto]" custT="1"/>
      <dgm:spPr>
        <a:solidFill>
          <a:srgbClr val="354F52"/>
        </a:solidFill>
        <a:ln>
          <a:solidFill>
            <a:srgbClr val="354F52"/>
          </a:solidFill>
        </a:ln>
        <a:scene3d>
          <a:camera prst="orthographicFront"/>
          <a:lightRig rig="threePt" dir="t"/>
        </a:scene3d>
        <a:sp3d>
          <a:bevelT/>
        </a:sp3d>
      </dgm:spPr>
      <dgm:t>
        <a:bodyPr lIns="0" tIns="0" rIns="0" bIns="0"/>
        <a:lstStyle/>
        <a:p>
          <a:endParaRPr lang="es-MX" sz="900" dirty="0">
            <a:latin typeface="Montserrat" panose="00000500000000000000" pitchFamily="2" charset="0"/>
          </a:endParaRPr>
        </a:p>
      </dgm:t>
    </dgm:pt>
    <dgm:pt modelId="{26093DA6-3F89-4E98-A23B-BA2A74016FF3}" type="parTrans" cxnId="{2193B80A-61C4-46B2-83A4-704FEE3950ED}">
      <dgm:prSet/>
      <dgm:spPr/>
      <dgm:t>
        <a:bodyPr/>
        <a:lstStyle/>
        <a:p>
          <a:endParaRPr lang="es-MX" sz="900">
            <a:latin typeface="Montserrat" panose="00000500000000000000" pitchFamily="2" charset="0"/>
          </a:endParaRPr>
        </a:p>
      </dgm:t>
    </dgm:pt>
    <dgm:pt modelId="{BAE56720-A180-4820-A0D8-82362BA52877}" type="sibTrans" cxnId="{2193B80A-61C4-46B2-83A4-704FEE3950ED}">
      <dgm:prSet custT="1"/>
      <dgm:spPr>
        <a:solidFill>
          <a:srgbClr val="2F3E46"/>
        </a:solidFill>
        <a:scene3d>
          <a:camera prst="orthographicFront"/>
          <a:lightRig rig="threePt" dir="t"/>
        </a:scene3d>
        <a:sp3d>
          <a:bevelT/>
        </a:sp3d>
      </dgm:spPr>
      <dgm:t>
        <a:bodyPr/>
        <a:lstStyle/>
        <a:p>
          <a:endParaRPr lang="es-MX" sz="900">
            <a:latin typeface="Montserrat" panose="00000500000000000000" pitchFamily="2" charset="0"/>
          </a:endParaRPr>
        </a:p>
      </dgm:t>
    </dgm:pt>
    <dgm:pt modelId="{326CF7AC-1FD7-4B2F-88BC-B876AC0AE764}">
      <dgm:prSet phldrT="[Texto]" custT="1"/>
      <dgm:spPr>
        <a:solidFill>
          <a:srgbClr val="2F3E46"/>
        </a:solidFill>
        <a:ln>
          <a:solidFill>
            <a:srgbClr val="2F3E46"/>
          </a:solidFill>
        </a:ln>
        <a:scene3d>
          <a:camera prst="orthographicFront"/>
          <a:lightRig rig="threePt" dir="t"/>
        </a:scene3d>
        <a:sp3d>
          <a:bevelT/>
        </a:sp3d>
      </dgm:spPr>
      <dgm:t>
        <a:bodyPr lIns="0" tIns="0" rIns="0" bIns="0"/>
        <a:lstStyle/>
        <a:p>
          <a:endParaRPr lang="es-MX" sz="900" dirty="0">
            <a:latin typeface="Montserrat" panose="00000500000000000000" pitchFamily="2" charset="0"/>
          </a:endParaRPr>
        </a:p>
      </dgm:t>
    </dgm:pt>
    <dgm:pt modelId="{6645BFE6-3ED6-4A63-9A34-A98EE0CA7675}" type="parTrans" cxnId="{6C78555E-1668-4C87-AF91-1F168809593B}">
      <dgm:prSet/>
      <dgm:spPr/>
      <dgm:t>
        <a:bodyPr/>
        <a:lstStyle/>
        <a:p>
          <a:endParaRPr lang="es-MX" sz="900">
            <a:latin typeface="Montserrat" panose="00000500000000000000" pitchFamily="2" charset="0"/>
          </a:endParaRPr>
        </a:p>
      </dgm:t>
    </dgm:pt>
    <dgm:pt modelId="{C6682E69-5A73-43B0-AFA3-D06F86F1E2FA}" type="sibTrans" cxnId="{6C78555E-1668-4C87-AF91-1F168809593B}">
      <dgm:prSet custT="1"/>
      <dgm:spPr>
        <a:solidFill>
          <a:srgbClr val="2F3E46"/>
        </a:solidFill>
        <a:scene3d>
          <a:camera prst="orthographicFront"/>
          <a:lightRig rig="threePt" dir="t"/>
        </a:scene3d>
        <a:sp3d>
          <a:bevelT/>
        </a:sp3d>
      </dgm:spPr>
      <dgm:t>
        <a:bodyPr/>
        <a:lstStyle/>
        <a:p>
          <a:endParaRPr lang="es-MX" sz="900">
            <a:latin typeface="Montserrat" panose="00000500000000000000" pitchFamily="2" charset="0"/>
          </a:endParaRPr>
        </a:p>
      </dgm:t>
    </dgm:pt>
    <dgm:pt modelId="{B770A4AE-9FB5-4EDF-AC0A-ADD540B00659}" type="pres">
      <dgm:prSet presAssocID="{A43F403B-B745-4841-B550-BA501C2D7F99}" presName="cycle" presStyleCnt="0">
        <dgm:presLayoutVars>
          <dgm:dir/>
          <dgm:resizeHandles val="exact"/>
        </dgm:presLayoutVars>
      </dgm:prSet>
      <dgm:spPr/>
    </dgm:pt>
    <dgm:pt modelId="{944787E2-B806-4390-BCC0-A81841A2D4BF}" type="pres">
      <dgm:prSet presAssocID="{FF85DFE5-E889-4E60-90E1-3AA292702D70}" presName="node" presStyleLbl="node1" presStyleIdx="0" presStyleCnt="5">
        <dgm:presLayoutVars>
          <dgm:bulletEnabled val="1"/>
        </dgm:presLayoutVars>
      </dgm:prSet>
      <dgm:spPr/>
    </dgm:pt>
    <dgm:pt modelId="{90DBA541-8DFB-4D14-8545-2CFCD371466C}" type="pres">
      <dgm:prSet presAssocID="{9E3961C9-DA58-46A0-A5F9-A89A23C3FCC1}" presName="sibTrans" presStyleLbl="sibTrans2D1" presStyleIdx="0" presStyleCnt="5"/>
      <dgm:spPr/>
    </dgm:pt>
    <dgm:pt modelId="{90EBCDB0-667C-4CC6-B1B8-E5F43BA2ABF1}" type="pres">
      <dgm:prSet presAssocID="{9E3961C9-DA58-46A0-A5F9-A89A23C3FCC1}" presName="connectorText" presStyleLbl="sibTrans2D1" presStyleIdx="0" presStyleCnt="5"/>
      <dgm:spPr/>
    </dgm:pt>
    <dgm:pt modelId="{F5CC90EB-9891-4BB2-ACE8-4090FFFF47DF}" type="pres">
      <dgm:prSet presAssocID="{408321DD-0003-4464-AA13-78D8A9266E87}" presName="node" presStyleLbl="node1" presStyleIdx="1" presStyleCnt="5">
        <dgm:presLayoutVars>
          <dgm:bulletEnabled val="1"/>
        </dgm:presLayoutVars>
      </dgm:prSet>
      <dgm:spPr/>
    </dgm:pt>
    <dgm:pt modelId="{8174F6FD-77F1-48CD-80E6-01A5E0131461}" type="pres">
      <dgm:prSet presAssocID="{5B4A5773-D40E-4972-B4F0-A89A72EDD465}" presName="sibTrans" presStyleLbl="sibTrans2D1" presStyleIdx="1" presStyleCnt="5"/>
      <dgm:spPr/>
    </dgm:pt>
    <dgm:pt modelId="{759A6D48-4E83-496A-8AF4-81919B80B7B1}" type="pres">
      <dgm:prSet presAssocID="{5B4A5773-D40E-4972-B4F0-A89A72EDD465}" presName="connectorText" presStyleLbl="sibTrans2D1" presStyleIdx="1" presStyleCnt="5"/>
      <dgm:spPr/>
    </dgm:pt>
    <dgm:pt modelId="{5C5AE728-0FDF-4E14-8B37-5FC4D3D2C1B9}" type="pres">
      <dgm:prSet presAssocID="{978029CA-B7E8-48B9-917B-9017B35921EC}" presName="node" presStyleLbl="node1" presStyleIdx="2" presStyleCnt="5">
        <dgm:presLayoutVars>
          <dgm:bulletEnabled val="1"/>
        </dgm:presLayoutVars>
      </dgm:prSet>
      <dgm:spPr/>
    </dgm:pt>
    <dgm:pt modelId="{03F01CA4-BB7E-48F5-A20B-DE53FC069F78}" type="pres">
      <dgm:prSet presAssocID="{FBE67F3D-435B-47AE-B3F9-FFF655DA4925}" presName="sibTrans" presStyleLbl="sibTrans2D1" presStyleIdx="2" presStyleCnt="5"/>
      <dgm:spPr/>
    </dgm:pt>
    <dgm:pt modelId="{1091A192-7E12-4FAA-AE66-A70AC1BB18F9}" type="pres">
      <dgm:prSet presAssocID="{FBE67F3D-435B-47AE-B3F9-FFF655DA4925}" presName="connectorText" presStyleLbl="sibTrans2D1" presStyleIdx="2" presStyleCnt="5"/>
      <dgm:spPr/>
    </dgm:pt>
    <dgm:pt modelId="{034823AF-8701-4119-AA8F-53E5E031D0C9}" type="pres">
      <dgm:prSet presAssocID="{EF4585A0-E7CA-455E-B034-127E40C9B5F9}" presName="node" presStyleLbl="node1" presStyleIdx="3" presStyleCnt="5">
        <dgm:presLayoutVars>
          <dgm:bulletEnabled val="1"/>
        </dgm:presLayoutVars>
      </dgm:prSet>
      <dgm:spPr/>
    </dgm:pt>
    <dgm:pt modelId="{C8F9F325-EB8A-4DBE-BDBC-17CC7504CB6A}" type="pres">
      <dgm:prSet presAssocID="{BAE56720-A180-4820-A0D8-82362BA52877}" presName="sibTrans" presStyleLbl="sibTrans2D1" presStyleIdx="3" presStyleCnt="5"/>
      <dgm:spPr/>
    </dgm:pt>
    <dgm:pt modelId="{0CAC0829-6829-4BF8-A292-83D53CA24111}" type="pres">
      <dgm:prSet presAssocID="{BAE56720-A180-4820-A0D8-82362BA52877}" presName="connectorText" presStyleLbl="sibTrans2D1" presStyleIdx="3" presStyleCnt="5"/>
      <dgm:spPr/>
    </dgm:pt>
    <dgm:pt modelId="{9A826A15-4F5B-4EAB-885C-068CFBF5A41A}" type="pres">
      <dgm:prSet presAssocID="{326CF7AC-1FD7-4B2F-88BC-B876AC0AE764}" presName="node" presStyleLbl="node1" presStyleIdx="4" presStyleCnt="5">
        <dgm:presLayoutVars>
          <dgm:bulletEnabled val="1"/>
        </dgm:presLayoutVars>
      </dgm:prSet>
      <dgm:spPr/>
    </dgm:pt>
    <dgm:pt modelId="{1A4D242E-2C1B-43F7-885E-B9C37E3D1E71}" type="pres">
      <dgm:prSet presAssocID="{C6682E69-5A73-43B0-AFA3-D06F86F1E2FA}" presName="sibTrans" presStyleLbl="sibTrans2D1" presStyleIdx="4" presStyleCnt="5"/>
      <dgm:spPr/>
    </dgm:pt>
    <dgm:pt modelId="{8D6EDDCC-FB8B-4B56-AFDE-1C30B686F4BC}" type="pres">
      <dgm:prSet presAssocID="{C6682E69-5A73-43B0-AFA3-D06F86F1E2FA}" presName="connectorText" presStyleLbl="sibTrans2D1" presStyleIdx="4" presStyleCnt="5"/>
      <dgm:spPr/>
    </dgm:pt>
  </dgm:ptLst>
  <dgm:cxnLst>
    <dgm:cxn modelId="{2193B80A-61C4-46B2-83A4-704FEE3950ED}" srcId="{A43F403B-B745-4841-B550-BA501C2D7F99}" destId="{EF4585A0-E7CA-455E-B034-127E40C9B5F9}" srcOrd="3" destOrd="0" parTransId="{26093DA6-3F89-4E98-A23B-BA2A74016FF3}" sibTransId="{BAE56720-A180-4820-A0D8-82362BA52877}"/>
    <dgm:cxn modelId="{F787E80B-772B-4B57-BE52-54881BF68FE3}" type="presOf" srcId="{9E3961C9-DA58-46A0-A5F9-A89A23C3FCC1}" destId="{90EBCDB0-667C-4CC6-B1B8-E5F43BA2ABF1}" srcOrd="1" destOrd="0" presId="urn:microsoft.com/office/officeart/2005/8/layout/cycle2"/>
    <dgm:cxn modelId="{BC0D3311-D23C-42D4-86DC-2BA225423CC6}" type="presOf" srcId="{EF4585A0-E7CA-455E-B034-127E40C9B5F9}" destId="{034823AF-8701-4119-AA8F-53E5E031D0C9}" srcOrd="0" destOrd="0" presId="urn:microsoft.com/office/officeart/2005/8/layout/cycle2"/>
    <dgm:cxn modelId="{C9115D2B-E313-42EA-976A-09DDF5DFD70B}" type="presOf" srcId="{978029CA-B7E8-48B9-917B-9017B35921EC}" destId="{5C5AE728-0FDF-4E14-8B37-5FC4D3D2C1B9}" srcOrd="0" destOrd="0" presId="urn:microsoft.com/office/officeart/2005/8/layout/cycle2"/>
    <dgm:cxn modelId="{3D037132-1CAA-429D-9C95-317FB404ABDB}" type="presOf" srcId="{5B4A5773-D40E-4972-B4F0-A89A72EDD465}" destId="{8174F6FD-77F1-48CD-80E6-01A5E0131461}" srcOrd="0" destOrd="0" presId="urn:microsoft.com/office/officeart/2005/8/layout/cycle2"/>
    <dgm:cxn modelId="{8E626837-879C-4045-BF30-3EE4848185E6}" type="presOf" srcId="{A43F403B-B745-4841-B550-BA501C2D7F99}" destId="{B770A4AE-9FB5-4EDF-AC0A-ADD540B00659}" srcOrd="0" destOrd="0" presId="urn:microsoft.com/office/officeart/2005/8/layout/cycle2"/>
    <dgm:cxn modelId="{C2FC3840-752F-446D-9AC0-AA1688375767}" srcId="{A43F403B-B745-4841-B550-BA501C2D7F99}" destId="{978029CA-B7E8-48B9-917B-9017B35921EC}" srcOrd="2" destOrd="0" parTransId="{836438D0-ED8B-49C2-BFC9-260B7B30F6CA}" sibTransId="{FBE67F3D-435B-47AE-B3F9-FFF655DA4925}"/>
    <dgm:cxn modelId="{6C78555E-1668-4C87-AF91-1F168809593B}" srcId="{A43F403B-B745-4841-B550-BA501C2D7F99}" destId="{326CF7AC-1FD7-4B2F-88BC-B876AC0AE764}" srcOrd="4" destOrd="0" parTransId="{6645BFE6-3ED6-4A63-9A34-A98EE0CA7675}" sibTransId="{C6682E69-5A73-43B0-AFA3-D06F86F1E2FA}"/>
    <dgm:cxn modelId="{AF3FFB49-5C44-48C2-989B-DE7B56BBFD2C}" srcId="{A43F403B-B745-4841-B550-BA501C2D7F99}" destId="{FF85DFE5-E889-4E60-90E1-3AA292702D70}" srcOrd="0" destOrd="0" parTransId="{42D34C3F-954D-4DFE-830F-B8A9752C4761}" sibTransId="{9E3961C9-DA58-46A0-A5F9-A89A23C3FCC1}"/>
    <dgm:cxn modelId="{6DC19F6A-6D33-4811-8783-7FCE2629BE15}" type="presOf" srcId="{C6682E69-5A73-43B0-AFA3-D06F86F1E2FA}" destId="{8D6EDDCC-FB8B-4B56-AFDE-1C30B686F4BC}" srcOrd="1" destOrd="0" presId="urn:microsoft.com/office/officeart/2005/8/layout/cycle2"/>
    <dgm:cxn modelId="{EC7C166F-89B6-41B2-ACE4-BE3CE4D4AAB9}" type="presOf" srcId="{C6682E69-5A73-43B0-AFA3-D06F86F1E2FA}" destId="{1A4D242E-2C1B-43F7-885E-B9C37E3D1E71}" srcOrd="0" destOrd="0" presId="urn:microsoft.com/office/officeart/2005/8/layout/cycle2"/>
    <dgm:cxn modelId="{5DF39E50-0E4C-41FD-95E5-1B27F090314E}" srcId="{A43F403B-B745-4841-B550-BA501C2D7F99}" destId="{408321DD-0003-4464-AA13-78D8A9266E87}" srcOrd="1" destOrd="0" parTransId="{4DA8A6D8-F7E8-4A1F-80CA-5000D635FF04}" sibTransId="{5B4A5773-D40E-4972-B4F0-A89A72EDD465}"/>
    <dgm:cxn modelId="{98511A73-A236-4672-BEC3-550435BEA7B7}" type="presOf" srcId="{5B4A5773-D40E-4972-B4F0-A89A72EDD465}" destId="{759A6D48-4E83-496A-8AF4-81919B80B7B1}" srcOrd="1" destOrd="0" presId="urn:microsoft.com/office/officeart/2005/8/layout/cycle2"/>
    <dgm:cxn modelId="{0AEABC82-454D-406E-8A60-09F20671C5DC}" type="presOf" srcId="{326CF7AC-1FD7-4B2F-88BC-B876AC0AE764}" destId="{9A826A15-4F5B-4EAB-885C-068CFBF5A41A}" srcOrd="0" destOrd="0" presId="urn:microsoft.com/office/officeart/2005/8/layout/cycle2"/>
    <dgm:cxn modelId="{A5576B8D-8D6B-4657-A0C2-CD00A79938C1}" type="presOf" srcId="{BAE56720-A180-4820-A0D8-82362BA52877}" destId="{0CAC0829-6829-4BF8-A292-83D53CA24111}" srcOrd="1" destOrd="0" presId="urn:microsoft.com/office/officeart/2005/8/layout/cycle2"/>
    <dgm:cxn modelId="{38FE5CAB-7C7D-4336-8EC1-0EDB50D42B57}" type="presOf" srcId="{FBE67F3D-435B-47AE-B3F9-FFF655DA4925}" destId="{1091A192-7E12-4FAA-AE66-A70AC1BB18F9}" srcOrd="1" destOrd="0" presId="urn:microsoft.com/office/officeart/2005/8/layout/cycle2"/>
    <dgm:cxn modelId="{D714A2AC-B498-4589-BA20-8FE1274B540C}" type="presOf" srcId="{408321DD-0003-4464-AA13-78D8A9266E87}" destId="{F5CC90EB-9891-4BB2-ACE8-4090FFFF47DF}" srcOrd="0" destOrd="0" presId="urn:microsoft.com/office/officeart/2005/8/layout/cycle2"/>
    <dgm:cxn modelId="{74493EBC-E7DC-4311-B794-974E4BCC5E4D}" type="presOf" srcId="{BAE56720-A180-4820-A0D8-82362BA52877}" destId="{C8F9F325-EB8A-4DBE-BDBC-17CC7504CB6A}" srcOrd="0" destOrd="0" presId="urn:microsoft.com/office/officeart/2005/8/layout/cycle2"/>
    <dgm:cxn modelId="{07734CC7-E21C-40B0-BEC6-2EAE9AF21D58}" type="presOf" srcId="{FBE67F3D-435B-47AE-B3F9-FFF655DA4925}" destId="{03F01CA4-BB7E-48F5-A20B-DE53FC069F78}" srcOrd="0" destOrd="0" presId="urn:microsoft.com/office/officeart/2005/8/layout/cycle2"/>
    <dgm:cxn modelId="{F506AFCD-0D4A-4300-AF74-A31136FA3E65}" type="presOf" srcId="{9E3961C9-DA58-46A0-A5F9-A89A23C3FCC1}" destId="{90DBA541-8DFB-4D14-8545-2CFCD371466C}" srcOrd="0" destOrd="0" presId="urn:microsoft.com/office/officeart/2005/8/layout/cycle2"/>
    <dgm:cxn modelId="{C4B73FE8-CCD3-4C50-9B42-FA403F59B35A}" type="presOf" srcId="{FF85DFE5-E889-4E60-90E1-3AA292702D70}" destId="{944787E2-B806-4390-BCC0-A81841A2D4BF}" srcOrd="0" destOrd="0" presId="urn:microsoft.com/office/officeart/2005/8/layout/cycle2"/>
    <dgm:cxn modelId="{6E4C6EBE-10D0-444D-937A-6E06D175886D}" type="presParOf" srcId="{B770A4AE-9FB5-4EDF-AC0A-ADD540B00659}" destId="{944787E2-B806-4390-BCC0-A81841A2D4BF}" srcOrd="0" destOrd="0" presId="urn:microsoft.com/office/officeart/2005/8/layout/cycle2"/>
    <dgm:cxn modelId="{E90D7D3A-B888-41F5-854A-997E1587F5B6}" type="presParOf" srcId="{B770A4AE-9FB5-4EDF-AC0A-ADD540B00659}" destId="{90DBA541-8DFB-4D14-8545-2CFCD371466C}" srcOrd="1" destOrd="0" presId="urn:microsoft.com/office/officeart/2005/8/layout/cycle2"/>
    <dgm:cxn modelId="{1C961893-79E3-4F75-B716-A281AB23817B}" type="presParOf" srcId="{90DBA541-8DFB-4D14-8545-2CFCD371466C}" destId="{90EBCDB0-667C-4CC6-B1B8-E5F43BA2ABF1}" srcOrd="0" destOrd="0" presId="urn:microsoft.com/office/officeart/2005/8/layout/cycle2"/>
    <dgm:cxn modelId="{8C508B87-7566-48FD-AEF1-15F69715F600}" type="presParOf" srcId="{B770A4AE-9FB5-4EDF-AC0A-ADD540B00659}" destId="{F5CC90EB-9891-4BB2-ACE8-4090FFFF47DF}" srcOrd="2" destOrd="0" presId="urn:microsoft.com/office/officeart/2005/8/layout/cycle2"/>
    <dgm:cxn modelId="{65BFE4F3-92A0-49BB-A766-E93B5F42D1ED}" type="presParOf" srcId="{B770A4AE-9FB5-4EDF-AC0A-ADD540B00659}" destId="{8174F6FD-77F1-48CD-80E6-01A5E0131461}" srcOrd="3" destOrd="0" presId="urn:microsoft.com/office/officeart/2005/8/layout/cycle2"/>
    <dgm:cxn modelId="{51AD9525-7486-4308-93F2-5609CAD2139C}" type="presParOf" srcId="{8174F6FD-77F1-48CD-80E6-01A5E0131461}" destId="{759A6D48-4E83-496A-8AF4-81919B80B7B1}" srcOrd="0" destOrd="0" presId="urn:microsoft.com/office/officeart/2005/8/layout/cycle2"/>
    <dgm:cxn modelId="{28EAEE11-25DE-4319-9C5A-4C32405D4F04}" type="presParOf" srcId="{B770A4AE-9FB5-4EDF-AC0A-ADD540B00659}" destId="{5C5AE728-0FDF-4E14-8B37-5FC4D3D2C1B9}" srcOrd="4" destOrd="0" presId="urn:microsoft.com/office/officeart/2005/8/layout/cycle2"/>
    <dgm:cxn modelId="{E001795D-928B-44D4-83A5-05D79663ECA6}" type="presParOf" srcId="{B770A4AE-9FB5-4EDF-AC0A-ADD540B00659}" destId="{03F01CA4-BB7E-48F5-A20B-DE53FC069F78}" srcOrd="5" destOrd="0" presId="urn:microsoft.com/office/officeart/2005/8/layout/cycle2"/>
    <dgm:cxn modelId="{A979F408-82FB-4B73-8DA4-2182D9B5A0C7}" type="presParOf" srcId="{03F01CA4-BB7E-48F5-A20B-DE53FC069F78}" destId="{1091A192-7E12-4FAA-AE66-A70AC1BB18F9}" srcOrd="0" destOrd="0" presId="urn:microsoft.com/office/officeart/2005/8/layout/cycle2"/>
    <dgm:cxn modelId="{31F12572-2E8F-4726-9BA6-51C3C7D2E11B}" type="presParOf" srcId="{B770A4AE-9FB5-4EDF-AC0A-ADD540B00659}" destId="{034823AF-8701-4119-AA8F-53E5E031D0C9}" srcOrd="6" destOrd="0" presId="urn:microsoft.com/office/officeart/2005/8/layout/cycle2"/>
    <dgm:cxn modelId="{01E8E940-CCF0-488B-A7ED-AA87D717DEF8}" type="presParOf" srcId="{B770A4AE-9FB5-4EDF-AC0A-ADD540B00659}" destId="{C8F9F325-EB8A-4DBE-BDBC-17CC7504CB6A}" srcOrd="7" destOrd="0" presId="urn:microsoft.com/office/officeart/2005/8/layout/cycle2"/>
    <dgm:cxn modelId="{FE50D394-D3AD-4470-8709-54BAB77ADF88}" type="presParOf" srcId="{C8F9F325-EB8A-4DBE-BDBC-17CC7504CB6A}" destId="{0CAC0829-6829-4BF8-A292-83D53CA24111}" srcOrd="0" destOrd="0" presId="urn:microsoft.com/office/officeart/2005/8/layout/cycle2"/>
    <dgm:cxn modelId="{590D12EA-7756-48CB-8644-44E58A0BA3C7}" type="presParOf" srcId="{B770A4AE-9FB5-4EDF-AC0A-ADD540B00659}" destId="{9A826A15-4F5B-4EAB-885C-068CFBF5A41A}" srcOrd="8" destOrd="0" presId="urn:microsoft.com/office/officeart/2005/8/layout/cycle2"/>
    <dgm:cxn modelId="{7D725047-E17D-4B3F-B3F1-BF4892A804A4}" type="presParOf" srcId="{B770A4AE-9FB5-4EDF-AC0A-ADD540B00659}" destId="{1A4D242E-2C1B-43F7-885E-B9C37E3D1E71}" srcOrd="9" destOrd="0" presId="urn:microsoft.com/office/officeart/2005/8/layout/cycle2"/>
    <dgm:cxn modelId="{BFC9607B-4EA1-4374-8A1F-1CDB51A6CFA9}" type="presParOf" srcId="{1A4D242E-2C1B-43F7-885E-B9C37E3D1E71}" destId="{8D6EDDCC-FB8B-4B56-AFDE-1C30B686F4BC}" srcOrd="0" destOrd="0" presId="urn:microsoft.com/office/officeart/2005/8/layout/cycle2"/>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8374E3B-CD9A-4A27-B123-68AA59FD1F8C}" type="doc">
      <dgm:prSet loTypeId="urn:microsoft.com/office/officeart/2005/8/layout/hProcess7" loCatId="list" qsTypeId="urn:microsoft.com/office/officeart/2005/8/quickstyle/simple1" qsCatId="simple" csTypeId="urn:microsoft.com/office/officeart/2005/8/colors/accent1_2" csCatId="accent1" phldr="1"/>
      <dgm:spPr/>
      <dgm:t>
        <a:bodyPr/>
        <a:lstStyle/>
        <a:p>
          <a:endParaRPr lang="es-MX"/>
        </a:p>
      </dgm:t>
    </dgm:pt>
    <dgm:pt modelId="{9B2DA1EA-3AF3-40F1-A6A2-B07E996BF35B}">
      <dgm:prSet phldrT="[Texto]" custT="1"/>
      <dgm:spPr>
        <a:solidFill>
          <a:srgbClr val="CAD2C5"/>
        </a:solidFill>
        <a:ln>
          <a:solidFill>
            <a:srgbClr val="CAD2C5"/>
          </a:solidFill>
        </a:ln>
        <a:scene3d>
          <a:camera prst="orthographicFront"/>
          <a:lightRig rig="threePt" dir="t"/>
        </a:scene3d>
        <a:sp3d>
          <a:bevelT/>
        </a:sp3d>
      </dgm:spPr>
      <dgm:t>
        <a:bodyPr/>
        <a:lstStyle/>
        <a:p>
          <a:pPr algn="ctr"/>
          <a:r>
            <a:rPr lang="es-ES" sz="1600" b="1" dirty="0">
              <a:solidFill>
                <a:srgbClr val="131D3F"/>
              </a:solidFill>
              <a:latin typeface="Montserrat" panose="00000500000000000000" pitchFamily="2" charset="0"/>
            </a:rPr>
            <a:t>Objetivos</a:t>
          </a:r>
          <a:endParaRPr lang="es-MX" sz="1600" b="1" dirty="0">
            <a:solidFill>
              <a:srgbClr val="131D3F"/>
            </a:solidFill>
            <a:latin typeface="Montserrat" panose="00000500000000000000" pitchFamily="2" charset="0"/>
          </a:endParaRPr>
        </a:p>
      </dgm:t>
    </dgm:pt>
    <dgm:pt modelId="{8756E87C-B6C4-47E7-98B6-86CEB219FA68}" type="parTrans" cxnId="{3F53E511-0DEA-434C-9366-E4CC0453C219}">
      <dgm:prSet/>
      <dgm:spPr/>
      <dgm:t>
        <a:bodyPr/>
        <a:lstStyle/>
        <a:p>
          <a:endParaRPr lang="es-MX">
            <a:latin typeface="Montserrat" panose="00000500000000000000" pitchFamily="2" charset="0"/>
          </a:endParaRPr>
        </a:p>
      </dgm:t>
    </dgm:pt>
    <dgm:pt modelId="{A56B347D-B101-4269-A156-849D26A42ED5}" type="sibTrans" cxnId="{3F53E511-0DEA-434C-9366-E4CC0453C219}">
      <dgm:prSet/>
      <dgm:spPr/>
      <dgm:t>
        <a:bodyPr/>
        <a:lstStyle/>
        <a:p>
          <a:endParaRPr lang="es-MX">
            <a:latin typeface="Montserrat" panose="00000500000000000000" pitchFamily="2" charset="0"/>
          </a:endParaRPr>
        </a:p>
      </dgm:t>
    </dgm:pt>
    <dgm:pt modelId="{FE418228-45E3-4A2B-9774-3D93C5C56A25}">
      <dgm:prSet phldrT="[Texto]" custT="1"/>
      <dgm:spPr>
        <a:scene3d>
          <a:camera prst="orthographicFront"/>
          <a:lightRig rig="threePt" dir="t"/>
        </a:scene3d>
        <a:sp3d>
          <a:bevelT/>
        </a:sp3d>
      </dgm:spPr>
      <dgm:t>
        <a:bodyPr lIns="144000" anchor="ctr" anchorCtr="0"/>
        <a:lstStyle/>
        <a:p>
          <a:pPr algn="just"/>
          <a:r>
            <a:rPr lang="es-ES" sz="1800" dirty="0">
              <a:solidFill>
                <a:srgbClr val="131D3F"/>
              </a:solidFill>
              <a:latin typeface="Montserrat" panose="00000500000000000000" pitchFamily="2" charset="0"/>
            </a:rPr>
            <a:t>Define metas claras y alcanzables.</a:t>
          </a:r>
          <a:endParaRPr lang="es-MX" sz="1800" dirty="0">
            <a:solidFill>
              <a:srgbClr val="131D3F"/>
            </a:solidFill>
            <a:latin typeface="Montserrat" panose="00000500000000000000" pitchFamily="2" charset="0"/>
          </a:endParaRPr>
        </a:p>
      </dgm:t>
    </dgm:pt>
    <dgm:pt modelId="{364FC176-E5DA-434A-93AA-44B6249363A2}" type="parTrans" cxnId="{B0B9EA89-0FEB-43CA-A711-0560C56A86D4}">
      <dgm:prSet/>
      <dgm:spPr/>
      <dgm:t>
        <a:bodyPr/>
        <a:lstStyle/>
        <a:p>
          <a:endParaRPr lang="es-MX">
            <a:latin typeface="Montserrat" panose="00000500000000000000" pitchFamily="2" charset="0"/>
          </a:endParaRPr>
        </a:p>
      </dgm:t>
    </dgm:pt>
    <dgm:pt modelId="{D9A019E1-799D-41BC-AE34-FA51636F3B70}" type="sibTrans" cxnId="{B0B9EA89-0FEB-43CA-A711-0560C56A86D4}">
      <dgm:prSet/>
      <dgm:spPr/>
      <dgm:t>
        <a:bodyPr/>
        <a:lstStyle/>
        <a:p>
          <a:endParaRPr lang="es-MX">
            <a:latin typeface="Montserrat" panose="00000500000000000000" pitchFamily="2" charset="0"/>
          </a:endParaRPr>
        </a:p>
      </dgm:t>
    </dgm:pt>
    <dgm:pt modelId="{56447C72-BAAA-4F8B-8032-9B4FEE2A69B4}">
      <dgm:prSet phldrT="[Texto]" custT="1"/>
      <dgm:spPr>
        <a:solidFill>
          <a:srgbClr val="84A98C"/>
        </a:solidFill>
        <a:ln>
          <a:solidFill>
            <a:srgbClr val="84A98C"/>
          </a:solidFill>
        </a:ln>
        <a:scene3d>
          <a:camera prst="orthographicFront"/>
          <a:lightRig rig="threePt" dir="t"/>
        </a:scene3d>
        <a:sp3d>
          <a:bevelT/>
        </a:sp3d>
      </dgm:spPr>
      <dgm:t>
        <a:bodyPr/>
        <a:lstStyle/>
        <a:p>
          <a:pPr algn="ctr"/>
          <a:r>
            <a:rPr lang="es-ES" sz="1600" b="1" dirty="0">
              <a:latin typeface="Montserrat" panose="00000500000000000000" pitchFamily="2" charset="0"/>
            </a:rPr>
            <a:t>Planificación y Estrategia</a:t>
          </a:r>
          <a:endParaRPr lang="es-MX" sz="1600" b="1" dirty="0">
            <a:latin typeface="Montserrat" panose="00000500000000000000" pitchFamily="2" charset="0"/>
          </a:endParaRPr>
        </a:p>
      </dgm:t>
    </dgm:pt>
    <dgm:pt modelId="{F2085633-C447-4411-89EC-7177749E8A2D}" type="parTrans" cxnId="{F5AF5AFC-2945-44FD-A912-1DF272A9B9EF}">
      <dgm:prSet/>
      <dgm:spPr/>
      <dgm:t>
        <a:bodyPr/>
        <a:lstStyle/>
        <a:p>
          <a:endParaRPr lang="es-MX">
            <a:latin typeface="Montserrat" panose="00000500000000000000" pitchFamily="2" charset="0"/>
          </a:endParaRPr>
        </a:p>
      </dgm:t>
    </dgm:pt>
    <dgm:pt modelId="{1162FCB9-DD55-4A72-AAD9-FD3F627BAD0B}" type="sibTrans" cxnId="{F5AF5AFC-2945-44FD-A912-1DF272A9B9EF}">
      <dgm:prSet/>
      <dgm:spPr/>
      <dgm:t>
        <a:bodyPr/>
        <a:lstStyle/>
        <a:p>
          <a:endParaRPr lang="es-MX">
            <a:latin typeface="Montserrat" panose="00000500000000000000" pitchFamily="2" charset="0"/>
          </a:endParaRPr>
        </a:p>
      </dgm:t>
    </dgm:pt>
    <dgm:pt modelId="{E40CB4A9-7351-44A4-8079-E88068AD4F62}">
      <dgm:prSet phldrT="[Texto]" custT="1"/>
      <dgm:spPr>
        <a:scene3d>
          <a:camera prst="orthographicFront"/>
          <a:lightRig rig="threePt" dir="t"/>
        </a:scene3d>
        <a:sp3d>
          <a:bevelT/>
        </a:sp3d>
      </dgm:spPr>
      <dgm:t>
        <a:bodyPr lIns="144000" anchor="ctr" anchorCtr="0"/>
        <a:lstStyle/>
        <a:p>
          <a:pPr algn="just"/>
          <a:r>
            <a:rPr lang="es-ES" sz="1800" dirty="0">
              <a:latin typeface="Montserrat" panose="00000500000000000000" pitchFamily="2" charset="0"/>
            </a:rPr>
            <a:t>Guía para alcanzar tus metas.</a:t>
          </a:r>
          <a:endParaRPr lang="es-MX" sz="1800" dirty="0">
            <a:latin typeface="Montserrat" panose="00000500000000000000" pitchFamily="2" charset="0"/>
          </a:endParaRPr>
        </a:p>
      </dgm:t>
    </dgm:pt>
    <dgm:pt modelId="{17906DA6-10DE-4B3E-B1D0-AADE5199A35B}" type="sibTrans" cxnId="{784DBF9F-D75F-42F7-A062-C70F10CD1BCF}">
      <dgm:prSet/>
      <dgm:spPr/>
      <dgm:t>
        <a:bodyPr/>
        <a:lstStyle/>
        <a:p>
          <a:endParaRPr lang="es-MX">
            <a:latin typeface="Montserrat" panose="00000500000000000000" pitchFamily="2" charset="0"/>
          </a:endParaRPr>
        </a:p>
      </dgm:t>
    </dgm:pt>
    <dgm:pt modelId="{5EE99D78-78F2-46D2-A831-C8089DDBB01D}" type="parTrans" cxnId="{784DBF9F-D75F-42F7-A062-C70F10CD1BCF}">
      <dgm:prSet/>
      <dgm:spPr/>
      <dgm:t>
        <a:bodyPr/>
        <a:lstStyle/>
        <a:p>
          <a:endParaRPr lang="es-MX">
            <a:latin typeface="Montserrat" panose="00000500000000000000" pitchFamily="2" charset="0"/>
          </a:endParaRPr>
        </a:p>
      </dgm:t>
    </dgm:pt>
    <dgm:pt modelId="{7BF50A14-27E0-4E88-B673-3D49C7CB6D00}">
      <dgm:prSet phldrT="[Texto]" custT="1"/>
      <dgm:spPr>
        <a:solidFill>
          <a:srgbClr val="52796F"/>
        </a:solidFill>
        <a:ln>
          <a:solidFill>
            <a:srgbClr val="52796F"/>
          </a:solidFill>
        </a:ln>
        <a:scene3d>
          <a:camera prst="orthographicFront"/>
          <a:lightRig rig="threePt" dir="t"/>
        </a:scene3d>
        <a:sp3d>
          <a:bevelT/>
        </a:sp3d>
      </dgm:spPr>
      <dgm:t>
        <a:bodyPr/>
        <a:lstStyle/>
        <a:p>
          <a:pPr algn="ctr"/>
          <a:r>
            <a:rPr lang="es-ES" sz="1600" b="1" dirty="0">
              <a:latin typeface="Montserrat" panose="00000500000000000000" pitchFamily="2" charset="0"/>
            </a:rPr>
            <a:t>Análisis y Evaluación</a:t>
          </a:r>
          <a:endParaRPr lang="es-MX" sz="1600" b="1" dirty="0">
            <a:latin typeface="Montserrat" panose="00000500000000000000" pitchFamily="2" charset="0"/>
          </a:endParaRPr>
        </a:p>
      </dgm:t>
    </dgm:pt>
    <dgm:pt modelId="{5EA54FA8-E53C-4E45-B436-8AB0EFC2000E}" type="sibTrans" cxnId="{36E53082-18DC-43E3-9BE1-94D5D6BDAACB}">
      <dgm:prSet/>
      <dgm:spPr/>
      <dgm:t>
        <a:bodyPr/>
        <a:lstStyle/>
        <a:p>
          <a:endParaRPr lang="es-MX">
            <a:latin typeface="Montserrat" panose="00000500000000000000" pitchFamily="2" charset="0"/>
          </a:endParaRPr>
        </a:p>
      </dgm:t>
    </dgm:pt>
    <dgm:pt modelId="{70196343-C8CA-4865-9989-DE4902AF01AF}" type="parTrans" cxnId="{36E53082-18DC-43E3-9BE1-94D5D6BDAACB}">
      <dgm:prSet/>
      <dgm:spPr/>
      <dgm:t>
        <a:bodyPr/>
        <a:lstStyle/>
        <a:p>
          <a:endParaRPr lang="es-MX">
            <a:latin typeface="Montserrat" panose="00000500000000000000" pitchFamily="2" charset="0"/>
          </a:endParaRPr>
        </a:p>
      </dgm:t>
    </dgm:pt>
    <dgm:pt modelId="{4EBEDD2B-C29C-4A8B-8CC5-9131C67F264F}">
      <dgm:prSet phldrT="[Texto]" custT="1"/>
      <dgm:spPr>
        <a:scene3d>
          <a:camera prst="orthographicFront"/>
          <a:lightRig rig="threePt" dir="t"/>
        </a:scene3d>
        <a:sp3d>
          <a:bevelT/>
        </a:sp3d>
      </dgm:spPr>
      <dgm:t>
        <a:bodyPr lIns="144000" anchor="ctr" anchorCtr="0"/>
        <a:lstStyle/>
        <a:p>
          <a:pPr algn="just"/>
          <a:r>
            <a:rPr lang="es-ES" sz="1800" dirty="0">
              <a:latin typeface="Montserrat" panose="00000500000000000000" pitchFamily="2" charset="0"/>
            </a:rPr>
            <a:t>Lo que se mide, se puede controlar.</a:t>
          </a:r>
          <a:endParaRPr lang="es-MX" sz="1800" dirty="0">
            <a:latin typeface="Montserrat" panose="00000500000000000000" pitchFamily="2" charset="0"/>
          </a:endParaRPr>
        </a:p>
      </dgm:t>
    </dgm:pt>
    <dgm:pt modelId="{0984B836-EA0E-40EE-85AD-7B2DE2CD69C0}" type="sibTrans" cxnId="{DA561F20-2942-4F05-8B96-4650E7DC5281}">
      <dgm:prSet/>
      <dgm:spPr/>
      <dgm:t>
        <a:bodyPr/>
        <a:lstStyle/>
        <a:p>
          <a:endParaRPr lang="es-MX">
            <a:latin typeface="Montserrat" panose="00000500000000000000" pitchFamily="2" charset="0"/>
          </a:endParaRPr>
        </a:p>
      </dgm:t>
    </dgm:pt>
    <dgm:pt modelId="{4AF11D7C-9613-483D-B0F6-2ACE0C0144EB}" type="parTrans" cxnId="{DA561F20-2942-4F05-8B96-4650E7DC5281}">
      <dgm:prSet/>
      <dgm:spPr/>
      <dgm:t>
        <a:bodyPr/>
        <a:lstStyle/>
        <a:p>
          <a:endParaRPr lang="es-MX">
            <a:latin typeface="Montserrat" panose="00000500000000000000" pitchFamily="2" charset="0"/>
          </a:endParaRPr>
        </a:p>
      </dgm:t>
    </dgm:pt>
    <dgm:pt modelId="{219139B6-5AD7-4FF1-901F-115533819C1E}">
      <dgm:prSet phldrT="[Texto]" custT="1"/>
      <dgm:spPr>
        <a:solidFill>
          <a:srgbClr val="354F52"/>
        </a:solidFill>
        <a:ln>
          <a:solidFill>
            <a:srgbClr val="354F52"/>
          </a:solidFill>
        </a:ln>
        <a:scene3d>
          <a:camera prst="orthographicFront"/>
          <a:lightRig rig="threePt" dir="t"/>
        </a:scene3d>
        <a:sp3d>
          <a:bevelT/>
        </a:sp3d>
      </dgm:spPr>
      <dgm:t>
        <a:bodyPr/>
        <a:lstStyle/>
        <a:p>
          <a:pPr algn="ctr"/>
          <a:r>
            <a:rPr lang="es-ES" sz="1600" b="1" dirty="0">
              <a:latin typeface="Montserrat" panose="00000500000000000000" pitchFamily="2" charset="0"/>
            </a:rPr>
            <a:t>Gestión de recursos</a:t>
          </a:r>
          <a:endParaRPr lang="es-MX" sz="1600" b="1" dirty="0">
            <a:latin typeface="Montserrat" panose="00000500000000000000" pitchFamily="2" charset="0"/>
          </a:endParaRPr>
        </a:p>
      </dgm:t>
    </dgm:pt>
    <dgm:pt modelId="{BB91EC63-F5DD-40DD-B09A-19D6A97A90CF}" type="parTrans" cxnId="{973A1F9E-50C1-4E2B-B7C2-28E738BD551C}">
      <dgm:prSet/>
      <dgm:spPr/>
      <dgm:t>
        <a:bodyPr/>
        <a:lstStyle/>
        <a:p>
          <a:endParaRPr lang="es-MX">
            <a:latin typeface="Montserrat" panose="00000500000000000000" pitchFamily="2" charset="0"/>
          </a:endParaRPr>
        </a:p>
      </dgm:t>
    </dgm:pt>
    <dgm:pt modelId="{9E59AF7A-458F-4FE0-9DF6-0B9A0B46D00B}" type="sibTrans" cxnId="{973A1F9E-50C1-4E2B-B7C2-28E738BD551C}">
      <dgm:prSet/>
      <dgm:spPr/>
      <dgm:t>
        <a:bodyPr/>
        <a:lstStyle/>
        <a:p>
          <a:endParaRPr lang="es-MX">
            <a:latin typeface="Montserrat" panose="00000500000000000000" pitchFamily="2" charset="0"/>
          </a:endParaRPr>
        </a:p>
      </dgm:t>
    </dgm:pt>
    <dgm:pt modelId="{C6A36C11-75F6-407C-AF52-903DA098A065}">
      <dgm:prSet phldrT="[Texto]" custT="1"/>
      <dgm:spPr>
        <a:scene3d>
          <a:camera prst="orthographicFront"/>
          <a:lightRig rig="threePt" dir="t"/>
        </a:scene3d>
        <a:sp3d>
          <a:bevelT/>
        </a:sp3d>
      </dgm:spPr>
      <dgm:t>
        <a:bodyPr lIns="144000" anchor="ctr" anchorCtr="0"/>
        <a:lstStyle/>
        <a:p>
          <a:pPr algn="just"/>
          <a:r>
            <a:rPr lang="es-ES" sz="1800" dirty="0">
              <a:latin typeface="Montserrat" panose="00000500000000000000" pitchFamily="2" charset="0"/>
            </a:rPr>
            <a:t>Asignación eficiente de recursos, gestión de deudas y  optimización de inversión. </a:t>
          </a:r>
          <a:endParaRPr lang="es-MX" sz="1800" dirty="0">
            <a:latin typeface="Montserrat" panose="00000500000000000000" pitchFamily="2" charset="0"/>
          </a:endParaRPr>
        </a:p>
      </dgm:t>
    </dgm:pt>
    <dgm:pt modelId="{317C8540-A4A3-47E0-A2AE-856BF5EDE6DA}" type="parTrans" cxnId="{A43146AF-F231-4000-A7CF-73B1E9D9EF56}">
      <dgm:prSet/>
      <dgm:spPr/>
      <dgm:t>
        <a:bodyPr/>
        <a:lstStyle/>
        <a:p>
          <a:endParaRPr lang="es-MX">
            <a:latin typeface="Montserrat" panose="00000500000000000000" pitchFamily="2" charset="0"/>
          </a:endParaRPr>
        </a:p>
      </dgm:t>
    </dgm:pt>
    <dgm:pt modelId="{DB20733C-DD4A-4A99-AB00-6E821703C765}" type="sibTrans" cxnId="{A43146AF-F231-4000-A7CF-73B1E9D9EF56}">
      <dgm:prSet/>
      <dgm:spPr/>
      <dgm:t>
        <a:bodyPr/>
        <a:lstStyle/>
        <a:p>
          <a:endParaRPr lang="es-MX">
            <a:latin typeface="Montserrat" panose="00000500000000000000" pitchFamily="2" charset="0"/>
          </a:endParaRPr>
        </a:p>
      </dgm:t>
    </dgm:pt>
    <dgm:pt modelId="{DCDED17A-D0CE-4F86-BBFF-FE830A258E59}">
      <dgm:prSet phldrT="[Texto]" custT="1"/>
      <dgm:spPr>
        <a:solidFill>
          <a:srgbClr val="2F3E46"/>
        </a:solidFill>
        <a:ln>
          <a:solidFill>
            <a:srgbClr val="2F3E46"/>
          </a:solidFill>
        </a:ln>
        <a:scene3d>
          <a:camera prst="orthographicFront"/>
          <a:lightRig rig="threePt" dir="t"/>
        </a:scene3d>
        <a:sp3d>
          <a:bevelT/>
        </a:sp3d>
      </dgm:spPr>
      <dgm:t>
        <a:bodyPr rIns="36000"/>
        <a:lstStyle/>
        <a:p>
          <a:pPr algn="ctr">
            <a:spcAft>
              <a:spcPts val="0"/>
            </a:spcAft>
          </a:pPr>
          <a:r>
            <a:rPr lang="es-ES" sz="1600" b="1" dirty="0">
              <a:latin typeface="Montserrat" panose="00000500000000000000" pitchFamily="2" charset="0"/>
            </a:rPr>
            <a:t>Control y</a:t>
          </a:r>
        </a:p>
        <a:p>
          <a:pPr algn="ctr">
            <a:spcAft>
              <a:spcPct val="35000"/>
            </a:spcAft>
          </a:pPr>
          <a:r>
            <a:rPr lang="es-ES" sz="1600" b="1" dirty="0">
              <a:latin typeface="Montserrat" panose="00000500000000000000" pitchFamily="2" charset="0"/>
            </a:rPr>
            <a:t>ajuste</a:t>
          </a:r>
          <a:endParaRPr lang="es-MX" sz="1600" b="1" dirty="0">
            <a:latin typeface="Montserrat" panose="00000500000000000000" pitchFamily="2" charset="0"/>
          </a:endParaRPr>
        </a:p>
      </dgm:t>
    </dgm:pt>
    <dgm:pt modelId="{CA6890CE-DB71-4A18-B1A6-6C037F1A6C5F}" type="parTrans" cxnId="{1C6D4172-09D5-4C6F-A2CE-8D7AE7950EED}">
      <dgm:prSet/>
      <dgm:spPr/>
      <dgm:t>
        <a:bodyPr/>
        <a:lstStyle/>
        <a:p>
          <a:endParaRPr lang="es-MX">
            <a:latin typeface="Montserrat" panose="00000500000000000000" pitchFamily="2" charset="0"/>
          </a:endParaRPr>
        </a:p>
      </dgm:t>
    </dgm:pt>
    <dgm:pt modelId="{112D8D1C-4D6F-4F07-A35C-94DDA8B220F0}" type="sibTrans" cxnId="{1C6D4172-09D5-4C6F-A2CE-8D7AE7950EED}">
      <dgm:prSet/>
      <dgm:spPr/>
      <dgm:t>
        <a:bodyPr/>
        <a:lstStyle/>
        <a:p>
          <a:endParaRPr lang="es-MX">
            <a:latin typeface="Montserrat" panose="00000500000000000000" pitchFamily="2" charset="0"/>
          </a:endParaRPr>
        </a:p>
      </dgm:t>
    </dgm:pt>
    <dgm:pt modelId="{E8030D5C-DB7B-4EA9-BBED-9242675D2AE3}">
      <dgm:prSet phldrT="[Texto]" custT="1"/>
      <dgm:spPr>
        <a:scene3d>
          <a:camera prst="orthographicFront"/>
          <a:lightRig rig="threePt" dir="t"/>
        </a:scene3d>
        <a:sp3d>
          <a:bevelT/>
        </a:sp3d>
      </dgm:spPr>
      <dgm:t>
        <a:bodyPr lIns="144000" anchor="ctr" anchorCtr="0"/>
        <a:lstStyle/>
        <a:p>
          <a:pPr algn="just"/>
          <a:r>
            <a:rPr lang="es-ES" sz="1800" dirty="0">
              <a:latin typeface="Montserrat" panose="00000500000000000000" pitchFamily="2" charset="0"/>
            </a:rPr>
            <a:t>Ajuste de estrategias / planes en  respuesta a cambios en el entorno económico.</a:t>
          </a:r>
          <a:endParaRPr lang="es-MX" sz="1800" dirty="0">
            <a:latin typeface="Montserrat" panose="00000500000000000000" pitchFamily="2" charset="0"/>
          </a:endParaRPr>
        </a:p>
      </dgm:t>
    </dgm:pt>
    <dgm:pt modelId="{6C4B9D26-69BB-4DB4-AE88-39645A2259EC}" type="parTrans" cxnId="{8E5712BA-6542-4EAA-A410-561B9CA8A642}">
      <dgm:prSet/>
      <dgm:spPr/>
      <dgm:t>
        <a:bodyPr/>
        <a:lstStyle/>
        <a:p>
          <a:endParaRPr lang="es-MX">
            <a:latin typeface="Montserrat" panose="00000500000000000000" pitchFamily="2" charset="0"/>
          </a:endParaRPr>
        </a:p>
      </dgm:t>
    </dgm:pt>
    <dgm:pt modelId="{BE069B02-B48C-439A-A616-7E1723546E94}" type="sibTrans" cxnId="{8E5712BA-6542-4EAA-A410-561B9CA8A642}">
      <dgm:prSet/>
      <dgm:spPr/>
      <dgm:t>
        <a:bodyPr/>
        <a:lstStyle/>
        <a:p>
          <a:endParaRPr lang="es-MX">
            <a:latin typeface="Montserrat" panose="00000500000000000000" pitchFamily="2" charset="0"/>
          </a:endParaRPr>
        </a:p>
      </dgm:t>
    </dgm:pt>
    <dgm:pt modelId="{7CA5345E-3DE7-4E47-AF5E-722F9EA5256D}" type="pres">
      <dgm:prSet presAssocID="{88374E3B-CD9A-4A27-B123-68AA59FD1F8C}" presName="Name0" presStyleCnt="0">
        <dgm:presLayoutVars>
          <dgm:dir/>
          <dgm:animLvl val="lvl"/>
          <dgm:resizeHandles val="exact"/>
        </dgm:presLayoutVars>
      </dgm:prSet>
      <dgm:spPr/>
    </dgm:pt>
    <dgm:pt modelId="{B1D77206-8478-40C2-B955-F24B232DC237}" type="pres">
      <dgm:prSet presAssocID="{9B2DA1EA-3AF3-40F1-A6A2-B07E996BF35B}" presName="compositeNode" presStyleCnt="0">
        <dgm:presLayoutVars>
          <dgm:bulletEnabled val="1"/>
        </dgm:presLayoutVars>
      </dgm:prSet>
      <dgm:spPr>
        <a:scene3d>
          <a:camera prst="orthographicFront"/>
          <a:lightRig rig="threePt" dir="t"/>
        </a:scene3d>
        <a:sp3d>
          <a:bevelT/>
        </a:sp3d>
      </dgm:spPr>
    </dgm:pt>
    <dgm:pt modelId="{8EBB1D94-CDF4-4C6E-B90A-95A09F75B0D7}" type="pres">
      <dgm:prSet presAssocID="{9B2DA1EA-3AF3-40F1-A6A2-B07E996BF35B}" presName="bgRect" presStyleLbl="node1" presStyleIdx="0" presStyleCnt="5"/>
      <dgm:spPr/>
    </dgm:pt>
    <dgm:pt modelId="{A4F4D627-9D4C-4D5C-8E23-506D2903D7C5}" type="pres">
      <dgm:prSet presAssocID="{9B2DA1EA-3AF3-40F1-A6A2-B07E996BF35B}" presName="parentNode" presStyleLbl="node1" presStyleIdx="0" presStyleCnt="5">
        <dgm:presLayoutVars>
          <dgm:chMax val="0"/>
          <dgm:bulletEnabled val="1"/>
        </dgm:presLayoutVars>
      </dgm:prSet>
      <dgm:spPr/>
    </dgm:pt>
    <dgm:pt modelId="{F168D25F-9A97-4377-AB27-0CBFECBF7DE6}" type="pres">
      <dgm:prSet presAssocID="{9B2DA1EA-3AF3-40F1-A6A2-B07E996BF35B}" presName="childNode" presStyleLbl="node1" presStyleIdx="0" presStyleCnt="5">
        <dgm:presLayoutVars>
          <dgm:bulletEnabled val="1"/>
        </dgm:presLayoutVars>
      </dgm:prSet>
      <dgm:spPr/>
    </dgm:pt>
    <dgm:pt modelId="{CB92FFF3-ED2F-49D9-AAB3-D8B55162472E}" type="pres">
      <dgm:prSet presAssocID="{A56B347D-B101-4269-A156-849D26A42ED5}" presName="hSp" presStyleCnt="0"/>
      <dgm:spPr>
        <a:scene3d>
          <a:camera prst="orthographicFront"/>
          <a:lightRig rig="threePt" dir="t"/>
        </a:scene3d>
        <a:sp3d>
          <a:bevelT/>
        </a:sp3d>
      </dgm:spPr>
    </dgm:pt>
    <dgm:pt modelId="{E2D193F9-DD9A-408D-86A7-F66D79C51B35}" type="pres">
      <dgm:prSet presAssocID="{A56B347D-B101-4269-A156-849D26A42ED5}" presName="vProcSp" presStyleCnt="0"/>
      <dgm:spPr>
        <a:scene3d>
          <a:camera prst="orthographicFront"/>
          <a:lightRig rig="threePt" dir="t"/>
        </a:scene3d>
        <a:sp3d>
          <a:bevelT/>
        </a:sp3d>
      </dgm:spPr>
    </dgm:pt>
    <dgm:pt modelId="{F1BFA010-7C8A-4297-95E6-77F7AFC0E10D}" type="pres">
      <dgm:prSet presAssocID="{A56B347D-B101-4269-A156-849D26A42ED5}" presName="vSp1" presStyleCnt="0"/>
      <dgm:spPr>
        <a:scene3d>
          <a:camera prst="orthographicFront"/>
          <a:lightRig rig="threePt" dir="t"/>
        </a:scene3d>
        <a:sp3d>
          <a:bevelT/>
        </a:sp3d>
      </dgm:spPr>
    </dgm:pt>
    <dgm:pt modelId="{E093F4C1-5D16-4787-834D-D4C8DD5E471D}" type="pres">
      <dgm:prSet presAssocID="{A56B347D-B101-4269-A156-849D26A42ED5}" presName="simulatedConn" presStyleLbl="solidFgAcc1" presStyleIdx="0" presStyleCnt="4"/>
      <dgm:spPr>
        <a:solidFill>
          <a:srgbClr val="CAD2C5"/>
        </a:solidFill>
        <a:scene3d>
          <a:camera prst="orthographicFront"/>
          <a:lightRig rig="threePt" dir="t"/>
        </a:scene3d>
        <a:sp3d>
          <a:bevelT/>
        </a:sp3d>
      </dgm:spPr>
    </dgm:pt>
    <dgm:pt modelId="{9BAF8381-073C-4939-BE0D-3306570B6D23}" type="pres">
      <dgm:prSet presAssocID="{A56B347D-B101-4269-A156-849D26A42ED5}" presName="vSp2" presStyleCnt="0"/>
      <dgm:spPr>
        <a:scene3d>
          <a:camera prst="orthographicFront"/>
          <a:lightRig rig="threePt" dir="t"/>
        </a:scene3d>
        <a:sp3d>
          <a:bevelT/>
        </a:sp3d>
      </dgm:spPr>
    </dgm:pt>
    <dgm:pt modelId="{B3B730C9-A65F-4608-80DC-83E7EE0FE760}" type="pres">
      <dgm:prSet presAssocID="{A56B347D-B101-4269-A156-849D26A42ED5}" presName="sibTrans" presStyleCnt="0"/>
      <dgm:spPr>
        <a:scene3d>
          <a:camera prst="orthographicFront"/>
          <a:lightRig rig="threePt" dir="t"/>
        </a:scene3d>
        <a:sp3d>
          <a:bevelT/>
        </a:sp3d>
      </dgm:spPr>
    </dgm:pt>
    <dgm:pt modelId="{C1713F15-EB3C-42A2-B328-D0F016AB9652}" type="pres">
      <dgm:prSet presAssocID="{56447C72-BAAA-4F8B-8032-9B4FEE2A69B4}" presName="compositeNode" presStyleCnt="0">
        <dgm:presLayoutVars>
          <dgm:bulletEnabled val="1"/>
        </dgm:presLayoutVars>
      </dgm:prSet>
      <dgm:spPr>
        <a:scene3d>
          <a:camera prst="orthographicFront"/>
          <a:lightRig rig="threePt" dir="t"/>
        </a:scene3d>
        <a:sp3d>
          <a:bevelT/>
        </a:sp3d>
      </dgm:spPr>
    </dgm:pt>
    <dgm:pt modelId="{0B383629-83CD-4359-AEEA-E90FC973FA28}" type="pres">
      <dgm:prSet presAssocID="{56447C72-BAAA-4F8B-8032-9B4FEE2A69B4}" presName="bgRect" presStyleLbl="node1" presStyleIdx="1" presStyleCnt="5"/>
      <dgm:spPr/>
    </dgm:pt>
    <dgm:pt modelId="{D8D05BA6-8C65-4901-8E75-67A064AFA3A1}" type="pres">
      <dgm:prSet presAssocID="{56447C72-BAAA-4F8B-8032-9B4FEE2A69B4}" presName="parentNode" presStyleLbl="node1" presStyleIdx="1" presStyleCnt="5">
        <dgm:presLayoutVars>
          <dgm:chMax val="0"/>
          <dgm:bulletEnabled val="1"/>
        </dgm:presLayoutVars>
      </dgm:prSet>
      <dgm:spPr/>
    </dgm:pt>
    <dgm:pt modelId="{4E3A2974-573A-43AF-90C4-6B9E035A07BE}" type="pres">
      <dgm:prSet presAssocID="{56447C72-BAAA-4F8B-8032-9B4FEE2A69B4}" presName="childNode" presStyleLbl="node1" presStyleIdx="1" presStyleCnt="5">
        <dgm:presLayoutVars>
          <dgm:bulletEnabled val="1"/>
        </dgm:presLayoutVars>
      </dgm:prSet>
      <dgm:spPr/>
    </dgm:pt>
    <dgm:pt modelId="{6B0C8960-6E13-4268-8392-1C339A03E3D6}" type="pres">
      <dgm:prSet presAssocID="{1162FCB9-DD55-4A72-AAD9-FD3F627BAD0B}" presName="hSp" presStyleCnt="0"/>
      <dgm:spPr>
        <a:scene3d>
          <a:camera prst="orthographicFront"/>
          <a:lightRig rig="threePt" dir="t"/>
        </a:scene3d>
        <a:sp3d>
          <a:bevelT/>
        </a:sp3d>
      </dgm:spPr>
    </dgm:pt>
    <dgm:pt modelId="{1CFCA2A9-6E23-47DB-94BA-84DD7F93B9BB}" type="pres">
      <dgm:prSet presAssocID="{1162FCB9-DD55-4A72-AAD9-FD3F627BAD0B}" presName="vProcSp" presStyleCnt="0"/>
      <dgm:spPr>
        <a:scene3d>
          <a:camera prst="orthographicFront"/>
          <a:lightRig rig="threePt" dir="t"/>
        </a:scene3d>
        <a:sp3d>
          <a:bevelT/>
        </a:sp3d>
      </dgm:spPr>
    </dgm:pt>
    <dgm:pt modelId="{71AB97FF-CA36-4BF1-81A5-DCABB63AD694}" type="pres">
      <dgm:prSet presAssocID="{1162FCB9-DD55-4A72-AAD9-FD3F627BAD0B}" presName="vSp1" presStyleCnt="0"/>
      <dgm:spPr>
        <a:scene3d>
          <a:camera prst="orthographicFront"/>
          <a:lightRig rig="threePt" dir="t"/>
        </a:scene3d>
        <a:sp3d>
          <a:bevelT/>
        </a:sp3d>
      </dgm:spPr>
    </dgm:pt>
    <dgm:pt modelId="{16023FAC-1277-4AED-91C7-4607E8BCC14B}" type="pres">
      <dgm:prSet presAssocID="{1162FCB9-DD55-4A72-AAD9-FD3F627BAD0B}" presName="simulatedConn" presStyleLbl="solidFgAcc1" presStyleIdx="1" presStyleCnt="4"/>
      <dgm:spPr>
        <a:solidFill>
          <a:srgbClr val="CAD2C5"/>
        </a:solidFill>
        <a:scene3d>
          <a:camera prst="orthographicFront"/>
          <a:lightRig rig="threePt" dir="t"/>
        </a:scene3d>
        <a:sp3d>
          <a:bevelT/>
        </a:sp3d>
      </dgm:spPr>
    </dgm:pt>
    <dgm:pt modelId="{5C952B7E-6647-4499-868F-9763E4B4C19F}" type="pres">
      <dgm:prSet presAssocID="{1162FCB9-DD55-4A72-AAD9-FD3F627BAD0B}" presName="vSp2" presStyleCnt="0"/>
      <dgm:spPr>
        <a:scene3d>
          <a:camera prst="orthographicFront"/>
          <a:lightRig rig="threePt" dir="t"/>
        </a:scene3d>
        <a:sp3d>
          <a:bevelT/>
        </a:sp3d>
      </dgm:spPr>
    </dgm:pt>
    <dgm:pt modelId="{BB409440-DE60-448F-A769-7DA88E72D95F}" type="pres">
      <dgm:prSet presAssocID="{1162FCB9-DD55-4A72-AAD9-FD3F627BAD0B}" presName="sibTrans" presStyleCnt="0"/>
      <dgm:spPr>
        <a:scene3d>
          <a:camera prst="orthographicFront"/>
          <a:lightRig rig="threePt" dir="t"/>
        </a:scene3d>
        <a:sp3d>
          <a:bevelT/>
        </a:sp3d>
      </dgm:spPr>
    </dgm:pt>
    <dgm:pt modelId="{7B0A486E-5EF8-482E-8106-875209125EB5}" type="pres">
      <dgm:prSet presAssocID="{7BF50A14-27E0-4E88-B673-3D49C7CB6D00}" presName="compositeNode" presStyleCnt="0">
        <dgm:presLayoutVars>
          <dgm:bulletEnabled val="1"/>
        </dgm:presLayoutVars>
      </dgm:prSet>
      <dgm:spPr>
        <a:scene3d>
          <a:camera prst="orthographicFront"/>
          <a:lightRig rig="threePt" dir="t"/>
        </a:scene3d>
        <a:sp3d>
          <a:bevelT/>
        </a:sp3d>
      </dgm:spPr>
    </dgm:pt>
    <dgm:pt modelId="{135033C3-8158-4562-9E97-7009B9A8B253}" type="pres">
      <dgm:prSet presAssocID="{7BF50A14-27E0-4E88-B673-3D49C7CB6D00}" presName="bgRect" presStyleLbl="node1" presStyleIdx="2" presStyleCnt="5"/>
      <dgm:spPr/>
    </dgm:pt>
    <dgm:pt modelId="{1BF8793C-71D5-4891-B57F-5827E4BE7643}" type="pres">
      <dgm:prSet presAssocID="{7BF50A14-27E0-4E88-B673-3D49C7CB6D00}" presName="parentNode" presStyleLbl="node1" presStyleIdx="2" presStyleCnt="5">
        <dgm:presLayoutVars>
          <dgm:chMax val="0"/>
          <dgm:bulletEnabled val="1"/>
        </dgm:presLayoutVars>
      </dgm:prSet>
      <dgm:spPr/>
    </dgm:pt>
    <dgm:pt modelId="{7CAA51FA-B8F8-4507-A9F2-90968D8EBF5C}" type="pres">
      <dgm:prSet presAssocID="{7BF50A14-27E0-4E88-B673-3D49C7CB6D00}" presName="childNode" presStyleLbl="node1" presStyleIdx="2" presStyleCnt="5">
        <dgm:presLayoutVars>
          <dgm:bulletEnabled val="1"/>
        </dgm:presLayoutVars>
      </dgm:prSet>
      <dgm:spPr/>
    </dgm:pt>
    <dgm:pt modelId="{6DA7DE5F-68B5-4B52-B8ED-F0B2F23E7E7E}" type="pres">
      <dgm:prSet presAssocID="{5EA54FA8-E53C-4E45-B436-8AB0EFC2000E}" presName="hSp" presStyleCnt="0"/>
      <dgm:spPr>
        <a:scene3d>
          <a:camera prst="orthographicFront"/>
          <a:lightRig rig="threePt" dir="t"/>
        </a:scene3d>
        <a:sp3d>
          <a:bevelT/>
        </a:sp3d>
      </dgm:spPr>
    </dgm:pt>
    <dgm:pt modelId="{C7F48B1B-C8C9-43FA-8DAE-675443020F50}" type="pres">
      <dgm:prSet presAssocID="{5EA54FA8-E53C-4E45-B436-8AB0EFC2000E}" presName="vProcSp" presStyleCnt="0"/>
      <dgm:spPr>
        <a:scene3d>
          <a:camera prst="orthographicFront"/>
          <a:lightRig rig="threePt" dir="t"/>
        </a:scene3d>
        <a:sp3d>
          <a:bevelT/>
        </a:sp3d>
      </dgm:spPr>
    </dgm:pt>
    <dgm:pt modelId="{4373B80E-8D90-424A-8D0A-9BB50D701248}" type="pres">
      <dgm:prSet presAssocID="{5EA54FA8-E53C-4E45-B436-8AB0EFC2000E}" presName="vSp1" presStyleCnt="0"/>
      <dgm:spPr>
        <a:scene3d>
          <a:camera prst="orthographicFront"/>
          <a:lightRig rig="threePt" dir="t"/>
        </a:scene3d>
        <a:sp3d>
          <a:bevelT/>
        </a:sp3d>
      </dgm:spPr>
    </dgm:pt>
    <dgm:pt modelId="{0DA57B71-008C-4894-B55E-E5FD733F7F74}" type="pres">
      <dgm:prSet presAssocID="{5EA54FA8-E53C-4E45-B436-8AB0EFC2000E}" presName="simulatedConn" presStyleLbl="solidFgAcc1" presStyleIdx="2" presStyleCnt="4"/>
      <dgm:spPr>
        <a:solidFill>
          <a:srgbClr val="CAD2C5"/>
        </a:solidFill>
        <a:scene3d>
          <a:camera prst="orthographicFront"/>
          <a:lightRig rig="threePt" dir="t"/>
        </a:scene3d>
        <a:sp3d>
          <a:bevelT/>
        </a:sp3d>
      </dgm:spPr>
    </dgm:pt>
    <dgm:pt modelId="{880FF6DE-3B86-4888-A96E-67E3D03CB1A0}" type="pres">
      <dgm:prSet presAssocID="{5EA54FA8-E53C-4E45-B436-8AB0EFC2000E}" presName="vSp2" presStyleCnt="0"/>
      <dgm:spPr>
        <a:scene3d>
          <a:camera prst="orthographicFront"/>
          <a:lightRig rig="threePt" dir="t"/>
        </a:scene3d>
        <a:sp3d>
          <a:bevelT/>
        </a:sp3d>
      </dgm:spPr>
    </dgm:pt>
    <dgm:pt modelId="{08E9D404-7676-47FD-AC05-B86054093CFC}" type="pres">
      <dgm:prSet presAssocID="{5EA54FA8-E53C-4E45-B436-8AB0EFC2000E}" presName="sibTrans" presStyleCnt="0"/>
      <dgm:spPr>
        <a:scene3d>
          <a:camera prst="orthographicFront"/>
          <a:lightRig rig="threePt" dir="t"/>
        </a:scene3d>
        <a:sp3d>
          <a:bevelT/>
        </a:sp3d>
      </dgm:spPr>
    </dgm:pt>
    <dgm:pt modelId="{19DF4B68-1A79-4E45-B1F0-D73F1362B634}" type="pres">
      <dgm:prSet presAssocID="{219139B6-5AD7-4FF1-901F-115533819C1E}" presName="compositeNode" presStyleCnt="0">
        <dgm:presLayoutVars>
          <dgm:bulletEnabled val="1"/>
        </dgm:presLayoutVars>
      </dgm:prSet>
      <dgm:spPr>
        <a:scene3d>
          <a:camera prst="orthographicFront"/>
          <a:lightRig rig="threePt" dir="t"/>
        </a:scene3d>
        <a:sp3d>
          <a:bevelT/>
        </a:sp3d>
      </dgm:spPr>
    </dgm:pt>
    <dgm:pt modelId="{40806E1A-AC12-46CB-8035-62E0BEE68B3B}" type="pres">
      <dgm:prSet presAssocID="{219139B6-5AD7-4FF1-901F-115533819C1E}" presName="bgRect" presStyleLbl="node1" presStyleIdx="3" presStyleCnt="5"/>
      <dgm:spPr/>
    </dgm:pt>
    <dgm:pt modelId="{FADE4B2B-1F72-46F1-937C-204B1E5603B5}" type="pres">
      <dgm:prSet presAssocID="{219139B6-5AD7-4FF1-901F-115533819C1E}" presName="parentNode" presStyleLbl="node1" presStyleIdx="3" presStyleCnt="5">
        <dgm:presLayoutVars>
          <dgm:chMax val="0"/>
          <dgm:bulletEnabled val="1"/>
        </dgm:presLayoutVars>
      </dgm:prSet>
      <dgm:spPr/>
    </dgm:pt>
    <dgm:pt modelId="{AD290A18-AAFD-43C5-818F-B8813541629E}" type="pres">
      <dgm:prSet presAssocID="{219139B6-5AD7-4FF1-901F-115533819C1E}" presName="childNode" presStyleLbl="node1" presStyleIdx="3" presStyleCnt="5">
        <dgm:presLayoutVars>
          <dgm:bulletEnabled val="1"/>
        </dgm:presLayoutVars>
      </dgm:prSet>
      <dgm:spPr/>
    </dgm:pt>
    <dgm:pt modelId="{DFFAE9AF-FE90-42A1-8A62-22F36482DBF6}" type="pres">
      <dgm:prSet presAssocID="{9E59AF7A-458F-4FE0-9DF6-0B9A0B46D00B}" presName="hSp" presStyleCnt="0"/>
      <dgm:spPr>
        <a:scene3d>
          <a:camera prst="orthographicFront"/>
          <a:lightRig rig="threePt" dir="t"/>
        </a:scene3d>
        <a:sp3d>
          <a:bevelT/>
        </a:sp3d>
      </dgm:spPr>
    </dgm:pt>
    <dgm:pt modelId="{7EB2D3A1-7F9E-4D9C-9624-793BDD74FE55}" type="pres">
      <dgm:prSet presAssocID="{9E59AF7A-458F-4FE0-9DF6-0B9A0B46D00B}" presName="vProcSp" presStyleCnt="0"/>
      <dgm:spPr>
        <a:scene3d>
          <a:camera prst="orthographicFront"/>
          <a:lightRig rig="threePt" dir="t"/>
        </a:scene3d>
        <a:sp3d>
          <a:bevelT/>
        </a:sp3d>
      </dgm:spPr>
    </dgm:pt>
    <dgm:pt modelId="{C0D1E765-A472-4B62-8FCB-B646D5679456}" type="pres">
      <dgm:prSet presAssocID="{9E59AF7A-458F-4FE0-9DF6-0B9A0B46D00B}" presName="vSp1" presStyleCnt="0"/>
      <dgm:spPr>
        <a:scene3d>
          <a:camera prst="orthographicFront"/>
          <a:lightRig rig="threePt" dir="t"/>
        </a:scene3d>
        <a:sp3d>
          <a:bevelT/>
        </a:sp3d>
      </dgm:spPr>
    </dgm:pt>
    <dgm:pt modelId="{1FBA44AA-878F-4A4E-B606-BACD4ADB05DA}" type="pres">
      <dgm:prSet presAssocID="{9E59AF7A-458F-4FE0-9DF6-0B9A0B46D00B}" presName="simulatedConn" presStyleLbl="solidFgAcc1" presStyleIdx="3" presStyleCnt="4"/>
      <dgm:spPr>
        <a:solidFill>
          <a:srgbClr val="CAD2C5"/>
        </a:solidFill>
        <a:scene3d>
          <a:camera prst="orthographicFront"/>
          <a:lightRig rig="threePt" dir="t"/>
        </a:scene3d>
        <a:sp3d>
          <a:bevelT/>
        </a:sp3d>
      </dgm:spPr>
    </dgm:pt>
    <dgm:pt modelId="{63BEB0CC-BF39-4C6F-AEAD-12F2B6C007E3}" type="pres">
      <dgm:prSet presAssocID="{9E59AF7A-458F-4FE0-9DF6-0B9A0B46D00B}" presName="vSp2" presStyleCnt="0"/>
      <dgm:spPr>
        <a:scene3d>
          <a:camera prst="orthographicFront"/>
          <a:lightRig rig="threePt" dir="t"/>
        </a:scene3d>
        <a:sp3d>
          <a:bevelT/>
        </a:sp3d>
      </dgm:spPr>
    </dgm:pt>
    <dgm:pt modelId="{047DE282-7AB3-4705-B295-D426F0BF62AE}" type="pres">
      <dgm:prSet presAssocID="{9E59AF7A-458F-4FE0-9DF6-0B9A0B46D00B}" presName="sibTrans" presStyleCnt="0"/>
      <dgm:spPr>
        <a:scene3d>
          <a:camera prst="orthographicFront"/>
          <a:lightRig rig="threePt" dir="t"/>
        </a:scene3d>
        <a:sp3d>
          <a:bevelT/>
        </a:sp3d>
      </dgm:spPr>
    </dgm:pt>
    <dgm:pt modelId="{E2869BEF-6CFE-4AC2-AE3D-2E4C2EC5765B}" type="pres">
      <dgm:prSet presAssocID="{DCDED17A-D0CE-4F86-BBFF-FE830A258E59}" presName="compositeNode" presStyleCnt="0">
        <dgm:presLayoutVars>
          <dgm:bulletEnabled val="1"/>
        </dgm:presLayoutVars>
      </dgm:prSet>
      <dgm:spPr>
        <a:scene3d>
          <a:camera prst="orthographicFront"/>
          <a:lightRig rig="threePt" dir="t"/>
        </a:scene3d>
        <a:sp3d>
          <a:bevelT/>
        </a:sp3d>
      </dgm:spPr>
    </dgm:pt>
    <dgm:pt modelId="{0A29BFE5-E6E5-4F58-A342-1079F1A9928A}" type="pres">
      <dgm:prSet presAssocID="{DCDED17A-D0CE-4F86-BBFF-FE830A258E59}" presName="bgRect" presStyleLbl="node1" presStyleIdx="4" presStyleCnt="5"/>
      <dgm:spPr/>
    </dgm:pt>
    <dgm:pt modelId="{DBA6DA12-B935-40FD-9AB3-1C28360D4787}" type="pres">
      <dgm:prSet presAssocID="{DCDED17A-D0CE-4F86-BBFF-FE830A258E59}" presName="parentNode" presStyleLbl="node1" presStyleIdx="4" presStyleCnt="5">
        <dgm:presLayoutVars>
          <dgm:chMax val="0"/>
          <dgm:bulletEnabled val="1"/>
        </dgm:presLayoutVars>
      </dgm:prSet>
      <dgm:spPr/>
    </dgm:pt>
    <dgm:pt modelId="{8D4C54F0-AC88-4791-BCD4-34EA0E887CE8}" type="pres">
      <dgm:prSet presAssocID="{DCDED17A-D0CE-4F86-BBFF-FE830A258E59}" presName="childNode" presStyleLbl="node1" presStyleIdx="4" presStyleCnt="5">
        <dgm:presLayoutVars>
          <dgm:bulletEnabled val="1"/>
        </dgm:presLayoutVars>
      </dgm:prSet>
      <dgm:spPr/>
    </dgm:pt>
  </dgm:ptLst>
  <dgm:cxnLst>
    <dgm:cxn modelId="{776F5D02-9929-4D39-A1C8-632BD735E7C9}" type="presOf" srcId="{E8030D5C-DB7B-4EA9-BBED-9242675D2AE3}" destId="{8D4C54F0-AC88-4791-BCD4-34EA0E887CE8}" srcOrd="0" destOrd="0" presId="urn:microsoft.com/office/officeart/2005/8/layout/hProcess7"/>
    <dgm:cxn modelId="{EA4C4C02-A0B2-45E1-BD2B-343ED96A19CA}" type="presOf" srcId="{C6A36C11-75F6-407C-AF52-903DA098A065}" destId="{AD290A18-AAFD-43C5-818F-B8813541629E}" srcOrd="0" destOrd="0" presId="urn:microsoft.com/office/officeart/2005/8/layout/hProcess7"/>
    <dgm:cxn modelId="{3F53E511-0DEA-434C-9366-E4CC0453C219}" srcId="{88374E3B-CD9A-4A27-B123-68AA59FD1F8C}" destId="{9B2DA1EA-3AF3-40F1-A6A2-B07E996BF35B}" srcOrd="0" destOrd="0" parTransId="{8756E87C-B6C4-47E7-98B6-86CEB219FA68}" sibTransId="{A56B347D-B101-4269-A156-849D26A42ED5}"/>
    <dgm:cxn modelId="{94EE3814-B2BF-47F0-B85A-C61757B60B52}" type="presOf" srcId="{219139B6-5AD7-4FF1-901F-115533819C1E}" destId="{FADE4B2B-1F72-46F1-937C-204B1E5603B5}" srcOrd="1" destOrd="0" presId="urn:microsoft.com/office/officeart/2005/8/layout/hProcess7"/>
    <dgm:cxn modelId="{D6BAA71D-190D-4B40-ABC9-458A8CF81875}" type="presOf" srcId="{DCDED17A-D0CE-4F86-BBFF-FE830A258E59}" destId="{0A29BFE5-E6E5-4F58-A342-1079F1A9928A}" srcOrd="0" destOrd="0" presId="urn:microsoft.com/office/officeart/2005/8/layout/hProcess7"/>
    <dgm:cxn modelId="{DA561F20-2942-4F05-8B96-4650E7DC5281}" srcId="{7BF50A14-27E0-4E88-B673-3D49C7CB6D00}" destId="{4EBEDD2B-C29C-4A8B-8CC5-9131C67F264F}" srcOrd="0" destOrd="0" parTransId="{4AF11D7C-9613-483D-B0F6-2ACE0C0144EB}" sibTransId="{0984B836-EA0E-40EE-85AD-7B2DE2CD69C0}"/>
    <dgm:cxn modelId="{D9B90230-FAA0-495B-8044-42153ADD6784}" type="presOf" srcId="{9B2DA1EA-3AF3-40F1-A6A2-B07E996BF35B}" destId="{8EBB1D94-CDF4-4C6E-B90A-95A09F75B0D7}" srcOrd="0" destOrd="0" presId="urn:microsoft.com/office/officeart/2005/8/layout/hProcess7"/>
    <dgm:cxn modelId="{CACC463E-30A0-45B2-9703-9466B590D580}" type="presOf" srcId="{4EBEDD2B-C29C-4A8B-8CC5-9131C67F264F}" destId="{7CAA51FA-B8F8-4507-A9F2-90968D8EBF5C}" srcOrd="0" destOrd="0" presId="urn:microsoft.com/office/officeart/2005/8/layout/hProcess7"/>
    <dgm:cxn modelId="{D3B58240-D520-450F-A8D9-51817C79AABF}" type="presOf" srcId="{219139B6-5AD7-4FF1-901F-115533819C1E}" destId="{40806E1A-AC12-46CB-8035-62E0BEE68B3B}" srcOrd="0" destOrd="0" presId="urn:microsoft.com/office/officeart/2005/8/layout/hProcess7"/>
    <dgm:cxn modelId="{7604DF42-37B2-4F86-A3EE-48415F2DDA03}" type="presOf" srcId="{FE418228-45E3-4A2B-9774-3D93C5C56A25}" destId="{F168D25F-9A97-4377-AB27-0CBFECBF7DE6}" srcOrd="0" destOrd="0" presId="urn:microsoft.com/office/officeart/2005/8/layout/hProcess7"/>
    <dgm:cxn modelId="{DB93604D-97B9-46CB-8EB4-4C6EE62F1800}" type="presOf" srcId="{88374E3B-CD9A-4A27-B123-68AA59FD1F8C}" destId="{7CA5345E-3DE7-4E47-AF5E-722F9EA5256D}" srcOrd="0" destOrd="0" presId="urn:microsoft.com/office/officeart/2005/8/layout/hProcess7"/>
    <dgm:cxn modelId="{1C6D4172-09D5-4C6F-A2CE-8D7AE7950EED}" srcId="{88374E3B-CD9A-4A27-B123-68AA59FD1F8C}" destId="{DCDED17A-D0CE-4F86-BBFF-FE830A258E59}" srcOrd="4" destOrd="0" parTransId="{CA6890CE-DB71-4A18-B1A6-6C037F1A6C5F}" sibTransId="{112D8D1C-4D6F-4F07-A35C-94DDA8B220F0}"/>
    <dgm:cxn modelId="{60338E59-25DD-42D1-9F39-910CBB7EAEDC}" type="presOf" srcId="{7BF50A14-27E0-4E88-B673-3D49C7CB6D00}" destId="{135033C3-8158-4562-9E97-7009B9A8B253}" srcOrd="0" destOrd="0" presId="urn:microsoft.com/office/officeart/2005/8/layout/hProcess7"/>
    <dgm:cxn modelId="{36E53082-18DC-43E3-9BE1-94D5D6BDAACB}" srcId="{88374E3B-CD9A-4A27-B123-68AA59FD1F8C}" destId="{7BF50A14-27E0-4E88-B673-3D49C7CB6D00}" srcOrd="2" destOrd="0" parTransId="{70196343-C8CA-4865-9989-DE4902AF01AF}" sibTransId="{5EA54FA8-E53C-4E45-B436-8AB0EFC2000E}"/>
    <dgm:cxn modelId="{B0B9EA89-0FEB-43CA-A711-0560C56A86D4}" srcId="{9B2DA1EA-3AF3-40F1-A6A2-B07E996BF35B}" destId="{FE418228-45E3-4A2B-9774-3D93C5C56A25}" srcOrd="0" destOrd="0" parTransId="{364FC176-E5DA-434A-93AA-44B6249363A2}" sibTransId="{D9A019E1-799D-41BC-AE34-FA51636F3B70}"/>
    <dgm:cxn modelId="{777D5D8E-9952-418C-985C-2C828F886C9A}" type="presOf" srcId="{9B2DA1EA-3AF3-40F1-A6A2-B07E996BF35B}" destId="{A4F4D627-9D4C-4D5C-8E23-506D2903D7C5}" srcOrd="1" destOrd="0" presId="urn:microsoft.com/office/officeart/2005/8/layout/hProcess7"/>
    <dgm:cxn modelId="{973A1F9E-50C1-4E2B-B7C2-28E738BD551C}" srcId="{88374E3B-CD9A-4A27-B123-68AA59FD1F8C}" destId="{219139B6-5AD7-4FF1-901F-115533819C1E}" srcOrd="3" destOrd="0" parTransId="{BB91EC63-F5DD-40DD-B09A-19D6A97A90CF}" sibTransId="{9E59AF7A-458F-4FE0-9DF6-0B9A0B46D00B}"/>
    <dgm:cxn modelId="{784DBF9F-D75F-42F7-A062-C70F10CD1BCF}" srcId="{56447C72-BAAA-4F8B-8032-9B4FEE2A69B4}" destId="{E40CB4A9-7351-44A4-8079-E88068AD4F62}" srcOrd="0" destOrd="0" parTransId="{5EE99D78-78F2-46D2-A831-C8089DDBB01D}" sibTransId="{17906DA6-10DE-4B3E-B1D0-AADE5199A35B}"/>
    <dgm:cxn modelId="{A43146AF-F231-4000-A7CF-73B1E9D9EF56}" srcId="{219139B6-5AD7-4FF1-901F-115533819C1E}" destId="{C6A36C11-75F6-407C-AF52-903DA098A065}" srcOrd="0" destOrd="0" parTransId="{317C8540-A4A3-47E0-A2AE-856BF5EDE6DA}" sibTransId="{DB20733C-DD4A-4A99-AB00-6E821703C765}"/>
    <dgm:cxn modelId="{3D5491B5-E19D-4DD1-991D-0E129253E05B}" type="presOf" srcId="{DCDED17A-D0CE-4F86-BBFF-FE830A258E59}" destId="{DBA6DA12-B935-40FD-9AB3-1C28360D4787}" srcOrd="1" destOrd="0" presId="urn:microsoft.com/office/officeart/2005/8/layout/hProcess7"/>
    <dgm:cxn modelId="{8E5712BA-6542-4EAA-A410-561B9CA8A642}" srcId="{DCDED17A-D0CE-4F86-BBFF-FE830A258E59}" destId="{E8030D5C-DB7B-4EA9-BBED-9242675D2AE3}" srcOrd="0" destOrd="0" parTransId="{6C4B9D26-69BB-4DB4-AE88-39645A2259EC}" sibTransId="{BE069B02-B48C-439A-A616-7E1723546E94}"/>
    <dgm:cxn modelId="{10FD46C7-E012-451A-8F4A-3106D33D938A}" type="presOf" srcId="{56447C72-BAAA-4F8B-8032-9B4FEE2A69B4}" destId="{D8D05BA6-8C65-4901-8E75-67A064AFA3A1}" srcOrd="1" destOrd="0" presId="urn:microsoft.com/office/officeart/2005/8/layout/hProcess7"/>
    <dgm:cxn modelId="{838EEBCE-1997-4687-A1BE-DD744E8E9461}" type="presOf" srcId="{E40CB4A9-7351-44A4-8079-E88068AD4F62}" destId="{4E3A2974-573A-43AF-90C4-6B9E035A07BE}" srcOrd="0" destOrd="0" presId="urn:microsoft.com/office/officeart/2005/8/layout/hProcess7"/>
    <dgm:cxn modelId="{938C12D3-E418-498D-AEFE-9ABB9FC50EB8}" type="presOf" srcId="{7BF50A14-27E0-4E88-B673-3D49C7CB6D00}" destId="{1BF8793C-71D5-4891-B57F-5827E4BE7643}" srcOrd="1" destOrd="0" presId="urn:microsoft.com/office/officeart/2005/8/layout/hProcess7"/>
    <dgm:cxn modelId="{E4A480FB-7807-44EA-911E-E3649A3657F3}" type="presOf" srcId="{56447C72-BAAA-4F8B-8032-9B4FEE2A69B4}" destId="{0B383629-83CD-4359-AEEA-E90FC973FA28}" srcOrd="0" destOrd="0" presId="urn:microsoft.com/office/officeart/2005/8/layout/hProcess7"/>
    <dgm:cxn modelId="{F5AF5AFC-2945-44FD-A912-1DF272A9B9EF}" srcId="{88374E3B-CD9A-4A27-B123-68AA59FD1F8C}" destId="{56447C72-BAAA-4F8B-8032-9B4FEE2A69B4}" srcOrd="1" destOrd="0" parTransId="{F2085633-C447-4411-89EC-7177749E8A2D}" sibTransId="{1162FCB9-DD55-4A72-AAD9-FD3F627BAD0B}"/>
    <dgm:cxn modelId="{330DF9D8-128A-49E4-B9BC-4358057B396E}" type="presParOf" srcId="{7CA5345E-3DE7-4E47-AF5E-722F9EA5256D}" destId="{B1D77206-8478-40C2-B955-F24B232DC237}" srcOrd="0" destOrd="0" presId="urn:microsoft.com/office/officeart/2005/8/layout/hProcess7"/>
    <dgm:cxn modelId="{75E874BB-4AEA-4D72-A697-1AB48072369E}" type="presParOf" srcId="{B1D77206-8478-40C2-B955-F24B232DC237}" destId="{8EBB1D94-CDF4-4C6E-B90A-95A09F75B0D7}" srcOrd="0" destOrd="0" presId="urn:microsoft.com/office/officeart/2005/8/layout/hProcess7"/>
    <dgm:cxn modelId="{16A63646-CB61-41E7-8AE2-1F962791492A}" type="presParOf" srcId="{B1D77206-8478-40C2-B955-F24B232DC237}" destId="{A4F4D627-9D4C-4D5C-8E23-506D2903D7C5}" srcOrd="1" destOrd="0" presId="urn:microsoft.com/office/officeart/2005/8/layout/hProcess7"/>
    <dgm:cxn modelId="{B5A45736-4271-4FCE-BFCB-8922F5BDBC05}" type="presParOf" srcId="{B1D77206-8478-40C2-B955-F24B232DC237}" destId="{F168D25F-9A97-4377-AB27-0CBFECBF7DE6}" srcOrd="2" destOrd="0" presId="urn:microsoft.com/office/officeart/2005/8/layout/hProcess7"/>
    <dgm:cxn modelId="{7932232C-015A-4876-BC06-AF4A89E25B56}" type="presParOf" srcId="{7CA5345E-3DE7-4E47-AF5E-722F9EA5256D}" destId="{CB92FFF3-ED2F-49D9-AAB3-D8B55162472E}" srcOrd="1" destOrd="0" presId="urn:microsoft.com/office/officeart/2005/8/layout/hProcess7"/>
    <dgm:cxn modelId="{C56388C2-36BE-4A49-BCD2-9DE4F1F51F38}" type="presParOf" srcId="{7CA5345E-3DE7-4E47-AF5E-722F9EA5256D}" destId="{E2D193F9-DD9A-408D-86A7-F66D79C51B35}" srcOrd="2" destOrd="0" presId="urn:microsoft.com/office/officeart/2005/8/layout/hProcess7"/>
    <dgm:cxn modelId="{A29A39C2-D061-4C28-B3C7-85991387A586}" type="presParOf" srcId="{E2D193F9-DD9A-408D-86A7-F66D79C51B35}" destId="{F1BFA010-7C8A-4297-95E6-77F7AFC0E10D}" srcOrd="0" destOrd="0" presId="urn:microsoft.com/office/officeart/2005/8/layout/hProcess7"/>
    <dgm:cxn modelId="{20856CA1-FE8A-417B-B1D1-07F5F2051E6F}" type="presParOf" srcId="{E2D193F9-DD9A-408D-86A7-F66D79C51B35}" destId="{E093F4C1-5D16-4787-834D-D4C8DD5E471D}" srcOrd="1" destOrd="0" presId="urn:microsoft.com/office/officeart/2005/8/layout/hProcess7"/>
    <dgm:cxn modelId="{05DB2A56-7451-4D9B-9ADE-F78C03FA807D}" type="presParOf" srcId="{E2D193F9-DD9A-408D-86A7-F66D79C51B35}" destId="{9BAF8381-073C-4939-BE0D-3306570B6D23}" srcOrd="2" destOrd="0" presId="urn:microsoft.com/office/officeart/2005/8/layout/hProcess7"/>
    <dgm:cxn modelId="{498271EF-E908-48FB-9CB6-907EE8B3D40E}" type="presParOf" srcId="{7CA5345E-3DE7-4E47-AF5E-722F9EA5256D}" destId="{B3B730C9-A65F-4608-80DC-83E7EE0FE760}" srcOrd="3" destOrd="0" presId="urn:microsoft.com/office/officeart/2005/8/layout/hProcess7"/>
    <dgm:cxn modelId="{D62CE427-0648-453B-A1A2-67043ABC0D44}" type="presParOf" srcId="{7CA5345E-3DE7-4E47-AF5E-722F9EA5256D}" destId="{C1713F15-EB3C-42A2-B328-D0F016AB9652}" srcOrd="4" destOrd="0" presId="urn:microsoft.com/office/officeart/2005/8/layout/hProcess7"/>
    <dgm:cxn modelId="{39F9ECF7-2EFA-4688-B1A8-D131BBC2B97C}" type="presParOf" srcId="{C1713F15-EB3C-42A2-B328-D0F016AB9652}" destId="{0B383629-83CD-4359-AEEA-E90FC973FA28}" srcOrd="0" destOrd="0" presId="urn:microsoft.com/office/officeart/2005/8/layout/hProcess7"/>
    <dgm:cxn modelId="{30705891-3927-4269-829B-EC84B47E5949}" type="presParOf" srcId="{C1713F15-EB3C-42A2-B328-D0F016AB9652}" destId="{D8D05BA6-8C65-4901-8E75-67A064AFA3A1}" srcOrd="1" destOrd="0" presId="urn:microsoft.com/office/officeart/2005/8/layout/hProcess7"/>
    <dgm:cxn modelId="{584C89C3-8F38-4D14-8468-4D6A0B88A973}" type="presParOf" srcId="{C1713F15-EB3C-42A2-B328-D0F016AB9652}" destId="{4E3A2974-573A-43AF-90C4-6B9E035A07BE}" srcOrd="2" destOrd="0" presId="urn:microsoft.com/office/officeart/2005/8/layout/hProcess7"/>
    <dgm:cxn modelId="{27D91F66-0FB7-4DBB-94C7-1CCE579D2C7A}" type="presParOf" srcId="{7CA5345E-3DE7-4E47-AF5E-722F9EA5256D}" destId="{6B0C8960-6E13-4268-8392-1C339A03E3D6}" srcOrd="5" destOrd="0" presId="urn:microsoft.com/office/officeart/2005/8/layout/hProcess7"/>
    <dgm:cxn modelId="{922882B6-D749-4F13-A325-33DF03F2278D}" type="presParOf" srcId="{7CA5345E-3DE7-4E47-AF5E-722F9EA5256D}" destId="{1CFCA2A9-6E23-47DB-94BA-84DD7F93B9BB}" srcOrd="6" destOrd="0" presId="urn:microsoft.com/office/officeart/2005/8/layout/hProcess7"/>
    <dgm:cxn modelId="{E8D6C14C-B020-4BD8-943F-D13A66FC1B17}" type="presParOf" srcId="{1CFCA2A9-6E23-47DB-94BA-84DD7F93B9BB}" destId="{71AB97FF-CA36-4BF1-81A5-DCABB63AD694}" srcOrd="0" destOrd="0" presId="urn:microsoft.com/office/officeart/2005/8/layout/hProcess7"/>
    <dgm:cxn modelId="{70734673-4541-4E64-AC81-F4ED80ACD166}" type="presParOf" srcId="{1CFCA2A9-6E23-47DB-94BA-84DD7F93B9BB}" destId="{16023FAC-1277-4AED-91C7-4607E8BCC14B}" srcOrd="1" destOrd="0" presId="urn:microsoft.com/office/officeart/2005/8/layout/hProcess7"/>
    <dgm:cxn modelId="{F54A1056-2BE1-4624-8EDD-31F1EC79ED46}" type="presParOf" srcId="{1CFCA2A9-6E23-47DB-94BA-84DD7F93B9BB}" destId="{5C952B7E-6647-4499-868F-9763E4B4C19F}" srcOrd="2" destOrd="0" presId="urn:microsoft.com/office/officeart/2005/8/layout/hProcess7"/>
    <dgm:cxn modelId="{516018E5-FD95-429F-B88B-8295A83BA97A}" type="presParOf" srcId="{7CA5345E-3DE7-4E47-AF5E-722F9EA5256D}" destId="{BB409440-DE60-448F-A769-7DA88E72D95F}" srcOrd="7" destOrd="0" presId="urn:microsoft.com/office/officeart/2005/8/layout/hProcess7"/>
    <dgm:cxn modelId="{19B4E4B2-6573-47E1-8D6E-ECBFDD6613D8}" type="presParOf" srcId="{7CA5345E-3DE7-4E47-AF5E-722F9EA5256D}" destId="{7B0A486E-5EF8-482E-8106-875209125EB5}" srcOrd="8" destOrd="0" presId="urn:microsoft.com/office/officeart/2005/8/layout/hProcess7"/>
    <dgm:cxn modelId="{00801D91-1498-4B50-BEEA-AF7DEE05F7CE}" type="presParOf" srcId="{7B0A486E-5EF8-482E-8106-875209125EB5}" destId="{135033C3-8158-4562-9E97-7009B9A8B253}" srcOrd="0" destOrd="0" presId="urn:microsoft.com/office/officeart/2005/8/layout/hProcess7"/>
    <dgm:cxn modelId="{58F5F31D-B914-45E6-9A5F-49AED8A9E8F7}" type="presParOf" srcId="{7B0A486E-5EF8-482E-8106-875209125EB5}" destId="{1BF8793C-71D5-4891-B57F-5827E4BE7643}" srcOrd="1" destOrd="0" presId="urn:microsoft.com/office/officeart/2005/8/layout/hProcess7"/>
    <dgm:cxn modelId="{56FCC12B-0776-46FD-BB1A-9AA4E5037779}" type="presParOf" srcId="{7B0A486E-5EF8-482E-8106-875209125EB5}" destId="{7CAA51FA-B8F8-4507-A9F2-90968D8EBF5C}" srcOrd="2" destOrd="0" presId="urn:microsoft.com/office/officeart/2005/8/layout/hProcess7"/>
    <dgm:cxn modelId="{01CD2242-53FB-4777-964F-8D4E4434A650}" type="presParOf" srcId="{7CA5345E-3DE7-4E47-AF5E-722F9EA5256D}" destId="{6DA7DE5F-68B5-4B52-B8ED-F0B2F23E7E7E}" srcOrd="9" destOrd="0" presId="urn:microsoft.com/office/officeart/2005/8/layout/hProcess7"/>
    <dgm:cxn modelId="{E56A755B-BFEE-4935-B5E3-1BDB7F58479D}" type="presParOf" srcId="{7CA5345E-3DE7-4E47-AF5E-722F9EA5256D}" destId="{C7F48B1B-C8C9-43FA-8DAE-675443020F50}" srcOrd="10" destOrd="0" presId="urn:microsoft.com/office/officeart/2005/8/layout/hProcess7"/>
    <dgm:cxn modelId="{86C5BA5A-F4C0-4E49-A275-B14F145D4381}" type="presParOf" srcId="{C7F48B1B-C8C9-43FA-8DAE-675443020F50}" destId="{4373B80E-8D90-424A-8D0A-9BB50D701248}" srcOrd="0" destOrd="0" presId="urn:microsoft.com/office/officeart/2005/8/layout/hProcess7"/>
    <dgm:cxn modelId="{D5F45922-F055-4300-BE36-AE07D2EEEEB0}" type="presParOf" srcId="{C7F48B1B-C8C9-43FA-8DAE-675443020F50}" destId="{0DA57B71-008C-4894-B55E-E5FD733F7F74}" srcOrd="1" destOrd="0" presId="urn:microsoft.com/office/officeart/2005/8/layout/hProcess7"/>
    <dgm:cxn modelId="{1DFB3208-C62B-43EB-9054-C0719BDEED49}" type="presParOf" srcId="{C7F48B1B-C8C9-43FA-8DAE-675443020F50}" destId="{880FF6DE-3B86-4888-A96E-67E3D03CB1A0}" srcOrd="2" destOrd="0" presId="urn:microsoft.com/office/officeart/2005/8/layout/hProcess7"/>
    <dgm:cxn modelId="{FA764434-F82C-49D1-95CB-EDBD000BE85F}" type="presParOf" srcId="{7CA5345E-3DE7-4E47-AF5E-722F9EA5256D}" destId="{08E9D404-7676-47FD-AC05-B86054093CFC}" srcOrd="11" destOrd="0" presId="urn:microsoft.com/office/officeart/2005/8/layout/hProcess7"/>
    <dgm:cxn modelId="{4EF9D597-64AD-4992-8282-5EA31E3A173C}" type="presParOf" srcId="{7CA5345E-3DE7-4E47-AF5E-722F9EA5256D}" destId="{19DF4B68-1A79-4E45-B1F0-D73F1362B634}" srcOrd="12" destOrd="0" presId="urn:microsoft.com/office/officeart/2005/8/layout/hProcess7"/>
    <dgm:cxn modelId="{BF54E46D-0112-4610-A398-BE1EA403E1E7}" type="presParOf" srcId="{19DF4B68-1A79-4E45-B1F0-D73F1362B634}" destId="{40806E1A-AC12-46CB-8035-62E0BEE68B3B}" srcOrd="0" destOrd="0" presId="urn:microsoft.com/office/officeart/2005/8/layout/hProcess7"/>
    <dgm:cxn modelId="{864C8814-2151-45A7-B6FD-2DD8E38E66C9}" type="presParOf" srcId="{19DF4B68-1A79-4E45-B1F0-D73F1362B634}" destId="{FADE4B2B-1F72-46F1-937C-204B1E5603B5}" srcOrd="1" destOrd="0" presId="urn:microsoft.com/office/officeart/2005/8/layout/hProcess7"/>
    <dgm:cxn modelId="{1A394AF0-1614-4C0D-B726-562FAD2757A5}" type="presParOf" srcId="{19DF4B68-1A79-4E45-B1F0-D73F1362B634}" destId="{AD290A18-AAFD-43C5-818F-B8813541629E}" srcOrd="2" destOrd="0" presId="urn:microsoft.com/office/officeart/2005/8/layout/hProcess7"/>
    <dgm:cxn modelId="{2BA1C3B9-0F22-4581-8C42-F529DD558EA8}" type="presParOf" srcId="{7CA5345E-3DE7-4E47-AF5E-722F9EA5256D}" destId="{DFFAE9AF-FE90-42A1-8A62-22F36482DBF6}" srcOrd="13" destOrd="0" presId="urn:microsoft.com/office/officeart/2005/8/layout/hProcess7"/>
    <dgm:cxn modelId="{347208A3-5D26-49BE-8FA2-3B53FDAF4044}" type="presParOf" srcId="{7CA5345E-3DE7-4E47-AF5E-722F9EA5256D}" destId="{7EB2D3A1-7F9E-4D9C-9624-793BDD74FE55}" srcOrd="14" destOrd="0" presId="urn:microsoft.com/office/officeart/2005/8/layout/hProcess7"/>
    <dgm:cxn modelId="{C7761B21-E171-4322-9F97-8D9F8308A73E}" type="presParOf" srcId="{7EB2D3A1-7F9E-4D9C-9624-793BDD74FE55}" destId="{C0D1E765-A472-4B62-8FCB-B646D5679456}" srcOrd="0" destOrd="0" presId="urn:microsoft.com/office/officeart/2005/8/layout/hProcess7"/>
    <dgm:cxn modelId="{36A4C806-9031-40E1-89D9-B9DAAD2C5AA5}" type="presParOf" srcId="{7EB2D3A1-7F9E-4D9C-9624-793BDD74FE55}" destId="{1FBA44AA-878F-4A4E-B606-BACD4ADB05DA}" srcOrd="1" destOrd="0" presId="urn:microsoft.com/office/officeart/2005/8/layout/hProcess7"/>
    <dgm:cxn modelId="{F9CE127C-BD40-46E2-A3A6-3F8580351B08}" type="presParOf" srcId="{7EB2D3A1-7F9E-4D9C-9624-793BDD74FE55}" destId="{63BEB0CC-BF39-4C6F-AEAD-12F2B6C007E3}" srcOrd="2" destOrd="0" presId="urn:microsoft.com/office/officeart/2005/8/layout/hProcess7"/>
    <dgm:cxn modelId="{BF33A7C3-EED6-4BAF-A047-D95494492A0C}" type="presParOf" srcId="{7CA5345E-3DE7-4E47-AF5E-722F9EA5256D}" destId="{047DE282-7AB3-4705-B295-D426F0BF62AE}" srcOrd="15" destOrd="0" presId="urn:microsoft.com/office/officeart/2005/8/layout/hProcess7"/>
    <dgm:cxn modelId="{9FA319DA-0DAC-4066-AC73-B05493783A2C}" type="presParOf" srcId="{7CA5345E-3DE7-4E47-AF5E-722F9EA5256D}" destId="{E2869BEF-6CFE-4AC2-AE3D-2E4C2EC5765B}" srcOrd="16" destOrd="0" presId="urn:microsoft.com/office/officeart/2005/8/layout/hProcess7"/>
    <dgm:cxn modelId="{8EAB684E-81CC-486B-84E1-78D60613EDE8}" type="presParOf" srcId="{E2869BEF-6CFE-4AC2-AE3D-2E4C2EC5765B}" destId="{0A29BFE5-E6E5-4F58-A342-1079F1A9928A}" srcOrd="0" destOrd="0" presId="urn:microsoft.com/office/officeart/2005/8/layout/hProcess7"/>
    <dgm:cxn modelId="{86DD2823-FE69-4A3F-AF09-958094BBD86A}" type="presParOf" srcId="{E2869BEF-6CFE-4AC2-AE3D-2E4C2EC5765B}" destId="{DBA6DA12-B935-40FD-9AB3-1C28360D4787}" srcOrd="1" destOrd="0" presId="urn:microsoft.com/office/officeart/2005/8/layout/hProcess7"/>
    <dgm:cxn modelId="{CA45E697-1898-4F73-8A2F-5125B527AFAA}" type="presParOf" srcId="{E2869BEF-6CFE-4AC2-AE3D-2E4C2EC5765B}" destId="{8D4C54F0-AC88-4791-BCD4-34EA0E887CE8}" srcOrd="2" destOrd="0" presId="urn:microsoft.com/office/officeart/2005/8/layout/hProcess7"/>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8898316-F98D-4C0A-9003-BC3CF46BFC2C}" type="doc">
      <dgm:prSet loTypeId="urn:microsoft.com/office/officeart/2005/8/layout/process1" loCatId="process" qsTypeId="urn:microsoft.com/office/officeart/2005/8/quickstyle/simple1" qsCatId="simple" csTypeId="urn:microsoft.com/office/officeart/2005/8/colors/accent1_2" csCatId="accent1" phldr="1"/>
      <dgm:spPr/>
    </dgm:pt>
    <dgm:pt modelId="{3B5C54B0-CFB4-4930-93E9-AE243786F7C9}">
      <dgm:prSet phldrT="[Texto]"/>
      <dgm:spPr>
        <a:solidFill>
          <a:srgbClr val="CAD2C5"/>
        </a:solidFill>
        <a:ln>
          <a:solidFill>
            <a:srgbClr val="CAD2C5"/>
          </a:solidFill>
        </a:ln>
        <a:scene3d>
          <a:camera prst="orthographicFront"/>
          <a:lightRig rig="threePt" dir="t"/>
        </a:scene3d>
        <a:sp3d>
          <a:bevelT/>
        </a:sp3d>
      </dgm:spPr>
      <dgm:t>
        <a:bodyPr/>
        <a:lstStyle/>
        <a:p>
          <a:r>
            <a:rPr lang="es-ES" dirty="0">
              <a:solidFill>
                <a:srgbClr val="131D3F"/>
              </a:solidFill>
              <a:latin typeface="Montserrat" panose="00000500000000000000" pitchFamily="2" charset="0"/>
            </a:rPr>
            <a:t>Resumen ejecutivo</a:t>
          </a:r>
          <a:endParaRPr lang="es-MX" dirty="0">
            <a:solidFill>
              <a:srgbClr val="131D3F"/>
            </a:solidFill>
            <a:latin typeface="Montserrat" panose="00000500000000000000" pitchFamily="2" charset="0"/>
          </a:endParaRPr>
        </a:p>
      </dgm:t>
    </dgm:pt>
    <dgm:pt modelId="{A6591753-61C8-4CC6-B24E-DD9B97E677B0}" type="parTrans" cxnId="{FEC7EF3E-D80C-4774-9E1B-57993C4BB232}">
      <dgm:prSet/>
      <dgm:spPr/>
      <dgm:t>
        <a:bodyPr/>
        <a:lstStyle/>
        <a:p>
          <a:endParaRPr lang="es-MX">
            <a:latin typeface="Montserrat" panose="00000500000000000000" pitchFamily="2" charset="0"/>
          </a:endParaRPr>
        </a:p>
      </dgm:t>
    </dgm:pt>
    <dgm:pt modelId="{2FA00A6C-A718-499F-93AF-279ABA762B7F}" type="sibTrans" cxnId="{FEC7EF3E-D80C-4774-9E1B-57993C4BB232}">
      <dgm:prSet/>
      <dgm:spPr>
        <a:solidFill>
          <a:srgbClr val="84A98C"/>
        </a:solidFill>
        <a:scene3d>
          <a:camera prst="orthographicFront"/>
          <a:lightRig rig="threePt" dir="t"/>
        </a:scene3d>
        <a:sp3d>
          <a:bevelT/>
        </a:sp3d>
      </dgm:spPr>
      <dgm:t>
        <a:bodyPr/>
        <a:lstStyle/>
        <a:p>
          <a:endParaRPr lang="es-MX">
            <a:latin typeface="Montserrat" panose="00000500000000000000" pitchFamily="2" charset="0"/>
          </a:endParaRPr>
        </a:p>
      </dgm:t>
    </dgm:pt>
    <dgm:pt modelId="{31E3553C-0666-480E-AF45-C0C03F086131}">
      <dgm:prSet phldrT="[Texto]"/>
      <dgm:spPr>
        <a:solidFill>
          <a:srgbClr val="84A98C"/>
        </a:solidFill>
        <a:ln>
          <a:solidFill>
            <a:srgbClr val="84A98C"/>
          </a:solidFill>
        </a:ln>
        <a:scene3d>
          <a:camera prst="orthographicFront"/>
          <a:lightRig rig="threePt" dir="t"/>
        </a:scene3d>
        <a:sp3d>
          <a:bevelT/>
        </a:sp3d>
      </dgm:spPr>
      <dgm:t>
        <a:bodyPr/>
        <a:lstStyle/>
        <a:p>
          <a:r>
            <a:rPr lang="es-ES" dirty="0">
              <a:latin typeface="Montserrat" panose="00000500000000000000" pitchFamily="2" charset="0"/>
            </a:rPr>
            <a:t>Descripción del proyecto</a:t>
          </a:r>
          <a:endParaRPr lang="es-MX" dirty="0">
            <a:latin typeface="Montserrat" panose="00000500000000000000" pitchFamily="2" charset="0"/>
          </a:endParaRPr>
        </a:p>
      </dgm:t>
    </dgm:pt>
    <dgm:pt modelId="{F35CB73C-3070-4D9E-9C9D-E6C24F2C8CCE}" type="parTrans" cxnId="{40D9F193-EC99-4548-AE55-5E4536C8E308}">
      <dgm:prSet/>
      <dgm:spPr/>
      <dgm:t>
        <a:bodyPr/>
        <a:lstStyle/>
        <a:p>
          <a:endParaRPr lang="es-MX">
            <a:latin typeface="Montserrat" panose="00000500000000000000" pitchFamily="2" charset="0"/>
          </a:endParaRPr>
        </a:p>
      </dgm:t>
    </dgm:pt>
    <dgm:pt modelId="{B768BEAD-55DA-4C18-BD5A-AC9745F5A197}" type="sibTrans" cxnId="{40D9F193-EC99-4548-AE55-5E4536C8E308}">
      <dgm:prSet/>
      <dgm:spPr>
        <a:solidFill>
          <a:srgbClr val="84A98C"/>
        </a:solidFill>
        <a:scene3d>
          <a:camera prst="orthographicFront"/>
          <a:lightRig rig="threePt" dir="t"/>
        </a:scene3d>
        <a:sp3d>
          <a:bevelT/>
        </a:sp3d>
      </dgm:spPr>
      <dgm:t>
        <a:bodyPr/>
        <a:lstStyle/>
        <a:p>
          <a:endParaRPr lang="es-MX">
            <a:latin typeface="Montserrat" panose="00000500000000000000" pitchFamily="2" charset="0"/>
          </a:endParaRPr>
        </a:p>
      </dgm:t>
    </dgm:pt>
    <dgm:pt modelId="{2C188816-383B-415B-949C-C8894BA6190C}">
      <dgm:prSet phldrT="[Texto]"/>
      <dgm:spPr>
        <a:solidFill>
          <a:srgbClr val="52796F"/>
        </a:solidFill>
        <a:ln>
          <a:solidFill>
            <a:srgbClr val="52796F"/>
          </a:solidFill>
        </a:ln>
        <a:scene3d>
          <a:camera prst="orthographicFront"/>
          <a:lightRig rig="threePt" dir="t"/>
        </a:scene3d>
        <a:sp3d>
          <a:bevelT/>
        </a:sp3d>
      </dgm:spPr>
      <dgm:t>
        <a:bodyPr/>
        <a:lstStyle/>
        <a:p>
          <a:r>
            <a:rPr lang="es-ES" dirty="0">
              <a:latin typeface="Montserrat" panose="00000500000000000000" pitchFamily="2" charset="0"/>
            </a:rPr>
            <a:t>Análisis del mercado</a:t>
          </a:r>
          <a:endParaRPr lang="es-MX" dirty="0">
            <a:latin typeface="Montserrat" panose="00000500000000000000" pitchFamily="2" charset="0"/>
          </a:endParaRPr>
        </a:p>
      </dgm:t>
    </dgm:pt>
    <dgm:pt modelId="{EF4050CF-EEBE-4B31-AC46-3D591ACC1B4B}" type="parTrans" cxnId="{E0C23A1A-0AE7-4377-B928-77FEBA8594B4}">
      <dgm:prSet/>
      <dgm:spPr/>
      <dgm:t>
        <a:bodyPr/>
        <a:lstStyle/>
        <a:p>
          <a:endParaRPr lang="es-MX">
            <a:latin typeface="Montserrat" panose="00000500000000000000" pitchFamily="2" charset="0"/>
          </a:endParaRPr>
        </a:p>
      </dgm:t>
    </dgm:pt>
    <dgm:pt modelId="{FD960D95-FE65-44D7-AA86-9A22128F2BCC}" type="sibTrans" cxnId="{E0C23A1A-0AE7-4377-B928-77FEBA8594B4}">
      <dgm:prSet/>
      <dgm:spPr>
        <a:solidFill>
          <a:srgbClr val="84A98C"/>
        </a:solidFill>
        <a:scene3d>
          <a:camera prst="orthographicFront"/>
          <a:lightRig rig="threePt" dir="t"/>
        </a:scene3d>
        <a:sp3d>
          <a:bevelT/>
        </a:sp3d>
      </dgm:spPr>
      <dgm:t>
        <a:bodyPr/>
        <a:lstStyle/>
        <a:p>
          <a:endParaRPr lang="es-MX">
            <a:latin typeface="Montserrat" panose="00000500000000000000" pitchFamily="2" charset="0"/>
          </a:endParaRPr>
        </a:p>
      </dgm:t>
    </dgm:pt>
    <dgm:pt modelId="{12DD224A-C6EE-4E92-8F47-1293F1F8C783}">
      <dgm:prSet phldrT="[Texto]"/>
      <dgm:spPr>
        <a:solidFill>
          <a:srgbClr val="354F52"/>
        </a:solidFill>
        <a:ln>
          <a:solidFill>
            <a:srgbClr val="354F52"/>
          </a:solidFill>
        </a:ln>
        <a:scene3d>
          <a:camera prst="orthographicFront"/>
          <a:lightRig rig="threePt" dir="t"/>
        </a:scene3d>
        <a:sp3d>
          <a:bevelT/>
        </a:sp3d>
      </dgm:spPr>
      <dgm:t>
        <a:bodyPr/>
        <a:lstStyle/>
        <a:p>
          <a:r>
            <a:rPr lang="es-ES" dirty="0">
              <a:latin typeface="Montserrat" panose="00000500000000000000" pitchFamily="2" charset="0"/>
            </a:rPr>
            <a:t>Plan financiero</a:t>
          </a:r>
          <a:endParaRPr lang="es-MX" dirty="0">
            <a:latin typeface="Montserrat" panose="00000500000000000000" pitchFamily="2" charset="0"/>
          </a:endParaRPr>
        </a:p>
      </dgm:t>
    </dgm:pt>
    <dgm:pt modelId="{64B365B6-20B7-43E4-85AA-42DFD7B2691A}" type="parTrans" cxnId="{EB77E201-7814-44C7-9230-1B59699EB253}">
      <dgm:prSet/>
      <dgm:spPr/>
      <dgm:t>
        <a:bodyPr/>
        <a:lstStyle/>
        <a:p>
          <a:endParaRPr lang="es-MX">
            <a:latin typeface="Montserrat" panose="00000500000000000000" pitchFamily="2" charset="0"/>
          </a:endParaRPr>
        </a:p>
      </dgm:t>
    </dgm:pt>
    <dgm:pt modelId="{AE534572-F3A7-4231-8A3A-632B5FFD57A3}" type="sibTrans" cxnId="{EB77E201-7814-44C7-9230-1B59699EB253}">
      <dgm:prSet/>
      <dgm:spPr>
        <a:solidFill>
          <a:srgbClr val="84A98C"/>
        </a:solidFill>
        <a:scene3d>
          <a:camera prst="orthographicFront"/>
          <a:lightRig rig="threePt" dir="t"/>
        </a:scene3d>
        <a:sp3d>
          <a:bevelT/>
        </a:sp3d>
      </dgm:spPr>
      <dgm:t>
        <a:bodyPr/>
        <a:lstStyle/>
        <a:p>
          <a:endParaRPr lang="es-MX">
            <a:latin typeface="Montserrat" panose="00000500000000000000" pitchFamily="2" charset="0"/>
          </a:endParaRPr>
        </a:p>
      </dgm:t>
    </dgm:pt>
    <dgm:pt modelId="{1495C44C-3154-46E3-96C9-8923EE20C6EF}">
      <dgm:prSet phldrT="[Texto]"/>
      <dgm:spPr>
        <a:solidFill>
          <a:srgbClr val="2F3E46"/>
        </a:solidFill>
        <a:ln>
          <a:solidFill>
            <a:srgbClr val="2F3E46"/>
          </a:solidFill>
        </a:ln>
        <a:scene3d>
          <a:camera prst="orthographicFront"/>
          <a:lightRig rig="threePt" dir="t"/>
        </a:scene3d>
        <a:sp3d>
          <a:bevelT/>
        </a:sp3d>
      </dgm:spPr>
      <dgm:t>
        <a:bodyPr/>
        <a:lstStyle/>
        <a:p>
          <a:r>
            <a:rPr lang="es-ES" dirty="0">
              <a:latin typeface="Montserrat" panose="00000500000000000000" pitchFamily="2" charset="0"/>
            </a:rPr>
            <a:t>Estrategia de financiamiento</a:t>
          </a:r>
          <a:endParaRPr lang="es-MX" dirty="0">
            <a:latin typeface="Montserrat" panose="00000500000000000000" pitchFamily="2" charset="0"/>
          </a:endParaRPr>
        </a:p>
      </dgm:t>
    </dgm:pt>
    <dgm:pt modelId="{AE45BC41-E6B9-489B-968D-AF45E8D80A58}" type="parTrans" cxnId="{77CB660F-DF82-491A-8029-99BF5EC61EF6}">
      <dgm:prSet/>
      <dgm:spPr/>
      <dgm:t>
        <a:bodyPr/>
        <a:lstStyle/>
        <a:p>
          <a:endParaRPr lang="es-MX">
            <a:latin typeface="Montserrat" panose="00000500000000000000" pitchFamily="2" charset="0"/>
          </a:endParaRPr>
        </a:p>
      </dgm:t>
    </dgm:pt>
    <dgm:pt modelId="{835FC392-7AE7-421D-A0E5-76F465406BAD}" type="sibTrans" cxnId="{77CB660F-DF82-491A-8029-99BF5EC61EF6}">
      <dgm:prSet/>
      <dgm:spPr/>
      <dgm:t>
        <a:bodyPr/>
        <a:lstStyle/>
        <a:p>
          <a:endParaRPr lang="es-MX">
            <a:latin typeface="Montserrat" panose="00000500000000000000" pitchFamily="2" charset="0"/>
          </a:endParaRPr>
        </a:p>
      </dgm:t>
    </dgm:pt>
    <dgm:pt modelId="{A1738A56-EECF-4848-9136-301ADB88301B}" type="pres">
      <dgm:prSet presAssocID="{58898316-F98D-4C0A-9003-BC3CF46BFC2C}" presName="Name0" presStyleCnt="0">
        <dgm:presLayoutVars>
          <dgm:dir/>
          <dgm:resizeHandles val="exact"/>
        </dgm:presLayoutVars>
      </dgm:prSet>
      <dgm:spPr/>
    </dgm:pt>
    <dgm:pt modelId="{DDD20E93-CE3D-4B10-B4C6-45985EB08AAF}" type="pres">
      <dgm:prSet presAssocID="{3B5C54B0-CFB4-4930-93E9-AE243786F7C9}" presName="node" presStyleLbl="node1" presStyleIdx="0" presStyleCnt="5" custScaleX="161195">
        <dgm:presLayoutVars>
          <dgm:bulletEnabled val="1"/>
        </dgm:presLayoutVars>
      </dgm:prSet>
      <dgm:spPr/>
    </dgm:pt>
    <dgm:pt modelId="{7A5F31CD-223C-4961-B5F9-3D210D453A5F}" type="pres">
      <dgm:prSet presAssocID="{2FA00A6C-A718-499F-93AF-279ABA762B7F}" presName="sibTrans" presStyleLbl="sibTrans2D1" presStyleIdx="0" presStyleCnt="4"/>
      <dgm:spPr/>
    </dgm:pt>
    <dgm:pt modelId="{1A7AECCE-EC19-4B57-BAA4-8E5E48020FBC}" type="pres">
      <dgm:prSet presAssocID="{2FA00A6C-A718-499F-93AF-279ABA762B7F}" presName="connectorText" presStyleLbl="sibTrans2D1" presStyleIdx="0" presStyleCnt="4"/>
      <dgm:spPr/>
    </dgm:pt>
    <dgm:pt modelId="{2D269323-00A4-442A-A128-62EBA2E49116}" type="pres">
      <dgm:prSet presAssocID="{31E3553C-0666-480E-AF45-C0C03F086131}" presName="node" presStyleLbl="node1" presStyleIdx="1" presStyleCnt="5" custScaleX="161195">
        <dgm:presLayoutVars>
          <dgm:bulletEnabled val="1"/>
        </dgm:presLayoutVars>
      </dgm:prSet>
      <dgm:spPr/>
    </dgm:pt>
    <dgm:pt modelId="{31797A44-F1C4-4321-BB35-496A97862A62}" type="pres">
      <dgm:prSet presAssocID="{B768BEAD-55DA-4C18-BD5A-AC9745F5A197}" presName="sibTrans" presStyleLbl="sibTrans2D1" presStyleIdx="1" presStyleCnt="4"/>
      <dgm:spPr/>
    </dgm:pt>
    <dgm:pt modelId="{B173398F-EA3D-4583-AEAC-232A58AC3944}" type="pres">
      <dgm:prSet presAssocID="{B768BEAD-55DA-4C18-BD5A-AC9745F5A197}" presName="connectorText" presStyleLbl="sibTrans2D1" presStyleIdx="1" presStyleCnt="4"/>
      <dgm:spPr/>
    </dgm:pt>
    <dgm:pt modelId="{E2762AFB-1FFF-4EE0-9718-94F838731073}" type="pres">
      <dgm:prSet presAssocID="{2C188816-383B-415B-949C-C8894BA6190C}" presName="node" presStyleLbl="node1" presStyleIdx="2" presStyleCnt="5" custScaleX="161195">
        <dgm:presLayoutVars>
          <dgm:bulletEnabled val="1"/>
        </dgm:presLayoutVars>
      </dgm:prSet>
      <dgm:spPr/>
    </dgm:pt>
    <dgm:pt modelId="{13F7FB76-305F-4A22-B220-45E68BA23231}" type="pres">
      <dgm:prSet presAssocID="{FD960D95-FE65-44D7-AA86-9A22128F2BCC}" presName="sibTrans" presStyleLbl="sibTrans2D1" presStyleIdx="2" presStyleCnt="4"/>
      <dgm:spPr/>
    </dgm:pt>
    <dgm:pt modelId="{53DEB2AA-4350-443F-907C-FF5503F46071}" type="pres">
      <dgm:prSet presAssocID="{FD960D95-FE65-44D7-AA86-9A22128F2BCC}" presName="connectorText" presStyleLbl="sibTrans2D1" presStyleIdx="2" presStyleCnt="4"/>
      <dgm:spPr/>
    </dgm:pt>
    <dgm:pt modelId="{694025E5-C4F9-45E4-83D4-6B9D0F0EB72A}" type="pres">
      <dgm:prSet presAssocID="{12DD224A-C6EE-4E92-8F47-1293F1F8C783}" presName="node" presStyleLbl="node1" presStyleIdx="3" presStyleCnt="5" custScaleX="161195">
        <dgm:presLayoutVars>
          <dgm:bulletEnabled val="1"/>
        </dgm:presLayoutVars>
      </dgm:prSet>
      <dgm:spPr/>
    </dgm:pt>
    <dgm:pt modelId="{78DE79A8-B1B8-4359-81DE-31B7869AFBDC}" type="pres">
      <dgm:prSet presAssocID="{AE534572-F3A7-4231-8A3A-632B5FFD57A3}" presName="sibTrans" presStyleLbl="sibTrans2D1" presStyleIdx="3" presStyleCnt="4"/>
      <dgm:spPr/>
    </dgm:pt>
    <dgm:pt modelId="{B341C9B4-84B0-4EEA-B70B-F1C6E2B75EAE}" type="pres">
      <dgm:prSet presAssocID="{AE534572-F3A7-4231-8A3A-632B5FFD57A3}" presName="connectorText" presStyleLbl="sibTrans2D1" presStyleIdx="3" presStyleCnt="4"/>
      <dgm:spPr/>
    </dgm:pt>
    <dgm:pt modelId="{50476DBC-4E34-4204-807D-E93B682490CA}" type="pres">
      <dgm:prSet presAssocID="{1495C44C-3154-46E3-96C9-8923EE20C6EF}" presName="node" presStyleLbl="node1" presStyleIdx="4" presStyleCnt="5" custScaleX="161195">
        <dgm:presLayoutVars>
          <dgm:bulletEnabled val="1"/>
        </dgm:presLayoutVars>
      </dgm:prSet>
      <dgm:spPr/>
    </dgm:pt>
  </dgm:ptLst>
  <dgm:cxnLst>
    <dgm:cxn modelId="{EB77E201-7814-44C7-9230-1B59699EB253}" srcId="{58898316-F98D-4C0A-9003-BC3CF46BFC2C}" destId="{12DD224A-C6EE-4E92-8F47-1293F1F8C783}" srcOrd="3" destOrd="0" parTransId="{64B365B6-20B7-43E4-85AA-42DFD7B2691A}" sibTransId="{AE534572-F3A7-4231-8A3A-632B5FFD57A3}"/>
    <dgm:cxn modelId="{77CB660F-DF82-491A-8029-99BF5EC61EF6}" srcId="{58898316-F98D-4C0A-9003-BC3CF46BFC2C}" destId="{1495C44C-3154-46E3-96C9-8923EE20C6EF}" srcOrd="4" destOrd="0" parTransId="{AE45BC41-E6B9-489B-968D-AF45E8D80A58}" sibTransId="{835FC392-7AE7-421D-A0E5-76F465406BAD}"/>
    <dgm:cxn modelId="{E0C23A1A-0AE7-4377-B928-77FEBA8594B4}" srcId="{58898316-F98D-4C0A-9003-BC3CF46BFC2C}" destId="{2C188816-383B-415B-949C-C8894BA6190C}" srcOrd="2" destOrd="0" parTransId="{EF4050CF-EEBE-4B31-AC46-3D591ACC1B4B}" sibTransId="{FD960D95-FE65-44D7-AA86-9A22128F2BCC}"/>
    <dgm:cxn modelId="{C8F2601A-815F-4949-A4E9-FB22C37818F7}" type="presOf" srcId="{1495C44C-3154-46E3-96C9-8923EE20C6EF}" destId="{50476DBC-4E34-4204-807D-E93B682490CA}" srcOrd="0" destOrd="0" presId="urn:microsoft.com/office/officeart/2005/8/layout/process1"/>
    <dgm:cxn modelId="{DFA5222A-5A64-47D8-92CC-25D933E7BD62}" type="presOf" srcId="{12DD224A-C6EE-4E92-8F47-1293F1F8C783}" destId="{694025E5-C4F9-45E4-83D4-6B9D0F0EB72A}" srcOrd="0" destOrd="0" presId="urn:microsoft.com/office/officeart/2005/8/layout/process1"/>
    <dgm:cxn modelId="{6754F433-DBB3-473E-969B-A339215C6413}" type="presOf" srcId="{FD960D95-FE65-44D7-AA86-9A22128F2BCC}" destId="{13F7FB76-305F-4A22-B220-45E68BA23231}" srcOrd="0" destOrd="0" presId="urn:microsoft.com/office/officeart/2005/8/layout/process1"/>
    <dgm:cxn modelId="{EEBCBD3C-E8E5-4FD9-86C4-966E392B2847}" type="presOf" srcId="{FD960D95-FE65-44D7-AA86-9A22128F2BCC}" destId="{53DEB2AA-4350-443F-907C-FF5503F46071}" srcOrd="1" destOrd="0" presId="urn:microsoft.com/office/officeart/2005/8/layout/process1"/>
    <dgm:cxn modelId="{FEC7EF3E-D80C-4774-9E1B-57993C4BB232}" srcId="{58898316-F98D-4C0A-9003-BC3CF46BFC2C}" destId="{3B5C54B0-CFB4-4930-93E9-AE243786F7C9}" srcOrd="0" destOrd="0" parTransId="{A6591753-61C8-4CC6-B24E-DD9B97E677B0}" sibTransId="{2FA00A6C-A718-499F-93AF-279ABA762B7F}"/>
    <dgm:cxn modelId="{6EBC5566-6298-4DC0-95AD-17AD28B0B98B}" type="presOf" srcId="{31E3553C-0666-480E-AF45-C0C03F086131}" destId="{2D269323-00A4-442A-A128-62EBA2E49116}" srcOrd="0" destOrd="0" presId="urn:microsoft.com/office/officeart/2005/8/layout/process1"/>
    <dgm:cxn modelId="{03D29176-9109-4081-A13F-DEB9DC894ABC}" type="presOf" srcId="{AE534572-F3A7-4231-8A3A-632B5FFD57A3}" destId="{78DE79A8-B1B8-4359-81DE-31B7869AFBDC}" srcOrd="0" destOrd="0" presId="urn:microsoft.com/office/officeart/2005/8/layout/process1"/>
    <dgm:cxn modelId="{E34BB379-B7E4-46C1-9799-03843B608EE2}" type="presOf" srcId="{2FA00A6C-A718-499F-93AF-279ABA762B7F}" destId="{7A5F31CD-223C-4961-B5F9-3D210D453A5F}" srcOrd="0" destOrd="0" presId="urn:microsoft.com/office/officeart/2005/8/layout/process1"/>
    <dgm:cxn modelId="{EE780480-3051-40AB-9B64-FC75808BBCBF}" type="presOf" srcId="{B768BEAD-55DA-4C18-BD5A-AC9745F5A197}" destId="{B173398F-EA3D-4583-AEAC-232A58AC3944}" srcOrd="1" destOrd="0" presId="urn:microsoft.com/office/officeart/2005/8/layout/process1"/>
    <dgm:cxn modelId="{99A1188E-92FF-4489-86E6-A743B18D0200}" type="presOf" srcId="{2C188816-383B-415B-949C-C8894BA6190C}" destId="{E2762AFB-1FFF-4EE0-9718-94F838731073}" srcOrd="0" destOrd="0" presId="urn:microsoft.com/office/officeart/2005/8/layout/process1"/>
    <dgm:cxn modelId="{40D9F193-EC99-4548-AE55-5E4536C8E308}" srcId="{58898316-F98D-4C0A-9003-BC3CF46BFC2C}" destId="{31E3553C-0666-480E-AF45-C0C03F086131}" srcOrd="1" destOrd="0" parTransId="{F35CB73C-3070-4D9E-9C9D-E6C24F2C8CCE}" sibTransId="{B768BEAD-55DA-4C18-BD5A-AC9745F5A197}"/>
    <dgm:cxn modelId="{BCE1D9A4-5190-40AA-B61D-00D2419D31A9}" type="presOf" srcId="{58898316-F98D-4C0A-9003-BC3CF46BFC2C}" destId="{A1738A56-EECF-4848-9136-301ADB88301B}" srcOrd="0" destOrd="0" presId="urn:microsoft.com/office/officeart/2005/8/layout/process1"/>
    <dgm:cxn modelId="{DC1C9CC2-E9CC-40FD-B83F-C8E5E0D685A1}" type="presOf" srcId="{B768BEAD-55DA-4C18-BD5A-AC9745F5A197}" destId="{31797A44-F1C4-4321-BB35-496A97862A62}" srcOrd="0" destOrd="0" presId="urn:microsoft.com/office/officeart/2005/8/layout/process1"/>
    <dgm:cxn modelId="{C26623CA-1295-4122-A946-B8A3E4102906}" type="presOf" srcId="{2FA00A6C-A718-499F-93AF-279ABA762B7F}" destId="{1A7AECCE-EC19-4B57-BAA4-8E5E48020FBC}" srcOrd="1" destOrd="0" presId="urn:microsoft.com/office/officeart/2005/8/layout/process1"/>
    <dgm:cxn modelId="{643A39E0-C485-4213-AACD-EFB099D94110}" type="presOf" srcId="{3B5C54B0-CFB4-4930-93E9-AE243786F7C9}" destId="{DDD20E93-CE3D-4B10-B4C6-45985EB08AAF}" srcOrd="0" destOrd="0" presId="urn:microsoft.com/office/officeart/2005/8/layout/process1"/>
    <dgm:cxn modelId="{ADA978ED-9E84-4869-8C49-564723BDEB08}" type="presOf" srcId="{AE534572-F3A7-4231-8A3A-632B5FFD57A3}" destId="{B341C9B4-84B0-4EEA-B70B-F1C6E2B75EAE}" srcOrd="1" destOrd="0" presId="urn:microsoft.com/office/officeart/2005/8/layout/process1"/>
    <dgm:cxn modelId="{F5008BA0-62C2-40EF-BDAF-D509C1D3F423}" type="presParOf" srcId="{A1738A56-EECF-4848-9136-301ADB88301B}" destId="{DDD20E93-CE3D-4B10-B4C6-45985EB08AAF}" srcOrd="0" destOrd="0" presId="urn:microsoft.com/office/officeart/2005/8/layout/process1"/>
    <dgm:cxn modelId="{11701A30-138C-4E0D-AA7A-0F2B2A0D7D89}" type="presParOf" srcId="{A1738A56-EECF-4848-9136-301ADB88301B}" destId="{7A5F31CD-223C-4961-B5F9-3D210D453A5F}" srcOrd="1" destOrd="0" presId="urn:microsoft.com/office/officeart/2005/8/layout/process1"/>
    <dgm:cxn modelId="{817D3ED3-B44A-4DA1-A0BD-D6C3BF4F4CA0}" type="presParOf" srcId="{7A5F31CD-223C-4961-B5F9-3D210D453A5F}" destId="{1A7AECCE-EC19-4B57-BAA4-8E5E48020FBC}" srcOrd="0" destOrd="0" presId="urn:microsoft.com/office/officeart/2005/8/layout/process1"/>
    <dgm:cxn modelId="{8238D000-6E13-4631-94BC-3A2E79C06E08}" type="presParOf" srcId="{A1738A56-EECF-4848-9136-301ADB88301B}" destId="{2D269323-00A4-442A-A128-62EBA2E49116}" srcOrd="2" destOrd="0" presId="urn:microsoft.com/office/officeart/2005/8/layout/process1"/>
    <dgm:cxn modelId="{F20D014E-582C-4C43-B88A-F08F269E9120}" type="presParOf" srcId="{A1738A56-EECF-4848-9136-301ADB88301B}" destId="{31797A44-F1C4-4321-BB35-496A97862A62}" srcOrd="3" destOrd="0" presId="urn:microsoft.com/office/officeart/2005/8/layout/process1"/>
    <dgm:cxn modelId="{4E5A1BA0-BB4C-4E6F-A996-01EF12B6E7B3}" type="presParOf" srcId="{31797A44-F1C4-4321-BB35-496A97862A62}" destId="{B173398F-EA3D-4583-AEAC-232A58AC3944}" srcOrd="0" destOrd="0" presId="urn:microsoft.com/office/officeart/2005/8/layout/process1"/>
    <dgm:cxn modelId="{E6C69547-4251-4854-B22D-EA7B78BE6564}" type="presParOf" srcId="{A1738A56-EECF-4848-9136-301ADB88301B}" destId="{E2762AFB-1FFF-4EE0-9718-94F838731073}" srcOrd="4" destOrd="0" presId="urn:microsoft.com/office/officeart/2005/8/layout/process1"/>
    <dgm:cxn modelId="{73D00C60-BDCE-4EB2-B5A7-5BF3EBEB3F73}" type="presParOf" srcId="{A1738A56-EECF-4848-9136-301ADB88301B}" destId="{13F7FB76-305F-4A22-B220-45E68BA23231}" srcOrd="5" destOrd="0" presId="urn:microsoft.com/office/officeart/2005/8/layout/process1"/>
    <dgm:cxn modelId="{38EA255F-2D8D-42BC-83B5-68A95FEBC54F}" type="presParOf" srcId="{13F7FB76-305F-4A22-B220-45E68BA23231}" destId="{53DEB2AA-4350-443F-907C-FF5503F46071}" srcOrd="0" destOrd="0" presId="urn:microsoft.com/office/officeart/2005/8/layout/process1"/>
    <dgm:cxn modelId="{21644884-8D47-40CD-9CC2-4E9F14E5A611}" type="presParOf" srcId="{A1738A56-EECF-4848-9136-301ADB88301B}" destId="{694025E5-C4F9-45E4-83D4-6B9D0F0EB72A}" srcOrd="6" destOrd="0" presId="urn:microsoft.com/office/officeart/2005/8/layout/process1"/>
    <dgm:cxn modelId="{93D21618-3B21-4730-91E2-17DDD69A53BE}" type="presParOf" srcId="{A1738A56-EECF-4848-9136-301ADB88301B}" destId="{78DE79A8-B1B8-4359-81DE-31B7869AFBDC}" srcOrd="7" destOrd="0" presId="urn:microsoft.com/office/officeart/2005/8/layout/process1"/>
    <dgm:cxn modelId="{DAAE7361-1476-48A3-8C83-1837DC5658E7}" type="presParOf" srcId="{78DE79A8-B1B8-4359-81DE-31B7869AFBDC}" destId="{B341C9B4-84B0-4EEA-B70B-F1C6E2B75EAE}" srcOrd="0" destOrd="0" presId="urn:microsoft.com/office/officeart/2005/8/layout/process1"/>
    <dgm:cxn modelId="{03BD8345-5AD5-43BE-9F92-95417C7A820E}" type="presParOf" srcId="{A1738A56-EECF-4848-9136-301ADB88301B}" destId="{50476DBC-4E34-4204-807D-E93B682490CA}" srcOrd="8"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8898316-F98D-4C0A-9003-BC3CF46BFC2C}" type="doc">
      <dgm:prSet loTypeId="urn:microsoft.com/office/officeart/2005/8/layout/process1" loCatId="process" qsTypeId="urn:microsoft.com/office/officeart/2005/8/quickstyle/simple1" qsCatId="simple" csTypeId="urn:microsoft.com/office/officeart/2005/8/colors/accent1_2" csCatId="accent1" phldr="1"/>
      <dgm:spPr/>
    </dgm:pt>
    <dgm:pt modelId="{3B5C54B0-CFB4-4930-93E9-AE243786F7C9}">
      <dgm:prSet phldrT="[Texto]"/>
      <dgm:spPr>
        <a:solidFill>
          <a:srgbClr val="52796F"/>
        </a:solidFill>
        <a:ln>
          <a:solidFill>
            <a:srgbClr val="52796F"/>
          </a:solidFill>
        </a:ln>
        <a:scene3d>
          <a:camera prst="orthographicFront"/>
          <a:lightRig rig="threePt" dir="t"/>
        </a:scene3d>
        <a:sp3d>
          <a:bevelT/>
        </a:sp3d>
      </dgm:spPr>
      <dgm:t>
        <a:bodyPr/>
        <a:lstStyle/>
        <a:p>
          <a:r>
            <a:rPr lang="es-ES" dirty="0">
              <a:latin typeface="Montserrat" panose="00000500000000000000" pitchFamily="2" charset="0"/>
            </a:rPr>
            <a:t>Plan de implementación</a:t>
          </a:r>
          <a:endParaRPr lang="es-MX" dirty="0">
            <a:latin typeface="Montserrat" panose="00000500000000000000" pitchFamily="2" charset="0"/>
          </a:endParaRPr>
        </a:p>
      </dgm:t>
    </dgm:pt>
    <dgm:pt modelId="{A6591753-61C8-4CC6-B24E-DD9B97E677B0}" type="parTrans" cxnId="{FEC7EF3E-D80C-4774-9E1B-57993C4BB232}">
      <dgm:prSet/>
      <dgm:spPr/>
      <dgm:t>
        <a:bodyPr/>
        <a:lstStyle/>
        <a:p>
          <a:endParaRPr lang="es-MX">
            <a:latin typeface="Montserrat" panose="00000500000000000000" pitchFamily="2" charset="0"/>
          </a:endParaRPr>
        </a:p>
      </dgm:t>
    </dgm:pt>
    <dgm:pt modelId="{2FA00A6C-A718-499F-93AF-279ABA762B7F}" type="sibTrans" cxnId="{FEC7EF3E-D80C-4774-9E1B-57993C4BB232}">
      <dgm:prSet/>
      <dgm:spPr>
        <a:solidFill>
          <a:srgbClr val="84A98C"/>
        </a:solidFill>
        <a:scene3d>
          <a:camera prst="orthographicFront"/>
          <a:lightRig rig="threePt" dir="t"/>
        </a:scene3d>
        <a:sp3d>
          <a:bevelT/>
        </a:sp3d>
      </dgm:spPr>
      <dgm:t>
        <a:bodyPr/>
        <a:lstStyle/>
        <a:p>
          <a:endParaRPr lang="es-MX">
            <a:latin typeface="Montserrat" panose="00000500000000000000" pitchFamily="2" charset="0"/>
          </a:endParaRPr>
        </a:p>
      </dgm:t>
    </dgm:pt>
    <dgm:pt modelId="{31E3553C-0666-480E-AF45-C0C03F086131}">
      <dgm:prSet phldrT="[Texto]"/>
      <dgm:spPr>
        <a:solidFill>
          <a:srgbClr val="354F52"/>
        </a:solidFill>
        <a:ln>
          <a:solidFill>
            <a:srgbClr val="354F52"/>
          </a:solidFill>
        </a:ln>
        <a:scene3d>
          <a:camera prst="orthographicFront"/>
          <a:lightRig rig="threePt" dir="t"/>
        </a:scene3d>
        <a:sp3d>
          <a:bevelT/>
        </a:sp3d>
      </dgm:spPr>
      <dgm:t>
        <a:bodyPr/>
        <a:lstStyle/>
        <a:p>
          <a:r>
            <a:rPr lang="es-ES" dirty="0">
              <a:latin typeface="Montserrat" panose="00000500000000000000" pitchFamily="2" charset="0"/>
            </a:rPr>
            <a:t>Beneficio e impacto</a:t>
          </a:r>
          <a:endParaRPr lang="es-MX" dirty="0">
            <a:latin typeface="Montserrat" panose="00000500000000000000" pitchFamily="2" charset="0"/>
          </a:endParaRPr>
        </a:p>
      </dgm:t>
    </dgm:pt>
    <dgm:pt modelId="{F35CB73C-3070-4D9E-9C9D-E6C24F2C8CCE}" type="parTrans" cxnId="{40D9F193-EC99-4548-AE55-5E4536C8E308}">
      <dgm:prSet/>
      <dgm:spPr/>
      <dgm:t>
        <a:bodyPr/>
        <a:lstStyle/>
        <a:p>
          <a:endParaRPr lang="es-MX">
            <a:latin typeface="Montserrat" panose="00000500000000000000" pitchFamily="2" charset="0"/>
          </a:endParaRPr>
        </a:p>
      </dgm:t>
    </dgm:pt>
    <dgm:pt modelId="{B768BEAD-55DA-4C18-BD5A-AC9745F5A197}" type="sibTrans" cxnId="{40D9F193-EC99-4548-AE55-5E4536C8E308}">
      <dgm:prSet/>
      <dgm:spPr/>
      <dgm:t>
        <a:bodyPr/>
        <a:lstStyle/>
        <a:p>
          <a:endParaRPr lang="es-MX">
            <a:latin typeface="Montserrat" panose="00000500000000000000" pitchFamily="2" charset="0"/>
          </a:endParaRPr>
        </a:p>
      </dgm:t>
    </dgm:pt>
    <dgm:pt modelId="{A1738A56-EECF-4848-9136-301ADB88301B}" type="pres">
      <dgm:prSet presAssocID="{58898316-F98D-4C0A-9003-BC3CF46BFC2C}" presName="Name0" presStyleCnt="0">
        <dgm:presLayoutVars>
          <dgm:dir/>
          <dgm:resizeHandles val="exact"/>
        </dgm:presLayoutVars>
      </dgm:prSet>
      <dgm:spPr/>
    </dgm:pt>
    <dgm:pt modelId="{DDD20E93-CE3D-4B10-B4C6-45985EB08AAF}" type="pres">
      <dgm:prSet presAssocID="{3B5C54B0-CFB4-4930-93E9-AE243786F7C9}" presName="node" presStyleLbl="node1" presStyleIdx="0" presStyleCnt="2" custScaleX="161195">
        <dgm:presLayoutVars>
          <dgm:bulletEnabled val="1"/>
        </dgm:presLayoutVars>
      </dgm:prSet>
      <dgm:spPr/>
    </dgm:pt>
    <dgm:pt modelId="{7A5F31CD-223C-4961-B5F9-3D210D453A5F}" type="pres">
      <dgm:prSet presAssocID="{2FA00A6C-A718-499F-93AF-279ABA762B7F}" presName="sibTrans" presStyleLbl="sibTrans2D1" presStyleIdx="0" presStyleCnt="1"/>
      <dgm:spPr/>
    </dgm:pt>
    <dgm:pt modelId="{1A7AECCE-EC19-4B57-BAA4-8E5E48020FBC}" type="pres">
      <dgm:prSet presAssocID="{2FA00A6C-A718-499F-93AF-279ABA762B7F}" presName="connectorText" presStyleLbl="sibTrans2D1" presStyleIdx="0" presStyleCnt="1"/>
      <dgm:spPr/>
    </dgm:pt>
    <dgm:pt modelId="{2D269323-00A4-442A-A128-62EBA2E49116}" type="pres">
      <dgm:prSet presAssocID="{31E3553C-0666-480E-AF45-C0C03F086131}" presName="node" presStyleLbl="node1" presStyleIdx="1" presStyleCnt="2" custScaleX="161195">
        <dgm:presLayoutVars>
          <dgm:bulletEnabled val="1"/>
        </dgm:presLayoutVars>
      </dgm:prSet>
      <dgm:spPr/>
    </dgm:pt>
  </dgm:ptLst>
  <dgm:cxnLst>
    <dgm:cxn modelId="{FEC7EF3E-D80C-4774-9E1B-57993C4BB232}" srcId="{58898316-F98D-4C0A-9003-BC3CF46BFC2C}" destId="{3B5C54B0-CFB4-4930-93E9-AE243786F7C9}" srcOrd="0" destOrd="0" parTransId="{A6591753-61C8-4CC6-B24E-DD9B97E677B0}" sibTransId="{2FA00A6C-A718-499F-93AF-279ABA762B7F}"/>
    <dgm:cxn modelId="{6EBC5566-6298-4DC0-95AD-17AD28B0B98B}" type="presOf" srcId="{31E3553C-0666-480E-AF45-C0C03F086131}" destId="{2D269323-00A4-442A-A128-62EBA2E49116}" srcOrd="0" destOrd="0" presId="urn:microsoft.com/office/officeart/2005/8/layout/process1"/>
    <dgm:cxn modelId="{E34BB379-B7E4-46C1-9799-03843B608EE2}" type="presOf" srcId="{2FA00A6C-A718-499F-93AF-279ABA762B7F}" destId="{7A5F31CD-223C-4961-B5F9-3D210D453A5F}" srcOrd="0" destOrd="0" presId="urn:microsoft.com/office/officeart/2005/8/layout/process1"/>
    <dgm:cxn modelId="{40D9F193-EC99-4548-AE55-5E4536C8E308}" srcId="{58898316-F98D-4C0A-9003-BC3CF46BFC2C}" destId="{31E3553C-0666-480E-AF45-C0C03F086131}" srcOrd="1" destOrd="0" parTransId="{F35CB73C-3070-4D9E-9C9D-E6C24F2C8CCE}" sibTransId="{B768BEAD-55DA-4C18-BD5A-AC9745F5A197}"/>
    <dgm:cxn modelId="{BCE1D9A4-5190-40AA-B61D-00D2419D31A9}" type="presOf" srcId="{58898316-F98D-4C0A-9003-BC3CF46BFC2C}" destId="{A1738A56-EECF-4848-9136-301ADB88301B}" srcOrd="0" destOrd="0" presId="urn:microsoft.com/office/officeart/2005/8/layout/process1"/>
    <dgm:cxn modelId="{C26623CA-1295-4122-A946-B8A3E4102906}" type="presOf" srcId="{2FA00A6C-A718-499F-93AF-279ABA762B7F}" destId="{1A7AECCE-EC19-4B57-BAA4-8E5E48020FBC}" srcOrd="1" destOrd="0" presId="urn:microsoft.com/office/officeart/2005/8/layout/process1"/>
    <dgm:cxn modelId="{643A39E0-C485-4213-AACD-EFB099D94110}" type="presOf" srcId="{3B5C54B0-CFB4-4930-93E9-AE243786F7C9}" destId="{DDD20E93-CE3D-4B10-B4C6-45985EB08AAF}" srcOrd="0" destOrd="0" presId="urn:microsoft.com/office/officeart/2005/8/layout/process1"/>
    <dgm:cxn modelId="{F5008BA0-62C2-40EF-BDAF-D509C1D3F423}" type="presParOf" srcId="{A1738A56-EECF-4848-9136-301ADB88301B}" destId="{DDD20E93-CE3D-4B10-B4C6-45985EB08AAF}" srcOrd="0" destOrd="0" presId="urn:microsoft.com/office/officeart/2005/8/layout/process1"/>
    <dgm:cxn modelId="{11701A30-138C-4E0D-AA7A-0F2B2A0D7D89}" type="presParOf" srcId="{A1738A56-EECF-4848-9136-301ADB88301B}" destId="{7A5F31CD-223C-4961-B5F9-3D210D453A5F}" srcOrd="1" destOrd="0" presId="urn:microsoft.com/office/officeart/2005/8/layout/process1"/>
    <dgm:cxn modelId="{817D3ED3-B44A-4DA1-A0BD-D6C3BF4F4CA0}" type="presParOf" srcId="{7A5F31CD-223C-4961-B5F9-3D210D453A5F}" destId="{1A7AECCE-EC19-4B57-BAA4-8E5E48020FBC}" srcOrd="0" destOrd="0" presId="urn:microsoft.com/office/officeart/2005/8/layout/process1"/>
    <dgm:cxn modelId="{8238D000-6E13-4631-94BC-3A2E79C06E08}" type="presParOf" srcId="{A1738A56-EECF-4848-9136-301ADB88301B}" destId="{2D269323-00A4-442A-A128-62EBA2E49116}" srcOrd="2" destOrd="0" presId="urn:microsoft.com/office/officeart/2005/8/layout/process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E44928E-FCB3-40C9-BAB3-2229EBB4043B}"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s-MX"/>
        </a:p>
      </dgm:t>
    </dgm:pt>
    <dgm:pt modelId="{CAFBF008-A67C-43F6-9B43-FC1C6C015202}">
      <dgm:prSet phldrT="[Texto]" custT="1"/>
      <dgm:spPr/>
      <dgm:t>
        <a:bodyPr lIns="0" rIns="0"/>
        <a:lstStyle/>
        <a:p>
          <a:pPr algn="ctr"/>
          <a:r>
            <a:rPr lang="es-ES" sz="1300" b="1" dirty="0">
              <a:solidFill>
                <a:srgbClr val="131D3F"/>
              </a:solidFill>
              <a:latin typeface="Montserrat" panose="00000500000000000000" pitchFamily="2" charset="0"/>
            </a:rPr>
            <a:t>Evaluación del valor</a:t>
          </a:r>
          <a:endParaRPr lang="es-MX" sz="1300" b="1" dirty="0">
            <a:solidFill>
              <a:srgbClr val="131D3F"/>
            </a:solidFill>
            <a:latin typeface="Montserrat" panose="00000500000000000000" pitchFamily="2" charset="0"/>
          </a:endParaRPr>
        </a:p>
      </dgm:t>
    </dgm:pt>
    <dgm:pt modelId="{C010A7BB-8292-4954-BC39-0CAAF7292DAB}" type="parTrans" cxnId="{980ADB77-AE2C-4AF0-903D-6F20A59B5892}">
      <dgm:prSet/>
      <dgm:spPr/>
      <dgm:t>
        <a:bodyPr/>
        <a:lstStyle/>
        <a:p>
          <a:pPr algn="just"/>
          <a:endParaRPr lang="es-MX">
            <a:latin typeface="Montserrat" panose="00000500000000000000" pitchFamily="2" charset="0"/>
          </a:endParaRPr>
        </a:p>
      </dgm:t>
    </dgm:pt>
    <dgm:pt modelId="{64B2D565-5688-4A4C-912B-99C8DB99F70D}" type="sibTrans" cxnId="{980ADB77-AE2C-4AF0-903D-6F20A59B5892}">
      <dgm:prSet/>
      <dgm:spPr/>
      <dgm:t>
        <a:bodyPr/>
        <a:lstStyle/>
        <a:p>
          <a:pPr algn="just"/>
          <a:endParaRPr lang="es-MX">
            <a:latin typeface="Montserrat" panose="00000500000000000000" pitchFamily="2" charset="0"/>
          </a:endParaRPr>
        </a:p>
      </dgm:t>
    </dgm:pt>
    <dgm:pt modelId="{63A16410-D0E9-48F1-B379-117896832C8F}">
      <dgm:prSet phldrT="[Texto]" custT="1"/>
      <dgm:spPr/>
      <dgm:t>
        <a:bodyPr lIns="0" rIns="0"/>
        <a:lstStyle/>
        <a:p>
          <a:pPr algn="ctr"/>
          <a:r>
            <a:rPr lang="es-ES" sz="1300" b="1" dirty="0">
              <a:solidFill>
                <a:srgbClr val="131D3F"/>
              </a:solidFill>
              <a:latin typeface="Montserrat" panose="00000500000000000000" pitchFamily="2" charset="0"/>
            </a:rPr>
            <a:t>Planificación y estrategia</a:t>
          </a:r>
          <a:endParaRPr lang="es-MX" sz="1300" b="1" dirty="0">
            <a:solidFill>
              <a:srgbClr val="131D3F"/>
            </a:solidFill>
            <a:latin typeface="Montserrat" panose="00000500000000000000" pitchFamily="2" charset="0"/>
          </a:endParaRPr>
        </a:p>
      </dgm:t>
    </dgm:pt>
    <dgm:pt modelId="{22447003-60BD-47F1-849B-EDF4FE773CDA}" type="parTrans" cxnId="{A6AEBE0D-5769-49EB-92B0-3F309395C1B3}">
      <dgm:prSet/>
      <dgm:spPr/>
      <dgm:t>
        <a:bodyPr/>
        <a:lstStyle/>
        <a:p>
          <a:pPr algn="just"/>
          <a:endParaRPr lang="es-MX">
            <a:latin typeface="Montserrat" panose="00000500000000000000" pitchFamily="2" charset="0"/>
          </a:endParaRPr>
        </a:p>
      </dgm:t>
    </dgm:pt>
    <dgm:pt modelId="{42E27436-AEE5-4A3D-A2E6-746D078E6144}" type="sibTrans" cxnId="{A6AEBE0D-5769-49EB-92B0-3F309395C1B3}">
      <dgm:prSet/>
      <dgm:spPr/>
      <dgm:t>
        <a:bodyPr/>
        <a:lstStyle/>
        <a:p>
          <a:pPr algn="just"/>
          <a:endParaRPr lang="es-MX">
            <a:latin typeface="Montserrat" panose="00000500000000000000" pitchFamily="2" charset="0"/>
          </a:endParaRPr>
        </a:p>
      </dgm:t>
    </dgm:pt>
    <dgm:pt modelId="{3A9C50BE-BA7A-46A3-A322-31BCCBECD313}">
      <dgm:prSet phldrT="[Texto]" custT="1"/>
      <dgm:spPr/>
      <dgm:t>
        <a:bodyPr lIns="0" rIns="0"/>
        <a:lstStyle/>
        <a:p>
          <a:pPr algn="ctr"/>
          <a:r>
            <a:rPr lang="es-ES" sz="1300" b="1" dirty="0">
              <a:solidFill>
                <a:srgbClr val="131D3F"/>
              </a:solidFill>
              <a:latin typeface="Montserrat" panose="00000500000000000000" pitchFamily="2" charset="0"/>
            </a:rPr>
            <a:t>Asignación de recursos</a:t>
          </a:r>
          <a:endParaRPr lang="es-MX" sz="1300" b="1" dirty="0">
            <a:solidFill>
              <a:srgbClr val="131D3F"/>
            </a:solidFill>
            <a:latin typeface="Montserrat" panose="00000500000000000000" pitchFamily="2" charset="0"/>
          </a:endParaRPr>
        </a:p>
      </dgm:t>
    </dgm:pt>
    <dgm:pt modelId="{DD730D5E-68B8-49A5-9BED-5305BF77B9B5}" type="parTrans" cxnId="{97B33F25-1DEC-4615-BBD9-5AD075BC05CE}">
      <dgm:prSet/>
      <dgm:spPr/>
      <dgm:t>
        <a:bodyPr/>
        <a:lstStyle/>
        <a:p>
          <a:pPr algn="just"/>
          <a:endParaRPr lang="es-MX">
            <a:latin typeface="Montserrat" panose="00000500000000000000" pitchFamily="2" charset="0"/>
          </a:endParaRPr>
        </a:p>
      </dgm:t>
    </dgm:pt>
    <dgm:pt modelId="{A6D09F1A-EC62-4560-B308-0598B55FEB99}" type="sibTrans" cxnId="{97B33F25-1DEC-4615-BBD9-5AD075BC05CE}">
      <dgm:prSet/>
      <dgm:spPr/>
      <dgm:t>
        <a:bodyPr/>
        <a:lstStyle/>
        <a:p>
          <a:pPr algn="just"/>
          <a:endParaRPr lang="es-MX">
            <a:latin typeface="Montserrat" panose="00000500000000000000" pitchFamily="2" charset="0"/>
          </a:endParaRPr>
        </a:p>
      </dgm:t>
    </dgm:pt>
    <dgm:pt modelId="{45BAF87E-AC90-4D76-89BB-93FE0D5785A7}">
      <dgm:prSet phldrT="[Texto]" custT="1"/>
      <dgm:spPr/>
      <dgm:t>
        <a:bodyPr lIns="0" rIns="0"/>
        <a:lstStyle/>
        <a:p>
          <a:pPr algn="ctr"/>
          <a:r>
            <a:rPr lang="es-ES" sz="1300" b="1" dirty="0">
              <a:solidFill>
                <a:srgbClr val="131D3F"/>
              </a:solidFill>
              <a:latin typeface="Montserrat" panose="00000500000000000000" pitchFamily="2" charset="0"/>
            </a:rPr>
            <a:t>Monitoreo y control</a:t>
          </a:r>
          <a:endParaRPr lang="es-MX" sz="1300" b="1" dirty="0">
            <a:solidFill>
              <a:srgbClr val="131D3F"/>
            </a:solidFill>
            <a:latin typeface="Montserrat" panose="00000500000000000000" pitchFamily="2" charset="0"/>
          </a:endParaRPr>
        </a:p>
      </dgm:t>
    </dgm:pt>
    <dgm:pt modelId="{A754A091-E0E8-4A3F-B832-96D8CFCAB5F5}" type="parTrans" cxnId="{4340A939-DF61-4D97-8DBD-8632E39FFE43}">
      <dgm:prSet/>
      <dgm:spPr/>
      <dgm:t>
        <a:bodyPr/>
        <a:lstStyle/>
        <a:p>
          <a:pPr algn="just"/>
          <a:endParaRPr lang="es-MX">
            <a:latin typeface="Montserrat" panose="00000500000000000000" pitchFamily="2" charset="0"/>
          </a:endParaRPr>
        </a:p>
      </dgm:t>
    </dgm:pt>
    <dgm:pt modelId="{975A0668-D661-4114-9E21-1F7AB5DC0403}" type="sibTrans" cxnId="{4340A939-DF61-4D97-8DBD-8632E39FFE43}">
      <dgm:prSet/>
      <dgm:spPr/>
      <dgm:t>
        <a:bodyPr/>
        <a:lstStyle/>
        <a:p>
          <a:pPr algn="just"/>
          <a:endParaRPr lang="es-MX">
            <a:latin typeface="Montserrat" panose="00000500000000000000" pitchFamily="2" charset="0"/>
          </a:endParaRPr>
        </a:p>
      </dgm:t>
    </dgm:pt>
    <dgm:pt modelId="{FE84CD23-C735-43A0-988E-80716C68B4A0}">
      <dgm:prSet phldrT="[Texto]" custT="1"/>
      <dgm:spPr/>
      <dgm:t>
        <a:bodyPr lIns="0" rIns="0"/>
        <a:lstStyle/>
        <a:p>
          <a:pPr algn="ctr"/>
          <a:r>
            <a:rPr lang="es-ES" sz="1300" b="1" dirty="0">
              <a:solidFill>
                <a:srgbClr val="131D3F"/>
              </a:solidFill>
              <a:latin typeface="Montserrat" panose="00000500000000000000" pitchFamily="2" charset="0"/>
            </a:rPr>
            <a:t>Ajuste y mejora continua</a:t>
          </a:r>
          <a:endParaRPr lang="es-MX" sz="1300" b="1" dirty="0">
            <a:solidFill>
              <a:srgbClr val="131D3F"/>
            </a:solidFill>
            <a:latin typeface="Montserrat" panose="00000500000000000000" pitchFamily="2" charset="0"/>
          </a:endParaRPr>
        </a:p>
      </dgm:t>
    </dgm:pt>
    <dgm:pt modelId="{AC6A8471-A4D9-4991-936D-6099FCB15A19}" type="parTrans" cxnId="{01FD23A0-D11A-4D9B-8B41-0345359C4164}">
      <dgm:prSet/>
      <dgm:spPr/>
      <dgm:t>
        <a:bodyPr/>
        <a:lstStyle/>
        <a:p>
          <a:pPr algn="just"/>
          <a:endParaRPr lang="es-MX">
            <a:latin typeface="Montserrat" panose="00000500000000000000" pitchFamily="2" charset="0"/>
          </a:endParaRPr>
        </a:p>
      </dgm:t>
    </dgm:pt>
    <dgm:pt modelId="{93E720E5-F13C-4685-B5B8-DE0076AA408F}" type="sibTrans" cxnId="{01FD23A0-D11A-4D9B-8B41-0345359C4164}">
      <dgm:prSet/>
      <dgm:spPr/>
      <dgm:t>
        <a:bodyPr/>
        <a:lstStyle/>
        <a:p>
          <a:pPr algn="just"/>
          <a:endParaRPr lang="es-MX">
            <a:latin typeface="Montserrat" panose="00000500000000000000" pitchFamily="2" charset="0"/>
          </a:endParaRPr>
        </a:p>
      </dgm:t>
    </dgm:pt>
    <dgm:pt modelId="{EC2BB666-F83E-413C-9F0C-E349A6584693}">
      <dgm:prSet custT="1"/>
      <dgm:spPr/>
      <dgm:t>
        <a:bodyPr/>
        <a:lstStyle/>
        <a:p>
          <a:pPr algn="ctr"/>
          <a:r>
            <a:rPr lang="es-MX" sz="1300" b="1" dirty="0">
              <a:solidFill>
                <a:srgbClr val="131D3F"/>
              </a:solidFill>
              <a:latin typeface="Montserrat" panose="00000500000000000000" pitchFamily="2" charset="0"/>
            </a:rPr>
            <a:t>Comunicación y transparencia</a:t>
          </a:r>
        </a:p>
      </dgm:t>
    </dgm:pt>
    <dgm:pt modelId="{8247B1A0-F892-4C74-9EBE-0F94A6F3FBF6}" type="parTrans" cxnId="{E14458DE-8E34-4E26-9328-FC9116ED4569}">
      <dgm:prSet/>
      <dgm:spPr/>
      <dgm:t>
        <a:bodyPr/>
        <a:lstStyle/>
        <a:p>
          <a:endParaRPr lang="es-MX"/>
        </a:p>
      </dgm:t>
    </dgm:pt>
    <dgm:pt modelId="{C1BA8C26-682A-4C19-8A11-8532A7856F50}" type="sibTrans" cxnId="{E14458DE-8E34-4E26-9328-FC9116ED4569}">
      <dgm:prSet/>
      <dgm:spPr/>
      <dgm:t>
        <a:bodyPr/>
        <a:lstStyle/>
        <a:p>
          <a:endParaRPr lang="es-MX"/>
        </a:p>
      </dgm:t>
    </dgm:pt>
    <dgm:pt modelId="{2DC1450E-41CF-4166-A64C-DB2523976EE6}" type="pres">
      <dgm:prSet presAssocID="{1E44928E-FCB3-40C9-BAB3-2229EBB4043B}" presName="rootnode" presStyleCnt="0">
        <dgm:presLayoutVars>
          <dgm:chMax/>
          <dgm:chPref/>
          <dgm:dir/>
          <dgm:animLvl val="lvl"/>
        </dgm:presLayoutVars>
      </dgm:prSet>
      <dgm:spPr/>
    </dgm:pt>
    <dgm:pt modelId="{322B5121-EB97-4170-85BD-59E0097584EB}" type="pres">
      <dgm:prSet presAssocID="{CAFBF008-A67C-43F6-9B43-FC1C6C015202}" presName="composite" presStyleCnt="0"/>
      <dgm:spPr/>
    </dgm:pt>
    <dgm:pt modelId="{6E0DCA6F-3CE1-4613-8844-AC794B9A66C6}" type="pres">
      <dgm:prSet presAssocID="{CAFBF008-A67C-43F6-9B43-FC1C6C015202}" presName="LShape" presStyleLbl="alignNode1" presStyleIdx="0" presStyleCnt="11" custScaleY="99979"/>
      <dgm:spPr>
        <a:solidFill>
          <a:srgbClr val="2F3E46"/>
        </a:solidFill>
        <a:ln>
          <a:solidFill>
            <a:srgbClr val="2F3E46"/>
          </a:solidFill>
        </a:ln>
        <a:scene3d>
          <a:camera prst="orthographicFront"/>
          <a:lightRig rig="threePt" dir="t"/>
        </a:scene3d>
        <a:sp3d>
          <a:bevelT/>
        </a:sp3d>
      </dgm:spPr>
    </dgm:pt>
    <dgm:pt modelId="{A4DD46EC-6DBA-4793-9209-D267436BA805}" type="pres">
      <dgm:prSet presAssocID="{CAFBF008-A67C-43F6-9B43-FC1C6C015202}" presName="ParentText" presStyleLbl="revTx" presStyleIdx="0" presStyleCnt="6">
        <dgm:presLayoutVars>
          <dgm:chMax val="0"/>
          <dgm:chPref val="0"/>
          <dgm:bulletEnabled val="1"/>
        </dgm:presLayoutVars>
      </dgm:prSet>
      <dgm:spPr/>
    </dgm:pt>
    <dgm:pt modelId="{56FD0E3D-E9FE-4B8D-AB69-7C9A807D573C}" type="pres">
      <dgm:prSet presAssocID="{CAFBF008-A67C-43F6-9B43-FC1C6C015202}" presName="Triangle" presStyleLbl="alignNode1" presStyleIdx="1" presStyleCnt="11"/>
      <dgm:spPr>
        <a:solidFill>
          <a:srgbClr val="84A98C"/>
        </a:solidFill>
        <a:ln>
          <a:solidFill>
            <a:srgbClr val="84A98C"/>
          </a:solidFill>
        </a:ln>
        <a:scene3d>
          <a:camera prst="orthographicFront"/>
          <a:lightRig rig="threePt" dir="t"/>
        </a:scene3d>
        <a:sp3d>
          <a:bevelT/>
        </a:sp3d>
      </dgm:spPr>
    </dgm:pt>
    <dgm:pt modelId="{6B0889AE-4C70-4210-B194-E3E944FCB9AD}" type="pres">
      <dgm:prSet presAssocID="{64B2D565-5688-4A4C-912B-99C8DB99F70D}" presName="sibTrans" presStyleCnt="0"/>
      <dgm:spPr/>
    </dgm:pt>
    <dgm:pt modelId="{AF47A0B6-A15B-4E73-8CC2-BF0A0F5F60B7}" type="pres">
      <dgm:prSet presAssocID="{64B2D565-5688-4A4C-912B-99C8DB99F70D}" presName="space" presStyleCnt="0"/>
      <dgm:spPr/>
    </dgm:pt>
    <dgm:pt modelId="{C1F4E77E-77D3-45FC-86A7-3A5FF837473F}" type="pres">
      <dgm:prSet presAssocID="{63A16410-D0E9-48F1-B379-117896832C8F}" presName="composite" presStyleCnt="0"/>
      <dgm:spPr/>
    </dgm:pt>
    <dgm:pt modelId="{F42A5B2E-5B09-4BB6-97F7-D82FC6308E76}" type="pres">
      <dgm:prSet presAssocID="{63A16410-D0E9-48F1-B379-117896832C8F}" presName="LShape" presStyleLbl="alignNode1" presStyleIdx="2" presStyleCnt="11" custScaleY="99979"/>
      <dgm:spPr>
        <a:solidFill>
          <a:srgbClr val="354F52"/>
        </a:solidFill>
        <a:ln>
          <a:solidFill>
            <a:srgbClr val="354F52"/>
          </a:solidFill>
        </a:ln>
        <a:scene3d>
          <a:camera prst="orthographicFront"/>
          <a:lightRig rig="threePt" dir="t"/>
        </a:scene3d>
        <a:sp3d>
          <a:bevelT/>
        </a:sp3d>
      </dgm:spPr>
    </dgm:pt>
    <dgm:pt modelId="{D59BF341-E979-4D0E-8889-0C0947DA589D}" type="pres">
      <dgm:prSet presAssocID="{63A16410-D0E9-48F1-B379-117896832C8F}" presName="ParentText" presStyleLbl="revTx" presStyleIdx="1" presStyleCnt="6">
        <dgm:presLayoutVars>
          <dgm:chMax val="0"/>
          <dgm:chPref val="0"/>
          <dgm:bulletEnabled val="1"/>
        </dgm:presLayoutVars>
      </dgm:prSet>
      <dgm:spPr/>
    </dgm:pt>
    <dgm:pt modelId="{5955598A-9B84-401C-8F1A-102FBD8654A1}" type="pres">
      <dgm:prSet presAssocID="{63A16410-D0E9-48F1-B379-117896832C8F}" presName="Triangle" presStyleLbl="alignNode1" presStyleIdx="3" presStyleCnt="11"/>
      <dgm:spPr>
        <a:solidFill>
          <a:srgbClr val="84A98C"/>
        </a:solidFill>
        <a:ln>
          <a:solidFill>
            <a:srgbClr val="84A98C"/>
          </a:solidFill>
        </a:ln>
        <a:scene3d>
          <a:camera prst="orthographicFront"/>
          <a:lightRig rig="threePt" dir="t"/>
        </a:scene3d>
        <a:sp3d>
          <a:bevelT/>
        </a:sp3d>
      </dgm:spPr>
    </dgm:pt>
    <dgm:pt modelId="{238705B4-0444-44BB-9497-216FCB667608}" type="pres">
      <dgm:prSet presAssocID="{42E27436-AEE5-4A3D-A2E6-746D078E6144}" presName="sibTrans" presStyleCnt="0"/>
      <dgm:spPr/>
    </dgm:pt>
    <dgm:pt modelId="{8C525E90-4046-453F-AA0C-0CC7978B1745}" type="pres">
      <dgm:prSet presAssocID="{42E27436-AEE5-4A3D-A2E6-746D078E6144}" presName="space" presStyleCnt="0"/>
      <dgm:spPr/>
    </dgm:pt>
    <dgm:pt modelId="{05C41C12-A187-48A1-B521-BC63361F788A}" type="pres">
      <dgm:prSet presAssocID="{3A9C50BE-BA7A-46A3-A322-31BCCBECD313}" presName="composite" presStyleCnt="0"/>
      <dgm:spPr/>
    </dgm:pt>
    <dgm:pt modelId="{F9F3CE01-8DD0-4E0E-85BE-7BB25AAC0154}" type="pres">
      <dgm:prSet presAssocID="{3A9C50BE-BA7A-46A3-A322-31BCCBECD313}" presName="LShape" presStyleLbl="alignNode1" presStyleIdx="4" presStyleCnt="11" custScaleY="99979"/>
      <dgm:spPr>
        <a:solidFill>
          <a:srgbClr val="52796F"/>
        </a:solidFill>
        <a:ln>
          <a:solidFill>
            <a:srgbClr val="52796F"/>
          </a:solidFill>
        </a:ln>
        <a:scene3d>
          <a:camera prst="orthographicFront"/>
          <a:lightRig rig="threePt" dir="t"/>
        </a:scene3d>
        <a:sp3d>
          <a:bevelT/>
        </a:sp3d>
      </dgm:spPr>
    </dgm:pt>
    <dgm:pt modelId="{993FD98F-2BC7-4733-824C-69D77D2B1B23}" type="pres">
      <dgm:prSet presAssocID="{3A9C50BE-BA7A-46A3-A322-31BCCBECD313}" presName="ParentText" presStyleLbl="revTx" presStyleIdx="2" presStyleCnt="6">
        <dgm:presLayoutVars>
          <dgm:chMax val="0"/>
          <dgm:chPref val="0"/>
          <dgm:bulletEnabled val="1"/>
        </dgm:presLayoutVars>
      </dgm:prSet>
      <dgm:spPr/>
    </dgm:pt>
    <dgm:pt modelId="{BAFB5D97-9C78-419C-8115-BD4E5D93185E}" type="pres">
      <dgm:prSet presAssocID="{3A9C50BE-BA7A-46A3-A322-31BCCBECD313}" presName="Triangle" presStyleLbl="alignNode1" presStyleIdx="5" presStyleCnt="11"/>
      <dgm:spPr>
        <a:solidFill>
          <a:srgbClr val="84A98C"/>
        </a:solidFill>
        <a:ln>
          <a:solidFill>
            <a:srgbClr val="84A98C"/>
          </a:solidFill>
        </a:ln>
        <a:scene3d>
          <a:camera prst="orthographicFront"/>
          <a:lightRig rig="threePt" dir="t"/>
        </a:scene3d>
        <a:sp3d>
          <a:bevelT/>
        </a:sp3d>
      </dgm:spPr>
    </dgm:pt>
    <dgm:pt modelId="{0AABDC9F-73F0-4F6E-9656-6F3644FFD244}" type="pres">
      <dgm:prSet presAssocID="{A6D09F1A-EC62-4560-B308-0598B55FEB99}" presName="sibTrans" presStyleCnt="0"/>
      <dgm:spPr/>
    </dgm:pt>
    <dgm:pt modelId="{A1C4E30C-71E6-4DE4-A3CB-6BF1AEF7BC2E}" type="pres">
      <dgm:prSet presAssocID="{A6D09F1A-EC62-4560-B308-0598B55FEB99}" presName="space" presStyleCnt="0"/>
      <dgm:spPr/>
    </dgm:pt>
    <dgm:pt modelId="{B22B923E-819F-4ABA-B100-24A5E159AB9A}" type="pres">
      <dgm:prSet presAssocID="{45BAF87E-AC90-4D76-89BB-93FE0D5785A7}" presName="composite" presStyleCnt="0"/>
      <dgm:spPr/>
    </dgm:pt>
    <dgm:pt modelId="{08A84858-872A-48C3-881F-A0986D5E1AB4}" type="pres">
      <dgm:prSet presAssocID="{45BAF87E-AC90-4D76-89BB-93FE0D5785A7}" presName="LShape" presStyleLbl="alignNode1" presStyleIdx="6" presStyleCnt="11" custScaleY="99979"/>
      <dgm:spPr>
        <a:solidFill>
          <a:srgbClr val="52796F"/>
        </a:solidFill>
        <a:ln>
          <a:solidFill>
            <a:srgbClr val="52796F"/>
          </a:solidFill>
        </a:ln>
        <a:scene3d>
          <a:camera prst="orthographicFront"/>
          <a:lightRig rig="threePt" dir="t"/>
        </a:scene3d>
        <a:sp3d>
          <a:bevelT/>
        </a:sp3d>
      </dgm:spPr>
    </dgm:pt>
    <dgm:pt modelId="{7FF1AFA7-8E32-441A-8D38-4DA057D08B9B}" type="pres">
      <dgm:prSet presAssocID="{45BAF87E-AC90-4D76-89BB-93FE0D5785A7}" presName="ParentText" presStyleLbl="revTx" presStyleIdx="3" presStyleCnt="6">
        <dgm:presLayoutVars>
          <dgm:chMax val="0"/>
          <dgm:chPref val="0"/>
          <dgm:bulletEnabled val="1"/>
        </dgm:presLayoutVars>
      </dgm:prSet>
      <dgm:spPr/>
    </dgm:pt>
    <dgm:pt modelId="{61EBD819-D40D-4781-8646-B03CCAC771E9}" type="pres">
      <dgm:prSet presAssocID="{45BAF87E-AC90-4D76-89BB-93FE0D5785A7}" presName="Triangle" presStyleLbl="alignNode1" presStyleIdx="7" presStyleCnt="11"/>
      <dgm:spPr>
        <a:solidFill>
          <a:srgbClr val="84A98C"/>
        </a:solidFill>
        <a:ln>
          <a:solidFill>
            <a:srgbClr val="84A98C"/>
          </a:solidFill>
        </a:ln>
        <a:scene3d>
          <a:camera prst="orthographicFront"/>
          <a:lightRig rig="threePt" dir="t"/>
        </a:scene3d>
        <a:sp3d>
          <a:bevelT/>
        </a:sp3d>
      </dgm:spPr>
    </dgm:pt>
    <dgm:pt modelId="{D9243600-B1A1-4FE0-8754-2409A379CED4}" type="pres">
      <dgm:prSet presAssocID="{975A0668-D661-4114-9E21-1F7AB5DC0403}" presName="sibTrans" presStyleCnt="0"/>
      <dgm:spPr/>
    </dgm:pt>
    <dgm:pt modelId="{1B4A4717-FA34-4D4B-BDC5-16FA7D0B6DB4}" type="pres">
      <dgm:prSet presAssocID="{975A0668-D661-4114-9E21-1F7AB5DC0403}" presName="space" presStyleCnt="0"/>
      <dgm:spPr/>
    </dgm:pt>
    <dgm:pt modelId="{A889D468-81F3-4250-BB42-89FEC3AAB7F1}" type="pres">
      <dgm:prSet presAssocID="{FE84CD23-C735-43A0-988E-80716C68B4A0}" presName="composite" presStyleCnt="0"/>
      <dgm:spPr/>
    </dgm:pt>
    <dgm:pt modelId="{4DEDB585-6166-492D-982B-BC326BFE086B}" type="pres">
      <dgm:prSet presAssocID="{FE84CD23-C735-43A0-988E-80716C68B4A0}" presName="LShape" presStyleLbl="alignNode1" presStyleIdx="8" presStyleCnt="11" custScaleY="99979"/>
      <dgm:spPr>
        <a:solidFill>
          <a:srgbClr val="354F52"/>
        </a:solidFill>
        <a:ln>
          <a:solidFill>
            <a:srgbClr val="354F52"/>
          </a:solidFill>
        </a:ln>
        <a:scene3d>
          <a:camera prst="orthographicFront"/>
          <a:lightRig rig="threePt" dir="t"/>
        </a:scene3d>
        <a:sp3d>
          <a:bevelT/>
        </a:sp3d>
      </dgm:spPr>
    </dgm:pt>
    <dgm:pt modelId="{F0D66743-9A54-475C-A9F2-BD69759F8007}" type="pres">
      <dgm:prSet presAssocID="{FE84CD23-C735-43A0-988E-80716C68B4A0}" presName="ParentText" presStyleLbl="revTx" presStyleIdx="4" presStyleCnt="6">
        <dgm:presLayoutVars>
          <dgm:chMax val="0"/>
          <dgm:chPref val="0"/>
          <dgm:bulletEnabled val="1"/>
        </dgm:presLayoutVars>
      </dgm:prSet>
      <dgm:spPr/>
    </dgm:pt>
    <dgm:pt modelId="{8A4A2425-6557-4F75-8281-5C6F8F6DA59F}" type="pres">
      <dgm:prSet presAssocID="{FE84CD23-C735-43A0-988E-80716C68B4A0}" presName="Triangle" presStyleLbl="alignNode1" presStyleIdx="9" presStyleCnt="11"/>
      <dgm:spPr>
        <a:solidFill>
          <a:srgbClr val="84A98C"/>
        </a:solidFill>
        <a:ln>
          <a:solidFill>
            <a:srgbClr val="84A98C"/>
          </a:solidFill>
        </a:ln>
        <a:scene3d>
          <a:camera prst="orthographicFront"/>
          <a:lightRig rig="threePt" dir="t"/>
        </a:scene3d>
        <a:sp3d>
          <a:bevelT/>
        </a:sp3d>
      </dgm:spPr>
    </dgm:pt>
    <dgm:pt modelId="{322BB8F6-E5A3-43AD-9547-D047AAB097D3}" type="pres">
      <dgm:prSet presAssocID="{93E720E5-F13C-4685-B5B8-DE0076AA408F}" presName="sibTrans" presStyleCnt="0"/>
      <dgm:spPr/>
    </dgm:pt>
    <dgm:pt modelId="{812E3554-B9D9-4B64-99F0-0193B0D71F49}" type="pres">
      <dgm:prSet presAssocID="{93E720E5-F13C-4685-B5B8-DE0076AA408F}" presName="space" presStyleCnt="0"/>
      <dgm:spPr/>
    </dgm:pt>
    <dgm:pt modelId="{8F5484BB-1584-41DA-8A5C-74D1B79C4F60}" type="pres">
      <dgm:prSet presAssocID="{EC2BB666-F83E-413C-9F0C-E349A6584693}" presName="composite" presStyleCnt="0"/>
      <dgm:spPr/>
    </dgm:pt>
    <dgm:pt modelId="{FE6674BE-A39E-4AA7-9FEB-1A0231D5FBF4}" type="pres">
      <dgm:prSet presAssocID="{EC2BB666-F83E-413C-9F0C-E349A6584693}" presName="LShape" presStyleLbl="alignNode1" presStyleIdx="10" presStyleCnt="11"/>
      <dgm:spPr>
        <a:solidFill>
          <a:srgbClr val="2F3E46"/>
        </a:solidFill>
        <a:ln>
          <a:solidFill>
            <a:srgbClr val="2F3E46"/>
          </a:solidFill>
        </a:ln>
        <a:scene3d>
          <a:camera prst="orthographicFront"/>
          <a:lightRig rig="threePt" dir="t"/>
        </a:scene3d>
        <a:sp3d>
          <a:bevelT/>
          <a:bevelB/>
        </a:sp3d>
      </dgm:spPr>
    </dgm:pt>
    <dgm:pt modelId="{32782DEC-8909-4B83-A947-9EAC217FE2BD}" type="pres">
      <dgm:prSet presAssocID="{EC2BB666-F83E-413C-9F0C-E349A6584693}" presName="ParentText" presStyleLbl="revTx" presStyleIdx="5" presStyleCnt="6">
        <dgm:presLayoutVars>
          <dgm:chMax val="0"/>
          <dgm:chPref val="0"/>
          <dgm:bulletEnabled val="1"/>
        </dgm:presLayoutVars>
      </dgm:prSet>
      <dgm:spPr/>
    </dgm:pt>
  </dgm:ptLst>
  <dgm:cxnLst>
    <dgm:cxn modelId="{0F451207-90BE-4353-8113-0E00783C871B}" type="presOf" srcId="{EC2BB666-F83E-413C-9F0C-E349A6584693}" destId="{32782DEC-8909-4B83-A947-9EAC217FE2BD}" srcOrd="0" destOrd="0" presId="urn:microsoft.com/office/officeart/2009/3/layout/StepUpProcess"/>
    <dgm:cxn modelId="{A6AEBE0D-5769-49EB-92B0-3F309395C1B3}" srcId="{1E44928E-FCB3-40C9-BAB3-2229EBB4043B}" destId="{63A16410-D0E9-48F1-B379-117896832C8F}" srcOrd="1" destOrd="0" parTransId="{22447003-60BD-47F1-849B-EDF4FE773CDA}" sibTransId="{42E27436-AEE5-4A3D-A2E6-746D078E6144}"/>
    <dgm:cxn modelId="{97B33F25-1DEC-4615-BBD9-5AD075BC05CE}" srcId="{1E44928E-FCB3-40C9-BAB3-2229EBB4043B}" destId="{3A9C50BE-BA7A-46A3-A322-31BCCBECD313}" srcOrd="2" destOrd="0" parTransId="{DD730D5E-68B8-49A5-9BED-5305BF77B9B5}" sibTransId="{A6D09F1A-EC62-4560-B308-0598B55FEB99}"/>
    <dgm:cxn modelId="{4340A939-DF61-4D97-8DBD-8632E39FFE43}" srcId="{1E44928E-FCB3-40C9-BAB3-2229EBB4043B}" destId="{45BAF87E-AC90-4D76-89BB-93FE0D5785A7}" srcOrd="3" destOrd="0" parTransId="{A754A091-E0E8-4A3F-B832-96D8CFCAB5F5}" sibTransId="{975A0668-D661-4114-9E21-1F7AB5DC0403}"/>
    <dgm:cxn modelId="{08F5123D-92C8-4920-9121-8079335A178E}" type="presOf" srcId="{FE84CD23-C735-43A0-988E-80716C68B4A0}" destId="{F0D66743-9A54-475C-A9F2-BD69759F8007}" srcOrd="0" destOrd="0" presId="urn:microsoft.com/office/officeart/2009/3/layout/StepUpProcess"/>
    <dgm:cxn modelId="{84B30775-E088-44D3-9958-D5B6EDD3B532}" type="presOf" srcId="{CAFBF008-A67C-43F6-9B43-FC1C6C015202}" destId="{A4DD46EC-6DBA-4793-9209-D267436BA805}" srcOrd="0" destOrd="0" presId="urn:microsoft.com/office/officeart/2009/3/layout/StepUpProcess"/>
    <dgm:cxn modelId="{980ADB77-AE2C-4AF0-903D-6F20A59B5892}" srcId="{1E44928E-FCB3-40C9-BAB3-2229EBB4043B}" destId="{CAFBF008-A67C-43F6-9B43-FC1C6C015202}" srcOrd="0" destOrd="0" parTransId="{C010A7BB-8292-4954-BC39-0CAAF7292DAB}" sibTransId="{64B2D565-5688-4A4C-912B-99C8DB99F70D}"/>
    <dgm:cxn modelId="{8AF82958-45DB-4B42-8DE5-E5368DA82B98}" type="presOf" srcId="{3A9C50BE-BA7A-46A3-A322-31BCCBECD313}" destId="{993FD98F-2BC7-4733-824C-69D77D2B1B23}" srcOrd="0" destOrd="0" presId="urn:microsoft.com/office/officeart/2009/3/layout/StepUpProcess"/>
    <dgm:cxn modelId="{01FD23A0-D11A-4D9B-8B41-0345359C4164}" srcId="{1E44928E-FCB3-40C9-BAB3-2229EBB4043B}" destId="{FE84CD23-C735-43A0-988E-80716C68B4A0}" srcOrd="4" destOrd="0" parTransId="{AC6A8471-A4D9-4991-936D-6099FCB15A19}" sibTransId="{93E720E5-F13C-4685-B5B8-DE0076AA408F}"/>
    <dgm:cxn modelId="{615E0FA1-8575-40BD-84A4-3DA0869EC369}" type="presOf" srcId="{45BAF87E-AC90-4D76-89BB-93FE0D5785A7}" destId="{7FF1AFA7-8E32-441A-8D38-4DA057D08B9B}" srcOrd="0" destOrd="0" presId="urn:microsoft.com/office/officeart/2009/3/layout/StepUpProcess"/>
    <dgm:cxn modelId="{70178DA7-31BA-4A1D-A098-43379ED89503}" type="presOf" srcId="{63A16410-D0E9-48F1-B379-117896832C8F}" destId="{D59BF341-E979-4D0E-8889-0C0947DA589D}" srcOrd="0" destOrd="0" presId="urn:microsoft.com/office/officeart/2009/3/layout/StepUpProcess"/>
    <dgm:cxn modelId="{A41384C3-4112-4B17-B1E2-948568CE9381}" type="presOf" srcId="{1E44928E-FCB3-40C9-BAB3-2229EBB4043B}" destId="{2DC1450E-41CF-4166-A64C-DB2523976EE6}" srcOrd="0" destOrd="0" presId="urn:microsoft.com/office/officeart/2009/3/layout/StepUpProcess"/>
    <dgm:cxn modelId="{E14458DE-8E34-4E26-9328-FC9116ED4569}" srcId="{1E44928E-FCB3-40C9-BAB3-2229EBB4043B}" destId="{EC2BB666-F83E-413C-9F0C-E349A6584693}" srcOrd="5" destOrd="0" parTransId="{8247B1A0-F892-4C74-9EBE-0F94A6F3FBF6}" sibTransId="{C1BA8C26-682A-4C19-8A11-8532A7856F50}"/>
    <dgm:cxn modelId="{FEE0D530-5340-49EE-B66F-C6157AAFA4CE}" type="presParOf" srcId="{2DC1450E-41CF-4166-A64C-DB2523976EE6}" destId="{322B5121-EB97-4170-85BD-59E0097584EB}" srcOrd="0" destOrd="0" presId="urn:microsoft.com/office/officeart/2009/3/layout/StepUpProcess"/>
    <dgm:cxn modelId="{64ADF499-CA72-4745-862A-BA96EA0AE5F1}" type="presParOf" srcId="{322B5121-EB97-4170-85BD-59E0097584EB}" destId="{6E0DCA6F-3CE1-4613-8844-AC794B9A66C6}" srcOrd="0" destOrd="0" presId="urn:microsoft.com/office/officeart/2009/3/layout/StepUpProcess"/>
    <dgm:cxn modelId="{6232C5A2-A4BA-48F3-AB70-881AC1C91C6E}" type="presParOf" srcId="{322B5121-EB97-4170-85BD-59E0097584EB}" destId="{A4DD46EC-6DBA-4793-9209-D267436BA805}" srcOrd="1" destOrd="0" presId="urn:microsoft.com/office/officeart/2009/3/layout/StepUpProcess"/>
    <dgm:cxn modelId="{966E4041-FC00-4758-A866-D3F611FA41A7}" type="presParOf" srcId="{322B5121-EB97-4170-85BD-59E0097584EB}" destId="{56FD0E3D-E9FE-4B8D-AB69-7C9A807D573C}" srcOrd="2" destOrd="0" presId="urn:microsoft.com/office/officeart/2009/3/layout/StepUpProcess"/>
    <dgm:cxn modelId="{B35E5F91-7FCB-48B0-8BD0-BB4962916A96}" type="presParOf" srcId="{2DC1450E-41CF-4166-A64C-DB2523976EE6}" destId="{6B0889AE-4C70-4210-B194-E3E944FCB9AD}" srcOrd="1" destOrd="0" presId="urn:microsoft.com/office/officeart/2009/3/layout/StepUpProcess"/>
    <dgm:cxn modelId="{2AD93442-1AA5-45F3-9F7E-CF8175D3C6A2}" type="presParOf" srcId="{6B0889AE-4C70-4210-B194-E3E944FCB9AD}" destId="{AF47A0B6-A15B-4E73-8CC2-BF0A0F5F60B7}" srcOrd="0" destOrd="0" presId="urn:microsoft.com/office/officeart/2009/3/layout/StepUpProcess"/>
    <dgm:cxn modelId="{D9B69D7A-B149-4E5E-B42C-8CC90BC324F0}" type="presParOf" srcId="{2DC1450E-41CF-4166-A64C-DB2523976EE6}" destId="{C1F4E77E-77D3-45FC-86A7-3A5FF837473F}" srcOrd="2" destOrd="0" presId="urn:microsoft.com/office/officeart/2009/3/layout/StepUpProcess"/>
    <dgm:cxn modelId="{1A208ACE-5DE2-469A-9088-538137869692}" type="presParOf" srcId="{C1F4E77E-77D3-45FC-86A7-3A5FF837473F}" destId="{F42A5B2E-5B09-4BB6-97F7-D82FC6308E76}" srcOrd="0" destOrd="0" presId="urn:microsoft.com/office/officeart/2009/3/layout/StepUpProcess"/>
    <dgm:cxn modelId="{91B158FE-21B4-4978-B0C7-8F0F9AEA517A}" type="presParOf" srcId="{C1F4E77E-77D3-45FC-86A7-3A5FF837473F}" destId="{D59BF341-E979-4D0E-8889-0C0947DA589D}" srcOrd="1" destOrd="0" presId="urn:microsoft.com/office/officeart/2009/3/layout/StepUpProcess"/>
    <dgm:cxn modelId="{082605FE-0758-47FD-8F7C-91A9BCF0B4F2}" type="presParOf" srcId="{C1F4E77E-77D3-45FC-86A7-3A5FF837473F}" destId="{5955598A-9B84-401C-8F1A-102FBD8654A1}" srcOrd="2" destOrd="0" presId="urn:microsoft.com/office/officeart/2009/3/layout/StepUpProcess"/>
    <dgm:cxn modelId="{D89F4411-9347-45FB-9B35-FE2A59130B27}" type="presParOf" srcId="{2DC1450E-41CF-4166-A64C-DB2523976EE6}" destId="{238705B4-0444-44BB-9497-216FCB667608}" srcOrd="3" destOrd="0" presId="urn:microsoft.com/office/officeart/2009/3/layout/StepUpProcess"/>
    <dgm:cxn modelId="{AA95B843-BDB4-4C56-B9E4-EA92D986F59E}" type="presParOf" srcId="{238705B4-0444-44BB-9497-216FCB667608}" destId="{8C525E90-4046-453F-AA0C-0CC7978B1745}" srcOrd="0" destOrd="0" presId="urn:microsoft.com/office/officeart/2009/3/layout/StepUpProcess"/>
    <dgm:cxn modelId="{41D7EDFD-4369-4C44-9C73-BAF10FCEB12A}" type="presParOf" srcId="{2DC1450E-41CF-4166-A64C-DB2523976EE6}" destId="{05C41C12-A187-48A1-B521-BC63361F788A}" srcOrd="4" destOrd="0" presId="urn:microsoft.com/office/officeart/2009/3/layout/StepUpProcess"/>
    <dgm:cxn modelId="{F2B54537-A980-48F8-A468-63DCFF702D35}" type="presParOf" srcId="{05C41C12-A187-48A1-B521-BC63361F788A}" destId="{F9F3CE01-8DD0-4E0E-85BE-7BB25AAC0154}" srcOrd="0" destOrd="0" presId="urn:microsoft.com/office/officeart/2009/3/layout/StepUpProcess"/>
    <dgm:cxn modelId="{1DFDCE62-4043-404D-952D-DDFF9210FA67}" type="presParOf" srcId="{05C41C12-A187-48A1-B521-BC63361F788A}" destId="{993FD98F-2BC7-4733-824C-69D77D2B1B23}" srcOrd="1" destOrd="0" presId="urn:microsoft.com/office/officeart/2009/3/layout/StepUpProcess"/>
    <dgm:cxn modelId="{284B9095-F63E-4795-998B-819409DD9CE9}" type="presParOf" srcId="{05C41C12-A187-48A1-B521-BC63361F788A}" destId="{BAFB5D97-9C78-419C-8115-BD4E5D93185E}" srcOrd="2" destOrd="0" presId="urn:microsoft.com/office/officeart/2009/3/layout/StepUpProcess"/>
    <dgm:cxn modelId="{EDD185D3-8BA0-44C6-8936-CA9E753B13FC}" type="presParOf" srcId="{2DC1450E-41CF-4166-A64C-DB2523976EE6}" destId="{0AABDC9F-73F0-4F6E-9656-6F3644FFD244}" srcOrd="5" destOrd="0" presId="urn:microsoft.com/office/officeart/2009/3/layout/StepUpProcess"/>
    <dgm:cxn modelId="{11A51ECA-DA82-4C13-9418-BB2D1FA6F55F}" type="presParOf" srcId="{0AABDC9F-73F0-4F6E-9656-6F3644FFD244}" destId="{A1C4E30C-71E6-4DE4-A3CB-6BF1AEF7BC2E}" srcOrd="0" destOrd="0" presId="urn:microsoft.com/office/officeart/2009/3/layout/StepUpProcess"/>
    <dgm:cxn modelId="{02F3EE90-0EEC-4687-9042-96D48382541B}" type="presParOf" srcId="{2DC1450E-41CF-4166-A64C-DB2523976EE6}" destId="{B22B923E-819F-4ABA-B100-24A5E159AB9A}" srcOrd="6" destOrd="0" presId="urn:microsoft.com/office/officeart/2009/3/layout/StepUpProcess"/>
    <dgm:cxn modelId="{951C5CE3-D35E-42E5-9339-2121C751AF1A}" type="presParOf" srcId="{B22B923E-819F-4ABA-B100-24A5E159AB9A}" destId="{08A84858-872A-48C3-881F-A0986D5E1AB4}" srcOrd="0" destOrd="0" presId="urn:microsoft.com/office/officeart/2009/3/layout/StepUpProcess"/>
    <dgm:cxn modelId="{A8E45598-D618-4E48-88CD-2F082C76647A}" type="presParOf" srcId="{B22B923E-819F-4ABA-B100-24A5E159AB9A}" destId="{7FF1AFA7-8E32-441A-8D38-4DA057D08B9B}" srcOrd="1" destOrd="0" presId="urn:microsoft.com/office/officeart/2009/3/layout/StepUpProcess"/>
    <dgm:cxn modelId="{786BC93C-1352-422A-B21E-22D5D5DC57D0}" type="presParOf" srcId="{B22B923E-819F-4ABA-B100-24A5E159AB9A}" destId="{61EBD819-D40D-4781-8646-B03CCAC771E9}" srcOrd="2" destOrd="0" presId="urn:microsoft.com/office/officeart/2009/3/layout/StepUpProcess"/>
    <dgm:cxn modelId="{A104DB99-EFBB-46E2-BAA8-84911BAB8049}" type="presParOf" srcId="{2DC1450E-41CF-4166-A64C-DB2523976EE6}" destId="{D9243600-B1A1-4FE0-8754-2409A379CED4}" srcOrd="7" destOrd="0" presId="urn:microsoft.com/office/officeart/2009/3/layout/StepUpProcess"/>
    <dgm:cxn modelId="{E55771E0-B49F-472C-9ED0-D6D3C1B7EDFB}" type="presParOf" srcId="{D9243600-B1A1-4FE0-8754-2409A379CED4}" destId="{1B4A4717-FA34-4D4B-BDC5-16FA7D0B6DB4}" srcOrd="0" destOrd="0" presId="urn:microsoft.com/office/officeart/2009/3/layout/StepUpProcess"/>
    <dgm:cxn modelId="{A0ACCC63-65FB-4E31-B465-B52193F5D0B1}" type="presParOf" srcId="{2DC1450E-41CF-4166-A64C-DB2523976EE6}" destId="{A889D468-81F3-4250-BB42-89FEC3AAB7F1}" srcOrd="8" destOrd="0" presId="urn:microsoft.com/office/officeart/2009/3/layout/StepUpProcess"/>
    <dgm:cxn modelId="{24BCE723-D785-4911-8BA3-B565CD156AF1}" type="presParOf" srcId="{A889D468-81F3-4250-BB42-89FEC3AAB7F1}" destId="{4DEDB585-6166-492D-982B-BC326BFE086B}" srcOrd="0" destOrd="0" presId="urn:microsoft.com/office/officeart/2009/3/layout/StepUpProcess"/>
    <dgm:cxn modelId="{E979C393-E10F-412A-BB63-7BC55DBA8D52}" type="presParOf" srcId="{A889D468-81F3-4250-BB42-89FEC3AAB7F1}" destId="{F0D66743-9A54-475C-A9F2-BD69759F8007}" srcOrd="1" destOrd="0" presId="urn:microsoft.com/office/officeart/2009/3/layout/StepUpProcess"/>
    <dgm:cxn modelId="{0FE12228-3817-480E-BA6D-78FAD52037CF}" type="presParOf" srcId="{A889D468-81F3-4250-BB42-89FEC3AAB7F1}" destId="{8A4A2425-6557-4F75-8281-5C6F8F6DA59F}" srcOrd="2" destOrd="0" presId="urn:microsoft.com/office/officeart/2009/3/layout/StepUpProcess"/>
    <dgm:cxn modelId="{EAF95D10-E48E-45B7-A5B8-ADABFE8A4951}" type="presParOf" srcId="{2DC1450E-41CF-4166-A64C-DB2523976EE6}" destId="{322BB8F6-E5A3-43AD-9547-D047AAB097D3}" srcOrd="9" destOrd="0" presId="urn:microsoft.com/office/officeart/2009/3/layout/StepUpProcess"/>
    <dgm:cxn modelId="{CE860707-86E0-469D-83C4-F302F9EB01C7}" type="presParOf" srcId="{322BB8F6-E5A3-43AD-9547-D047AAB097D3}" destId="{812E3554-B9D9-4B64-99F0-0193B0D71F49}" srcOrd="0" destOrd="0" presId="urn:microsoft.com/office/officeart/2009/3/layout/StepUpProcess"/>
    <dgm:cxn modelId="{BD8E9B77-85BE-4C0D-9E91-06BCF317AB2F}" type="presParOf" srcId="{2DC1450E-41CF-4166-A64C-DB2523976EE6}" destId="{8F5484BB-1584-41DA-8A5C-74D1B79C4F60}" srcOrd="10" destOrd="0" presId="urn:microsoft.com/office/officeart/2009/3/layout/StepUpProcess"/>
    <dgm:cxn modelId="{015F9C48-EB49-4600-84AB-A1E59CCEA0A9}" type="presParOf" srcId="{8F5484BB-1584-41DA-8A5C-74D1B79C4F60}" destId="{FE6674BE-A39E-4AA7-9FEB-1A0231D5FBF4}" srcOrd="0" destOrd="0" presId="urn:microsoft.com/office/officeart/2009/3/layout/StepUpProcess"/>
    <dgm:cxn modelId="{81DCE905-BC01-4206-BE7A-65DEFD9F6003}" type="presParOf" srcId="{8F5484BB-1584-41DA-8A5C-74D1B79C4F60}" destId="{32782DEC-8909-4B83-A947-9EAC217FE2BD}" srcOrd="1" destOrd="0" presId="urn:microsoft.com/office/officeart/2009/3/layout/StepUpProcess"/>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2BF75CD-25FB-40A1-8974-A56508141C15}" type="doc">
      <dgm:prSet loTypeId="urn:microsoft.com/office/officeart/2005/8/layout/hList1" loCatId="list" qsTypeId="urn:microsoft.com/office/officeart/2005/8/quickstyle/simple1" qsCatId="simple" csTypeId="urn:microsoft.com/office/officeart/2005/8/colors/accent1_2" csCatId="accent1" phldr="1"/>
      <dgm:spPr/>
    </dgm:pt>
    <dgm:pt modelId="{89BA40CC-9C4A-4A12-8872-4030319CC1A7}">
      <dgm:prSet phldrT="[Texto]" custT="1"/>
      <dgm:spPr>
        <a:solidFill>
          <a:srgbClr val="2F3E46"/>
        </a:solidFill>
        <a:scene3d>
          <a:camera prst="orthographicFront"/>
          <a:lightRig rig="threePt" dir="t"/>
        </a:scene3d>
        <a:sp3d>
          <a:bevelT/>
        </a:sp3d>
      </dgm:spPr>
      <dgm:t>
        <a:bodyPr/>
        <a:lstStyle/>
        <a:p>
          <a:r>
            <a:rPr lang="es-ES" sz="2000" b="1" dirty="0">
              <a:solidFill>
                <a:schemeClr val="bg1"/>
              </a:solidFill>
              <a:latin typeface="Montserrat" panose="00000500000000000000" pitchFamily="2" charset="0"/>
            </a:rPr>
            <a:t>MAXIMIN</a:t>
          </a:r>
          <a:endParaRPr lang="es-MX" sz="2000" b="1" dirty="0">
            <a:solidFill>
              <a:schemeClr val="bg1"/>
            </a:solidFill>
            <a:latin typeface="Montserrat" panose="00000500000000000000" pitchFamily="2" charset="0"/>
          </a:endParaRPr>
        </a:p>
      </dgm:t>
    </dgm:pt>
    <dgm:pt modelId="{82B16DBE-16A3-42D6-8ED8-DF311EEFB2C8}" type="parTrans" cxnId="{A818B1FA-36F1-4D0F-9386-71548AECC299}">
      <dgm:prSet/>
      <dgm:spPr/>
      <dgm:t>
        <a:bodyPr/>
        <a:lstStyle/>
        <a:p>
          <a:endParaRPr lang="es-MX" sz="1200">
            <a:solidFill>
              <a:schemeClr val="bg1"/>
            </a:solidFill>
            <a:latin typeface="Montserrat" panose="00000500000000000000" pitchFamily="2" charset="0"/>
          </a:endParaRPr>
        </a:p>
      </dgm:t>
    </dgm:pt>
    <dgm:pt modelId="{FAFFA881-008D-454B-AE36-2FD6EBCA7D91}" type="sibTrans" cxnId="{A818B1FA-36F1-4D0F-9386-71548AECC299}">
      <dgm:prSet/>
      <dgm:spPr/>
      <dgm:t>
        <a:bodyPr/>
        <a:lstStyle/>
        <a:p>
          <a:endParaRPr lang="es-MX" sz="1200">
            <a:solidFill>
              <a:schemeClr val="bg1"/>
            </a:solidFill>
            <a:latin typeface="Montserrat" panose="00000500000000000000" pitchFamily="2" charset="0"/>
          </a:endParaRPr>
        </a:p>
      </dgm:t>
    </dgm:pt>
    <dgm:pt modelId="{A7511276-D860-4F68-9049-187E76A15F7F}">
      <dgm:prSet phldrT="[Texto]" custT="1"/>
      <dgm:spPr>
        <a:solidFill>
          <a:srgbClr val="2F3E46"/>
        </a:solidFill>
        <a:scene3d>
          <a:camera prst="orthographicFront"/>
          <a:lightRig rig="threePt" dir="t"/>
        </a:scene3d>
        <a:sp3d>
          <a:bevelT/>
        </a:sp3d>
      </dgm:spPr>
      <dgm:t>
        <a:bodyPr/>
        <a:lstStyle/>
        <a:p>
          <a:r>
            <a:rPr lang="es-ES" sz="2000" b="1" dirty="0">
              <a:solidFill>
                <a:schemeClr val="bg1"/>
              </a:solidFill>
              <a:latin typeface="Montserrat" panose="00000500000000000000" pitchFamily="2" charset="0"/>
            </a:rPr>
            <a:t>MAXIMAX</a:t>
          </a:r>
          <a:endParaRPr lang="es-MX" sz="2000" b="1" dirty="0">
            <a:solidFill>
              <a:schemeClr val="bg1"/>
            </a:solidFill>
            <a:latin typeface="Montserrat" panose="00000500000000000000" pitchFamily="2" charset="0"/>
          </a:endParaRPr>
        </a:p>
      </dgm:t>
    </dgm:pt>
    <dgm:pt modelId="{06EA63FF-2C97-4217-A90E-A59EC6DB1785}" type="parTrans" cxnId="{704B791D-451E-4647-80E9-AAD5D5D9F32B}">
      <dgm:prSet/>
      <dgm:spPr/>
      <dgm:t>
        <a:bodyPr/>
        <a:lstStyle/>
        <a:p>
          <a:endParaRPr lang="es-MX" sz="1200">
            <a:solidFill>
              <a:schemeClr val="bg1"/>
            </a:solidFill>
            <a:latin typeface="Montserrat" panose="00000500000000000000" pitchFamily="2" charset="0"/>
          </a:endParaRPr>
        </a:p>
      </dgm:t>
    </dgm:pt>
    <dgm:pt modelId="{DC7BCC45-1C45-4980-9283-6F905C8E767D}" type="sibTrans" cxnId="{704B791D-451E-4647-80E9-AAD5D5D9F32B}">
      <dgm:prSet/>
      <dgm:spPr/>
      <dgm:t>
        <a:bodyPr/>
        <a:lstStyle/>
        <a:p>
          <a:endParaRPr lang="es-MX" sz="1200">
            <a:solidFill>
              <a:schemeClr val="bg1"/>
            </a:solidFill>
            <a:latin typeface="Montserrat" panose="00000500000000000000" pitchFamily="2" charset="0"/>
          </a:endParaRPr>
        </a:p>
      </dgm:t>
    </dgm:pt>
    <dgm:pt modelId="{0FB68C82-907D-4285-A01B-183930A5437B}">
      <dgm:prSet phldrT="[Texto]" custT="1"/>
      <dgm:spPr>
        <a:solidFill>
          <a:srgbClr val="2F3E46"/>
        </a:solidFill>
        <a:scene3d>
          <a:camera prst="orthographicFront"/>
          <a:lightRig rig="threePt" dir="t"/>
        </a:scene3d>
        <a:sp3d>
          <a:bevelT/>
        </a:sp3d>
      </dgm:spPr>
      <dgm:t>
        <a:bodyPr/>
        <a:lstStyle/>
        <a:p>
          <a:r>
            <a:rPr lang="es-ES" sz="2000" b="1" dirty="0">
              <a:solidFill>
                <a:schemeClr val="bg1"/>
              </a:solidFill>
              <a:latin typeface="Montserrat" panose="00000500000000000000" pitchFamily="2" charset="0"/>
            </a:rPr>
            <a:t>Frustración mínima</a:t>
          </a:r>
          <a:endParaRPr lang="es-MX" sz="2000" b="1" dirty="0">
            <a:solidFill>
              <a:schemeClr val="bg1"/>
            </a:solidFill>
            <a:latin typeface="Montserrat" panose="00000500000000000000" pitchFamily="2" charset="0"/>
          </a:endParaRPr>
        </a:p>
      </dgm:t>
    </dgm:pt>
    <dgm:pt modelId="{B74B4BE4-85D1-4F6F-8A49-1E9B607275A7}" type="parTrans" cxnId="{8CE68AAC-DFF7-43DA-917C-7D58173A3018}">
      <dgm:prSet/>
      <dgm:spPr/>
      <dgm:t>
        <a:bodyPr/>
        <a:lstStyle/>
        <a:p>
          <a:endParaRPr lang="es-MX" sz="1200">
            <a:solidFill>
              <a:schemeClr val="bg1"/>
            </a:solidFill>
            <a:latin typeface="Montserrat" panose="00000500000000000000" pitchFamily="2" charset="0"/>
          </a:endParaRPr>
        </a:p>
      </dgm:t>
    </dgm:pt>
    <dgm:pt modelId="{5879F525-48F3-487B-80EE-15E24FA5E26A}" type="sibTrans" cxnId="{8CE68AAC-DFF7-43DA-917C-7D58173A3018}">
      <dgm:prSet/>
      <dgm:spPr/>
      <dgm:t>
        <a:bodyPr/>
        <a:lstStyle/>
        <a:p>
          <a:endParaRPr lang="es-MX" sz="1200">
            <a:solidFill>
              <a:schemeClr val="bg1"/>
            </a:solidFill>
            <a:latin typeface="Montserrat" panose="00000500000000000000" pitchFamily="2" charset="0"/>
          </a:endParaRPr>
        </a:p>
      </dgm:t>
    </dgm:pt>
    <dgm:pt modelId="{545954E7-898B-4114-A800-AACF60032CE0}">
      <dgm:prSet custT="1"/>
      <dgm:spPr>
        <a:solidFill>
          <a:srgbClr val="52796F"/>
        </a:solidFill>
        <a:scene3d>
          <a:camera prst="orthographicFront"/>
          <a:lightRig rig="threePt" dir="t"/>
        </a:scene3d>
        <a:sp3d>
          <a:bevelT/>
        </a:sp3d>
      </dgm:spPr>
      <dgm:t>
        <a:bodyPr/>
        <a:lstStyle/>
        <a:p>
          <a:pPr marL="0" indent="0" algn="just">
            <a:buNone/>
          </a:pPr>
          <a:r>
            <a:rPr lang="es-ES" sz="1800" dirty="0">
              <a:solidFill>
                <a:schemeClr val="bg1"/>
              </a:solidFill>
              <a:latin typeface="Montserrat" panose="00000500000000000000" pitchFamily="2" charset="0"/>
            </a:rPr>
            <a:t>También llamado Criterio Wald, consiste en elegir aquella estrategia que maximice el </a:t>
          </a:r>
          <a:r>
            <a:rPr lang="es-ES" sz="1800" b="1" dirty="0">
              <a:solidFill>
                <a:schemeClr val="bg1"/>
              </a:solidFill>
              <a:latin typeface="Montserrat" panose="00000500000000000000" pitchFamily="2" charset="0"/>
            </a:rPr>
            <a:t>peor de los resultados</a:t>
          </a:r>
          <a:r>
            <a:rPr lang="es-ES" sz="1800" dirty="0">
              <a:solidFill>
                <a:schemeClr val="bg1"/>
              </a:solidFill>
              <a:latin typeface="Montserrat" panose="00000500000000000000" pitchFamily="2" charset="0"/>
            </a:rPr>
            <a:t> posibles. Estaría asociado a una persona pesimista e intentaría proporcionar el mayor nivel de seguridad posible. </a:t>
          </a:r>
          <a:endParaRPr lang="es-MX" sz="1800" dirty="0">
            <a:solidFill>
              <a:schemeClr val="bg1"/>
            </a:solidFill>
            <a:latin typeface="Montserrat" panose="00000500000000000000" pitchFamily="2" charset="0"/>
          </a:endParaRPr>
        </a:p>
      </dgm:t>
    </dgm:pt>
    <dgm:pt modelId="{FD34044C-AB08-4798-86A9-14C39132357B}" type="parTrans" cxnId="{82A0A0B7-8E43-43A1-9181-4922BE4C49C0}">
      <dgm:prSet/>
      <dgm:spPr/>
      <dgm:t>
        <a:bodyPr/>
        <a:lstStyle/>
        <a:p>
          <a:endParaRPr lang="es-MX" sz="1200">
            <a:solidFill>
              <a:schemeClr val="bg1"/>
            </a:solidFill>
            <a:latin typeface="Montserrat" panose="00000500000000000000" pitchFamily="2" charset="0"/>
          </a:endParaRPr>
        </a:p>
      </dgm:t>
    </dgm:pt>
    <dgm:pt modelId="{54A5E828-8AE7-4ACA-9236-452913B04624}" type="sibTrans" cxnId="{82A0A0B7-8E43-43A1-9181-4922BE4C49C0}">
      <dgm:prSet/>
      <dgm:spPr/>
      <dgm:t>
        <a:bodyPr/>
        <a:lstStyle/>
        <a:p>
          <a:endParaRPr lang="es-MX" sz="1200">
            <a:solidFill>
              <a:schemeClr val="bg1"/>
            </a:solidFill>
            <a:latin typeface="Montserrat" panose="00000500000000000000" pitchFamily="2" charset="0"/>
          </a:endParaRPr>
        </a:p>
      </dgm:t>
    </dgm:pt>
    <dgm:pt modelId="{6B148032-692E-44CA-89EF-3CD7CAB039EB}">
      <dgm:prSet custT="1"/>
      <dgm:spPr>
        <a:solidFill>
          <a:srgbClr val="52796F"/>
        </a:solidFill>
        <a:scene3d>
          <a:camera prst="orthographicFront"/>
          <a:lightRig rig="threePt" dir="t"/>
        </a:scene3d>
        <a:sp3d>
          <a:bevelT/>
        </a:sp3d>
      </dgm:spPr>
      <dgm:t>
        <a:bodyPr/>
        <a:lstStyle/>
        <a:p>
          <a:pPr marL="0" indent="0" algn="just">
            <a:buNone/>
          </a:pPr>
          <a:r>
            <a:rPr lang="es-ES" sz="1800" dirty="0">
              <a:solidFill>
                <a:schemeClr val="bg1"/>
              </a:solidFill>
              <a:latin typeface="Montserrat" panose="00000500000000000000" pitchFamily="2" charset="0"/>
            </a:rPr>
            <a:t>Según este criterio habría que optar por aquella estrategia que maximice el </a:t>
          </a:r>
          <a:r>
            <a:rPr lang="es-ES" sz="1800" b="1" dirty="0">
              <a:solidFill>
                <a:schemeClr val="bg1"/>
              </a:solidFill>
              <a:latin typeface="Montserrat" panose="00000500000000000000" pitchFamily="2" charset="0"/>
            </a:rPr>
            <a:t>mejor de los resultados </a:t>
          </a:r>
          <a:r>
            <a:rPr lang="es-ES" sz="1800" dirty="0">
              <a:solidFill>
                <a:schemeClr val="bg1"/>
              </a:solidFill>
              <a:latin typeface="Montserrat" panose="00000500000000000000" pitchFamily="2" charset="0"/>
            </a:rPr>
            <a:t>posibles. </a:t>
          </a:r>
          <a:endParaRPr lang="es-MX" sz="1800" dirty="0">
            <a:solidFill>
              <a:schemeClr val="bg1"/>
            </a:solidFill>
            <a:latin typeface="Montserrat" panose="00000500000000000000" pitchFamily="2" charset="0"/>
          </a:endParaRPr>
        </a:p>
      </dgm:t>
    </dgm:pt>
    <dgm:pt modelId="{1204A0BD-C07E-4D9D-912B-49CE91515FAF}" type="parTrans" cxnId="{2C138088-1B14-4F7E-A3A1-021C5538ABA0}">
      <dgm:prSet/>
      <dgm:spPr/>
      <dgm:t>
        <a:bodyPr/>
        <a:lstStyle/>
        <a:p>
          <a:endParaRPr lang="es-MX" sz="1200">
            <a:solidFill>
              <a:schemeClr val="bg1"/>
            </a:solidFill>
            <a:latin typeface="Montserrat" panose="00000500000000000000" pitchFamily="2" charset="0"/>
          </a:endParaRPr>
        </a:p>
      </dgm:t>
    </dgm:pt>
    <dgm:pt modelId="{40206A83-0C26-4E9E-A91A-2C78B6B9D983}" type="sibTrans" cxnId="{2C138088-1B14-4F7E-A3A1-021C5538ABA0}">
      <dgm:prSet/>
      <dgm:spPr/>
      <dgm:t>
        <a:bodyPr/>
        <a:lstStyle/>
        <a:p>
          <a:endParaRPr lang="es-MX" sz="1200">
            <a:solidFill>
              <a:schemeClr val="bg1"/>
            </a:solidFill>
            <a:latin typeface="Montserrat" panose="00000500000000000000" pitchFamily="2" charset="0"/>
          </a:endParaRPr>
        </a:p>
      </dgm:t>
    </dgm:pt>
    <dgm:pt modelId="{EE1073E2-0B2A-4329-8B99-9701FE2A13AB}">
      <dgm:prSet custT="1"/>
      <dgm:spPr>
        <a:solidFill>
          <a:srgbClr val="52796F"/>
        </a:solidFill>
        <a:scene3d>
          <a:camera prst="orthographicFront"/>
          <a:lightRig rig="threePt" dir="t"/>
        </a:scene3d>
        <a:sp3d>
          <a:bevelT/>
        </a:sp3d>
      </dgm:spPr>
      <dgm:t>
        <a:bodyPr/>
        <a:lstStyle/>
        <a:p>
          <a:pPr marL="0" lvl="1" indent="0" algn="just" defTabSz="977900">
            <a:lnSpc>
              <a:spcPct val="90000"/>
            </a:lnSpc>
            <a:spcBef>
              <a:spcPct val="0"/>
            </a:spcBef>
            <a:spcAft>
              <a:spcPct val="15000"/>
            </a:spcAft>
            <a:buNone/>
          </a:pPr>
          <a:r>
            <a:rPr lang="es-ES" sz="1800" kern="1200" dirty="0">
              <a:solidFill>
                <a:schemeClr val="bg1"/>
              </a:solidFill>
              <a:latin typeface="Montserrat" panose="00000500000000000000" pitchFamily="2" charset="0"/>
              <a:ea typeface="+mn-ea"/>
              <a:cs typeface="+mn-cs"/>
            </a:rPr>
            <a:t>Este criterio establece que hay que ordenar las estrategias y establecer diferencia entre el resultado obtenido y el mayor posible con cada posible situación, escogiendo la estrategia que minimice el riesgo.</a:t>
          </a:r>
          <a:endParaRPr lang="es-MX" sz="1800" kern="1200" dirty="0">
            <a:solidFill>
              <a:schemeClr val="bg1"/>
            </a:solidFill>
            <a:latin typeface="Montserrat" panose="00000500000000000000" pitchFamily="2" charset="0"/>
            <a:ea typeface="+mn-ea"/>
            <a:cs typeface="+mn-cs"/>
          </a:endParaRPr>
        </a:p>
      </dgm:t>
    </dgm:pt>
    <dgm:pt modelId="{098F11FA-A921-470F-9A23-0ACFEA27860D}" type="parTrans" cxnId="{C572C1A0-33E8-4FEB-8D7F-8FA57E0C485F}">
      <dgm:prSet/>
      <dgm:spPr/>
      <dgm:t>
        <a:bodyPr/>
        <a:lstStyle/>
        <a:p>
          <a:endParaRPr lang="es-MX" sz="1200">
            <a:solidFill>
              <a:schemeClr val="bg1"/>
            </a:solidFill>
            <a:latin typeface="Montserrat" panose="00000500000000000000" pitchFamily="2" charset="0"/>
          </a:endParaRPr>
        </a:p>
      </dgm:t>
    </dgm:pt>
    <dgm:pt modelId="{B15D8E1A-1722-4E97-B18A-BDB837EF2478}" type="sibTrans" cxnId="{C572C1A0-33E8-4FEB-8D7F-8FA57E0C485F}">
      <dgm:prSet/>
      <dgm:spPr/>
      <dgm:t>
        <a:bodyPr/>
        <a:lstStyle/>
        <a:p>
          <a:endParaRPr lang="es-MX" sz="1200">
            <a:solidFill>
              <a:schemeClr val="bg1"/>
            </a:solidFill>
            <a:latin typeface="Montserrat" panose="00000500000000000000" pitchFamily="2" charset="0"/>
          </a:endParaRPr>
        </a:p>
      </dgm:t>
    </dgm:pt>
    <dgm:pt modelId="{76FD9FF3-A241-488E-AE2C-BDCBBF2ACA0F}" type="pres">
      <dgm:prSet presAssocID="{E2BF75CD-25FB-40A1-8974-A56508141C15}" presName="Name0" presStyleCnt="0">
        <dgm:presLayoutVars>
          <dgm:dir/>
          <dgm:animLvl val="lvl"/>
          <dgm:resizeHandles val="exact"/>
        </dgm:presLayoutVars>
      </dgm:prSet>
      <dgm:spPr/>
    </dgm:pt>
    <dgm:pt modelId="{A0730F65-41D2-4277-B5DD-A1A6C7651534}" type="pres">
      <dgm:prSet presAssocID="{89BA40CC-9C4A-4A12-8872-4030319CC1A7}" presName="composite" presStyleCnt="0"/>
      <dgm:spPr>
        <a:scene3d>
          <a:camera prst="orthographicFront"/>
          <a:lightRig rig="threePt" dir="t"/>
        </a:scene3d>
        <a:sp3d>
          <a:bevelT/>
        </a:sp3d>
      </dgm:spPr>
    </dgm:pt>
    <dgm:pt modelId="{C7DF371F-F6F6-4240-8400-4426EBD7CE8A}" type="pres">
      <dgm:prSet presAssocID="{89BA40CC-9C4A-4A12-8872-4030319CC1A7}" presName="parTx" presStyleLbl="alignNode1" presStyleIdx="0" presStyleCnt="3" custScaleY="43225" custLinFactNeighborY="-25153">
        <dgm:presLayoutVars>
          <dgm:chMax val="0"/>
          <dgm:chPref val="0"/>
          <dgm:bulletEnabled val="1"/>
        </dgm:presLayoutVars>
      </dgm:prSet>
      <dgm:spPr/>
    </dgm:pt>
    <dgm:pt modelId="{86B503BB-B3D3-4894-99AE-49CEFC65F173}" type="pres">
      <dgm:prSet presAssocID="{89BA40CC-9C4A-4A12-8872-4030319CC1A7}" presName="desTx" presStyleLbl="alignAccFollowNode1" presStyleIdx="0" presStyleCnt="3" custScaleY="98067" custLinFactNeighborY="12579">
        <dgm:presLayoutVars>
          <dgm:bulletEnabled val="1"/>
        </dgm:presLayoutVars>
      </dgm:prSet>
      <dgm:spPr/>
    </dgm:pt>
    <dgm:pt modelId="{914B2531-EB5E-4BF0-9096-723720E1C0C2}" type="pres">
      <dgm:prSet presAssocID="{FAFFA881-008D-454B-AE36-2FD6EBCA7D91}" presName="space" presStyleCnt="0"/>
      <dgm:spPr>
        <a:scene3d>
          <a:camera prst="orthographicFront"/>
          <a:lightRig rig="threePt" dir="t"/>
        </a:scene3d>
        <a:sp3d>
          <a:bevelT/>
        </a:sp3d>
      </dgm:spPr>
    </dgm:pt>
    <dgm:pt modelId="{99B5776B-3110-472B-8F4A-5AD292A7AA82}" type="pres">
      <dgm:prSet presAssocID="{A7511276-D860-4F68-9049-187E76A15F7F}" presName="composite" presStyleCnt="0"/>
      <dgm:spPr>
        <a:scene3d>
          <a:camera prst="orthographicFront"/>
          <a:lightRig rig="threePt" dir="t"/>
        </a:scene3d>
        <a:sp3d>
          <a:bevelT/>
        </a:sp3d>
      </dgm:spPr>
    </dgm:pt>
    <dgm:pt modelId="{7978B78B-7A0F-46AF-89B7-E0C232C6B2A8}" type="pres">
      <dgm:prSet presAssocID="{A7511276-D860-4F68-9049-187E76A15F7F}" presName="parTx" presStyleLbl="alignNode1" presStyleIdx="1" presStyleCnt="3" custScaleY="43225" custLinFactNeighborY="-25153">
        <dgm:presLayoutVars>
          <dgm:chMax val="0"/>
          <dgm:chPref val="0"/>
          <dgm:bulletEnabled val="1"/>
        </dgm:presLayoutVars>
      </dgm:prSet>
      <dgm:spPr/>
    </dgm:pt>
    <dgm:pt modelId="{EAF60EAD-DBD9-4850-A3AE-387140EEDD93}" type="pres">
      <dgm:prSet presAssocID="{A7511276-D860-4F68-9049-187E76A15F7F}" presName="desTx" presStyleLbl="alignAccFollowNode1" presStyleIdx="1" presStyleCnt="3" custScaleY="98067" custLinFactNeighborY="12579">
        <dgm:presLayoutVars>
          <dgm:bulletEnabled val="1"/>
        </dgm:presLayoutVars>
      </dgm:prSet>
      <dgm:spPr/>
    </dgm:pt>
    <dgm:pt modelId="{8937D7D9-4D45-4C83-AC2F-020BD9531372}" type="pres">
      <dgm:prSet presAssocID="{DC7BCC45-1C45-4980-9283-6F905C8E767D}" presName="space" presStyleCnt="0"/>
      <dgm:spPr>
        <a:scene3d>
          <a:camera prst="orthographicFront"/>
          <a:lightRig rig="threePt" dir="t"/>
        </a:scene3d>
        <a:sp3d>
          <a:bevelT/>
        </a:sp3d>
      </dgm:spPr>
    </dgm:pt>
    <dgm:pt modelId="{FB61CA65-ACB7-4725-979E-25045CF74237}" type="pres">
      <dgm:prSet presAssocID="{0FB68C82-907D-4285-A01B-183930A5437B}" presName="composite" presStyleCnt="0"/>
      <dgm:spPr>
        <a:scene3d>
          <a:camera prst="orthographicFront"/>
          <a:lightRig rig="threePt" dir="t"/>
        </a:scene3d>
        <a:sp3d>
          <a:bevelT/>
        </a:sp3d>
      </dgm:spPr>
    </dgm:pt>
    <dgm:pt modelId="{3EA8024D-F738-4FF7-A744-A4F7BFF81245}" type="pres">
      <dgm:prSet presAssocID="{0FB68C82-907D-4285-A01B-183930A5437B}" presName="parTx" presStyleLbl="alignNode1" presStyleIdx="2" presStyleCnt="3" custScaleY="43225" custLinFactNeighborY="-25153">
        <dgm:presLayoutVars>
          <dgm:chMax val="0"/>
          <dgm:chPref val="0"/>
          <dgm:bulletEnabled val="1"/>
        </dgm:presLayoutVars>
      </dgm:prSet>
      <dgm:spPr/>
    </dgm:pt>
    <dgm:pt modelId="{73050548-397B-4500-9670-5A6F97AF363D}" type="pres">
      <dgm:prSet presAssocID="{0FB68C82-907D-4285-A01B-183930A5437B}" presName="desTx" presStyleLbl="alignAccFollowNode1" presStyleIdx="2" presStyleCnt="3" custScaleY="98067" custLinFactNeighborY="12579">
        <dgm:presLayoutVars>
          <dgm:bulletEnabled val="1"/>
        </dgm:presLayoutVars>
      </dgm:prSet>
      <dgm:spPr/>
    </dgm:pt>
  </dgm:ptLst>
  <dgm:cxnLst>
    <dgm:cxn modelId="{704B791D-451E-4647-80E9-AAD5D5D9F32B}" srcId="{E2BF75CD-25FB-40A1-8974-A56508141C15}" destId="{A7511276-D860-4F68-9049-187E76A15F7F}" srcOrd="1" destOrd="0" parTransId="{06EA63FF-2C97-4217-A90E-A59EC6DB1785}" sibTransId="{DC7BCC45-1C45-4980-9283-6F905C8E767D}"/>
    <dgm:cxn modelId="{17968835-109A-48F1-A0D9-A9552F36824C}" type="presOf" srcId="{545954E7-898B-4114-A800-AACF60032CE0}" destId="{86B503BB-B3D3-4894-99AE-49CEFC65F173}" srcOrd="0" destOrd="0" presId="urn:microsoft.com/office/officeart/2005/8/layout/hList1"/>
    <dgm:cxn modelId="{E2448A68-A76F-4173-B2A7-3B4D48C3E9D8}" type="presOf" srcId="{E2BF75CD-25FB-40A1-8974-A56508141C15}" destId="{76FD9FF3-A241-488E-AE2C-BDCBBF2ACA0F}" srcOrd="0" destOrd="0" presId="urn:microsoft.com/office/officeart/2005/8/layout/hList1"/>
    <dgm:cxn modelId="{8533506C-CF99-4BF8-869D-CC1FB237A77E}" type="presOf" srcId="{6B148032-692E-44CA-89EF-3CD7CAB039EB}" destId="{EAF60EAD-DBD9-4850-A3AE-387140EEDD93}" srcOrd="0" destOrd="0" presId="urn:microsoft.com/office/officeart/2005/8/layout/hList1"/>
    <dgm:cxn modelId="{2C138088-1B14-4F7E-A3A1-021C5538ABA0}" srcId="{A7511276-D860-4F68-9049-187E76A15F7F}" destId="{6B148032-692E-44CA-89EF-3CD7CAB039EB}" srcOrd="0" destOrd="0" parTransId="{1204A0BD-C07E-4D9D-912B-49CE91515FAF}" sibTransId="{40206A83-0C26-4E9E-A91A-2C78B6B9D983}"/>
    <dgm:cxn modelId="{C572C1A0-33E8-4FEB-8D7F-8FA57E0C485F}" srcId="{0FB68C82-907D-4285-A01B-183930A5437B}" destId="{EE1073E2-0B2A-4329-8B99-9701FE2A13AB}" srcOrd="0" destOrd="0" parTransId="{098F11FA-A921-470F-9A23-0ACFEA27860D}" sibTransId="{B15D8E1A-1722-4E97-B18A-BDB837EF2478}"/>
    <dgm:cxn modelId="{8CE68AAC-DFF7-43DA-917C-7D58173A3018}" srcId="{E2BF75CD-25FB-40A1-8974-A56508141C15}" destId="{0FB68C82-907D-4285-A01B-183930A5437B}" srcOrd="2" destOrd="0" parTransId="{B74B4BE4-85D1-4F6F-8A49-1E9B607275A7}" sibTransId="{5879F525-48F3-487B-80EE-15E24FA5E26A}"/>
    <dgm:cxn modelId="{E65122B1-2D17-4933-BDE4-481904AC63EC}" type="presOf" srcId="{89BA40CC-9C4A-4A12-8872-4030319CC1A7}" destId="{C7DF371F-F6F6-4240-8400-4426EBD7CE8A}" srcOrd="0" destOrd="0" presId="urn:microsoft.com/office/officeart/2005/8/layout/hList1"/>
    <dgm:cxn modelId="{4D1A83B7-6551-4F05-88F5-C3BF10EE9449}" type="presOf" srcId="{EE1073E2-0B2A-4329-8B99-9701FE2A13AB}" destId="{73050548-397B-4500-9670-5A6F97AF363D}" srcOrd="0" destOrd="0" presId="urn:microsoft.com/office/officeart/2005/8/layout/hList1"/>
    <dgm:cxn modelId="{82A0A0B7-8E43-43A1-9181-4922BE4C49C0}" srcId="{89BA40CC-9C4A-4A12-8872-4030319CC1A7}" destId="{545954E7-898B-4114-A800-AACF60032CE0}" srcOrd="0" destOrd="0" parTransId="{FD34044C-AB08-4798-86A9-14C39132357B}" sibTransId="{54A5E828-8AE7-4ACA-9236-452913B04624}"/>
    <dgm:cxn modelId="{558B0AE9-26ED-4100-9AB0-71CE9DC6CF19}" type="presOf" srcId="{0FB68C82-907D-4285-A01B-183930A5437B}" destId="{3EA8024D-F738-4FF7-A744-A4F7BFF81245}" srcOrd="0" destOrd="0" presId="urn:microsoft.com/office/officeart/2005/8/layout/hList1"/>
    <dgm:cxn modelId="{A818B1FA-36F1-4D0F-9386-71548AECC299}" srcId="{E2BF75CD-25FB-40A1-8974-A56508141C15}" destId="{89BA40CC-9C4A-4A12-8872-4030319CC1A7}" srcOrd="0" destOrd="0" parTransId="{82B16DBE-16A3-42D6-8ED8-DF311EEFB2C8}" sibTransId="{FAFFA881-008D-454B-AE36-2FD6EBCA7D91}"/>
    <dgm:cxn modelId="{AB9001FB-4399-49EC-825A-BEE8CCF71CAD}" type="presOf" srcId="{A7511276-D860-4F68-9049-187E76A15F7F}" destId="{7978B78B-7A0F-46AF-89B7-E0C232C6B2A8}" srcOrd="0" destOrd="0" presId="urn:microsoft.com/office/officeart/2005/8/layout/hList1"/>
    <dgm:cxn modelId="{E78B1843-86C6-40D4-8CE0-C35412542386}" type="presParOf" srcId="{76FD9FF3-A241-488E-AE2C-BDCBBF2ACA0F}" destId="{A0730F65-41D2-4277-B5DD-A1A6C7651534}" srcOrd="0" destOrd="0" presId="urn:microsoft.com/office/officeart/2005/8/layout/hList1"/>
    <dgm:cxn modelId="{64E2D209-943D-4E02-A43D-C779B9B0BD72}" type="presParOf" srcId="{A0730F65-41D2-4277-B5DD-A1A6C7651534}" destId="{C7DF371F-F6F6-4240-8400-4426EBD7CE8A}" srcOrd="0" destOrd="0" presId="urn:microsoft.com/office/officeart/2005/8/layout/hList1"/>
    <dgm:cxn modelId="{4DB9EE42-5637-4EB9-8306-493035FE9913}" type="presParOf" srcId="{A0730F65-41D2-4277-B5DD-A1A6C7651534}" destId="{86B503BB-B3D3-4894-99AE-49CEFC65F173}" srcOrd="1" destOrd="0" presId="urn:microsoft.com/office/officeart/2005/8/layout/hList1"/>
    <dgm:cxn modelId="{542C40F4-9D01-43BB-B1B6-C8483DB2024A}" type="presParOf" srcId="{76FD9FF3-A241-488E-AE2C-BDCBBF2ACA0F}" destId="{914B2531-EB5E-4BF0-9096-723720E1C0C2}" srcOrd="1" destOrd="0" presId="urn:microsoft.com/office/officeart/2005/8/layout/hList1"/>
    <dgm:cxn modelId="{6E0CACD9-E65C-4A0F-8D92-4E3DDDE88D07}" type="presParOf" srcId="{76FD9FF3-A241-488E-AE2C-BDCBBF2ACA0F}" destId="{99B5776B-3110-472B-8F4A-5AD292A7AA82}" srcOrd="2" destOrd="0" presId="urn:microsoft.com/office/officeart/2005/8/layout/hList1"/>
    <dgm:cxn modelId="{8648E3A7-0559-4F4C-B07B-2F5386405640}" type="presParOf" srcId="{99B5776B-3110-472B-8F4A-5AD292A7AA82}" destId="{7978B78B-7A0F-46AF-89B7-E0C232C6B2A8}" srcOrd="0" destOrd="0" presId="urn:microsoft.com/office/officeart/2005/8/layout/hList1"/>
    <dgm:cxn modelId="{F6708325-04DB-4406-8292-C7BDAD6A6261}" type="presParOf" srcId="{99B5776B-3110-472B-8F4A-5AD292A7AA82}" destId="{EAF60EAD-DBD9-4850-A3AE-387140EEDD93}" srcOrd="1" destOrd="0" presId="urn:microsoft.com/office/officeart/2005/8/layout/hList1"/>
    <dgm:cxn modelId="{DEA4093F-551A-47CB-8549-CECD932304F8}" type="presParOf" srcId="{76FD9FF3-A241-488E-AE2C-BDCBBF2ACA0F}" destId="{8937D7D9-4D45-4C83-AC2F-020BD9531372}" srcOrd="3" destOrd="0" presId="urn:microsoft.com/office/officeart/2005/8/layout/hList1"/>
    <dgm:cxn modelId="{90B017C7-4DD8-4400-AB62-BE9840F776B6}" type="presParOf" srcId="{76FD9FF3-A241-488E-AE2C-BDCBBF2ACA0F}" destId="{FB61CA65-ACB7-4725-979E-25045CF74237}" srcOrd="4" destOrd="0" presId="urn:microsoft.com/office/officeart/2005/8/layout/hList1"/>
    <dgm:cxn modelId="{5AB0D25C-854C-4A77-936B-9F1C938987C3}" type="presParOf" srcId="{FB61CA65-ACB7-4725-979E-25045CF74237}" destId="{3EA8024D-F738-4FF7-A744-A4F7BFF81245}" srcOrd="0" destOrd="0" presId="urn:microsoft.com/office/officeart/2005/8/layout/hList1"/>
    <dgm:cxn modelId="{E037EAB1-524B-4DFA-B401-591A3D5868A3}" type="presParOf" srcId="{FB61CA65-ACB7-4725-979E-25045CF74237}" destId="{73050548-397B-4500-9670-5A6F97AF363D}" srcOrd="1" destOrd="0" presId="urn:microsoft.com/office/officeart/2005/8/layout/hList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2BF75CD-25FB-40A1-8974-A56508141C15}" type="doc">
      <dgm:prSet loTypeId="urn:microsoft.com/office/officeart/2005/8/layout/hList1" loCatId="list" qsTypeId="urn:microsoft.com/office/officeart/2005/8/quickstyle/simple1" qsCatId="simple" csTypeId="urn:microsoft.com/office/officeart/2005/8/colors/accent1_2" csCatId="accent1" phldr="1"/>
      <dgm:spPr/>
    </dgm:pt>
    <dgm:pt modelId="{89BA40CC-9C4A-4A12-8872-4030319CC1A7}">
      <dgm:prSet phldrT="[Texto]" custT="1"/>
      <dgm:spPr>
        <a:solidFill>
          <a:srgbClr val="2F3E46"/>
        </a:solidFill>
        <a:scene3d>
          <a:camera prst="orthographicFront"/>
          <a:lightRig rig="threePt" dir="t"/>
        </a:scene3d>
        <a:sp3d>
          <a:bevelT/>
        </a:sp3d>
      </dgm:spPr>
      <dgm:t>
        <a:bodyPr/>
        <a:lstStyle/>
        <a:p>
          <a:r>
            <a:rPr lang="es-ES" sz="2000" b="1" dirty="0">
              <a:solidFill>
                <a:schemeClr val="bg1"/>
              </a:solidFill>
              <a:latin typeface="Montserrat" panose="00000500000000000000" pitchFamily="2" charset="0"/>
            </a:rPr>
            <a:t>MAXIMIN</a:t>
          </a:r>
          <a:endParaRPr lang="es-MX" sz="2000" b="1" dirty="0">
            <a:solidFill>
              <a:schemeClr val="bg1"/>
            </a:solidFill>
            <a:latin typeface="Montserrat" panose="00000500000000000000" pitchFamily="2" charset="0"/>
          </a:endParaRPr>
        </a:p>
      </dgm:t>
    </dgm:pt>
    <dgm:pt modelId="{82B16DBE-16A3-42D6-8ED8-DF311EEFB2C8}" type="parTrans" cxnId="{A818B1FA-36F1-4D0F-9386-71548AECC299}">
      <dgm:prSet/>
      <dgm:spPr/>
      <dgm:t>
        <a:bodyPr/>
        <a:lstStyle/>
        <a:p>
          <a:endParaRPr lang="es-MX" sz="1200">
            <a:solidFill>
              <a:schemeClr val="bg1"/>
            </a:solidFill>
            <a:latin typeface="Montserrat" panose="00000500000000000000" pitchFamily="2" charset="0"/>
          </a:endParaRPr>
        </a:p>
      </dgm:t>
    </dgm:pt>
    <dgm:pt modelId="{FAFFA881-008D-454B-AE36-2FD6EBCA7D91}" type="sibTrans" cxnId="{A818B1FA-36F1-4D0F-9386-71548AECC299}">
      <dgm:prSet/>
      <dgm:spPr/>
      <dgm:t>
        <a:bodyPr/>
        <a:lstStyle/>
        <a:p>
          <a:endParaRPr lang="es-MX" sz="1200">
            <a:solidFill>
              <a:schemeClr val="bg1"/>
            </a:solidFill>
            <a:latin typeface="Montserrat" panose="00000500000000000000" pitchFamily="2" charset="0"/>
          </a:endParaRPr>
        </a:p>
      </dgm:t>
    </dgm:pt>
    <dgm:pt modelId="{A7511276-D860-4F68-9049-187E76A15F7F}">
      <dgm:prSet phldrT="[Texto]" custT="1"/>
      <dgm:spPr>
        <a:solidFill>
          <a:srgbClr val="2F3E46"/>
        </a:solidFill>
        <a:scene3d>
          <a:camera prst="orthographicFront"/>
          <a:lightRig rig="threePt" dir="t"/>
        </a:scene3d>
        <a:sp3d>
          <a:bevelT/>
        </a:sp3d>
      </dgm:spPr>
      <dgm:t>
        <a:bodyPr/>
        <a:lstStyle/>
        <a:p>
          <a:r>
            <a:rPr lang="es-ES" sz="2000" b="1" dirty="0">
              <a:solidFill>
                <a:schemeClr val="bg1"/>
              </a:solidFill>
              <a:latin typeface="Montserrat" panose="00000500000000000000" pitchFamily="2" charset="0"/>
            </a:rPr>
            <a:t>MAXIMAX</a:t>
          </a:r>
          <a:endParaRPr lang="es-MX" sz="2000" b="1" dirty="0">
            <a:solidFill>
              <a:schemeClr val="bg1"/>
            </a:solidFill>
            <a:latin typeface="Montserrat" panose="00000500000000000000" pitchFamily="2" charset="0"/>
          </a:endParaRPr>
        </a:p>
      </dgm:t>
    </dgm:pt>
    <dgm:pt modelId="{06EA63FF-2C97-4217-A90E-A59EC6DB1785}" type="parTrans" cxnId="{704B791D-451E-4647-80E9-AAD5D5D9F32B}">
      <dgm:prSet/>
      <dgm:spPr/>
      <dgm:t>
        <a:bodyPr/>
        <a:lstStyle/>
        <a:p>
          <a:endParaRPr lang="es-MX" sz="1200">
            <a:solidFill>
              <a:schemeClr val="bg1"/>
            </a:solidFill>
            <a:latin typeface="Montserrat" panose="00000500000000000000" pitchFamily="2" charset="0"/>
          </a:endParaRPr>
        </a:p>
      </dgm:t>
    </dgm:pt>
    <dgm:pt modelId="{DC7BCC45-1C45-4980-9283-6F905C8E767D}" type="sibTrans" cxnId="{704B791D-451E-4647-80E9-AAD5D5D9F32B}">
      <dgm:prSet/>
      <dgm:spPr/>
      <dgm:t>
        <a:bodyPr/>
        <a:lstStyle/>
        <a:p>
          <a:endParaRPr lang="es-MX" sz="1200">
            <a:solidFill>
              <a:schemeClr val="bg1"/>
            </a:solidFill>
            <a:latin typeface="Montserrat" panose="00000500000000000000" pitchFamily="2" charset="0"/>
          </a:endParaRPr>
        </a:p>
      </dgm:t>
    </dgm:pt>
    <dgm:pt modelId="{0FB68C82-907D-4285-A01B-183930A5437B}">
      <dgm:prSet phldrT="[Texto]" custT="1"/>
      <dgm:spPr>
        <a:solidFill>
          <a:srgbClr val="2F3E46"/>
        </a:solidFill>
        <a:scene3d>
          <a:camera prst="orthographicFront"/>
          <a:lightRig rig="threePt" dir="t"/>
        </a:scene3d>
        <a:sp3d>
          <a:bevelT/>
        </a:sp3d>
      </dgm:spPr>
      <dgm:t>
        <a:bodyPr/>
        <a:lstStyle/>
        <a:p>
          <a:r>
            <a:rPr lang="es-ES" sz="2000" b="1" dirty="0">
              <a:solidFill>
                <a:schemeClr val="bg1"/>
              </a:solidFill>
              <a:latin typeface="Montserrat" panose="00000500000000000000" pitchFamily="2" charset="0"/>
            </a:rPr>
            <a:t>Frustración mínima</a:t>
          </a:r>
          <a:endParaRPr lang="es-MX" sz="2000" b="1" dirty="0">
            <a:solidFill>
              <a:schemeClr val="bg1"/>
            </a:solidFill>
            <a:latin typeface="Montserrat" panose="00000500000000000000" pitchFamily="2" charset="0"/>
          </a:endParaRPr>
        </a:p>
      </dgm:t>
    </dgm:pt>
    <dgm:pt modelId="{B74B4BE4-85D1-4F6F-8A49-1E9B607275A7}" type="parTrans" cxnId="{8CE68AAC-DFF7-43DA-917C-7D58173A3018}">
      <dgm:prSet/>
      <dgm:spPr/>
      <dgm:t>
        <a:bodyPr/>
        <a:lstStyle/>
        <a:p>
          <a:endParaRPr lang="es-MX" sz="1200">
            <a:solidFill>
              <a:schemeClr val="bg1"/>
            </a:solidFill>
            <a:latin typeface="Montserrat" panose="00000500000000000000" pitchFamily="2" charset="0"/>
          </a:endParaRPr>
        </a:p>
      </dgm:t>
    </dgm:pt>
    <dgm:pt modelId="{5879F525-48F3-487B-80EE-15E24FA5E26A}" type="sibTrans" cxnId="{8CE68AAC-DFF7-43DA-917C-7D58173A3018}">
      <dgm:prSet/>
      <dgm:spPr/>
      <dgm:t>
        <a:bodyPr/>
        <a:lstStyle/>
        <a:p>
          <a:endParaRPr lang="es-MX" sz="1200">
            <a:solidFill>
              <a:schemeClr val="bg1"/>
            </a:solidFill>
            <a:latin typeface="Montserrat" panose="00000500000000000000" pitchFamily="2" charset="0"/>
          </a:endParaRPr>
        </a:p>
      </dgm:t>
    </dgm:pt>
    <dgm:pt modelId="{545954E7-898B-4114-A800-AACF60032CE0}">
      <dgm:prSet custT="1"/>
      <dgm:spPr>
        <a:solidFill>
          <a:srgbClr val="52796F"/>
        </a:solidFill>
        <a:scene3d>
          <a:camera prst="orthographicFront"/>
          <a:lightRig rig="threePt" dir="t"/>
        </a:scene3d>
        <a:sp3d>
          <a:bevelT/>
        </a:sp3d>
      </dgm:spPr>
      <dgm:t>
        <a:bodyPr lIns="0" rIns="0" anchor="ctr" anchorCtr="0"/>
        <a:lstStyle/>
        <a:p>
          <a:pPr marL="0" indent="0" algn="just">
            <a:buNone/>
          </a:pPr>
          <a:r>
            <a:rPr lang="es-ES" sz="1800" dirty="0">
              <a:solidFill>
                <a:schemeClr val="bg1"/>
              </a:solidFill>
              <a:latin typeface="Montserrat" panose="00000500000000000000" pitchFamily="2" charset="0"/>
            </a:rPr>
            <a:t>Producción: 1,000</a:t>
          </a:r>
          <a:endParaRPr lang="es-MX" sz="1800" dirty="0">
            <a:solidFill>
              <a:schemeClr val="bg1"/>
            </a:solidFill>
            <a:latin typeface="Montserrat" panose="00000500000000000000" pitchFamily="2" charset="0"/>
          </a:endParaRPr>
        </a:p>
      </dgm:t>
    </dgm:pt>
    <dgm:pt modelId="{FD34044C-AB08-4798-86A9-14C39132357B}" type="parTrans" cxnId="{82A0A0B7-8E43-43A1-9181-4922BE4C49C0}">
      <dgm:prSet/>
      <dgm:spPr/>
      <dgm:t>
        <a:bodyPr/>
        <a:lstStyle/>
        <a:p>
          <a:endParaRPr lang="es-MX" sz="1200">
            <a:solidFill>
              <a:schemeClr val="bg1"/>
            </a:solidFill>
            <a:latin typeface="Montserrat" panose="00000500000000000000" pitchFamily="2" charset="0"/>
          </a:endParaRPr>
        </a:p>
      </dgm:t>
    </dgm:pt>
    <dgm:pt modelId="{54A5E828-8AE7-4ACA-9236-452913B04624}" type="sibTrans" cxnId="{82A0A0B7-8E43-43A1-9181-4922BE4C49C0}">
      <dgm:prSet/>
      <dgm:spPr/>
      <dgm:t>
        <a:bodyPr/>
        <a:lstStyle/>
        <a:p>
          <a:endParaRPr lang="es-MX" sz="1200">
            <a:solidFill>
              <a:schemeClr val="bg1"/>
            </a:solidFill>
            <a:latin typeface="Montserrat" panose="00000500000000000000" pitchFamily="2" charset="0"/>
          </a:endParaRPr>
        </a:p>
      </dgm:t>
    </dgm:pt>
    <dgm:pt modelId="{6B148032-692E-44CA-89EF-3CD7CAB039EB}">
      <dgm:prSet custT="1"/>
      <dgm:spPr>
        <a:solidFill>
          <a:srgbClr val="52796F"/>
        </a:solidFill>
        <a:scene3d>
          <a:camera prst="orthographicFront"/>
          <a:lightRig rig="threePt" dir="t"/>
        </a:scene3d>
        <a:sp3d>
          <a:bevelT/>
        </a:sp3d>
      </dgm:spPr>
      <dgm:t>
        <a:bodyPr lIns="0" rIns="0" anchor="ctr" anchorCtr="0"/>
        <a:lstStyle/>
        <a:p>
          <a:pPr marL="0" indent="0" algn="l">
            <a:buNone/>
          </a:pPr>
          <a:r>
            <a:rPr lang="es-ES" dirty="0">
              <a:solidFill>
                <a:schemeClr val="bg1"/>
              </a:solidFill>
              <a:latin typeface="Montserrat" panose="00000500000000000000" pitchFamily="2" charset="0"/>
            </a:rPr>
            <a:t>Producción: 1,500</a:t>
          </a:r>
          <a:endParaRPr lang="es-MX" sz="1800" dirty="0">
            <a:solidFill>
              <a:schemeClr val="bg1"/>
            </a:solidFill>
            <a:latin typeface="Montserrat" panose="00000500000000000000" pitchFamily="2" charset="0"/>
          </a:endParaRPr>
        </a:p>
      </dgm:t>
    </dgm:pt>
    <dgm:pt modelId="{1204A0BD-C07E-4D9D-912B-49CE91515FAF}" type="parTrans" cxnId="{2C138088-1B14-4F7E-A3A1-021C5538ABA0}">
      <dgm:prSet/>
      <dgm:spPr/>
      <dgm:t>
        <a:bodyPr/>
        <a:lstStyle/>
        <a:p>
          <a:endParaRPr lang="es-MX" sz="1200">
            <a:solidFill>
              <a:schemeClr val="bg1"/>
            </a:solidFill>
            <a:latin typeface="Montserrat" panose="00000500000000000000" pitchFamily="2" charset="0"/>
          </a:endParaRPr>
        </a:p>
      </dgm:t>
    </dgm:pt>
    <dgm:pt modelId="{40206A83-0C26-4E9E-A91A-2C78B6B9D983}" type="sibTrans" cxnId="{2C138088-1B14-4F7E-A3A1-021C5538ABA0}">
      <dgm:prSet/>
      <dgm:spPr/>
      <dgm:t>
        <a:bodyPr/>
        <a:lstStyle/>
        <a:p>
          <a:endParaRPr lang="es-MX" sz="1200">
            <a:solidFill>
              <a:schemeClr val="bg1"/>
            </a:solidFill>
            <a:latin typeface="Montserrat" panose="00000500000000000000" pitchFamily="2" charset="0"/>
          </a:endParaRPr>
        </a:p>
      </dgm:t>
    </dgm:pt>
    <dgm:pt modelId="{EE1073E2-0B2A-4329-8B99-9701FE2A13AB}">
      <dgm:prSet custT="1"/>
      <dgm:spPr>
        <a:solidFill>
          <a:srgbClr val="52796F"/>
        </a:solidFill>
        <a:scene3d>
          <a:camera prst="orthographicFront"/>
          <a:lightRig rig="threePt" dir="t"/>
        </a:scene3d>
        <a:sp3d>
          <a:bevelT/>
        </a:sp3d>
      </dgm:spPr>
      <dgm:t>
        <a:bodyPr lIns="0" rIns="0" anchor="ctr" anchorCtr="0"/>
        <a:lstStyle/>
        <a:p>
          <a:pPr marL="0" lvl="1" indent="0" algn="ctr" defTabSz="977900">
            <a:lnSpc>
              <a:spcPct val="90000"/>
            </a:lnSpc>
            <a:spcBef>
              <a:spcPct val="0"/>
            </a:spcBef>
            <a:spcAft>
              <a:spcPct val="15000"/>
            </a:spcAft>
            <a:buNone/>
          </a:pPr>
          <a:r>
            <a:rPr lang="es-ES" sz="1800" b="1" kern="1200" dirty="0">
              <a:solidFill>
                <a:schemeClr val="bg1"/>
              </a:solidFill>
              <a:latin typeface="Montserrat" panose="00000500000000000000" pitchFamily="2" charset="0"/>
              <a:ea typeface="+mn-ea"/>
              <a:cs typeface="+mn-cs"/>
            </a:rPr>
            <a:t>¿¿¿???</a:t>
          </a:r>
          <a:endParaRPr lang="es-MX" sz="1800" b="1" kern="1200" dirty="0">
            <a:solidFill>
              <a:schemeClr val="bg1"/>
            </a:solidFill>
            <a:latin typeface="Montserrat" panose="00000500000000000000" pitchFamily="2" charset="0"/>
            <a:ea typeface="+mn-ea"/>
            <a:cs typeface="+mn-cs"/>
          </a:endParaRPr>
        </a:p>
      </dgm:t>
    </dgm:pt>
    <dgm:pt modelId="{098F11FA-A921-470F-9A23-0ACFEA27860D}" type="parTrans" cxnId="{C572C1A0-33E8-4FEB-8D7F-8FA57E0C485F}">
      <dgm:prSet/>
      <dgm:spPr/>
      <dgm:t>
        <a:bodyPr/>
        <a:lstStyle/>
        <a:p>
          <a:endParaRPr lang="es-MX" sz="1200">
            <a:solidFill>
              <a:schemeClr val="bg1"/>
            </a:solidFill>
            <a:latin typeface="Montserrat" panose="00000500000000000000" pitchFamily="2" charset="0"/>
          </a:endParaRPr>
        </a:p>
      </dgm:t>
    </dgm:pt>
    <dgm:pt modelId="{B15D8E1A-1722-4E97-B18A-BDB837EF2478}" type="sibTrans" cxnId="{C572C1A0-33E8-4FEB-8D7F-8FA57E0C485F}">
      <dgm:prSet/>
      <dgm:spPr/>
      <dgm:t>
        <a:bodyPr/>
        <a:lstStyle/>
        <a:p>
          <a:endParaRPr lang="es-MX" sz="1200">
            <a:solidFill>
              <a:schemeClr val="bg1"/>
            </a:solidFill>
            <a:latin typeface="Montserrat" panose="00000500000000000000" pitchFamily="2" charset="0"/>
          </a:endParaRPr>
        </a:p>
      </dgm:t>
    </dgm:pt>
    <dgm:pt modelId="{81C285FD-68FB-4033-944E-7A8C7BA1D516}">
      <dgm:prSet custT="1"/>
      <dgm:spPr>
        <a:solidFill>
          <a:srgbClr val="52796F"/>
        </a:solidFill>
        <a:scene3d>
          <a:camera prst="orthographicFront"/>
          <a:lightRig rig="threePt" dir="t"/>
        </a:scene3d>
        <a:sp3d>
          <a:bevelT/>
        </a:sp3d>
      </dgm:spPr>
      <dgm:t>
        <a:bodyPr lIns="0" rIns="0" anchor="ctr" anchorCtr="0"/>
        <a:lstStyle/>
        <a:p>
          <a:pPr marL="0" indent="0" algn="just">
            <a:buNone/>
          </a:pPr>
          <a:r>
            <a:rPr lang="es-ES" sz="1800" dirty="0">
              <a:solidFill>
                <a:schemeClr val="bg1"/>
              </a:solidFill>
              <a:latin typeface="Montserrat" panose="00000500000000000000" pitchFamily="2" charset="0"/>
            </a:rPr>
            <a:t>Rendimiento Min: $35,000</a:t>
          </a:r>
          <a:endParaRPr lang="es-MX" sz="1800" dirty="0">
            <a:solidFill>
              <a:schemeClr val="bg1"/>
            </a:solidFill>
            <a:latin typeface="Montserrat" panose="00000500000000000000" pitchFamily="2" charset="0"/>
          </a:endParaRPr>
        </a:p>
      </dgm:t>
    </dgm:pt>
    <dgm:pt modelId="{EACF80BF-8D22-4054-B47B-65887766F874}" type="parTrans" cxnId="{6B2ED7F9-553E-4D96-9A80-F18D5B0299E5}">
      <dgm:prSet/>
      <dgm:spPr/>
      <dgm:t>
        <a:bodyPr/>
        <a:lstStyle/>
        <a:p>
          <a:endParaRPr lang="es-MX"/>
        </a:p>
      </dgm:t>
    </dgm:pt>
    <dgm:pt modelId="{3ED8A0E3-386E-45F2-A5B9-CE33AEAD33C8}" type="sibTrans" cxnId="{6B2ED7F9-553E-4D96-9A80-F18D5B0299E5}">
      <dgm:prSet/>
      <dgm:spPr/>
      <dgm:t>
        <a:bodyPr/>
        <a:lstStyle/>
        <a:p>
          <a:endParaRPr lang="es-MX"/>
        </a:p>
      </dgm:t>
    </dgm:pt>
    <dgm:pt modelId="{B0AD2165-166C-4875-A4AF-711A244ADAC1}">
      <dgm:prSet custT="1"/>
      <dgm:spPr>
        <a:solidFill>
          <a:srgbClr val="52796F"/>
        </a:solidFill>
        <a:scene3d>
          <a:camera prst="orthographicFront"/>
          <a:lightRig rig="threePt" dir="t"/>
        </a:scene3d>
        <a:sp3d>
          <a:bevelT/>
        </a:sp3d>
      </dgm:spPr>
      <dgm:t>
        <a:bodyPr lIns="0" rIns="0" anchor="ctr" anchorCtr="0"/>
        <a:lstStyle/>
        <a:p>
          <a:pPr marL="0" indent="0" algn="just">
            <a:buNone/>
          </a:pPr>
          <a:r>
            <a:rPr lang="es-ES" sz="1800" dirty="0">
              <a:solidFill>
                <a:schemeClr val="bg1"/>
              </a:solidFill>
              <a:latin typeface="Montserrat" panose="00000500000000000000" pitchFamily="2" charset="0"/>
            </a:rPr>
            <a:t>Rendimiento Max: $35,000</a:t>
          </a:r>
          <a:endParaRPr lang="es-MX" sz="1800" dirty="0">
            <a:solidFill>
              <a:schemeClr val="bg1"/>
            </a:solidFill>
            <a:latin typeface="Montserrat" panose="00000500000000000000" pitchFamily="2" charset="0"/>
          </a:endParaRPr>
        </a:p>
      </dgm:t>
    </dgm:pt>
    <dgm:pt modelId="{94CBF231-CB37-4836-B9C0-846FC495A7F6}" type="parTrans" cxnId="{33EC7461-0636-4608-9E8F-C01383009F32}">
      <dgm:prSet/>
      <dgm:spPr/>
      <dgm:t>
        <a:bodyPr/>
        <a:lstStyle/>
        <a:p>
          <a:endParaRPr lang="es-MX"/>
        </a:p>
      </dgm:t>
    </dgm:pt>
    <dgm:pt modelId="{656DD20D-B5A4-4227-A301-BDDE171DB816}" type="sibTrans" cxnId="{33EC7461-0636-4608-9E8F-C01383009F32}">
      <dgm:prSet/>
      <dgm:spPr/>
      <dgm:t>
        <a:bodyPr/>
        <a:lstStyle/>
        <a:p>
          <a:endParaRPr lang="es-MX"/>
        </a:p>
      </dgm:t>
    </dgm:pt>
    <dgm:pt modelId="{5AF50319-670A-40D3-B31C-FFC4AD018BA7}">
      <dgm:prSet/>
      <dgm:spPr/>
      <dgm:t>
        <a:bodyPr lIns="0" rIns="0" anchor="ctr" anchorCtr="0"/>
        <a:lstStyle/>
        <a:p>
          <a:pPr marL="0" indent="0" algn="l">
            <a:buNone/>
          </a:pPr>
          <a:r>
            <a:rPr lang="es-ES" dirty="0">
              <a:solidFill>
                <a:schemeClr val="bg1"/>
              </a:solidFill>
              <a:latin typeface="Montserrat" panose="00000500000000000000" pitchFamily="2" charset="0"/>
            </a:rPr>
            <a:t>Rendimiento Min: $27,500</a:t>
          </a:r>
          <a:endParaRPr lang="es-MX" dirty="0">
            <a:solidFill>
              <a:schemeClr val="bg1"/>
            </a:solidFill>
            <a:latin typeface="Montserrat" panose="00000500000000000000" pitchFamily="2" charset="0"/>
          </a:endParaRPr>
        </a:p>
      </dgm:t>
    </dgm:pt>
    <dgm:pt modelId="{C7F98C29-E1D3-4F77-9558-747C4210E347}" type="parTrans" cxnId="{E189DD69-5603-41BA-B218-A80D8A9E19AB}">
      <dgm:prSet/>
      <dgm:spPr/>
      <dgm:t>
        <a:bodyPr/>
        <a:lstStyle/>
        <a:p>
          <a:endParaRPr lang="es-MX"/>
        </a:p>
      </dgm:t>
    </dgm:pt>
    <dgm:pt modelId="{86AB5A00-6522-4CFC-ABC0-265D90972949}" type="sibTrans" cxnId="{E189DD69-5603-41BA-B218-A80D8A9E19AB}">
      <dgm:prSet/>
      <dgm:spPr/>
      <dgm:t>
        <a:bodyPr/>
        <a:lstStyle/>
        <a:p>
          <a:endParaRPr lang="es-MX"/>
        </a:p>
      </dgm:t>
    </dgm:pt>
    <dgm:pt modelId="{EBE9583C-D2B5-492D-AC51-A6AABE0E40AE}">
      <dgm:prSet/>
      <dgm:spPr/>
      <dgm:t>
        <a:bodyPr lIns="0" rIns="0" anchor="ctr" anchorCtr="0"/>
        <a:lstStyle/>
        <a:p>
          <a:pPr marL="0" indent="0" algn="l">
            <a:buNone/>
          </a:pPr>
          <a:r>
            <a:rPr lang="es-ES" dirty="0">
              <a:solidFill>
                <a:schemeClr val="bg1"/>
              </a:solidFill>
              <a:latin typeface="Montserrat" panose="00000500000000000000" pitchFamily="2" charset="0"/>
            </a:rPr>
            <a:t>Rendimiento Max: $52,500</a:t>
          </a:r>
          <a:endParaRPr lang="es-MX" dirty="0">
            <a:solidFill>
              <a:schemeClr val="bg1"/>
            </a:solidFill>
            <a:latin typeface="Montserrat" panose="00000500000000000000" pitchFamily="2" charset="0"/>
          </a:endParaRPr>
        </a:p>
      </dgm:t>
    </dgm:pt>
    <dgm:pt modelId="{9F17DCE5-0B88-40B5-AE97-25C988DFC796}" type="parTrans" cxnId="{1A4A6544-99B3-444A-B36E-93C6AB8363DC}">
      <dgm:prSet/>
      <dgm:spPr/>
      <dgm:t>
        <a:bodyPr/>
        <a:lstStyle/>
        <a:p>
          <a:endParaRPr lang="es-MX"/>
        </a:p>
      </dgm:t>
    </dgm:pt>
    <dgm:pt modelId="{868003C6-8D62-42B2-AF8E-356CAFA2A123}" type="sibTrans" cxnId="{1A4A6544-99B3-444A-B36E-93C6AB8363DC}">
      <dgm:prSet/>
      <dgm:spPr/>
      <dgm:t>
        <a:bodyPr/>
        <a:lstStyle/>
        <a:p>
          <a:endParaRPr lang="es-MX"/>
        </a:p>
      </dgm:t>
    </dgm:pt>
    <dgm:pt modelId="{76FD9FF3-A241-488E-AE2C-BDCBBF2ACA0F}" type="pres">
      <dgm:prSet presAssocID="{E2BF75CD-25FB-40A1-8974-A56508141C15}" presName="Name0" presStyleCnt="0">
        <dgm:presLayoutVars>
          <dgm:dir/>
          <dgm:animLvl val="lvl"/>
          <dgm:resizeHandles val="exact"/>
        </dgm:presLayoutVars>
      </dgm:prSet>
      <dgm:spPr/>
    </dgm:pt>
    <dgm:pt modelId="{A0730F65-41D2-4277-B5DD-A1A6C7651534}" type="pres">
      <dgm:prSet presAssocID="{89BA40CC-9C4A-4A12-8872-4030319CC1A7}" presName="composite" presStyleCnt="0"/>
      <dgm:spPr>
        <a:scene3d>
          <a:camera prst="orthographicFront"/>
          <a:lightRig rig="threePt" dir="t"/>
        </a:scene3d>
        <a:sp3d>
          <a:bevelT/>
        </a:sp3d>
      </dgm:spPr>
    </dgm:pt>
    <dgm:pt modelId="{C7DF371F-F6F6-4240-8400-4426EBD7CE8A}" type="pres">
      <dgm:prSet presAssocID="{89BA40CC-9C4A-4A12-8872-4030319CC1A7}" presName="parTx" presStyleLbl="alignNode1" presStyleIdx="0" presStyleCnt="3" custScaleY="43225" custLinFactNeighborY="-25153">
        <dgm:presLayoutVars>
          <dgm:chMax val="0"/>
          <dgm:chPref val="0"/>
          <dgm:bulletEnabled val="1"/>
        </dgm:presLayoutVars>
      </dgm:prSet>
      <dgm:spPr/>
    </dgm:pt>
    <dgm:pt modelId="{86B503BB-B3D3-4894-99AE-49CEFC65F173}" type="pres">
      <dgm:prSet presAssocID="{89BA40CC-9C4A-4A12-8872-4030319CC1A7}" presName="desTx" presStyleLbl="alignAccFollowNode1" presStyleIdx="0" presStyleCnt="3" custScaleY="48642" custLinFactNeighborX="103" custLinFactNeighborY="-20551">
        <dgm:presLayoutVars>
          <dgm:bulletEnabled val="1"/>
        </dgm:presLayoutVars>
      </dgm:prSet>
      <dgm:spPr/>
    </dgm:pt>
    <dgm:pt modelId="{914B2531-EB5E-4BF0-9096-723720E1C0C2}" type="pres">
      <dgm:prSet presAssocID="{FAFFA881-008D-454B-AE36-2FD6EBCA7D91}" presName="space" presStyleCnt="0"/>
      <dgm:spPr>
        <a:scene3d>
          <a:camera prst="orthographicFront"/>
          <a:lightRig rig="threePt" dir="t"/>
        </a:scene3d>
        <a:sp3d>
          <a:bevelT/>
        </a:sp3d>
      </dgm:spPr>
    </dgm:pt>
    <dgm:pt modelId="{99B5776B-3110-472B-8F4A-5AD292A7AA82}" type="pres">
      <dgm:prSet presAssocID="{A7511276-D860-4F68-9049-187E76A15F7F}" presName="composite" presStyleCnt="0"/>
      <dgm:spPr>
        <a:scene3d>
          <a:camera prst="orthographicFront"/>
          <a:lightRig rig="threePt" dir="t"/>
        </a:scene3d>
        <a:sp3d>
          <a:bevelT/>
        </a:sp3d>
      </dgm:spPr>
    </dgm:pt>
    <dgm:pt modelId="{7978B78B-7A0F-46AF-89B7-E0C232C6B2A8}" type="pres">
      <dgm:prSet presAssocID="{A7511276-D860-4F68-9049-187E76A15F7F}" presName="parTx" presStyleLbl="alignNode1" presStyleIdx="1" presStyleCnt="3" custScaleY="43225" custLinFactNeighborY="-25153">
        <dgm:presLayoutVars>
          <dgm:chMax val="0"/>
          <dgm:chPref val="0"/>
          <dgm:bulletEnabled val="1"/>
        </dgm:presLayoutVars>
      </dgm:prSet>
      <dgm:spPr/>
    </dgm:pt>
    <dgm:pt modelId="{EAF60EAD-DBD9-4850-A3AE-387140EEDD93}" type="pres">
      <dgm:prSet presAssocID="{A7511276-D860-4F68-9049-187E76A15F7F}" presName="desTx" presStyleLbl="alignAccFollowNode1" presStyleIdx="1" presStyleCnt="3" custScaleY="48642" custLinFactNeighborX="103" custLinFactNeighborY="-20551">
        <dgm:presLayoutVars>
          <dgm:bulletEnabled val="1"/>
        </dgm:presLayoutVars>
      </dgm:prSet>
      <dgm:spPr/>
    </dgm:pt>
    <dgm:pt modelId="{8937D7D9-4D45-4C83-AC2F-020BD9531372}" type="pres">
      <dgm:prSet presAssocID="{DC7BCC45-1C45-4980-9283-6F905C8E767D}" presName="space" presStyleCnt="0"/>
      <dgm:spPr>
        <a:scene3d>
          <a:camera prst="orthographicFront"/>
          <a:lightRig rig="threePt" dir="t"/>
        </a:scene3d>
        <a:sp3d>
          <a:bevelT/>
        </a:sp3d>
      </dgm:spPr>
    </dgm:pt>
    <dgm:pt modelId="{FB61CA65-ACB7-4725-979E-25045CF74237}" type="pres">
      <dgm:prSet presAssocID="{0FB68C82-907D-4285-A01B-183930A5437B}" presName="composite" presStyleCnt="0"/>
      <dgm:spPr>
        <a:scene3d>
          <a:camera prst="orthographicFront"/>
          <a:lightRig rig="threePt" dir="t"/>
        </a:scene3d>
        <a:sp3d>
          <a:bevelT/>
        </a:sp3d>
      </dgm:spPr>
    </dgm:pt>
    <dgm:pt modelId="{3EA8024D-F738-4FF7-A744-A4F7BFF81245}" type="pres">
      <dgm:prSet presAssocID="{0FB68C82-907D-4285-A01B-183930A5437B}" presName="parTx" presStyleLbl="alignNode1" presStyleIdx="2" presStyleCnt="3" custScaleY="43225" custLinFactNeighborY="-25153">
        <dgm:presLayoutVars>
          <dgm:chMax val="0"/>
          <dgm:chPref val="0"/>
          <dgm:bulletEnabled val="1"/>
        </dgm:presLayoutVars>
      </dgm:prSet>
      <dgm:spPr/>
    </dgm:pt>
    <dgm:pt modelId="{73050548-397B-4500-9670-5A6F97AF363D}" type="pres">
      <dgm:prSet presAssocID="{0FB68C82-907D-4285-A01B-183930A5437B}" presName="desTx" presStyleLbl="alignAccFollowNode1" presStyleIdx="2" presStyleCnt="3" custScaleY="48642" custLinFactNeighborX="103" custLinFactNeighborY="-20551">
        <dgm:presLayoutVars>
          <dgm:bulletEnabled val="1"/>
        </dgm:presLayoutVars>
      </dgm:prSet>
      <dgm:spPr/>
    </dgm:pt>
  </dgm:ptLst>
  <dgm:cxnLst>
    <dgm:cxn modelId="{704B791D-451E-4647-80E9-AAD5D5D9F32B}" srcId="{E2BF75CD-25FB-40A1-8974-A56508141C15}" destId="{A7511276-D860-4F68-9049-187E76A15F7F}" srcOrd="1" destOrd="0" parTransId="{06EA63FF-2C97-4217-A90E-A59EC6DB1785}" sibTransId="{DC7BCC45-1C45-4980-9283-6F905C8E767D}"/>
    <dgm:cxn modelId="{17968835-109A-48F1-A0D9-A9552F36824C}" type="presOf" srcId="{545954E7-898B-4114-A800-AACF60032CE0}" destId="{86B503BB-B3D3-4894-99AE-49CEFC65F173}" srcOrd="0" destOrd="0" presId="urn:microsoft.com/office/officeart/2005/8/layout/hList1"/>
    <dgm:cxn modelId="{33EC7461-0636-4608-9E8F-C01383009F32}" srcId="{89BA40CC-9C4A-4A12-8872-4030319CC1A7}" destId="{B0AD2165-166C-4875-A4AF-711A244ADAC1}" srcOrd="2" destOrd="0" parTransId="{94CBF231-CB37-4836-B9C0-846FC495A7F6}" sibTransId="{656DD20D-B5A4-4227-A301-BDDE171DB816}"/>
    <dgm:cxn modelId="{1A4A6544-99B3-444A-B36E-93C6AB8363DC}" srcId="{A7511276-D860-4F68-9049-187E76A15F7F}" destId="{EBE9583C-D2B5-492D-AC51-A6AABE0E40AE}" srcOrd="2" destOrd="0" parTransId="{9F17DCE5-0B88-40B5-AE97-25C988DFC796}" sibTransId="{868003C6-8D62-42B2-AF8E-356CAFA2A123}"/>
    <dgm:cxn modelId="{E2448A68-A76F-4173-B2A7-3B4D48C3E9D8}" type="presOf" srcId="{E2BF75CD-25FB-40A1-8974-A56508141C15}" destId="{76FD9FF3-A241-488E-AE2C-BDCBBF2ACA0F}" srcOrd="0" destOrd="0" presId="urn:microsoft.com/office/officeart/2005/8/layout/hList1"/>
    <dgm:cxn modelId="{E189DD69-5603-41BA-B218-A80D8A9E19AB}" srcId="{A7511276-D860-4F68-9049-187E76A15F7F}" destId="{5AF50319-670A-40D3-B31C-FFC4AD018BA7}" srcOrd="1" destOrd="0" parTransId="{C7F98C29-E1D3-4F77-9558-747C4210E347}" sibTransId="{86AB5A00-6522-4CFC-ABC0-265D90972949}"/>
    <dgm:cxn modelId="{8533506C-CF99-4BF8-869D-CC1FB237A77E}" type="presOf" srcId="{6B148032-692E-44CA-89EF-3CD7CAB039EB}" destId="{EAF60EAD-DBD9-4850-A3AE-387140EEDD93}" srcOrd="0" destOrd="0" presId="urn:microsoft.com/office/officeart/2005/8/layout/hList1"/>
    <dgm:cxn modelId="{2C138088-1B14-4F7E-A3A1-021C5538ABA0}" srcId="{A7511276-D860-4F68-9049-187E76A15F7F}" destId="{6B148032-692E-44CA-89EF-3CD7CAB039EB}" srcOrd="0" destOrd="0" parTransId="{1204A0BD-C07E-4D9D-912B-49CE91515FAF}" sibTransId="{40206A83-0C26-4E9E-A91A-2C78B6B9D983}"/>
    <dgm:cxn modelId="{ECCAF490-427A-4236-9850-620B9EBA0025}" type="presOf" srcId="{5AF50319-670A-40D3-B31C-FFC4AD018BA7}" destId="{EAF60EAD-DBD9-4850-A3AE-387140EEDD93}" srcOrd="0" destOrd="1" presId="urn:microsoft.com/office/officeart/2005/8/layout/hList1"/>
    <dgm:cxn modelId="{C572C1A0-33E8-4FEB-8D7F-8FA57E0C485F}" srcId="{0FB68C82-907D-4285-A01B-183930A5437B}" destId="{EE1073E2-0B2A-4329-8B99-9701FE2A13AB}" srcOrd="0" destOrd="0" parTransId="{098F11FA-A921-470F-9A23-0ACFEA27860D}" sibTransId="{B15D8E1A-1722-4E97-B18A-BDB837EF2478}"/>
    <dgm:cxn modelId="{DEBFFDAA-9D19-4AC2-A5B5-1A93CDE9C7C6}" type="presOf" srcId="{EBE9583C-D2B5-492D-AC51-A6AABE0E40AE}" destId="{EAF60EAD-DBD9-4850-A3AE-387140EEDD93}" srcOrd="0" destOrd="2" presId="urn:microsoft.com/office/officeart/2005/8/layout/hList1"/>
    <dgm:cxn modelId="{8CE68AAC-DFF7-43DA-917C-7D58173A3018}" srcId="{E2BF75CD-25FB-40A1-8974-A56508141C15}" destId="{0FB68C82-907D-4285-A01B-183930A5437B}" srcOrd="2" destOrd="0" parTransId="{B74B4BE4-85D1-4F6F-8A49-1E9B607275A7}" sibTransId="{5879F525-48F3-487B-80EE-15E24FA5E26A}"/>
    <dgm:cxn modelId="{AC18EAAC-0A71-4CE8-B564-69A84D839DA4}" type="presOf" srcId="{B0AD2165-166C-4875-A4AF-711A244ADAC1}" destId="{86B503BB-B3D3-4894-99AE-49CEFC65F173}" srcOrd="0" destOrd="2" presId="urn:microsoft.com/office/officeart/2005/8/layout/hList1"/>
    <dgm:cxn modelId="{E65122B1-2D17-4933-BDE4-481904AC63EC}" type="presOf" srcId="{89BA40CC-9C4A-4A12-8872-4030319CC1A7}" destId="{C7DF371F-F6F6-4240-8400-4426EBD7CE8A}" srcOrd="0" destOrd="0" presId="urn:microsoft.com/office/officeart/2005/8/layout/hList1"/>
    <dgm:cxn modelId="{4D1A83B7-6551-4F05-88F5-C3BF10EE9449}" type="presOf" srcId="{EE1073E2-0B2A-4329-8B99-9701FE2A13AB}" destId="{73050548-397B-4500-9670-5A6F97AF363D}" srcOrd="0" destOrd="0" presId="urn:microsoft.com/office/officeart/2005/8/layout/hList1"/>
    <dgm:cxn modelId="{82A0A0B7-8E43-43A1-9181-4922BE4C49C0}" srcId="{89BA40CC-9C4A-4A12-8872-4030319CC1A7}" destId="{545954E7-898B-4114-A800-AACF60032CE0}" srcOrd="0" destOrd="0" parTransId="{FD34044C-AB08-4798-86A9-14C39132357B}" sibTransId="{54A5E828-8AE7-4ACA-9236-452913B04624}"/>
    <dgm:cxn modelId="{D09174E7-F227-4CB0-AC13-10A36C2B3AA3}" type="presOf" srcId="{81C285FD-68FB-4033-944E-7A8C7BA1D516}" destId="{86B503BB-B3D3-4894-99AE-49CEFC65F173}" srcOrd="0" destOrd="1" presId="urn:microsoft.com/office/officeart/2005/8/layout/hList1"/>
    <dgm:cxn modelId="{558B0AE9-26ED-4100-9AB0-71CE9DC6CF19}" type="presOf" srcId="{0FB68C82-907D-4285-A01B-183930A5437B}" destId="{3EA8024D-F738-4FF7-A744-A4F7BFF81245}" srcOrd="0" destOrd="0" presId="urn:microsoft.com/office/officeart/2005/8/layout/hList1"/>
    <dgm:cxn modelId="{6B2ED7F9-553E-4D96-9A80-F18D5B0299E5}" srcId="{89BA40CC-9C4A-4A12-8872-4030319CC1A7}" destId="{81C285FD-68FB-4033-944E-7A8C7BA1D516}" srcOrd="1" destOrd="0" parTransId="{EACF80BF-8D22-4054-B47B-65887766F874}" sibTransId="{3ED8A0E3-386E-45F2-A5B9-CE33AEAD33C8}"/>
    <dgm:cxn modelId="{A818B1FA-36F1-4D0F-9386-71548AECC299}" srcId="{E2BF75CD-25FB-40A1-8974-A56508141C15}" destId="{89BA40CC-9C4A-4A12-8872-4030319CC1A7}" srcOrd="0" destOrd="0" parTransId="{82B16DBE-16A3-42D6-8ED8-DF311EEFB2C8}" sibTransId="{FAFFA881-008D-454B-AE36-2FD6EBCA7D91}"/>
    <dgm:cxn modelId="{AB9001FB-4399-49EC-825A-BEE8CCF71CAD}" type="presOf" srcId="{A7511276-D860-4F68-9049-187E76A15F7F}" destId="{7978B78B-7A0F-46AF-89B7-E0C232C6B2A8}" srcOrd="0" destOrd="0" presId="urn:microsoft.com/office/officeart/2005/8/layout/hList1"/>
    <dgm:cxn modelId="{E78B1843-86C6-40D4-8CE0-C35412542386}" type="presParOf" srcId="{76FD9FF3-A241-488E-AE2C-BDCBBF2ACA0F}" destId="{A0730F65-41D2-4277-B5DD-A1A6C7651534}" srcOrd="0" destOrd="0" presId="urn:microsoft.com/office/officeart/2005/8/layout/hList1"/>
    <dgm:cxn modelId="{64E2D209-943D-4E02-A43D-C779B9B0BD72}" type="presParOf" srcId="{A0730F65-41D2-4277-B5DD-A1A6C7651534}" destId="{C7DF371F-F6F6-4240-8400-4426EBD7CE8A}" srcOrd="0" destOrd="0" presId="urn:microsoft.com/office/officeart/2005/8/layout/hList1"/>
    <dgm:cxn modelId="{4DB9EE42-5637-4EB9-8306-493035FE9913}" type="presParOf" srcId="{A0730F65-41D2-4277-B5DD-A1A6C7651534}" destId="{86B503BB-B3D3-4894-99AE-49CEFC65F173}" srcOrd="1" destOrd="0" presId="urn:microsoft.com/office/officeart/2005/8/layout/hList1"/>
    <dgm:cxn modelId="{542C40F4-9D01-43BB-B1B6-C8483DB2024A}" type="presParOf" srcId="{76FD9FF3-A241-488E-AE2C-BDCBBF2ACA0F}" destId="{914B2531-EB5E-4BF0-9096-723720E1C0C2}" srcOrd="1" destOrd="0" presId="urn:microsoft.com/office/officeart/2005/8/layout/hList1"/>
    <dgm:cxn modelId="{6E0CACD9-E65C-4A0F-8D92-4E3DDDE88D07}" type="presParOf" srcId="{76FD9FF3-A241-488E-AE2C-BDCBBF2ACA0F}" destId="{99B5776B-3110-472B-8F4A-5AD292A7AA82}" srcOrd="2" destOrd="0" presId="urn:microsoft.com/office/officeart/2005/8/layout/hList1"/>
    <dgm:cxn modelId="{8648E3A7-0559-4F4C-B07B-2F5386405640}" type="presParOf" srcId="{99B5776B-3110-472B-8F4A-5AD292A7AA82}" destId="{7978B78B-7A0F-46AF-89B7-E0C232C6B2A8}" srcOrd="0" destOrd="0" presId="urn:microsoft.com/office/officeart/2005/8/layout/hList1"/>
    <dgm:cxn modelId="{F6708325-04DB-4406-8292-C7BDAD6A6261}" type="presParOf" srcId="{99B5776B-3110-472B-8F4A-5AD292A7AA82}" destId="{EAF60EAD-DBD9-4850-A3AE-387140EEDD93}" srcOrd="1" destOrd="0" presId="urn:microsoft.com/office/officeart/2005/8/layout/hList1"/>
    <dgm:cxn modelId="{DEA4093F-551A-47CB-8549-CECD932304F8}" type="presParOf" srcId="{76FD9FF3-A241-488E-AE2C-BDCBBF2ACA0F}" destId="{8937D7D9-4D45-4C83-AC2F-020BD9531372}" srcOrd="3" destOrd="0" presId="urn:microsoft.com/office/officeart/2005/8/layout/hList1"/>
    <dgm:cxn modelId="{90B017C7-4DD8-4400-AB62-BE9840F776B6}" type="presParOf" srcId="{76FD9FF3-A241-488E-AE2C-BDCBBF2ACA0F}" destId="{FB61CA65-ACB7-4725-979E-25045CF74237}" srcOrd="4" destOrd="0" presId="urn:microsoft.com/office/officeart/2005/8/layout/hList1"/>
    <dgm:cxn modelId="{5AB0D25C-854C-4A77-936B-9F1C938987C3}" type="presParOf" srcId="{FB61CA65-ACB7-4725-979E-25045CF74237}" destId="{3EA8024D-F738-4FF7-A744-A4F7BFF81245}" srcOrd="0" destOrd="0" presId="urn:microsoft.com/office/officeart/2005/8/layout/hList1"/>
    <dgm:cxn modelId="{E037EAB1-524B-4DFA-B401-591A3D5868A3}" type="presParOf" srcId="{FB61CA65-ACB7-4725-979E-25045CF74237}" destId="{73050548-397B-4500-9670-5A6F97AF363D}" srcOrd="1" destOrd="0" presId="urn:microsoft.com/office/officeart/2005/8/layout/hList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F1FF41A-C17B-4AFF-BE0C-630C0D6AB15B}"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s-MX"/>
        </a:p>
      </dgm:t>
    </dgm:pt>
    <dgm:pt modelId="{A121E3CA-0CC6-4AE5-AF1A-B61D2C026054}">
      <dgm:prSet phldrT="[Texto]" custT="1"/>
      <dgm:spPr>
        <a:solidFill>
          <a:srgbClr val="2F3E46"/>
        </a:solidFill>
        <a:ln>
          <a:solidFill>
            <a:srgbClr val="2F3E46"/>
          </a:solidFill>
        </a:ln>
        <a:scene3d>
          <a:camera prst="orthographicFront"/>
          <a:lightRig rig="threePt" dir="t"/>
        </a:scene3d>
        <a:sp3d>
          <a:bevelT/>
        </a:sp3d>
      </dgm:spPr>
      <dgm:t>
        <a:bodyPr lIns="0" tIns="0" rIns="0" bIns="0"/>
        <a:lstStyle/>
        <a:p>
          <a:pPr algn="ctr"/>
          <a:r>
            <a:rPr lang="es-ES" sz="2000" b="1" dirty="0">
              <a:latin typeface="Montserrat" panose="00000500000000000000" pitchFamily="2" charset="0"/>
            </a:rPr>
            <a:t>Fortalezas</a:t>
          </a:r>
        </a:p>
        <a:p>
          <a:pPr algn="ctr"/>
          <a:r>
            <a:rPr lang="es-ES" sz="1700" dirty="0">
              <a:latin typeface="Montserrat" panose="00000500000000000000" pitchFamily="2" charset="0"/>
            </a:rPr>
            <a:t> </a:t>
          </a:r>
          <a:r>
            <a:rPr lang="es-ES" sz="1800" dirty="0">
              <a:latin typeface="Montserrat" panose="00000500000000000000" pitchFamily="2" charset="0"/>
            </a:rPr>
            <a:t>Aspectos </a:t>
          </a:r>
          <a:r>
            <a:rPr lang="es-ES" sz="1800" b="1" dirty="0">
              <a:latin typeface="Montserrat" panose="00000500000000000000" pitchFamily="2" charset="0"/>
            </a:rPr>
            <a:t>internos</a:t>
          </a:r>
          <a:r>
            <a:rPr lang="es-ES" sz="1800" dirty="0">
              <a:latin typeface="Montserrat" panose="00000500000000000000" pitchFamily="2" charset="0"/>
            </a:rPr>
            <a:t> y positivos que proporcionan una ventaja competitiva</a:t>
          </a:r>
          <a:endParaRPr lang="es-MX" sz="1800" dirty="0">
            <a:latin typeface="Montserrat" panose="00000500000000000000" pitchFamily="2" charset="0"/>
          </a:endParaRPr>
        </a:p>
      </dgm:t>
    </dgm:pt>
    <dgm:pt modelId="{C8F533DB-59F3-4F96-B6AF-E47FB613AD90}" type="parTrans" cxnId="{A1C27513-48F2-4C57-B262-AB61BE30C618}">
      <dgm:prSet/>
      <dgm:spPr/>
      <dgm:t>
        <a:bodyPr/>
        <a:lstStyle/>
        <a:p>
          <a:endParaRPr lang="es-MX">
            <a:latin typeface="Montserrat" panose="00000500000000000000" pitchFamily="2" charset="0"/>
          </a:endParaRPr>
        </a:p>
      </dgm:t>
    </dgm:pt>
    <dgm:pt modelId="{558D0939-9E4B-44D5-BAFC-CBE0F334C7C0}" type="sibTrans" cxnId="{A1C27513-48F2-4C57-B262-AB61BE30C618}">
      <dgm:prSet/>
      <dgm:spPr/>
      <dgm:t>
        <a:bodyPr/>
        <a:lstStyle/>
        <a:p>
          <a:endParaRPr lang="es-MX">
            <a:latin typeface="Montserrat" panose="00000500000000000000" pitchFamily="2" charset="0"/>
          </a:endParaRPr>
        </a:p>
      </dgm:t>
    </dgm:pt>
    <dgm:pt modelId="{79D4541F-9AB3-4EBD-8479-AF7567CEAEC1}">
      <dgm:prSet phldrT="[Texto]" custT="1"/>
      <dgm:spPr>
        <a:solidFill>
          <a:srgbClr val="354F52"/>
        </a:solidFill>
        <a:ln>
          <a:solidFill>
            <a:srgbClr val="354F52"/>
          </a:solidFill>
        </a:ln>
        <a:scene3d>
          <a:camera prst="orthographicFront"/>
          <a:lightRig rig="threePt" dir="t"/>
        </a:scene3d>
        <a:sp3d>
          <a:bevelT/>
        </a:sp3d>
      </dgm:spPr>
      <dgm:t>
        <a:bodyPr lIns="0" tIns="0" rIns="0" bIns="0"/>
        <a:lstStyle/>
        <a:p>
          <a:r>
            <a:rPr lang="es-ES" sz="1800" b="1" dirty="0">
              <a:latin typeface="Montserrat" panose="00000500000000000000" pitchFamily="2" charset="0"/>
            </a:rPr>
            <a:t>Oportunidades</a:t>
          </a:r>
        </a:p>
        <a:p>
          <a:r>
            <a:rPr lang="es-ES" sz="1700" dirty="0">
              <a:latin typeface="Montserrat" panose="00000500000000000000" pitchFamily="2" charset="0"/>
            </a:rPr>
            <a:t>Factores </a:t>
          </a:r>
          <a:r>
            <a:rPr lang="es-ES" sz="1700" b="1" dirty="0">
              <a:latin typeface="Montserrat" panose="00000500000000000000" pitchFamily="2" charset="0"/>
            </a:rPr>
            <a:t>externos</a:t>
          </a:r>
          <a:r>
            <a:rPr lang="es-ES" sz="1700" dirty="0">
              <a:latin typeface="Montserrat" panose="00000500000000000000" pitchFamily="2" charset="0"/>
            </a:rPr>
            <a:t> que pueden ser aprovechados para lograr beneficios o crecimiento</a:t>
          </a:r>
          <a:endParaRPr lang="es-MX" sz="1400" dirty="0">
            <a:latin typeface="Montserrat" panose="00000500000000000000" pitchFamily="2" charset="0"/>
          </a:endParaRPr>
        </a:p>
      </dgm:t>
    </dgm:pt>
    <dgm:pt modelId="{7F06A75A-678F-4840-85E2-8DB8EDF8CF66}" type="parTrans" cxnId="{4845DAA8-458F-45DB-B101-B916203312C1}">
      <dgm:prSet/>
      <dgm:spPr/>
      <dgm:t>
        <a:bodyPr/>
        <a:lstStyle/>
        <a:p>
          <a:endParaRPr lang="es-MX">
            <a:latin typeface="Montserrat" panose="00000500000000000000" pitchFamily="2" charset="0"/>
          </a:endParaRPr>
        </a:p>
      </dgm:t>
    </dgm:pt>
    <dgm:pt modelId="{4E8BB1D0-8683-4D19-9F79-78C61148A561}" type="sibTrans" cxnId="{4845DAA8-458F-45DB-B101-B916203312C1}">
      <dgm:prSet/>
      <dgm:spPr/>
      <dgm:t>
        <a:bodyPr/>
        <a:lstStyle/>
        <a:p>
          <a:endParaRPr lang="es-MX">
            <a:latin typeface="Montserrat" panose="00000500000000000000" pitchFamily="2" charset="0"/>
          </a:endParaRPr>
        </a:p>
      </dgm:t>
    </dgm:pt>
    <dgm:pt modelId="{8302D459-9429-403D-8B89-DA6D7B4C7E75}">
      <dgm:prSet phldrT="[Texto]" custT="1"/>
      <dgm:spPr>
        <a:solidFill>
          <a:srgbClr val="52796F"/>
        </a:solidFill>
        <a:ln>
          <a:solidFill>
            <a:srgbClr val="52796F"/>
          </a:solidFill>
        </a:ln>
        <a:scene3d>
          <a:camera prst="orthographicFront"/>
          <a:lightRig rig="threePt" dir="t"/>
        </a:scene3d>
        <a:sp3d>
          <a:bevelT/>
        </a:sp3d>
      </dgm:spPr>
      <dgm:t>
        <a:bodyPr lIns="0" rIns="0"/>
        <a:lstStyle/>
        <a:p>
          <a:r>
            <a:rPr lang="es-ES" sz="2000" b="1" dirty="0">
              <a:latin typeface="Montserrat" panose="00000500000000000000" pitchFamily="2" charset="0"/>
            </a:rPr>
            <a:t>Debilidades</a:t>
          </a:r>
        </a:p>
        <a:p>
          <a:r>
            <a:rPr lang="es-ES" sz="1800" dirty="0">
              <a:latin typeface="Montserrat" panose="00000500000000000000" pitchFamily="2" charset="0"/>
            </a:rPr>
            <a:t>Desventajas o limitaciones </a:t>
          </a:r>
          <a:r>
            <a:rPr lang="es-ES" sz="1800" b="1" dirty="0">
              <a:latin typeface="Montserrat" panose="00000500000000000000" pitchFamily="2" charset="0"/>
            </a:rPr>
            <a:t>propias</a:t>
          </a:r>
          <a:r>
            <a:rPr lang="es-ES" sz="1800" dirty="0">
              <a:latin typeface="Montserrat" panose="00000500000000000000" pitchFamily="2" charset="0"/>
            </a:rPr>
            <a:t> que pueden afectar negativamente</a:t>
          </a:r>
          <a:endParaRPr lang="es-MX" sz="1800" dirty="0">
            <a:latin typeface="Montserrat" panose="00000500000000000000" pitchFamily="2" charset="0"/>
          </a:endParaRPr>
        </a:p>
      </dgm:t>
    </dgm:pt>
    <dgm:pt modelId="{9B44BE1A-3677-4CA7-AA72-6D2967D0F3FF}" type="parTrans" cxnId="{1A85E340-C8AD-47F1-B0A5-63DFBD1873AB}">
      <dgm:prSet/>
      <dgm:spPr/>
      <dgm:t>
        <a:bodyPr/>
        <a:lstStyle/>
        <a:p>
          <a:endParaRPr lang="es-MX">
            <a:latin typeface="Montserrat" panose="00000500000000000000" pitchFamily="2" charset="0"/>
          </a:endParaRPr>
        </a:p>
      </dgm:t>
    </dgm:pt>
    <dgm:pt modelId="{2FAD6ED6-943A-4A83-983A-40D1DEB8A6F1}" type="sibTrans" cxnId="{1A85E340-C8AD-47F1-B0A5-63DFBD1873AB}">
      <dgm:prSet/>
      <dgm:spPr/>
      <dgm:t>
        <a:bodyPr/>
        <a:lstStyle/>
        <a:p>
          <a:endParaRPr lang="es-MX">
            <a:latin typeface="Montserrat" panose="00000500000000000000" pitchFamily="2" charset="0"/>
          </a:endParaRPr>
        </a:p>
      </dgm:t>
    </dgm:pt>
    <dgm:pt modelId="{AB000998-12B6-47E0-B2D8-305918782624}">
      <dgm:prSet phldrT="[Texto]" custT="1"/>
      <dgm:spPr>
        <a:solidFill>
          <a:srgbClr val="84A98C"/>
        </a:solidFill>
        <a:ln>
          <a:solidFill>
            <a:srgbClr val="84A98C"/>
          </a:solidFill>
        </a:ln>
        <a:scene3d>
          <a:camera prst="orthographicFront"/>
          <a:lightRig rig="threePt" dir="t"/>
        </a:scene3d>
        <a:sp3d>
          <a:bevelT/>
        </a:sp3d>
      </dgm:spPr>
      <dgm:t>
        <a:bodyPr lIns="0" rIns="0"/>
        <a:lstStyle/>
        <a:p>
          <a:r>
            <a:rPr lang="es-ES" sz="2000" b="1" dirty="0">
              <a:latin typeface="Montserrat" panose="00000500000000000000" pitchFamily="2" charset="0"/>
            </a:rPr>
            <a:t>Amenazas</a:t>
          </a:r>
        </a:p>
        <a:p>
          <a:r>
            <a:rPr lang="es-ES" sz="1700" b="0" dirty="0">
              <a:latin typeface="Montserrat" panose="00000500000000000000" pitchFamily="2" charset="0"/>
            </a:rPr>
            <a:t>Factores </a:t>
          </a:r>
          <a:r>
            <a:rPr lang="es-ES" sz="1700" b="1" dirty="0">
              <a:latin typeface="Montserrat" panose="00000500000000000000" pitchFamily="2" charset="0"/>
            </a:rPr>
            <a:t>externos</a:t>
          </a:r>
          <a:r>
            <a:rPr lang="es-ES" sz="1700" b="0" dirty="0">
              <a:latin typeface="Montserrat" panose="00000500000000000000" pitchFamily="2" charset="0"/>
            </a:rPr>
            <a:t> que pueden representar riesgos o desafíos para el éxito </a:t>
          </a:r>
          <a:endParaRPr lang="es-MX" sz="1700" b="0" dirty="0">
            <a:latin typeface="Montserrat" panose="00000500000000000000" pitchFamily="2" charset="0"/>
          </a:endParaRPr>
        </a:p>
      </dgm:t>
    </dgm:pt>
    <dgm:pt modelId="{B06559E0-ED05-40CF-89ED-AECE44D55C4A}" type="parTrans" cxnId="{9D6759DA-FA1E-4D35-81F9-7157F28EA514}">
      <dgm:prSet/>
      <dgm:spPr/>
      <dgm:t>
        <a:bodyPr/>
        <a:lstStyle/>
        <a:p>
          <a:endParaRPr lang="es-MX">
            <a:latin typeface="Montserrat" panose="00000500000000000000" pitchFamily="2" charset="0"/>
          </a:endParaRPr>
        </a:p>
      </dgm:t>
    </dgm:pt>
    <dgm:pt modelId="{34325640-FA13-4431-8568-58DDC6F3ACB7}" type="sibTrans" cxnId="{9D6759DA-FA1E-4D35-81F9-7157F28EA514}">
      <dgm:prSet/>
      <dgm:spPr/>
      <dgm:t>
        <a:bodyPr/>
        <a:lstStyle/>
        <a:p>
          <a:endParaRPr lang="es-MX">
            <a:latin typeface="Montserrat" panose="00000500000000000000" pitchFamily="2" charset="0"/>
          </a:endParaRPr>
        </a:p>
      </dgm:t>
    </dgm:pt>
    <dgm:pt modelId="{283B0977-38CD-41F3-A942-C8A7F9FDAE34}" type="pres">
      <dgm:prSet presAssocID="{5F1FF41A-C17B-4AFF-BE0C-630C0D6AB15B}" presName="matrix" presStyleCnt="0">
        <dgm:presLayoutVars>
          <dgm:chMax val="1"/>
          <dgm:dir/>
          <dgm:resizeHandles val="exact"/>
        </dgm:presLayoutVars>
      </dgm:prSet>
      <dgm:spPr/>
    </dgm:pt>
    <dgm:pt modelId="{231406CE-9304-4F6E-812F-2A5D313AC822}" type="pres">
      <dgm:prSet presAssocID="{5F1FF41A-C17B-4AFF-BE0C-630C0D6AB15B}" presName="diamond" presStyleLbl="bgShp" presStyleIdx="0" presStyleCnt="1"/>
      <dgm:spPr>
        <a:solidFill>
          <a:srgbClr val="CAD2C5">
            <a:alpha val="60000"/>
          </a:srgbClr>
        </a:solidFill>
        <a:scene3d>
          <a:camera prst="orthographicFront"/>
          <a:lightRig rig="threePt" dir="t"/>
        </a:scene3d>
        <a:sp3d>
          <a:bevelT/>
        </a:sp3d>
      </dgm:spPr>
    </dgm:pt>
    <dgm:pt modelId="{D8355214-C708-4291-80E4-ECB4AE994B7B}" type="pres">
      <dgm:prSet presAssocID="{5F1FF41A-C17B-4AFF-BE0C-630C0D6AB15B}" presName="quad1" presStyleLbl="node1" presStyleIdx="0" presStyleCnt="4">
        <dgm:presLayoutVars>
          <dgm:chMax val="0"/>
          <dgm:chPref val="0"/>
          <dgm:bulletEnabled val="1"/>
        </dgm:presLayoutVars>
      </dgm:prSet>
      <dgm:spPr/>
    </dgm:pt>
    <dgm:pt modelId="{37994ABD-B264-42AE-BE93-884EB42D14E9}" type="pres">
      <dgm:prSet presAssocID="{5F1FF41A-C17B-4AFF-BE0C-630C0D6AB15B}" presName="quad2" presStyleLbl="node1" presStyleIdx="1" presStyleCnt="4">
        <dgm:presLayoutVars>
          <dgm:chMax val="0"/>
          <dgm:chPref val="0"/>
          <dgm:bulletEnabled val="1"/>
        </dgm:presLayoutVars>
      </dgm:prSet>
      <dgm:spPr/>
    </dgm:pt>
    <dgm:pt modelId="{81BAD31C-319B-424A-82D8-3613A4439AA1}" type="pres">
      <dgm:prSet presAssocID="{5F1FF41A-C17B-4AFF-BE0C-630C0D6AB15B}" presName="quad3" presStyleLbl="node1" presStyleIdx="2" presStyleCnt="4">
        <dgm:presLayoutVars>
          <dgm:chMax val="0"/>
          <dgm:chPref val="0"/>
          <dgm:bulletEnabled val="1"/>
        </dgm:presLayoutVars>
      </dgm:prSet>
      <dgm:spPr/>
    </dgm:pt>
    <dgm:pt modelId="{5461072D-6098-48C3-8C2A-5ED5D288459D}" type="pres">
      <dgm:prSet presAssocID="{5F1FF41A-C17B-4AFF-BE0C-630C0D6AB15B}" presName="quad4" presStyleLbl="node1" presStyleIdx="3" presStyleCnt="4">
        <dgm:presLayoutVars>
          <dgm:chMax val="0"/>
          <dgm:chPref val="0"/>
          <dgm:bulletEnabled val="1"/>
        </dgm:presLayoutVars>
      </dgm:prSet>
      <dgm:spPr/>
    </dgm:pt>
  </dgm:ptLst>
  <dgm:cxnLst>
    <dgm:cxn modelId="{A1C27513-48F2-4C57-B262-AB61BE30C618}" srcId="{5F1FF41A-C17B-4AFF-BE0C-630C0D6AB15B}" destId="{A121E3CA-0CC6-4AE5-AF1A-B61D2C026054}" srcOrd="0" destOrd="0" parTransId="{C8F533DB-59F3-4F96-B6AF-E47FB613AD90}" sibTransId="{558D0939-9E4B-44D5-BAFC-CBE0F334C7C0}"/>
    <dgm:cxn modelId="{02141B2E-52A3-483A-AD9B-A3DE9A1830D2}" type="presOf" srcId="{79D4541F-9AB3-4EBD-8479-AF7567CEAEC1}" destId="{37994ABD-B264-42AE-BE93-884EB42D14E9}" srcOrd="0" destOrd="0" presId="urn:microsoft.com/office/officeart/2005/8/layout/matrix3"/>
    <dgm:cxn modelId="{1A85E340-C8AD-47F1-B0A5-63DFBD1873AB}" srcId="{5F1FF41A-C17B-4AFF-BE0C-630C0D6AB15B}" destId="{8302D459-9429-403D-8B89-DA6D7B4C7E75}" srcOrd="2" destOrd="0" parTransId="{9B44BE1A-3677-4CA7-AA72-6D2967D0F3FF}" sibTransId="{2FAD6ED6-943A-4A83-983A-40D1DEB8A6F1}"/>
    <dgm:cxn modelId="{AEB91265-D013-464B-99B7-ECB0E23D8546}" type="presOf" srcId="{8302D459-9429-403D-8B89-DA6D7B4C7E75}" destId="{81BAD31C-319B-424A-82D8-3613A4439AA1}" srcOrd="0" destOrd="0" presId="urn:microsoft.com/office/officeart/2005/8/layout/matrix3"/>
    <dgm:cxn modelId="{5E3F0169-F64D-4ECB-9B60-48FDF3EBCC2F}" type="presOf" srcId="{AB000998-12B6-47E0-B2D8-305918782624}" destId="{5461072D-6098-48C3-8C2A-5ED5D288459D}" srcOrd="0" destOrd="0" presId="urn:microsoft.com/office/officeart/2005/8/layout/matrix3"/>
    <dgm:cxn modelId="{3C163492-A1A0-47B9-BDF5-3D04A50E6E55}" type="presOf" srcId="{A121E3CA-0CC6-4AE5-AF1A-B61D2C026054}" destId="{D8355214-C708-4291-80E4-ECB4AE994B7B}" srcOrd="0" destOrd="0" presId="urn:microsoft.com/office/officeart/2005/8/layout/matrix3"/>
    <dgm:cxn modelId="{4845DAA8-458F-45DB-B101-B916203312C1}" srcId="{5F1FF41A-C17B-4AFF-BE0C-630C0D6AB15B}" destId="{79D4541F-9AB3-4EBD-8479-AF7567CEAEC1}" srcOrd="1" destOrd="0" parTransId="{7F06A75A-678F-4840-85E2-8DB8EDF8CF66}" sibTransId="{4E8BB1D0-8683-4D19-9F79-78C61148A561}"/>
    <dgm:cxn modelId="{221B4AD9-1A4C-43C3-BF52-004A9DF46B30}" type="presOf" srcId="{5F1FF41A-C17B-4AFF-BE0C-630C0D6AB15B}" destId="{283B0977-38CD-41F3-A942-C8A7F9FDAE34}" srcOrd="0" destOrd="0" presId="urn:microsoft.com/office/officeart/2005/8/layout/matrix3"/>
    <dgm:cxn modelId="{9D6759DA-FA1E-4D35-81F9-7157F28EA514}" srcId="{5F1FF41A-C17B-4AFF-BE0C-630C0D6AB15B}" destId="{AB000998-12B6-47E0-B2D8-305918782624}" srcOrd="3" destOrd="0" parTransId="{B06559E0-ED05-40CF-89ED-AECE44D55C4A}" sibTransId="{34325640-FA13-4431-8568-58DDC6F3ACB7}"/>
    <dgm:cxn modelId="{69370DEF-33C0-45EC-BA7F-4F0552463223}" type="presParOf" srcId="{283B0977-38CD-41F3-A942-C8A7F9FDAE34}" destId="{231406CE-9304-4F6E-812F-2A5D313AC822}" srcOrd="0" destOrd="0" presId="urn:microsoft.com/office/officeart/2005/8/layout/matrix3"/>
    <dgm:cxn modelId="{B3E439E4-4862-4595-8F94-1C3F4389EBC8}" type="presParOf" srcId="{283B0977-38CD-41F3-A942-C8A7F9FDAE34}" destId="{D8355214-C708-4291-80E4-ECB4AE994B7B}" srcOrd="1" destOrd="0" presId="urn:microsoft.com/office/officeart/2005/8/layout/matrix3"/>
    <dgm:cxn modelId="{BB56AD44-BB3F-4BD4-A3CD-1518FE4925C3}" type="presParOf" srcId="{283B0977-38CD-41F3-A942-C8A7F9FDAE34}" destId="{37994ABD-B264-42AE-BE93-884EB42D14E9}" srcOrd="2" destOrd="0" presId="urn:microsoft.com/office/officeart/2005/8/layout/matrix3"/>
    <dgm:cxn modelId="{0816497B-587D-4833-81EF-51008643352F}" type="presParOf" srcId="{283B0977-38CD-41F3-A942-C8A7F9FDAE34}" destId="{81BAD31C-319B-424A-82D8-3613A4439AA1}" srcOrd="3" destOrd="0" presId="urn:microsoft.com/office/officeart/2005/8/layout/matrix3"/>
    <dgm:cxn modelId="{1CAC89E7-9569-4C8D-AA62-4A431EBE7247}" type="presParOf" srcId="{283B0977-38CD-41F3-A942-C8A7F9FDAE34}" destId="{5461072D-6098-48C3-8C2A-5ED5D288459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F1FF41A-C17B-4AFF-BE0C-630C0D6AB15B}"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s-MX"/>
        </a:p>
      </dgm:t>
    </dgm:pt>
    <dgm:pt modelId="{A121E3CA-0CC6-4AE5-AF1A-B61D2C026054}">
      <dgm:prSet phldrT="[Texto]" custT="1"/>
      <dgm:spPr>
        <a:solidFill>
          <a:srgbClr val="2F3E46"/>
        </a:solidFill>
        <a:ln>
          <a:solidFill>
            <a:srgbClr val="2F3E46"/>
          </a:solidFill>
        </a:ln>
        <a:scene3d>
          <a:camera prst="orthographicFront"/>
          <a:lightRig rig="threePt" dir="t"/>
        </a:scene3d>
        <a:sp3d>
          <a:bevelT/>
        </a:sp3d>
      </dgm:spPr>
      <dgm:t>
        <a:bodyPr lIns="0" tIns="0" rIns="0" bIns="0"/>
        <a:lstStyle/>
        <a:p>
          <a:pPr algn="ctr"/>
          <a:r>
            <a:rPr lang="es-ES" sz="7200" b="1" dirty="0">
              <a:latin typeface="Montserrat" panose="00000500000000000000" pitchFamily="2" charset="0"/>
            </a:rPr>
            <a:t>F</a:t>
          </a:r>
          <a:endParaRPr lang="es-MX" sz="7200" dirty="0">
            <a:latin typeface="Montserrat" panose="00000500000000000000" pitchFamily="2" charset="0"/>
          </a:endParaRPr>
        </a:p>
      </dgm:t>
    </dgm:pt>
    <dgm:pt modelId="{C8F533DB-59F3-4F96-B6AF-E47FB613AD90}" type="parTrans" cxnId="{A1C27513-48F2-4C57-B262-AB61BE30C618}">
      <dgm:prSet/>
      <dgm:spPr/>
      <dgm:t>
        <a:bodyPr/>
        <a:lstStyle/>
        <a:p>
          <a:endParaRPr lang="es-MX" sz="7200">
            <a:latin typeface="Montserrat" panose="00000500000000000000" pitchFamily="2" charset="0"/>
          </a:endParaRPr>
        </a:p>
      </dgm:t>
    </dgm:pt>
    <dgm:pt modelId="{558D0939-9E4B-44D5-BAFC-CBE0F334C7C0}" type="sibTrans" cxnId="{A1C27513-48F2-4C57-B262-AB61BE30C618}">
      <dgm:prSet/>
      <dgm:spPr/>
      <dgm:t>
        <a:bodyPr/>
        <a:lstStyle/>
        <a:p>
          <a:endParaRPr lang="es-MX" sz="7200">
            <a:latin typeface="Montserrat" panose="00000500000000000000" pitchFamily="2" charset="0"/>
          </a:endParaRPr>
        </a:p>
      </dgm:t>
    </dgm:pt>
    <dgm:pt modelId="{79D4541F-9AB3-4EBD-8479-AF7567CEAEC1}">
      <dgm:prSet phldrT="[Texto]" custT="1"/>
      <dgm:spPr>
        <a:solidFill>
          <a:srgbClr val="354F52"/>
        </a:solidFill>
        <a:ln>
          <a:solidFill>
            <a:srgbClr val="354F52"/>
          </a:solidFill>
        </a:ln>
        <a:scene3d>
          <a:camera prst="orthographicFront"/>
          <a:lightRig rig="threePt" dir="t"/>
        </a:scene3d>
        <a:sp3d>
          <a:bevelT/>
        </a:sp3d>
      </dgm:spPr>
      <dgm:t>
        <a:bodyPr lIns="0" tIns="0" rIns="0" bIns="0"/>
        <a:lstStyle/>
        <a:p>
          <a:r>
            <a:rPr lang="es-ES" sz="7200" b="1" dirty="0">
              <a:latin typeface="Montserrat" panose="00000500000000000000" pitchFamily="2" charset="0"/>
            </a:rPr>
            <a:t>O</a:t>
          </a:r>
          <a:endParaRPr lang="es-MX" sz="7200" dirty="0">
            <a:latin typeface="Montserrat" panose="00000500000000000000" pitchFamily="2" charset="0"/>
          </a:endParaRPr>
        </a:p>
      </dgm:t>
    </dgm:pt>
    <dgm:pt modelId="{7F06A75A-678F-4840-85E2-8DB8EDF8CF66}" type="parTrans" cxnId="{4845DAA8-458F-45DB-B101-B916203312C1}">
      <dgm:prSet/>
      <dgm:spPr/>
      <dgm:t>
        <a:bodyPr/>
        <a:lstStyle/>
        <a:p>
          <a:endParaRPr lang="es-MX" sz="7200">
            <a:latin typeface="Montserrat" panose="00000500000000000000" pitchFamily="2" charset="0"/>
          </a:endParaRPr>
        </a:p>
      </dgm:t>
    </dgm:pt>
    <dgm:pt modelId="{4E8BB1D0-8683-4D19-9F79-78C61148A561}" type="sibTrans" cxnId="{4845DAA8-458F-45DB-B101-B916203312C1}">
      <dgm:prSet/>
      <dgm:spPr/>
      <dgm:t>
        <a:bodyPr/>
        <a:lstStyle/>
        <a:p>
          <a:endParaRPr lang="es-MX" sz="7200">
            <a:latin typeface="Montserrat" panose="00000500000000000000" pitchFamily="2" charset="0"/>
          </a:endParaRPr>
        </a:p>
      </dgm:t>
    </dgm:pt>
    <dgm:pt modelId="{8302D459-9429-403D-8B89-DA6D7B4C7E75}">
      <dgm:prSet phldrT="[Texto]" custT="1"/>
      <dgm:spPr>
        <a:solidFill>
          <a:srgbClr val="52796F"/>
        </a:solidFill>
        <a:ln>
          <a:solidFill>
            <a:srgbClr val="52796F"/>
          </a:solidFill>
        </a:ln>
        <a:scene3d>
          <a:camera prst="orthographicFront"/>
          <a:lightRig rig="threePt" dir="t"/>
        </a:scene3d>
        <a:sp3d>
          <a:bevelT/>
        </a:sp3d>
      </dgm:spPr>
      <dgm:t>
        <a:bodyPr lIns="0" rIns="0"/>
        <a:lstStyle/>
        <a:p>
          <a:r>
            <a:rPr lang="es-ES" sz="7200" b="1" dirty="0">
              <a:latin typeface="Montserrat" panose="00000500000000000000" pitchFamily="2" charset="0"/>
            </a:rPr>
            <a:t>D</a:t>
          </a:r>
          <a:endParaRPr lang="es-MX" sz="7200" dirty="0">
            <a:latin typeface="Montserrat" panose="00000500000000000000" pitchFamily="2" charset="0"/>
          </a:endParaRPr>
        </a:p>
      </dgm:t>
    </dgm:pt>
    <dgm:pt modelId="{9B44BE1A-3677-4CA7-AA72-6D2967D0F3FF}" type="parTrans" cxnId="{1A85E340-C8AD-47F1-B0A5-63DFBD1873AB}">
      <dgm:prSet/>
      <dgm:spPr/>
      <dgm:t>
        <a:bodyPr/>
        <a:lstStyle/>
        <a:p>
          <a:endParaRPr lang="es-MX" sz="7200">
            <a:latin typeface="Montserrat" panose="00000500000000000000" pitchFamily="2" charset="0"/>
          </a:endParaRPr>
        </a:p>
      </dgm:t>
    </dgm:pt>
    <dgm:pt modelId="{2FAD6ED6-943A-4A83-983A-40D1DEB8A6F1}" type="sibTrans" cxnId="{1A85E340-C8AD-47F1-B0A5-63DFBD1873AB}">
      <dgm:prSet/>
      <dgm:spPr/>
      <dgm:t>
        <a:bodyPr/>
        <a:lstStyle/>
        <a:p>
          <a:endParaRPr lang="es-MX" sz="7200">
            <a:latin typeface="Montserrat" panose="00000500000000000000" pitchFamily="2" charset="0"/>
          </a:endParaRPr>
        </a:p>
      </dgm:t>
    </dgm:pt>
    <dgm:pt modelId="{AB000998-12B6-47E0-B2D8-305918782624}">
      <dgm:prSet phldrT="[Texto]" custT="1"/>
      <dgm:spPr>
        <a:solidFill>
          <a:srgbClr val="84A98C"/>
        </a:solidFill>
        <a:ln>
          <a:solidFill>
            <a:srgbClr val="84A98C"/>
          </a:solidFill>
        </a:ln>
        <a:scene3d>
          <a:camera prst="orthographicFront"/>
          <a:lightRig rig="threePt" dir="t"/>
        </a:scene3d>
        <a:sp3d>
          <a:bevelT/>
        </a:sp3d>
      </dgm:spPr>
      <dgm:t>
        <a:bodyPr lIns="0" rIns="0"/>
        <a:lstStyle/>
        <a:p>
          <a:r>
            <a:rPr lang="es-ES" sz="7200" b="1" dirty="0">
              <a:latin typeface="Montserrat" panose="00000500000000000000" pitchFamily="2" charset="0"/>
            </a:rPr>
            <a:t>A</a:t>
          </a:r>
          <a:endParaRPr lang="es-MX" sz="7200" b="0" dirty="0">
            <a:latin typeface="Montserrat" panose="00000500000000000000" pitchFamily="2" charset="0"/>
          </a:endParaRPr>
        </a:p>
      </dgm:t>
    </dgm:pt>
    <dgm:pt modelId="{B06559E0-ED05-40CF-89ED-AECE44D55C4A}" type="parTrans" cxnId="{9D6759DA-FA1E-4D35-81F9-7157F28EA514}">
      <dgm:prSet/>
      <dgm:spPr/>
      <dgm:t>
        <a:bodyPr/>
        <a:lstStyle/>
        <a:p>
          <a:endParaRPr lang="es-MX" sz="7200">
            <a:latin typeface="Montserrat" panose="00000500000000000000" pitchFamily="2" charset="0"/>
          </a:endParaRPr>
        </a:p>
      </dgm:t>
    </dgm:pt>
    <dgm:pt modelId="{34325640-FA13-4431-8568-58DDC6F3ACB7}" type="sibTrans" cxnId="{9D6759DA-FA1E-4D35-81F9-7157F28EA514}">
      <dgm:prSet/>
      <dgm:spPr/>
      <dgm:t>
        <a:bodyPr/>
        <a:lstStyle/>
        <a:p>
          <a:endParaRPr lang="es-MX" sz="7200">
            <a:latin typeface="Montserrat" panose="00000500000000000000" pitchFamily="2" charset="0"/>
          </a:endParaRPr>
        </a:p>
      </dgm:t>
    </dgm:pt>
    <dgm:pt modelId="{283B0977-38CD-41F3-A942-C8A7F9FDAE34}" type="pres">
      <dgm:prSet presAssocID="{5F1FF41A-C17B-4AFF-BE0C-630C0D6AB15B}" presName="matrix" presStyleCnt="0">
        <dgm:presLayoutVars>
          <dgm:chMax val="1"/>
          <dgm:dir/>
          <dgm:resizeHandles val="exact"/>
        </dgm:presLayoutVars>
      </dgm:prSet>
      <dgm:spPr/>
    </dgm:pt>
    <dgm:pt modelId="{231406CE-9304-4F6E-812F-2A5D313AC822}" type="pres">
      <dgm:prSet presAssocID="{5F1FF41A-C17B-4AFF-BE0C-630C0D6AB15B}" presName="diamond" presStyleLbl="bgShp" presStyleIdx="0" presStyleCnt="1"/>
      <dgm:spPr>
        <a:solidFill>
          <a:srgbClr val="CAD2C5">
            <a:alpha val="60000"/>
          </a:srgbClr>
        </a:solidFill>
        <a:scene3d>
          <a:camera prst="orthographicFront"/>
          <a:lightRig rig="threePt" dir="t"/>
        </a:scene3d>
        <a:sp3d>
          <a:bevelT/>
        </a:sp3d>
      </dgm:spPr>
    </dgm:pt>
    <dgm:pt modelId="{D8355214-C708-4291-80E4-ECB4AE994B7B}" type="pres">
      <dgm:prSet presAssocID="{5F1FF41A-C17B-4AFF-BE0C-630C0D6AB15B}" presName="quad1" presStyleLbl="node1" presStyleIdx="0" presStyleCnt="4">
        <dgm:presLayoutVars>
          <dgm:chMax val="0"/>
          <dgm:chPref val="0"/>
          <dgm:bulletEnabled val="1"/>
        </dgm:presLayoutVars>
      </dgm:prSet>
      <dgm:spPr/>
    </dgm:pt>
    <dgm:pt modelId="{37994ABD-B264-42AE-BE93-884EB42D14E9}" type="pres">
      <dgm:prSet presAssocID="{5F1FF41A-C17B-4AFF-BE0C-630C0D6AB15B}" presName="quad2" presStyleLbl="node1" presStyleIdx="1" presStyleCnt="4">
        <dgm:presLayoutVars>
          <dgm:chMax val="0"/>
          <dgm:chPref val="0"/>
          <dgm:bulletEnabled val="1"/>
        </dgm:presLayoutVars>
      </dgm:prSet>
      <dgm:spPr/>
    </dgm:pt>
    <dgm:pt modelId="{81BAD31C-319B-424A-82D8-3613A4439AA1}" type="pres">
      <dgm:prSet presAssocID="{5F1FF41A-C17B-4AFF-BE0C-630C0D6AB15B}" presName="quad3" presStyleLbl="node1" presStyleIdx="2" presStyleCnt="4">
        <dgm:presLayoutVars>
          <dgm:chMax val="0"/>
          <dgm:chPref val="0"/>
          <dgm:bulletEnabled val="1"/>
        </dgm:presLayoutVars>
      </dgm:prSet>
      <dgm:spPr/>
    </dgm:pt>
    <dgm:pt modelId="{5461072D-6098-48C3-8C2A-5ED5D288459D}" type="pres">
      <dgm:prSet presAssocID="{5F1FF41A-C17B-4AFF-BE0C-630C0D6AB15B}" presName="quad4" presStyleLbl="node1" presStyleIdx="3" presStyleCnt="4">
        <dgm:presLayoutVars>
          <dgm:chMax val="0"/>
          <dgm:chPref val="0"/>
          <dgm:bulletEnabled val="1"/>
        </dgm:presLayoutVars>
      </dgm:prSet>
      <dgm:spPr/>
    </dgm:pt>
  </dgm:ptLst>
  <dgm:cxnLst>
    <dgm:cxn modelId="{A1C27513-48F2-4C57-B262-AB61BE30C618}" srcId="{5F1FF41A-C17B-4AFF-BE0C-630C0D6AB15B}" destId="{A121E3CA-0CC6-4AE5-AF1A-B61D2C026054}" srcOrd="0" destOrd="0" parTransId="{C8F533DB-59F3-4F96-B6AF-E47FB613AD90}" sibTransId="{558D0939-9E4B-44D5-BAFC-CBE0F334C7C0}"/>
    <dgm:cxn modelId="{02141B2E-52A3-483A-AD9B-A3DE9A1830D2}" type="presOf" srcId="{79D4541F-9AB3-4EBD-8479-AF7567CEAEC1}" destId="{37994ABD-B264-42AE-BE93-884EB42D14E9}" srcOrd="0" destOrd="0" presId="urn:microsoft.com/office/officeart/2005/8/layout/matrix3"/>
    <dgm:cxn modelId="{1A85E340-C8AD-47F1-B0A5-63DFBD1873AB}" srcId="{5F1FF41A-C17B-4AFF-BE0C-630C0D6AB15B}" destId="{8302D459-9429-403D-8B89-DA6D7B4C7E75}" srcOrd="2" destOrd="0" parTransId="{9B44BE1A-3677-4CA7-AA72-6D2967D0F3FF}" sibTransId="{2FAD6ED6-943A-4A83-983A-40D1DEB8A6F1}"/>
    <dgm:cxn modelId="{AEB91265-D013-464B-99B7-ECB0E23D8546}" type="presOf" srcId="{8302D459-9429-403D-8B89-DA6D7B4C7E75}" destId="{81BAD31C-319B-424A-82D8-3613A4439AA1}" srcOrd="0" destOrd="0" presId="urn:microsoft.com/office/officeart/2005/8/layout/matrix3"/>
    <dgm:cxn modelId="{5E3F0169-F64D-4ECB-9B60-48FDF3EBCC2F}" type="presOf" srcId="{AB000998-12B6-47E0-B2D8-305918782624}" destId="{5461072D-6098-48C3-8C2A-5ED5D288459D}" srcOrd="0" destOrd="0" presId="urn:microsoft.com/office/officeart/2005/8/layout/matrix3"/>
    <dgm:cxn modelId="{3C163492-A1A0-47B9-BDF5-3D04A50E6E55}" type="presOf" srcId="{A121E3CA-0CC6-4AE5-AF1A-B61D2C026054}" destId="{D8355214-C708-4291-80E4-ECB4AE994B7B}" srcOrd="0" destOrd="0" presId="urn:microsoft.com/office/officeart/2005/8/layout/matrix3"/>
    <dgm:cxn modelId="{4845DAA8-458F-45DB-B101-B916203312C1}" srcId="{5F1FF41A-C17B-4AFF-BE0C-630C0D6AB15B}" destId="{79D4541F-9AB3-4EBD-8479-AF7567CEAEC1}" srcOrd="1" destOrd="0" parTransId="{7F06A75A-678F-4840-85E2-8DB8EDF8CF66}" sibTransId="{4E8BB1D0-8683-4D19-9F79-78C61148A561}"/>
    <dgm:cxn modelId="{221B4AD9-1A4C-43C3-BF52-004A9DF46B30}" type="presOf" srcId="{5F1FF41A-C17B-4AFF-BE0C-630C0D6AB15B}" destId="{283B0977-38CD-41F3-A942-C8A7F9FDAE34}" srcOrd="0" destOrd="0" presId="urn:microsoft.com/office/officeart/2005/8/layout/matrix3"/>
    <dgm:cxn modelId="{9D6759DA-FA1E-4D35-81F9-7157F28EA514}" srcId="{5F1FF41A-C17B-4AFF-BE0C-630C0D6AB15B}" destId="{AB000998-12B6-47E0-B2D8-305918782624}" srcOrd="3" destOrd="0" parTransId="{B06559E0-ED05-40CF-89ED-AECE44D55C4A}" sibTransId="{34325640-FA13-4431-8568-58DDC6F3ACB7}"/>
    <dgm:cxn modelId="{69370DEF-33C0-45EC-BA7F-4F0552463223}" type="presParOf" srcId="{283B0977-38CD-41F3-A942-C8A7F9FDAE34}" destId="{231406CE-9304-4F6E-812F-2A5D313AC822}" srcOrd="0" destOrd="0" presId="urn:microsoft.com/office/officeart/2005/8/layout/matrix3"/>
    <dgm:cxn modelId="{B3E439E4-4862-4595-8F94-1C3F4389EBC8}" type="presParOf" srcId="{283B0977-38CD-41F3-A942-C8A7F9FDAE34}" destId="{D8355214-C708-4291-80E4-ECB4AE994B7B}" srcOrd="1" destOrd="0" presId="urn:microsoft.com/office/officeart/2005/8/layout/matrix3"/>
    <dgm:cxn modelId="{BB56AD44-BB3F-4BD4-A3CD-1518FE4925C3}" type="presParOf" srcId="{283B0977-38CD-41F3-A942-C8A7F9FDAE34}" destId="{37994ABD-B264-42AE-BE93-884EB42D14E9}" srcOrd="2" destOrd="0" presId="urn:microsoft.com/office/officeart/2005/8/layout/matrix3"/>
    <dgm:cxn modelId="{0816497B-587D-4833-81EF-51008643352F}" type="presParOf" srcId="{283B0977-38CD-41F3-A942-C8A7F9FDAE34}" destId="{81BAD31C-319B-424A-82D8-3613A4439AA1}" srcOrd="3" destOrd="0" presId="urn:microsoft.com/office/officeart/2005/8/layout/matrix3"/>
    <dgm:cxn modelId="{1CAC89E7-9569-4C8D-AA62-4A431EBE7247}" type="presParOf" srcId="{283B0977-38CD-41F3-A942-C8A7F9FDAE34}" destId="{5461072D-6098-48C3-8C2A-5ED5D288459D}" srcOrd="4" destOrd="0" presId="urn:microsoft.com/office/officeart/2005/8/layout/matrix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AFEF3E-DB5C-43D9-A4D9-8250B75B4F30}">
      <dsp:nvSpPr>
        <dsp:cNvPr id="0" name=""/>
        <dsp:cNvSpPr/>
      </dsp:nvSpPr>
      <dsp:spPr>
        <a:xfrm>
          <a:off x="2217037" y="1206500"/>
          <a:ext cx="3005666" cy="3005666"/>
        </a:xfrm>
        <a:prstGeom prst="ellipse">
          <a:avLst/>
        </a:prstGeom>
        <a:blipFill rotWithShape="0">
          <a:blip xmlns:r="http://schemas.openxmlformats.org/officeDocument/2006/relationships" r:embed="rId1"/>
          <a:srcRect/>
          <a:stretch>
            <a:fillRect l="-45000" r="-45000"/>
          </a:stretch>
        </a:blip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54610" tIns="54610" rIns="54610" bIns="54610" numCol="1" spcCol="1270" anchor="ctr" anchorCtr="0">
          <a:noAutofit/>
        </a:bodyPr>
        <a:lstStyle/>
        <a:p>
          <a:pPr marL="0" lvl="0" indent="0" algn="ctr" defTabSz="1911350">
            <a:lnSpc>
              <a:spcPct val="90000"/>
            </a:lnSpc>
            <a:spcBef>
              <a:spcPct val="0"/>
            </a:spcBef>
            <a:spcAft>
              <a:spcPct val="35000"/>
            </a:spcAft>
            <a:buNone/>
          </a:pPr>
          <a:endParaRPr lang="es-MX" sz="4300" b="1" kern="1200" dirty="0">
            <a:noFill/>
            <a:latin typeface="Montserrat" panose="00000500000000000000" pitchFamily="2" charset="0"/>
          </a:endParaRPr>
        </a:p>
      </dsp:txBody>
      <dsp:txXfrm>
        <a:off x="2657207" y="1646670"/>
        <a:ext cx="2125326" cy="2125326"/>
      </dsp:txXfrm>
    </dsp:sp>
    <dsp:sp modelId="{2108CCB1-DDF4-486B-B480-5C2A40E065E4}">
      <dsp:nvSpPr>
        <dsp:cNvPr id="0" name=""/>
        <dsp:cNvSpPr/>
      </dsp:nvSpPr>
      <dsp:spPr>
        <a:xfrm>
          <a:off x="2968454" y="536"/>
          <a:ext cx="1502833" cy="1502833"/>
        </a:xfrm>
        <a:prstGeom prst="ellipse">
          <a:avLst/>
        </a:prstGeom>
        <a:solidFill>
          <a:srgbClr val="1B1F3A"/>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bg1"/>
              </a:solidFill>
              <a:latin typeface="Montserrat" panose="00000500000000000000" pitchFamily="2" charset="0"/>
            </a:rPr>
            <a:t>Financiera</a:t>
          </a:r>
          <a:endParaRPr lang="es-MX" sz="1500" b="1" kern="1200" dirty="0">
            <a:solidFill>
              <a:schemeClr val="bg1"/>
            </a:solidFill>
            <a:latin typeface="Montserrat" panose="00000500000000000000" pitchFamily="2" charset="0"/>
          </a:endParaRPr>
        </a:p>
      </dsp:txBody>
      <dsp:txXfrm>
        <a:off x="3188539" y="220621"/>
        <a:ext cx="1062663" cy="1062663"/>
      </dsp:txXfrm>
    </dsp:sp>
    <dsp:sp modelId="{0C4EA702-9135-4334-A7E5-BD0FEE245929}">
      <dsp:nvSpPr>
        <dsp:cNvPr id="0" name=""/>
        <dsp:cNvSpPr/>
      </dsp:nvSpPr>
      <dsp:spPr>
        <a:xfrm>
          <a:off x="4925834" y="1957916"/>
          <a:ext cx="1502833" cy="1502833"/>
        </a:xfrm>
        <a:prstGeom prst="ellipse">
          <a:avLst/>
        </a:prstGeom>
        <a:solidFill>
          <a:srgbClr val="392F5A"/>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bg1"/>
              </a:solidFill>
              <a:latin typeface="Montserrat" panose="00000500000000000000" pitchFamily="2" charset="0"/>
            </a:rPr>
            <a:t>Fiscal</a:t>
          </a:r>
          <a:endParaRPr lang="es-MX" sz="1500" b="1" kern="1200" dirty="0">
            <a:solidFill>
              <a:schemeClr val="bg1"/>
            </a:solidFill>
            <a:latin typeface="Montserrat" panose="00000500000000000000" pitchFamily="2" charset="0"/>
          </a:endParaRPr>
        </a:p>
      </dsp:txBody>
      <dsp:txXfrm>
        <a:off x="5145919" y="2178001"/>
        <a:ext cx="1062663" cy="1062663"/>
      </dsp:txXfrm>
    </dsp:sp>
    <dsp:sp modelId="{769AF28C-6F4D-4323-BE10-69AA22E0BFA6}">
      <dsp:nvSpPr>
        <dsp:cNvPr id="0" name=""/>
        <dsp:cNvSpPr/>
      </dsp:nvSpPr>
      <dsp:spPr>
        <a:xfrm>
          <a:off x="2968454" y="3915297"/>
          <a:ext cx="1502833" cy="1502833"/>
        </a:xfrm>
        <a:prstGeom prst="ellipse">
          <a:avLst/>
        </a:prstGeom>
        <a:solidFill>
          <a:srgbClr val="635B83"/>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bg1"/>
              </a:solidFill>
              <a:latin typeface="Montserrat" panose="00000500000000000000" pitchFamily="2" charset="0"/>
            </a:rPr>
            <a:t>Costos</a:t>
          </a:r>
          <a:endParaRPr lang="es-MX" sz="1500" b="1" kern="1200" dirty="0">
            <a:solidFill>
              <a:schemeClr val="bg1"/>
            </a:solidFill>
            <a:latin typeface="Montserrat" panose="00000500000000000000" pitchFamily="2" charset="0"/>
          </a:endParaRPr>
        </a:p>
      </dsp:txBody>
      <dsp:txXfrm>
        <a:off x="3188539" y="4135382"/>
        <a:ext cx="1062663" cy="1062663"/>
      </dsp:txXfrm>
    </dsp:sp>
    <dsp:sp modelId="{C4EF5312-8CC8-4995-A4BA-73A96215C16F}">
      <dsp:nvSpPr>
        <dsp:cNvPr id="0" name=""/>
        <dsp:cNvSpPr/>
      </dsp:nvSpPr>
      <dsp:spPr>
        <a:xfrm>
          <a:off x="1011073" y="1957916"/>
          <a:ext cx="1502833" cy="1502833"/>
        </a:xfrm>
        <a:prstGeom prst="ellipse">
          <a:avLst/>
        </a:prstGeom>
        <a:solidFill>
          <a:srgbClr val="A8A3C1"/>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bg1"/>
              </a:solidFill>
              <a:latin typeface="Montserrat" panose="00000500000000000000" pitchFamily="2" charset="0"/>
            </a:rPr>
            <a:t>Gestión</a:t>
          </a:r>
          <a:endParaRPr lang="es-MX" sz="1500" b="1" kern="1200" dirty="0">
            <a:solidFill>
              <a:schemeClr val="bg1"/>
            </a:solidFill>
            <a:latin typeface="Montserrat" panose="00000500000000000000" pitchFamily="2" charset="0"/>
          </a:endParaRPr>
        </a:p>
      </dsp:txBody>
      <dsp:txXfrm>
        <a:off x="1231158" y="2178001"/>
        <a:ext cx="1062663" cy="10626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5CFB0-730D-4360-94E6-9F39AAFF1AAE}">
      <dsp:nvSpPr>
        <dsp:cNvPr id="0" name=""/>
        <dsp:cNvSpPr/>
      </dsp:nvSpPr>
      <dsp:spPr>
        <a:xfrm>
          <a:off x="9729" y="1955352"/>
          <a:ext cx="1843272" cy="1520314"/>
        </a:xfrm>
        <a:prstGeom prst="roundRect">
          <a:avLst>
            <a:gd name="adj" fmla="val 1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0" tIns="72000" rIns="72000" bIns="7200" numCol="1" spcCol="1270" anchor="t" anchorCtr="0">
          <a:noAutofit/>
        </a:bodyPr>
        <a:lstStyle/>
        <a:p>
          <a:pPr marL="114300" lvl="1" indent="-114300" algn="just" defTabSz="622300">
            <a:lnSpc>
              <a:spcPct val="90000"/>
            </a:lnSpc>
            <a:spcBef>
              <a:spcPct val="0"/>
            </a:spcBef>
            <a:spcAft>
              <a:spcPct val="15000"/>
            </a:spcAft>
            <a:buChar char="•"/>
          </a:pPr>
          <a:r>
            <a:rPr lang="es-ES" sz="1400" b="0" u="sng" kern="1200" dirty="0">
              <a:solidFill>
                <a:srgbClr val="2F3E46"/>
              </a:solidFill>
              <a:latin typeface="Montserrat" panose="00000500000000000000" pitchFamily="2" charset="0"/>
            </a:rPr>
            <a:t>Historia de las transacciones.</a:t>
          </a:r>
          <a:endParaRPr lang="es-MX" sz="1400" b="0" u="sng" kern="1200" dirty="0">
            <a:solidFill>
              <a:srgbClr val="2F3E46"/>
            </a:solidFill>
            <a:latin typeface="Montserrat" panose="00000500000000000000" pitchFamily="2" charset="0"/>
          </a:endParaRPr>
        </a:p>
        <a:p>
          <a:pPr marL="114300" lvl="1" indent="-114300" algn="just" defTabSz="622300">
            <a:lnSpc>
              <a:spcPct val="90000"/>
            </a:lnSpc>
            <a:spcBef>
              <a:spcPct val="0"/>
            </a:spcBef>
            <a:spcAft>
              <a:spcPct val="15000"/>
            </a:spcAft>
            <a:buChar char="•"/>
          </a:pPr>
          <a:r>
            <a:rPr lang="es-ES" sz="1400" b="0" kern="1200" dirty="0">
              <a:solidFill>
                <a:srgbClr val="2F3E46"/>
              </a:solidFill>
              <a:latin typeface="Montserrat" panose="00000500000000000000" pitchFamily="2" charset="0"/>
            </a:rPr>
            <a:t>Identifica y documenta las transacciones.</a:t>
          </a:r>
          <a:endParaRPr lang="es-MX" sz="1400" b="0" kern="1200" dirty="0">
            <a:solidFill>
              <a:srgbClr val="2F3E46"/>
            </a:solidFill>
            <a:latin typeface="Montserrat" panose="00000500000000000000" pitchFamily="2" charset="0"/>
          </a:endParaRPr>
        </a:p>
      </dsp:txBody>
      <dsp:txXfrm>
        <a:off x="44716" y="1990339"/>
        <a:ext cx="1773298" cy="1124558"/>
      </dsp:txXfrm>
    </dsp:sp>
    <dsp:sp modelId="{F8F4BF05-5951-4168-ABD0-92987CE2A550}">
      <dsp:nvSpPr>
        <dsp:cNvPr id="0" name=""/>
        <dsp:cNvSpPr/>
      </dsp:nvSpPr>
      <dsp:spPr>
        <a:xfrm>
          <a:off x="1037877" y="2289704"/>
          <a:ext cx="2073766" cy="2073766"/>
        </a:xfrm>
        <a:prstGeom prst="leftCircularArrow">
          <a:avLst>
            <a:gd name="adj1" fmla="val 3351"/>
            <a:gd name="adj2" fmla="val 414253"/>
            <a:gd name="adj3" fmla="val 2189764"/>
            <a:gd name="adj4" fmla="val 9024489"/>
            <a:gd name="adj5" fmla="val 3909"/>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sp>
    <dsp:sp modelId="{CA21E9F1-04D2-4843-9F15-4232DBB063F4}">
      <dsp:nvSpPr>
        <dsp:cNvPr id="0" name=""/>
        <dsp:cNvSpPr/>
      </dsp:nvSpPr>
      <dsp:spPr>
        <a:xfrm>
          <a:off x="419345" y="3149884"/>
          <a:ext cx="1638464" cy="651563"/>
        </a:xfrm>
        <a:prstGeom prst="roundRect">
          <a:avLst>
            <a:gd name="adj" fmla="val 10000"/>
          </a:avLst>
        </a:prstGeom>
        <a:solidFill>
          <a:srgbClr val="CAD2C5"/>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 tIns="7200" rIns="7200" bIns="7200" numCol="1" spcCol="1270" anchor="ctr" anchorCtr="0">
          <a:noAutofit/>
        </a:bodyPr>
        <a:lstStyle/>
        <a:p>
          <a:pPr marL="0" lvl="0" indent="0" algn="ctr" defTabSz="711200">
            <a:lnSpc>
              <a:spcPct val="90000"/>
            </a:lnSpc>
            <a:spcBef>
              <a:spcPct val="0"/>
            </a:spcBef>
            <a:spcAft>
              <a:spcPct val="35000"/>
            </a:spcAft>
            <a:buNone/>
          </a:pPr>
          <a:r>
            <a:rPr lang="es-ES" sz="1600" b="1" kern="1200" dirty="0">
              <a:solidFill>
                <a:srgbClr val="2F3E46"/>
              </a:solidFill>
              <a:latin typeface="Montserrat" panose="00000500000000000000" pitchFamily="2" charset="0"/>
            </a:rPr>
            <a:t>Registro de Transacciones</a:t>
          </a:r>
          <a:endParaRPr lang="es-MX" sz="2400" b="1" kern="1200" dirty="0">
            <a:solidFill>
              <a:srgbClr val="2F3E46"/>
            </a:solidFill>
            <a:latin typeface="Montserrat" panose="00000500000000000000" pitchFamily="2" charset="0"/>
          </a:endParaRPr>
        </a:p>
      </dsp:txBody>
      <dsp:txXfrm>
        <a:off x="438429" y="3168968"/>
        <a:ext cx="1600296" cy="613395"/>
      </dsp:txXfrm>
    </dsp:sp>
    <dsp:sp modelId="{E378B42E-F8CA-4610-83DB-295B68791042}">
      <dsp:nvSpPr>
        <dsp:cNvPr id="0" name=""/>
        <dsp:cNvSpPr/>
      </dsp:nvSpPr>
      <dsp:spPr>
        <a:xfrm>
          <a:off x="2388682" y="1955352"/>
          <a:ext cx="1843272" cy="1520314"/>
        </a:xfrm>
        <a:prstGeom prst="roundRect">
          <a:avLst>
            <a:gd name="adj" fmla="val 10000"/>
          </a:avLst>
        </a:prstGeom>
        <a:solidFill>
          <a:srgbClr val="84A98C"/>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0" tIns="7200" rIns="72000" bIns="612000" numCol="1" spcCol="1270" anchor="t" anchorCtr="0">
          <a:noAutofit/>
        </a:bodyPr>
        <a:lstStyle/>
        <a:p>
          <a:pPr marL="114300" lvl="1" indent="-114300" algn="l"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Activos</a:t>
          </a:r>
          <a:endParaRPr lang="es-MX" sz="1400" kern="1200" dirty="0">
            <a:solidFill>
              <a:schemeClr val="bg1"/>
            </a:solidFill>
            <a:latin typeface="Montserrat" panose="00000500000000000000" pitchFamily="2" charset="0"/>
          </a:endParaRPr>
        </a:p>
        <a:p>
          <a:pPr marL="114300" lvl="1" indent="-114300" algn="l"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Pasivos</a:t>
          </a:r>
          <a:endParaRPr lang="es-MX" sz="1400" kern="1200" dirty="0">
            <a:solidFill>
              <a:schemeClr val="bg1"/>
            </a:solidFill>
            <a:latin typeface="Montserrat" panose="00000500000000000000" pitchFamily="2" charset="0"/>
          </a:endParaRPr>
        </a:p>
        <a:p>
          <a:pPr marL="114300" lvl="1" indent="-114300" algn="l"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Ingresos</a:t>
          </a:r>
          <a:endParaRPr lang="es-MX" sz="1400" kern="1200" dirty="0">
            <a:solidFill>
              <a:schemeClr val="bg1"/>
            </a:solidFill>
            <a:latin typeface="Montserrat" panose="00000500000000000000" pitchFamily="2" charset="0"/>
          </a:endParaRPr>
        </a:p>
        <a:p>
          <a:pPr marL="114300" lvl="1" indent="-114300" algn="l"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Gastos</a:t>
          </a:r>
          <a:endParaRPr lang="es-MX" sz="1400" kern="1200" dirty="0">
            <a:solidFill>
              <a:schemeClr val="bg1"/>
            </a:solidFill>
            <a:latin typeface="Montserrat" panose="00000500000000000000" pitchFamily="2" charset="0"/>
          </a:endParaRPr>
        </a:p>
        <a:p>
          <a:pPr marL="114300" lvl="1" indent="-114300" algn="l"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Impuestos</a:t>
          </a:r>
          <a:endParaRPr lang="es-MX" sz="1400" kern="1200" dirty="0">
            <a:solidFill>
              <a:schemeClr val="bg1"/>
            </a:solidFill>
            <a:latin typeface="Montserrat" panose="00000500000000000000" pitchFamily="2" charset="0"/>
          </a:endParaRPr>
        </a:p>
      </dsp:txBody>
      <dsp:txXfrm>
        <a:off x="2423669" y="2316121"/>
        <a:ext cx="1773298" cy="1124558"/>
      </dsp:txXfrm>
    </dsp:sp>
    <dsp:sp modelId="{742757E5-E448-4FE3-904D-F87099CE8EE5}">
      <dsp:nvSpPr>
        <dsp:cNvPr id="0" name=""/>
        <dsp:cNvSpPr/>
      </dsp:nvSpPr>
      <dsp:spPr>
        <a:xfrm>
          <a:off x="3401468" y="1007937"/>
          <a:ext cx="2309295" cy="2309295"/>
        </a:xfrm>
        <a:prstGeom prst="circularArrow">
          <a:avLst>
            <a:gd name="adj1" fmla="val 3009"/>
            <a:gd name="adj2" fmla="val 369010"/>
            <a:gd name="adj3" fmla="val 19455479"/>
            <a:gd name="adj4" fmla="val 12575511"/>
            <a:gd name="adj5" fmla="val 351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sp>
    <dsp:sp modelId="{1B660F90-6650-45EC-ADC7-652BA2D60983}">
      <dsp:nvSpPr>
        <dsp:cNvPr id="0" name=""/>
        <dsp:cNvSpPr/>
      </dsp:nvSpPr>
      <dsp:spPr>
        <a:xfrm>
          <a:off x="2798298" y="1629570"/>
          <a:ext cx="1638464" cy="651563"/>
        </a:xfrm>
        <a:prstGeom prst="roundRect">
          <a:avLst>
            <a:gd name="adj" fmla="val 10000"/>
          </a:avLst>
        </a:prstGeom>
        <a:solidFill>
          <a:srgbClr val="84A98C"/>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 tIns="7200" rIns="7200" bIns="7200" numCol="1" spcCol="1270" anchor="ctr" anchorCtr="0">
          <a:noAutofit/>
        </a:bodyPr>
        <a:lstStyle/>
        <a:p>
          <a:pPr marL="0" lvl="0" indent="0" algn="ctr" defTabSz="711200">
            <a:lnSpc>
              <a:spcPct val="90000"/>
            </a:lnSpc>
            <a:spcBef>
              <a:spcPct val="0"/>
            </a:spcBef>
            <a:spcAft>
              <a:spcPct val="35000"/>
            </a:spcAft>
            <a:buNone/>
          </a:pPr>
          <a:r>
            <a:rPr lang="es-ES" sz="1600" b="1" kern="1200" dirty="0">
              <a:solidFill>
                <a:schemeClr val="bg1"/>
              </a:solidFill>
              <a:latin typeface="Montserrat" panose="00000500000000000000" pitchFamily="2" charset="0"/>
            </a:rPr>
            <a:t>Clasificación</a:t>
          </a:r>
          <a:endParaRPr lang="es-MX" sz="1600" b="1" kern="1200" dirty="0">
            <a:solidFill>
              <a:schemeClr val="bg1"/>
            </a:solidFill>
            <a:latin typeface="Montserrat" panose="00000500000000000000" pitchFamily="2" charset="0"/>
          </a:endParaRPr>
        </a:p>
      </dsp:txBody>
      <dsp:txXfrm>
        <a:off x="2817382" y="1648654"/>
        <a:ext cx="1600296" cy="613395"/>
      </dsp:txXfrm>
    </dsp:sp>
    <dsp:sp modelId="{FBC370FE-1FB4-42A0-BCC3-435204ACB5EC}">
      <dsp:nvSpPr>
        <dsp:cNvPr id="0" name=""/>
        <dsp:cNvSpPr/>
      </dsp:nvSpPr>
      <dsp:spPr>
        <a:xfrm>
          <a:off x="4767634" y="1955352"/>
          <a:ext cx="1843272" cy="1520314"/>
        </a:xfrm>
        <a:prstGeom prst="roundRect">
          <a:avLst>
            <a:gd name="adj" fmla="val 10000"/>
          </a:avLst>
        </a:prstGeom>
        <a:solidFill>
          <a:srgbClr val="52796F"/>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 tIns="72000" rIns="7200" bIns="7200" numCol="1" spcCol="1270" anchor="t" anchorCtr="0">
          <a:noAutofit/>
        </a:bodyPr>
        <a:lstStyle/>
        <a:p>
          <a:pPr marL="114300" lvl="1" indent="-114300" algn="just"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Balance General</a:t>
          </a:r>
          <a:endParaRPr lang="es-MX" sz="1400" kern="1200" dirty="0">
            <a:solidFill>
              <a:schemeClr val="bg1"/>
            </a:solidFill>
            <a:latin typeface="Montserrat" panose="00000500000000000000" pitchFamily="2" charset="0"/>
          </a:endParaRPr>
        </a:p>
        <a:p>
          <a:pPr marL="114300" lvl="1" indent="-114300" algn="just"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Estados de Resultados</a:t>
          </a:r>
          <a:endParaRPr lang="es-MX" sz="1400" kern="1200" dirty="0">
            <a:solidFill>
              <a:schemeClr val="bg1"/>
            </a:solidFill>
            <a:latin typeface="Montserrat" panose="00000500000000000000" pitchFamily="2" charset="0"/>
          </a:endParaRPr>
        </a:p>
        <a:p>
          <a:pPr marL="114300" lvl="1" indent="-114300" algn="just" defTabSz="622300">
            <a:lnSpc>
              <a:spcPct val="90000"/>
            </a:lnSpc>
            <a:spcBef>
              <a:spcPct val="0"/>
            </a:spcBef>
            <a:spcAft>
              <a:spcPct val="15000"/>
            </a:spcAft>
            <a:buChar char="•"/>
          </a:pPr>
          <a:r>
            <a:rPr lang="es-ES" sz="1400" kern="1200" dirty="0">
              <a:solidFill>
                <a:schemeClr val="bg1"/>
              </a:solidFill>
              <a:latin typeface="Montserrat" panose="00000500000000000000" pitchFamily="2" charset="0"/>
            </a:rPr>
            <a:t>Estados de Flujo de efectivo</a:t>
          </a:r>
          <a:endParaRPr lang="es-MX" sz="1400" kern="1200" dirty="0">
            <a:solidFill>
              <a:schemeClr val="bg1"/>
            </a:solidFill>
            <a:latin typeface="Montserrat" panose="00000500000000000000" pitchFamily="2" charset="0"/>
          </a:endParaRPr>
        </a:p>
      </dsp:txBody>
      <dsp:txXfrm>
        <a:off x="4802621" y="1990339"/>
        <a:ext cx="1773298" cy="1124558"/>
      </dsp:txXfrm>
    </dsp:sp>
    <dsp:sp modelId="{F43BD8A3-1588-4C72-B813-F53DD87769DA}">
      <dsp:nvSpPr>
        <dsp:cNvPr id="0" name=""/>
        <dsp:cNvSpPr/>
      </dsp:nvSpPr>
      <dsp:spPr>
        <a:xfrm>
          <a:off x="5795781" y="2289704"/>
          <a:ext cx="2073766" cy="2073766"/>
        </a:xfrm>
        <a:prstGeom prst="leftCircularArrow">
          <a:avLst>
            <a:gd name="adj1" fmla="val 3351"/>
            <a:gd name="adj2" fmla="val 414253"/>
            <a:gd name="adj3" fmla="val 2189764"/>
            <a:gd name="adj4" fmla="val 9024489"/>
            <a:gd name="adj5" fmla="val 3909"/>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sp>
    <dsp:sp modelId="{268DDF55-00BE-4917-B31C-624C793AF7EE}">
      <dsp:nvSpPr>
        <dsp:cNvPr id="0" name=""/>
        <dsp:cNvSpPr/>
      </dsp:nvSpPr>
      <dsp:spPr>
        <a:xfrm>
          <a:off x="5177250" y="3149884"/>
          <a:ext cx="1638464" cy="651563"/>
        </a:xfrm>
        <a:prstGeom prst="roundRect">
          <a:avLst>
            <a:gd name="adj" fmla="val 10000"/>
          </a:avLst>
        </a:prstGeom>
        <a:solidFill>
          <a:srgbClr val="52796F"/>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 tIns="7200" rIns="7200" bIns="7200" numCol="1" spcCol="1270" anchor="ctr" anchorCtr="0">
          <a:noAutofit/>
        </a:bodyPr>
        <a:lstStyle/>
        <a:p>
          <a:pPr marL="0" lvl="0" indent="0" algn="ctr" defTabSz="711200">
            <a:lnSpc>
              <a:spcPct val="90000"/>
            </a:lnSpc>
            <a:spcBef>
              <a:spcPct val="0"/>
            </a:spcBef>
            <a:spcAft>
              <a:spcPct val="35000"/>
            </a:spcAft>
            <a:buNone/>
          </a:pPr>
          <a:r>
            <a:rPr lang="es-ES" sz="1600" b="1" kern="1200" dirty="0">
              <a:solidFill>
                <a:schemeClr val="bg1"/>
              </a:solidFill>
              <a:latin typeface="Montserrat" panose="00000500000000000000" pitchFamily="2" charset="0"/>
            </a:rPr>
            <a:t>Informes Financieros</a:t>
          </a:r>
          <a:endParaRPr lang="es-MX" sz="1600" b="1" kern="1200" dirty="0">
            <a:solidFill>
              <a:schemeClr val="bg1"/>
            </a:solidFill>
            <a:latin typeface="Montserrat" panose="00000500000000000000" pitchFamily="2" charset="0"/>
          </a:endParaRPr>
        </a:p>
      </dsp:txBody>
      <dsp:txXfrm>
        <a:off x="5196334" y="3168968"/>
        <a:ext cx="1600296" cy="613395"/>
      </dsp:txXfrm>
    </dsp:sp>
    <dsp:sp modelId="{4786CFFD-8204-442E-A51B-CAF84E7B2E3B}">
      <dsp:nvSpPr>
        <dsp:cNvPr id="0" name=""/>
        <dsp:cNvSpPr/>
      </dsp:nvSpPr>
      <dsp:spPr>
        <a:xfrm>
          <a:off x="7146586" y="1955352"/>
          <a:ext cx="1843272" cy="1520314"/>
        </a:xfrm>
        <a:prstGeom prst="roundRect">
          <a:avLst>
            <a:gd name="adj" fmla="val 10000"/>
          </a:avLst>
        </a:prstGeom>
        <a:solidFill>
          <a:srgbClr val="354F52"/>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 tIns="7200" rIns="7200" bIns="7200" numCol="1" spcCol="1270" anchor="t" anchorCtr="0">
          <a:noAutofit/>
        </a:bodyPr>
        <a:lstStyle/>
        <a:p>
          <a:pPr marL="114300" lvl="1" indent="-114300" algn="just" defTabSz="577850">
            <a:lnSpc>
              <a:spcPct val="90000"/>
            </a:lnSpc>
            <a:spcBef>
              <a:spcPct val="0"/>
            </a:spcBef>
            <a:spcAft>
              <a:spcPct val="15000"/>
            </a:spcAft>
            <a:buChar char="•"/>
          </a:pPr>
          <a:r>
            <a:rPr lang="es-ES" sz="1300" kern="1200" dirty="0">
              <a:solidFill>
                <a:schemeClr val="bg1"/>
              </a:solidFill>
              <a:latin typeface="Montserrat" panose="00000500000000000000" pitchFamily="2" charset="0"/>
            </a:rPr>
            <a:t>Informes contables confiables, precisos, relevantes y comprensibles.</a:t>
          </a:r>
          <a:endParaRPr lang="es-MX" sz="1300" b="0" u="sng" kern="1200" dirty="0">
            <a:solidFill>
              <a:schemeClr val="bg1"/>
            </a:solidFill>
            <a:latin typeface="Montserrat" panose="00000500000000000000" pitchFamily="2" charset="0"/>
          </a:endParaRPr>
        </a:p>
        <a:p>
          <a:pPr marL="114300" lvl="1" indent="-114300" algn="ctr" defTabSz="577850">
            <a:lnSpc>
              <a:spcPct val="90000"/>
            </a:lnSpc>
            <a:spcBef>
              <a:spcPct val="0"/>
            </a:spcBef>
            <a:spcAft>
              <a:spcPct val="15000"/>
            </a:spcAft>
            <a:buNone/>
          </a:pPr>
          <a:r>
            <a:rPr lang="es-ES" sz="1300" b="0" u="sng" kern="1200" dirty="0">
              <a:solidFill>
                <a:schemeClr val="bg1"/>
              </a:solidFill>
              <a:latin typeface="Montserrat" panose="00000500000000000000" pitchFamily="2" charset="0"/>
            </a:rPr>
            <a:t>Toma de decisiones</a:t>
          </a:r>
          <a:endParaRPr lang="es-MX" sz="1300" b="0" u="sng" kern="1200" dirty="0">
            <a:solidFill>
              <a:schemeClr val="bg1"/>
            </a:solidFill>
            <a:latin typeface="Montserrat" panose="00000500000000000000" pitchFamily="2" charset="0"/>
          </a:endParaRPr>
        </a:p>
      </dsp:txBody>
      <dsp:txXfrm>
        <a:off x="7181573" y="2316121"/>
        <a:ext cx="1773298" cy="1124558"/>
      </dsp:txXfrm>
    </dsp:sp>
    <dsp:sp modelId="{C3390885-71B4-4909-AE6F-36D7113702DF}">
      <dsp:nvSpPr>
        <dsp:cNvPr id="0" name=""/>
        <dsp:cNvSpPr/>
      </dsp:nvSpPr>
      <dsp:spPr>
        <a:xfrm>
          <a:off x="8159373" y="1007937"/>
          <a:ext cx="2309295" cy="2309295"/>
        </a:xfrm>
        <a:prstGeom prst="circularArrow">
          <a:avLst>
            <a:gd name="adj1" fmla="val 3009"/>
            <a:gd name="adj2" fmla="val 369010"/>
            <a:gd name="adj3" fmla="val 19455479"/>
            <a:gd name="adj4" fmla="val 12575511"/>
            <a:gd name="adj5" fmla="val 351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sp>
    <dsp:sp modelId="{930ED641-F70C-4763-BDBC-71D013553B14}">
      <dsp:nvSpPr>
        <dsp:cNvPr id="0" name=""/>
        <dsp:cNvSpPr/>
      </dsp:nvSpPr>
      <dsp:spPr>
        <a:xfrm>
          <a:off x="7556202" y="1629570"/>
          <a:ext cx="1638464" cy="651563"/>
        </a:xfrm>
        <a:prstGeom prst="roundRect">
          <a:avLst>
            <a:gd name="adj" fmla="val 10000"/>
          </a:avLst>
        </a:prstGeom>
        <a:solidFill>
          <a:srgbClr val="354F52"/>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s-ES" sz="1600" b="1" kern="1200" dirty="0">
              <a:solidFill>
                <a:schemeClr val="bg1"/>
              </a:solidFill>
              <a:latin typeface="Montserrat" panose="00000500000000000000" pitchFamily="2" charset="0"/>
            </a:rPr>
            <a:t>Presentar (Interpretar)</a:t>
          </a:r>
          <a:endParaRPr lang="es-MX" sz="1600" b="1" kern="1200" dirty="0">
            <a:solidFill>
              <a:schemeClr val="bg1"/>
            </a:solidFill>
            <a:latin typeface="Montserrat" panose="00000500000000000000" pitchFamily="2" charset="0"/>
          </a:endParaRPr>
        </a:p>
      </dsp:txBody>
      <dsp:txXfrm>
        <a:off x="7575286" y="1648654"/>
        <a:ext cx="1600296" cy="613395"/>
      </dsp:txXfrm>
    </dsp:sp>
    <dsp:sp modelId="{3BE98083-5563-4A7B-8E47-2C171F60FB9D}">
      <dsp:nvSpPr>
        <dsp:cNvPr id="0" name=""/>
        <dsp:cNvSpPr/>
      </dsp:nvSpPr>
      <dsp:spPr>
        <a:xfrm>
          <a:off x="9525538" y="1955352"/>
          <a:ext cx="1843272" cy="1520314"/>
        </a:xfrm>
        <a:prstGeom prst="roundRect">
          <a:avLst>
            <a:gd name="adj" fmla="val 10000"/>
          </a:avLst>
        </a:prstGeom>
        <a:solidFill>
          <a:srgbClr val="2F3E46"/>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123825" tIns="72000" rIns="123825" bIns="123825" numCol="1" spcCol="1270" anchor="t" anchorCtr="0">
          <a:noAutofit/>
        </a:bodyPr>
        <a:lstStyle/>
        <a:p>
          <a:pPr marL="114300" lvl="1" indent="-114300" algn="just" defTabSz="622300">
            <a:lnSpc>
              <a:spcPct val="90000"/>
            </a:lnSpc>
            <a:spcBef>
              <a:spcPct val="0"/>
            </a:spcBef>
            <a:spcAft>
              <a:spcPct val="15000"/>
            </a:spcAft>
            <a:buChar char="•"/>
          </a:pPr>
          <a:r>
            <a:rPr lang="es-MX" sz="1400" b="0" u="sng" kern="1200" dirty="0">
              <a:solidFill>
                <a:schemeClr val="bg1"/>
              </a:solidFill>
              <a:latin typeface="Montserrat" panose="00000500000000000000" pitchFamily="2" charset="0"/>
            </a:rPr>
            <a:t>Declaración de impuestos</a:t>
          </a:r>
        </a:p>
        <a:p>
          <a:pPr marL="114300" lvl="1" indent="-114300" algn="just" defTabSz="622300">
            <a:lnSpc>
              <a:spcPct val="90000"/>
            </a:lnSpc>
            <a:spcBef>
              <a:spcPct val="0"/>
            </a:spcBef>
            <a:spcAft>
              <a:spcPct val="15000"/>
            </a:spcAft>
            <a:buChar char="•"/>
          </a:pPr>
          <a:r>
            <a:rPr lang="es-MX" sz="1400" kern="1200" dirty="0">
              <a:solidFill>
                <a:schemeClr val="bg1"/>
              </a:solidFill>
              <a:latin typeface="Montserrat" panose="00000500000000000000" pitchFamily="2" charset="0"/>
            </a:rPr>
            <a:t>Ob. Tributarias</a:t>
          </a:r>
        </a:p>
        <a:p>
          <a:pPr marL="114300" lvl="1" indent="-114300" algn="just" defTabSz="622300">
            <a:lnSpc>
              <a:spcPct val="90000"/>
            </a:lnSpc>
            <a:spcBef>
              <a:spcPct val="0"/>
            </a:spcBef>
            <a:spcAft>
              <a:spcPct val="15000"/>
            </a:spcAft>
            <a:buChar char="•"/>
          </a:pPr>
          <a:r>
            <a:rPr lang="es-MX" sz="1400" kern="1200" dirty="0">
              <a:solidFill>
                <a:schemeClr val="bg1"/>
              </a:solidFill>
              <a:latin typeface="Montserrat" panose="00000500000000000000" pitchFamily="2" charset="0"/>
            </a:rPr>
            <a:t>Normativa fiscal</a:t>
          </a:r>
        </a:p>
        <a:p>
          <a:pPr marL="114300" lvl="1" indent="-114300" algn="l" defTabSz="622300">
            <a:lnSpc>
              <a:spcPct val="90000"/>
            </a:lnSpc>
            <a:spcBef>
              <a:spcPct val="0"/>
            </a:spcBef>
            <a:spcAft>
              <a:spcPct val="15000"/>
            </a:spcAft>
            <a:buChar char="•"/>
          </a:pPr>
          <a:endParaRPr lang="es-MX" sz="1400" kern="1200" dirty="0">
            <a:solidFill>
              <a:schemeClr val="bg1"/>
            </a:solidFill>
            <a:latin typeface="Montserrat" panose="00000500000000000000" pitchFamily="2" charset="0"/>
          </a:endParaRPr>
        </a:p>
      </dsp:txBody>
      <dsp:txXfrm>
        <a:off x="9560525" y="1990339"/>
        <a:ext cx="1773298" cy="1124558"/>
      </dsp:txXfrm>
    </dsp:sp>
    <dsp:sp modelId="{4DB4630F-5F99-414F-A7B0-C790F78E8716}">
      <dsp:nvSpPr>
        <dsp:cNvPr id="0" name=""/>
        <dsp:cNvSpPr/>
      </dsp:nvSpPr>
      <dsp:spPr>
        <a:xfrm>
          <a:off x="9935154" y="3149884"/>
          <a:ext cx="1638464" cy="651563"/>
        </a:xfrm>
        <a:prstGeom prst="roundRect">
          <a:avLst>
            <a:gd name="adj" fmla="val 10000"/>
          </a:avLst>
        </a:prstGeom>
        <a:solidFill>
          <a:srgbClr val="2F3E46"/>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bg1"/>
              </a:solidFill>
              <a:latin typeface="Montserrat" panose="00000500000000000000" pitchFamily="2" charset="0"/>
            </a:rPr>
            <a:t>Cumplimiento Fiscal</a:t>
          </a:r>
          <a:endParaRPr lang="es-MX" sz="1500" kern="1200" dirty="0">
            <a:solidFill>
              <a:schemeClr val="bg1"/>
            </a:solidFill>
            <a:latin typeface="Montserrat" panose="00000500000000000000" pitchFamily="2" charset="0"/>
          </a:endParaRPr>
        </a:p>
      </dsp:txBody>
      <dsp:txXfrm>
        <a:off x="9954238" y="3168968"/>
        <a:ext cx="1600296" cy="6133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897253-1334-4379-A888-C605DCEB1198}">
      <dsp:nvSpPr>
        <dsp:cNvPr id="0" name=""/>
        <dsp:cNvSpPr/>
      </dsp:nvSpPr>
      <dsp:spPr>
        <a:xfrm>
          <a:off x="3226" y="219831"/>
          <a:ext cx="3146000" cy="633600"/>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Operación</a:t>
          </a:r>
          <a:endParaRPr lang="es-MX" sz="2200" b="1" kern="1200" dirty="0">
            <a:latin typeface="Montserrat" panose="00000500000000000000" pitchFamily="2" charset="0"/>
          </a:endParaRPr>
        </a:p>
      </dsp:txBody>
      <dsp:txXfrm>
        <a:off x="3226" y="219831"/>
        <a:ext cx="3146000" cy="633600"/>
      </dsp:txXfrm>
    </dsp:sp>
    <dsp:sp modelId="{A92DF1FE-DB36-4CB5-AA41-5F4086C64105}">
      <dsp:nvSpPr>
        <dsp:cNvPr id="0" name=""/>
        <dsp:cNvSpPr/>
      </dsp:nvSpPr>
      <dsp:spPr>
        <a:xfrm>
          <a:off x="3226" y="853431"/>
          <a:ext cx="3146000" cy="3385614"/>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0" tIns="117348" rIns="72000" bIns="176022" numCol="1" spcCol="1270" anchor="t" anchorCtr="0">
          <a:noAutofit/>
        </a:bodyPr>
        <a:lstStyle/>
        <a:p>
          <a:pPr marL="0" lvl="1" indent="0" algn="just" defTabSz="977900">
            <a:lnSpc>
              <a:spcPct val="90000"/>
            </a:lnSpc>
            <a:spcBef>
              <a:spcPct val="0"/>
            </a:spcBef>
            <a:spcAft>
              <a:spcPts val="0"/>
            </a:spcAft>
            <a:buFontTx/>
            <a:buNone/>
          </a:pPr>
          <a:r>
            <a:rPr lang="es-ES" sz="2200" kern="1200" dirty="0">
              <a:solidFill>
                <a:schemeClr val="bg1"/>
              </a:solidFill>
              <a:latin typeface="Montserrat" panose="00000500000000000000" pitchFamily="2" charset="0"/>
            </a:rPr>
            <a:t>Recursos </a:t>
          </a:r>
          <a:r>
            <a:rPr lang="es-ES" sz="2200" b="1" kern="1200" dirty="0">
              <a:solidFill>
                <a:schemeClr val="bg1"/>
              </a:solidFill>
              <a:latin typeface="Montserrat" panose="00000500000000000000" pitchFamily="2" charset="0"/>
            </a:rPr>
            <a:t>generados</a:t>
          </a:r>
          <a:endParaRPr lang="es-MX" sz="2200" b="1" kern="1200" dirty="0">
            <a:solidFill>
              <a:schemeClr val="bg1"/>
            </a:solidFill>
            <a:latin typeface="Montserrat" panose="00000500000000000000" pitchFamily="2" charset="0"/>
          </a:endParaRPr>
        </a:p>
        <a:p>
          <a:pPr marL="0" lvl="1" indent="0" algn="just" defTabSz="977900">
            <a:lnSpc>
              <a:spcPct val="90000"/>
            </a:lnSpc>
            <a:spcBef>
              <a:spcPct val="0"/>
            </a:spcBef>
            <a:spcAft>
              <a:spcPts val="0"/>
            </a:spcAft>
            <a:buFontTx/>
            <a:buNone/>
          </a:pPr>
          <a:r>
            <a:rPr lang="es-ES" sz="2200" b="1" kern="1200" dirty="0">
              <a:solidFill>
                <a:schemeClr val="bg1"/>
              </a:solidFill>
              <a:latin typeface="Montserrat" panose="00000500000000000000" pitchFamily="2" charset="0"/>
            </a:rPr>
            <a:t>o utilizados </a:t>
          </a:r>
          <a:r>
            <a:rPr lang="es-ES" sz="2200" kern="1200" dirty="0">
              <a:solidFill>
                <a:schemeClr val="bg1"/>
              </a:solidFill>
              <a:latin typeface="Montserrat" panose="00000500000000000000" pitchFamily="2" charset="0"/>
            </a:rPr>
            <a:t>en las operaciones principales de la entidad, como ventas, pagos a proveedores y salarios.</a:t>
          </a:r>
          <a:endParaRPr lang="es-MX" sz="2200" kern="1200" dirty="0">
            <a:solidFill>
              <a:schemeClr val="bg1"/>
            </a:solidFill>
            <a:latin typeface="Montserrat" panose="00000500000000000000" pitchFamily="2" charset="0"/>
          </a:endParaRPr>
        </a:p>
      </dsp:txBody>
      <dsp:txXfrm>
        <a:off x="3226" y="853431"/>
        <a:ext cx="3146000" cy="3385614"/>
      </dsp:txXfrm>
    </dsp:sp>
    <dsp:sp modelId="{E561973A-9E7A-4E4E-A67F-7079EAA4969D}">
      <dsp:nvSpPr>
        <dsp:cNvPr id="0" name=""/>
        <dsp:cNvSpPr/>
      </dsp:nvSpPr>
      <dsp:spPr>
        <a:xfrm>
          <a:off x="3589667" y="219831"/>
          <a:ext cx="3146000" cy="633600"/>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Inversión</a:t>
          </a:r>
          <a:endParaRPr lang="es-MX" sz="2200" b="1" kern="1200" dirty="0">
            <a:latin typeface="Montserrat" panose="00000500000000000000" pitchFamily="2" charset="0"/>
          </a:endParaRPr>
        </a:p>
      </dsp:txBody>
      <dsp:txXfrm>
        <a:off x="3589667" y="219831"/>
        <a:ext cx="3146000" cy="633600"/>
      </dsp:txXfrm>
    </dsp:sp>
    <dsp:sp modelId="{980ECDCF-1383-4D97-9EDE-6AEAA671B280}">
      <dsp:nvSpPr>
        <dsp:cNvPr id="0" name=""/>
        <dsp:cNvSpPr/>
      </dsp:nvSpPr>
      <dsp:spPr>
        <a:xfrm>
          <a:off x="3589667" y="853431"/>
          <a:ext cx="3146000" cy="3385614"/>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0" tIns="117348" rIns="72000" bIns="176022" numCol="1" spcCol="1270" anchor="t" anchorCtr="0">
          <a:noAutofit/>
        </a:bodyPr>
        <a:lstStyle/>
        <a:p>
          <a:pPr marL="0" lvl="1" indent="0" algn="just" defTabSz="977900">
            <a:lnSpc>
              <a:spcPct val="90000"/>
            </a:lnSpc>
            <a:spcBef>
              <a:spcPct val="0"/>
            </a:spcBef>
            <a:spcAft>
              <a:spcPct val="15000"/>
            </a:spcAft>
            <a:buFontTx/>
            <a:buNone/>
          </a:pPr>
          <a:r>
            <a:rPr lang="es-ES" sz="2200" kern="1200" dirty="0">
              <a:solidFill>
                <a:schemeClr val="bg1"/>
              </a:solidFill>
              <a:latin typeface="Montserrat" panose="00000500000000000000" pitchFamily="2" charset="0"/>
            </a:rPr>
            <a:t>Efectivo utilizado para </a:t>
          </a:r>
          <a:r>
            <a:rPr lang="es-ES" sz="2200" b="1" kern="1200" dirty="0">
              <a:solidFill>
                <a:schemeClr val="bg1"/>
              </a:solidFill>
              <a:latin typeface="Montserrat" panose="00000500000000000000" pitchFamily="2" charset="0"/>
            </a:rPr>
            <a:t>adquirir o vender activos</a:t>
          </a:r>
          <a:r>
            <a:rPr lang="es-ES" sz="2200" kern="1200" dirty="0">
              <a:solidFill>
                <a:schemeClr val="bg1"/>
              </a:solidFill>
              <a:latin typeface="Montserrat" panose="00000500000000000000" pitchFamily="2" charset="0"/>
            </a:rPr>
            <a:t> a largo plazo, como propiedades, equipos e inversiones en otras empresas.</a:t>
          </a:r>
          <a:endParaRPr lang="es-MX" sz="2200" kern="1200" dirty="0">
            <a:solidFill>
              <a:schemeClr val="bg1"/>
            </a:solidFill>
            <a:latin typeface="Montserrat" panose="00000500000000000000" pitchFamily="2" charset="0"/>
          </a:endParaRPr>
        </a:p>
      </dsp:txBody>
      <dsp:txXfrm>
        <a:off x="3589667" y="853431"/>
        <a:ext cx="3146000" cy="3385614"/>
      </dsp:txXfrm>
    </dsp:sp>
    <dsp:sp modelId="{1668A0F7-E637-40BA-A175-D0CFA5E2ED0B}">
      <dsp:nvSpPr>
        <dsp:cNvPr id="0" name=""/>
        <dsp:cNvSpPr/>
      </dsp:nvSpPr>
      <dsp:spPr>
        <a:xfrm>
          <a:off x="7176108" y="219831"/>
          <a:ext cx="3146000" cy="633600"/>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Financiamiento</a:t>
          </a:r>
          <a:endParaRPr lang="es-MX" sz="2200" b="1" kern="1200" dirty="0">
            <a:latin typeface="Montserrat" panose="00000500000000000000" pitchFamily="2" charset="0"/>
          </a:endParaRPr>
        </a:p>
      </dsp:txBody>
      <dsp:txXfrm>
        <a:off x="7176108" y="219831"/>
        <a:ext cx="3146000" cy="633600"/>
      </dsp:txXfrm>
    </dsp:sp>
    <dsp:sp modelId="{BCAA3297-F6E6-475A-89C8-4489BD9E3C14}">
      <dsp:nvSpPr>
        <dsp:cNvPr id="0" name=""/>
        <dsp:cNvSpPr/>
      </dsp:nvSpPr>
      <dsp:spPr>
        <a:xfrm>
          <a:off x="7176108" y="853431"/>
          <a:ext cx="3146000" cy="3385614"/>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72000" tIns="117348" rIns="108000" bIns="176022" numCol="1" spcCol="1270" anchor="t" anchorCtr="0">
          <a:noAutofit/>
        </a:bodyPr>
        <a:lstStyle/>
        <a:p>
          <a:pPr marL="0" lvl="1" indent="0" algn="just" defTabSz="977900">
            <a:lnSpc>
              <a:spcPct val="90000"/>
            </a:lnSpc>
            <a:spcBef>
              <a:spcPct val="0"/>
            </a:spcBef>
            <a:spcAft>
              <a:spcPct val="15000"/>
            </a:spcAft>
            <a:buFontTx/>
            <a:buNone/>
          </a:pPr>
          <a:r>
            <a:rPr lang="es-ES" sz="2200" kern="1200" dirty="0">
              <a:solidFill>
                <a:schemeClr val="bg1"/>
              </a:solidFill>
              <a:latin typeface="Montserrat" panose="00000500000000000000" pitchFamily="2" charset="0"/>
            </a:rPr>
            <a:t>Efectivo recibido de o pagado a los inversores y prestamistas, como la </a:t>
          </a:r>
          <a:r>
            <a:rPr lang="es-ES" sz="2200" b="1" kern="1200" dirty="0">
              <a:solidFill>
                <a:schemeClr val="bg1"/>
              </a:solidFill>
              <a:latin typeface="Montserrat" panose="00000500000000000000" pitchFamily="2" charset="0"/>
            </a:rPr>
            <a:t>emisión de acciones, la obtención de préstamos o el pago de dividendos y amortizaciones.</a:t>
          </a:r>
          <a:endParaRPr lang="es-MX" sz="2200" b="1" kern="1200" dirty="0">
            <a:solidFill>
              <a:schemeClr val="bg1"/>
            </a:solidFill>
            <a:latin typeface="Montserrat" panose="00000500000000000000" pitchFamily="2" charset="0"/>
          </a:endParaRPr>
        </a:p>
      </dsp:txBody>
      <dsp:txXfrm>
        <a:off x="7176108" y="853431"/>
        <a:ext cx="3146000" cy="33856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8D316-8F4D-4497-BE69-4B69A4BA3546}">
      <dsp:nvSpPr>
        <dsp:cNvPr id="0" name=""/>
        <dsp:cNvSpPr/>
      </dsp:nvSpPr>
      <dsp:spPr>
        <a:xfrm>
          <a:off x="1425" y="2"/>
          <a:ext cx="1668357" cy="1668357"/>
        </a:xfrm>
        <a:prstGeom prst="ellipse">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 tIns="0" rIns="7200" bIns="0"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Montserrat" panose="00000500000000000000" pitchFamily="2" charset="0"/>
            </a:rPr>
            <a:t>Identificar el problema</a:t>
          </a:r>
          <a:endParaRPr lang="es-MX" sz="1600" kern="1200" dirty="0">
            <a:latin typeface="Montserrat" panose="00000500000000000000" pitchFamily="2" charset="0"/>
          </a:endParaRPr>
        </a:p>
      </dsp:txBody>
      <dsp:txXfrm>
        <a:off x="245750" y="244327"/>
        <a:ext cx="1179707" cy="1179707"/>
      </dsp:txXfrm>
    </dsp:sp>
    <dsp:sp modelId="{47731E72-AD40-42FD-AA06-C7CDC73D3729}">
      <dsp:nvSpPr>
        <dsp:cNvPr id="0" name=""/>
        <dsp:cNvSpPr/>
      </dsp:nvSpPr>
      <dsp:spPr>
        <a:xfrm>
          <a:off x="1669783" y="360000"/>
          <a:ext cx="1668357" cy="1668357"/>
        </a:xfrm>
        <a:prstGeom prst="ellipse">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ts val="0"/>
            </a:spcAft>
            <a:buNone/>
          </a:pPr>
          <a:endParaRPr lang="es-MX" sz="1600" kern="1200" dirty="0">
            <a:latin typeface="Montserrat" panose="00000500000000000000" pitchFamily="2" charset="0"/>
          </a:endParaRPr>
        </a:p>
      </dsp:txBody>
      <dsp:txXfrm>
        <a:off x="1914108" y="604325"/>
        <a:ext cx="1179707" cy="1179707"/>
      </dsp:txXfrm>
    </dsp:sp>
    <dsp:sp modelId="{B08E2CD8-D44A-4B0E-A1AE-BC945DC78310}">
      <dsp:nvSpPr>
        <dsp:cNvPr id="0" name=""/>
        <dsp:cNvSpPr/>
      </dsp:nvSpPr>
      <dsp:spPr>
        <a:xfrm>
          <a:off x="3338140" y="719998"/>
          <a:ext cx="1668357" cy="1668357"/>
        </a:xfrm>
        <a:prstGeom prst="ellipse">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MX" sz="1600" kern="1200" dirty="0">
            <a:latin typeface="Montserrat" panose="00000500000000000000" pitchFamily="2" charset="0"/>
          </a:endParaRPr>
        </a:p>
      </dsp:txBody>
      <dsp:txXfrm>
        <a:off x="3582465" y="964323"/>
        <a:ext cx="1179707" cy="1179707"/>
      </dsp:txXfrm>
    </dsp:sp>
    <dsp:sp modelId="{70008234-9226-4B0C-902E-A72F5449AC50}">
      <dsp:nvSpPr>
        <dsp:cNvPr id="0" name=""/>
        <dsp:cNvSpPr/>
      </dsp:nvSpPr>
      <dsp:spPr>
        <a:xfrm>
          <a:off x="5006497" y="1079996"/>
          <a:ext cx="1668357" cy="1668357"/>
        </a:xfrm>
        <a:prstGeom prst="ellipse">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MX" sz="1600" kern="1200" dirty="0">
            <a:latin typeface="Montserrat" panose="00000500000000000000" pitchFamily="2" charset="0"/>
          </a:endParaRPr>
        </a:p>
      </dsp:txBody>
      <dsp:txXfrm>
        <a:off x="5250822" y="1324321"/>
        <a:ext cx="1179707" cy="1179707"/>
      </dsp:txXfrm>
    </dsp:sp>
    <dsp:sp modelId="{E85FFBA6-9454-42F1-9850-7D88EB9181C7}">
      <dsp:nvSpPr>
        <dsp:cNvPr id="0" name=""/>
        <dsp:cNvSpPr/>
      </dsp:nvSpPr>
      <dsp:spPr>
        <a:xfrm>
          <a:off x="6674855" y="1439994"/>
          <a:ext cx="1668357" cy="1668357"/>
        </a:xfrm>
        <a:prstGeom prst="ellipse">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MX" sz="1600" kern="1200" dirty="0">
            <a:latin typeface="Montserrat" panose="00000500000000000000" pitchFamily="2" charset="0"/>
          </a:endParaRPr>
        </a:p>
      </dsp:txBody>
      <dsp:txXfrm>
        <a:off x="6919180" y="1684319"/>
        <a:ext cx="1179707" cy="1179707"/>
      </dsp:txXfrm>
    </dsp:sp>
    <dsp:sp modelId="{32EB875E-E020-49D2-B7FF-F5D61809EE66}">
      <dsp:nvSpPr>
        <dsp:cNvPr id="0" name=""/>
        <dsp:cNvSpPr/>
      </dsp:nvSpPr>
      <dsp:spPr>
        <a:xfrm>
          <a:off x="8343212" y="1799992"/>
          <a:ext cx="1668357" cy="1668357"/>
        </a:xfrm>
        <a:prstGeom prst="ellipse">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60000">
            <a:lnSpc>
              <a:spcPct val="90000"/>
            </a:lnSpc>
            <a:spcBef>
              <a:spcPct val="0"/>
            </a:spcBef>
            <a:spcAft>
              <a:spcPts val="0"/>
            </a:spcAft>
            <a:buNone/>
          </a:pPr>
          <a:endParaRPr lang="es-MX" sz="1600" kern="1200" dirty="0">
            <a:latin typeface="Montserrat" panose="00000500000000000000" pitchFamily="2" charset="0"/>
          </a:endParaRPr>
        </a:p>
      </dsp:txBody>
      <dsp:txXfrm>
        <a:off x="8587537" y="2044317"/>
        <a:ext cx="1179707" cy="1179707"/>
      </dsp:txXfrm>
    </dsp:sp>
    <dsp:sp modelId="{FFD3D9E4-1DB2-488C-90D7-55B4E85338A3}">
      <dsp:nvSpPr>
        <dsp:cNvPr id="0" name=""/>
        <dsp:cNvSpPr/>
      </dsp:nvSpPr>
      <dsp:spPr>
        <a:xfrm>
          <a:off x="10011569" y="2160007"/>
          <a:ext cx="1668357" cy="1668357"/>
        </a:xfrm>
        <a:prstGeom prst="ellipse">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Montserrat" panose="00000500000000000000" pitchFamily="2" charset="0"/>
            </a:rPr>
            <a:t>Monitoreo y evaluación</a:t>
          </a:r>
          <a:endParaRPr lang="es-MX" sz="1600" kern="1200" dirty="0">
            <a:latin typeface="Montserrat" panose="00000500000000000000" pitchFamily="2" charset="0"/>
          </a:endParaRPr>
        </a:p>
      </dsp:txBody>
      <dsp:txXfrm>
        <a:off x="10255894" y="2404332"/>
        <a:ext cx="1179707" cy="11797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302CA-4FB0-4D30-B921-0C3B52266FED}">
      <dsp:nvSpPr>
        <dsp:cNvPr id="0" name=""/>
        <dsp:cNvSpPr/>
      </dsp:nvSpPr>
      <dsp:spPr>
        <a:xfrm>
          <a:off x="1393" y="16043"/>
          <a:ext cx="1751012" cy="11664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56464" rIns="0" bIns="83820" numCol="1" spcCol="1270" anchor="t"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Activos</a:t>
          </a:r>
          <a:endParaRPr lang="es-MX" sz="2200" b="1" kern="1200" dirty="0">
            <a:latin typeface="Montserrat" panose="00000500000000000000" pitchFamily="2" charset="0"/>
          </a:endParaRPr>
        </a:p>
      </dsp:txBody>
      <dsp:txXfrm>
        <a:off x="1393" y="16043"/>
        <a:ext cx="1751012" cy="700405"/>
      </dsp:txXfrm>
    </dsp:sp>
    <dsp:sp modelId="{C852476B-6718-4EE1-A4EC-28FD231F9451}">
      <dsp:nvSpPr>
        <dsp:cNvPr id="0" name=""/>
        <dsp:cNvSpPr/>
      </dsp:nvSpPr>
      <dsp:spPr>
        <a:xfrm>
          <a:off x="360034" y="716449"/>
          <a:ext cx="1751012" cy="1555200"/>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es-ES" sz="1800" kern="1200" dirty="0">
              <a:solidFill>
                <a:schemeClr val="bg1"/>
              </a:solidFill>
              <a:latin typeface="Montserrat" panose="00000500000000000000" pitchFamily="2" charset="0"/>
            </a:rPr>
            <a:t>Bien raíz</a:t>
          </a:r>
          <a:endParaRPr lang="es-MX" sz="1800" kern="1200" dirty="0">
            <a:solidFill>
              <a:schemeClr val="bg1"/>
            </a:solidFill>
            <a:latin typeface="Montserrat" panose="00000500000000000000" pitchFamily="2" charset="0"/>
          </a:endParaRPr>
        </a:p>
        <a:p>
          <a:pPr marL="171450" lvl="1" indent="-171450" algn="l" defTabSz="800100">
            <a:lnSpc>
              <a:spcPct val="90000"/>
            </a:lnSpc>
            <a:spcBef>
              <a:spcPct val="0"/>
            </a:spcBef>
            <a:spcAft>
              <a:spcPct val="15000"/>
            </a:spcAft>
            <a:buChar char="•"/>
          </a:pPr>
          <a:r>
            <a:rPr lang="es-ES" sz="1800" kern="1200" dirty="0">
              <a:solidFill>
                <a:schemeClr val="bg1"/>
              </a:solidFill>
              <a:latin typeface="Montserrat" panose="00000500000000000000" pitchFamily="2" charset="0"/>
            </a:rPr>
            <a:t>Equipo</a:t>
          </a:r>
          <a:endParaRPr lang="es-MX" sz="1800" kern="1200" dirty="0">
            <a:solidFill>
              <a:schemeClr val="bg1"/>
            </a:solidFill>
            <a:latin typeface="Montserrat" panose="00000500000000000000" pitchFamily="2" charset="0"/>
          </a:endParaRPr>
        </a:p>
        <a:p>
          <a:pPr marL="171450" lvl="1" indent="-171450" algn="l" defTabSz="800100">
            <a:lnSpc>
              <a:spcPct val="90000"/>
            </a:lnSpc>
            <a:spcBef>
              <a:spcPct val="0"/>
            </a:spcBef>
            <a:spcAft>
              <a:spcPct val="15000"/>
            </a:spcAft>
            <a:buChar char="•"/>
          </a:pPr>
          <a:r>
            <a:rPr lang="es-ES" sz="1800" kern="1200" dirty="0">
              <a:solidFill>
                <a:schemeClr val="bg1"/>
              </a:solidFill>
              <a:latin typeface="Montserrat" panose="00000500000000000000" pitchFamily="2" charset="0"/>
            </a:rPr>
            <a:t>Mobiliario</a:t>
          </a:r>
          <a:endParaRPr lang="es-MX" sz="1800" kern="1200" dirty="0">
            <a:solidFill>
              <a:schemeClr val="bg1"/>
            </a:solidFill>
            <a:latin typeface="Montserrat" panose="00000500000000000000" pitchFamily="2" charset="0"/>
          </a:endParaRPr>
        </a:p>
      </dsp:txBody>
      <dsp:txXfrm>
        <a:off x="405584" y="761999"/>
        <a:ext cx="1659912" cy="1464100"/>
      </dsp:txXfrm>
    </dsp:sp>
    <dsp:sp modelId="{16BA0945-30CB-40B1-8CE5-0861B14432AD}">
      <dsp:nvSpPr>
        <dsp:cNvPr id="0" name=""/>
        <dsp:cNvSpPr/>
      </dsp:nvSpPr>
      <dsp:spPr>
        <a:xfrm>
          <a:off x="2017853" y="148270"/>
          <a:ext cx="562747" cy="435951"/>
        </a:xfrm>
        <a:prstGeom prst="rightArrow">
          <a:avLst>
            <a:gd name="adj1" fmla="val 60000"/>
            <a:gd name="adj2" fmla="val 50000"/>
          </a:avLst>
        </a:prstGeom>
        <a:solidFill>
          <a:srgbClr val="52796F"/>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Montserrat" panose="00000500000000000000" pitchFamily="2" charset="0"/>
          </a:endParaRPr>
        </a:p>
      </dsp:txBody>
      <dsp:txXfrm>
        <a:off x="2017853" y="235460"/>
        <a:ext cx="431962" cy="261571"/>
      </dsp:txXfrm>
    </dsp:sp>
    <dsp:sp modelId="{764E65B3-371E-4CF1-A28D-A92A37D0B74A}">
      <dsp:nvSpPr>
        <dsp:cNvPr id="0" name=""/>
        <dsp:cNvSpPr/>
      </dsp:nvSpPr>
      <dsp:spPr>
        <a:xfrm>
          <a:off x="2814194" y="16043"/>
          <a:ext cx="1751012" cy="11664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56464" rIns="0" bIns="83820" numCol="1" spcCol="1270" anchor="t"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Empresas</a:t>
          </a:r>
          <a:endParaRPr lang="es-MX" sz="2200" b="1" kern="1200" dirty="0">
            <a:latin typeface="Montserrat" panose="00000500000000000000" pitchFamily="2" charset="0"/>
          </a:endParaRPr>
        </a:p>
      </dsp:txBody>
      <dsp:txXfrm>
        <a:off x="2814194" y="16043"/>
        <a:ext cx="1751012" cy="700405"/>
      </dsp:txXfrm>
    </dsp:sp>
    <dsp:sp modelId="{4D39FB42-4997-40E6-AE7F-0087AC989840}">
      <dsp:nvSpPr>
        <dsp:cNvPr id="0" name=""/>
        <dsp:cNvSpPr/>
      </dsp:nvSpPr>
      <dsp:spPr>
        <a:xfrm>
          <a:off x="3172835" y="716449"/>
          <a:ext cx="1751012" cy="1555200"/>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128016" rIns="0" bIns="128016" numCol="1" spcCol="1270" anchor="ctr" anchorCtr="0">
          <a:noAutofit/>
        </a:bodyPr>
        <a:lstStyle/>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Compras</a:t>
          </a:r>
          <a:endParaRPr lang="es-MX" sz="1800" kern="1200" dirty="0">
            <a:solidFill>
              <a:schemeClr val="bg1"/>
            </a:solidFill>
            <a:latin typeface="Montserrat" panose="00000500000000000000" pitchFamily="2" charset="0"/>
            <a:ea typeface="+mn-ea"/>
            <a:cs typeface="+mn-cs"/>
          </a:endParaRPr>
        </a:p>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Ventas</a:t>
          </a:r>
          <a:endParaRPr lang="es-MX" sz="1800" kern="1200" dirty="0">
            <a:solidFill>
              <a:schemeClr val="bg1"/>
            </a:solidFill>
            <a:latin typeface="Montserrat" panose="00000500000000000000" pitchFamily="2" charset="0"/>
            <a:ea typeface="+mn-ea"/>
            <a:cs typeface="+mn-cs"/>
          </a:endParaRPr>
        </a:p>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Fusiones</a:t>
          </a:r>
          <a:endParaRPr lang="es-MX" sz="1800" kern="1200" dirty="0">
            <a:solidFill>
              <a:schemeClr val="bg1"/>
            </a:solidFill>
            <a:latin typeface="Montserrat" panose="00000500000000000000" pitchFamily="2" charset="0"/>
            <a:ea typeface="+mn-ea"/>
            <a:cs typeface="+mn-cs"/>
          </a:endParaRPr>
        </a:p>
        <a:p>
          <a:pPr marL="228600" lvl="1" indent="-228600" algn="l" defTabSz="889000">
            <a:lnSpc>
              <a:spcPct val="90000"/>
            </a:lnSpc>
            <a:spcBef>
              <a:spcPct val="0"/>
            </a:spcBef>
            <a:spcAft>
              <a:spcPct val="15000"/>
            </a:spcAft>
            <a:buChar char="•"/>
          </a:pPr>
          <a:r>
            <a:rPr lang="es-ES" sz="1800" kern="1200" dirty="0">
              <a:solidFill>
                <a:schemeClr val="bg1"/>
              </a:solidFill>
              <a:latin typeface="Montserrat" panose="00000500000000000000" pitchFamily="2" charset="0"/>
              <a:ea typeface="+mn-ea"/>
              <a:cs typeface="+mn-cs"/>
            </a:rPr>
            <a:t>Inversiones</a:t>
          </a:r>
          <a:endParaRPr lang="es-MX" sz="1800" kern="1200" dirty="0">
            <a:solidFill>
              <a:schemeClr val="bg1"/>
            </a:solidFill>
            <a:latin typeface="Montserrat" panose="00000500000000000000" pitchFamily="2" charset="0"/>
            <a:ea typeface="+mn-ea"/>
            <a:cs typeface="+mn-cs"/>
          </a:endParaRPr>
        </a:p>
      </dsp:txBody>
      <dsp:txXfrm>
        <a:off x="3218385" y="761999"/>
        <a:ext cx="1659912" cy="1464100"/>
      </dsp:txXfrm>
    </dsp:sp>
    <dsp:sp modelId="{8DE0E36B-AA75-4EC8-9E89-2FC783A2EA94}">
      <dsp:nvSpPr>
        <dsp:cNvPr id="0" name=""/>
        <dsp:cNvSpPr/>
      </dsp:nvSpPr>
      <dsp:spPr>
        <a:xfrm>
          <a:off x="4830654" y="148270"/>
          <a:ext cx="562747" cy="435951"/>
        </a:xfrm>
        <a:prstGeom prst="rightArrow">
          <a:avLst>
            <a:gd name="adj1" fmla="val 60000"/>
            <a:gd name="adj2" fmla="val 50000"/>
          </a:avLst>
        </a:prstGeom>
        <a:solidFill>
          <a:srgbClr val="52796F"/>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Montserrat" panose="00000500000000000000" pitchFamily="2" charset="0"/>
          </a:endParaRPr>
        </a:p>
      </dsp:txBody>
      <dsp:txXfrm>
        <a:off x="4830654" y="235460"/>
        <a:ext cx="431962" cy="261571"/>
      </dsp:txXfrm>
    </dsp:sp>
    <dsp:sp modelId="{38ED9F29-343A-4870-9CE2-7986157AC933}">
      <dsp:nvSpPr>
        <dsp:cNvPr id="0" name=""/>
        <dsp:cNvSpPr/>
      </dsp:nvSpPr>
      <dsp:spPr>
        <a:xfrm>
          <a:off x="5626995" y="16043"/>
          <a:ext cx="1751012" cy="11664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56464" rIns="0" bIns="83820" numCol="1" spcCol="1270" anchor="t"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Proyectos</a:t>
          </a:r>
          <a:endParaRPr lang="es-MX" sz="2200" b="1" kern="1200" dirty="0">
            <a:latin typeface="Montserrat" panose="00000500000000000000" pitchFamily="2" charset="0"/>
          </a:endParaRPr>
        </a:p>
      </dsp:txBody>
      <dsp:txXfrm>
        <a:off x="5626995" y="16043"/>
        <a:ext cx="1751012" cy="700405"/>
      </dsp:txXfrm>
    </dsp:sp>
    <dsp:sp modelId="{B6585EE3-555A-4E6E-A320-A638E23C49A9}">
      <dsp:nvSpPr>
        <dsp:cNvPr id="0" name=""/>
        <dsp:cNvSpPr/>
      </dsp:nvSpPr>
      <dsp:spPr>
        <a:xfrm>
          <a:off x="5985636" y="716449"/>
          <a:ext cx="1751012" cy="1555200"/>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1" indent="0" algn="ctr"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Evalúa la </a:t>
          </a:r>
          <a:r>
            <a:rPr lang="es-ES" sz="1800" b="1" kern="1200" dirty="0">
              <a:solidFill>
                <a:schemeClr val="bg1"/>
              </a:solidFill>
              <a:latin typeface="Montserrat" panose="00000500000000000000" pitchFamily="2" charset="0"/>
            </a:rPr>
            <a:t>viabilidad</a:t>
          </a:r>
          <a:r>
            <a:rPr lang="es-ES" sz="1800" kern="1200" dirty="0">
              <a:solidFill>
                <a:schemeClr val="bg1"/>
              </a:solidFill>
              <a:latin typeface="Montserrat" panose="00000500000000000000" pitchFamily="2" charset="0"/>
            </a:rPr>
            <a:t> y </a:t>
          </a:r>
          <a:r>
            <a:rPr lang="es-ES" sz="1800" b="1" kern="1200" dirty="0">
              <a:solidFill>
                <a:schemeClr val="bg1"/>
              </a:solidFill>
              <a:latin typeface="Montserrat" panose="00000500000000000000" pitchFamily="2" charset="0"/>
            </a:rPr>
            <a:t>rentabilidad</a:t>
          </a:r>
          <a:endParaRPr lang="es-MX" sz="1800" b="1" kern="1200" dirty="0">
            <a:solidFill>
              <a:schemeClr val="bg1"/>
            </a:solidFill>
            <a:latin typeface="Montserrat" panose="00000500000000000000" pitchFamily="2" charset="0"/>
          </a:endParaRPr>
        </a:p>
      </dsp:txBody>
      <dsp:txXfrm>
        <a:off x="6031186" y="761999"/>
        <a:ext cx="1659912" cy="1464100"/>
      </dsp:txXfrm>
    </dsp:sp>
    <dsp:sp modelId="{99BB7DBB-13F3-4FCD-8690-0725DCAC0BFE}">
      <dsp:nvSpPr>
        <dsp:cNvPr id="0" name=""/>
        <dsp:cNvSpPr/>
      </dsp:nvSpPr>
      <dsp:spPr>
        <a:xfrm>
          <a:off x="7643455" y="148270"/>
          <a:ext cx="562747" cy="435951"/>
        </a:xfrm>
        <a:prstGeom prst="rightArrow">
          <a:avLst>
            <a:gd name="adj1" fmla="val 60000"/>
            <a:gd name="adj2" fmla="val 50000"/>
          </a:avLst>
        </a:prstGeom>
        <a:solidFill>
          <a:srgbClr val="52796F"/>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Montserrat" panose="00000500000000000000" pitchFamily="2" charset="0"/>
          </a:endParaRPr>
        </a:p>
      </dsp:txBody>
      <dsp:txXfrm>
        <a:off x="7643455" y="235460"/>
        <a:ext cx="431962" cy="261571"/>
      </dsp:txXfrm>
    </dsp:sp>
    <dsp:sp modelId="{85DD1499-C5C0-4A3C-8A2D-123FF1653DA2}">
      <dsp:nvSpPr>
        <dsp:cNvPr id="0" name=""/>
        <dsp:cNvSpPr/>
      </dsp:nvSpPr>
      <dsp:spPr>
        <a:xfrm>
          <a:off x="8439796" y="16043"/>
          <a:ext cx="1751012" cy="11664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56464" rIns="0" bIns="83820" numCol="1" spcCol="1270" anchor="t"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Intangibles</a:t>
          </a:r>
          <a:endParaRPr lang="es-MX" sz="2200" b="1" kern="1200" dirty="0">
            <a:latin typeface="Montserrat" panose="00000500000000000000" pitchFamily="2" charset="0"/>
          </a:endParaRPr>
        </a:p>
      </dsp:txBody>
      <dsp:txXfrm>
        <a:off x="8439796" y="16043"/>
        <a:ext cx="1751012" cy="700405"/>
      </dsp:txXfrm>
    </dsp:sp>
    <dsp:sp modelId="{243062EE-328D-4412-BEE3-E04FD3AC3A87}">
      <dsp:nvSpPr>
        <dsp:cNvPr id="0" name=""/>
        <dsp:cNvSpPr/>
      </dsp:nvSpPr>
      <dsp:spPr>
        <a:xfrm>
          <a:off x="8798438" y="716449"/>
          <a:ext cx="1751012" cy="1555200"/>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s-ES" sz="1800" kern="1200" dirty="0">
              <a:solidFill>
                <a:schemeClr val="bg1"/>
              </a:solidFill>
              <a:latin typeface="Montserrat" panose="00000500000000000000" pitchFamily="2" charset="0"/>
              <a:ea typeface="+mn-ea"/>
              <a:cs typeface="+mn-cs"/>
            </a:rPr>
            <a:t> Patentes</a:t>
          </a:r>
          <a:endParaRPr lang="es-MX" sz="1800" kern="1200" dirty="0">
            <a:solidFill>
              <a:schemeClr val="bg1"/>
            </a:solidFill>
            <a:latin typeface="Montserrat" panose="00000500000000000000" pitchFamily="2" charset="0"/>
            <a:ea typeface="+mn-ea"/>
            <a:cs typeface="+mn-cs"/>
          </a:endParaRPr>
        </a:p>
        <a:p>
          <a:pPr marL="228600" lvl="1" indent="-228600" algn="l" defTabSz="889000">
            <a:lnSpc>
              <a:spcPct val="90000"/>
            </a:lnSpc>
            <a:spcBef>
              <a:spcPct val="0"/>
            </a:spcBef>
            <a:spcAft>
              <a:spcPct val="15000"/>
            </a:spcAft>
            <a:buFont typeface="Arial" panose="020B0604020202020204" pitchFamily="34" charset="0"/>
            <a:buChar char="•"/>
          </a:pPr>
          <a:r>
            <a:rPr lang="es-ES" sz="1800" kern="1200" dirty="0">
              <a:solidFill>
                <a:schemeClr val="bg1"/>
              </a:solidFill>
              <a:latin typeface="Montserrat" panose="00000500000000000000" pitchFamily="2" charset="0"/>
              <a:ea typeface="+mn-ea"/>
              <a:cs typeface="+mn-cs"/>
            </a:rPr>
            <a:t> Marcas</a:t>
          </a:r>
          <a:endParaRPr lang="es-MX" sz="1800" kern="1200" dirty="0">
            <a:solidFill>
              <a:schemeClr val="bg1"/>
            </a:solidFill>
            <a:latin typeface="Montserrat" panose="00000500000000000000" pitchFamily="2" charset="0"/>
            <a:ea typeface="+mn-ea"/>
            <a:cs typeface="+mn-cs"/>
          </a:endParaRPr>
        </a:p>
        <a:p>
          <a:pPr marL="228600" lvl="1" indent="-228600" algn="l" defTabSz="889000">
            <a:lnSpc>
              <a:spcPct val="90000"/>
            </a:lnSpc>
            <a:spcBef>
              <a:spcPct val="0"/>
            </a:spcBef>
            <a:spcAft>
              <a:spcPct val="15000"/>
            </a:spcAft>
            <a:buFont typeface="Arial" panose="020B0604020202020204" pitchFamily="34" charset="0"/>
            <a:buChar char="•"/>
          </a:pPr>
          <a:r>
            <a:rPr lang="es-ES" sz="1800" kern="1200" dirty="0">
              <a:solidFill>
                <a:schemeClr val="bg1"/>
              </a:solidFill>
              <a:latin typeface="Montserrat" panose="00000500000000000000" pitchFamily="2" charset="0"/>
              <a:ea typeface="+mn-ea"/>
              <a:cs typeface="+mn-cs"/>
            </a:rPr>
            <a:t> Derechos de autor</a:t>
          </a:r>
          <a:endParaRPr lang="es-MX" sz="1800" kern="1200" dirty="0">
            <a:solidFill>
              <a:schemeClr val="bg1"/>
            </a:solidFill>
            <a:latin typeface="Montserrat" panose="00000500000000000000" pitchFamily="2" charset="0"/>
            <a:ea typeface="+mn-ea"/>
            <a:cs typeface="+mn-cs"/>
          </a:endParaRPr>
        </a:p>
      </dsp:txBody>
      <dsp:txXfrm>
        <a:off x="8843988" y="761999"/>
        <a:ext cx="1659912" cy="14641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302CA-4FB0-4D30-B921-0C3B52266FED}">
      <dsp:nvSpPr>
        <dsp:cNvPr id="0" name=""/>
        <dsp:cNvSpPr/>
      </dsp:nvSpPr>
      <dsp:spPr>
        <a:xfrm>
          <a:off x="1393" y="0"/>
          <a:ext cx="1751012" cy="15120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28016" rIns="0" bIns="68580" numCol="1" spcCol="1270" anchor="t" anchorCtr="0">
          <a:noAutofit/>
        </a:bodyPr>
        <a:lstStyle/>
        <a:p>
          <a:pPr marL="0" lvl="0" indent="0" algn="ctr" defTabSz="800100">
            <a:lnSpc>
              <a:spcPct val="90000"/>
            </a:lnSpc>
            <a:spcBef>
              <a:spcPct val="0"/>
            </a:spcBef>
            <a:spcAft>
              <a:spcPct val="35000"/>
            </a:spcAft>
            <a:buNone/>
          </a:pPr>
          <a:r>
            <a:rPr lang="es-MX" sz="1800" b="1" kern="1200" dirty="0">
              <a:latin typeface="Montserrat" panose="00000500000000000000" pitchFamily="2" charset="0"/>
            </a:rPr>
            <a:t>Línea Recta</a:t>
          </a:r>
        </a:p>
      </dsp:txBody>
      <dsp:txXfrm>
        <a:off x="1393" y="0"/>
        <a:ext cx="1751012" cy="700405"/>
      </dsp:txXfrm>
    </dsp:sp>
    <dsp:sp modelId="{C852476B-6718-4EE1-A4EC-28FD231F9451}">
      <dsp:nvSpPr>
        <dsp:cNvPr id="0" name=""/>
        <dsp:cNvSpPr/>
      </dsp:nvSpPr>
      <dsp:spPr>
        <a:xfrm>
          <a:off x="360034" y="662741"/>
          <a:ext cx="1751012" cy="2228751"/>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Distribución uniforme</a:t>
          </a:r>
          <a:endParaRPr lang="es-MX" sz="1800" kern="1200" dirty="0">
            <a:solidFill>
              <a:schemeClr val="bg1"/>
            </a:solidFill>
            <a:latin typeface="Montserrat" panose="00000500000000000000" pitchFamily="2" charset="0"/>
          </a:endParaRPr>
        </a:p>
      </dsp:txBody>
      <dsp:txXfrm>
        <a:off x="411319" y="714026"/>
        <a:ext cx="1648442" cy="2126181"/>
      </dsp:txXfrm>
    </dsp:sp>
    <dsp:sp modelId="{16BA0945-30CB-40B1-8CE5-0861B14432AD}">
      <dsp:nvSpPr>
        <dsp:cNvPr id="0" name=""/>
        <dsp:cNvSpPr/>
      </dsp:nvSpPr>
      <dsp:spPr>
        <a:xfrm>
          <a:off x="2017853" y="132226"/>
          <a:ext cx="562747" cy="435951"/>
        </a:xfrm>
        <a:prstGeom prst="rightArrow">
          <a:avLst>
            <a:gd name="adj1" fmla="val 60000"/>
            <a:gd name="adj2" fmla="val 50000"/>
          </a:avLst>
        </a:prstGeom>
        <a:solidFill>
          <a:srgbClr val="52796F"/>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Montserrat" panose="00000500000000000000" pitchFamily="2" charset="0"/>
          </a:endParaRPr>
        </a:p>
      </dsp:txBody>
      <dsp:txXfrm>
        <a:off x="2017853" y="219416"/>
        <a:ext cx="431962" cy="261571"/>
      </dsp:txXfrm>
    </dsp:sp>
    <dsp:sp modelId="{764E65B3-371E-4CF1-A28D-A92A37D0B74A}">
      <dsp:nvSpPr>
        <dsp:cNvPr id="0" name=""/>
        <dsp:cNvSpPr/>
      </dsp:nvSpPr>
      <dsp:spPr>
        <a:xfrm>
          <a:off x="2814194" y="0"/>
          <a:ext cx="1751012" cy="15120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28016" rIns="0" bIns="68580" numCol="1" spcCol="1270" anchor="t" anchorCtr="0">
          <a:noAutofit/>
        </a:bodyPr>
        <a:lstStyle/>
        <a:p>
          <a:pPr marL="0" lvl="0" indent="0" algn="ctr" defTabSz="800100">
            <a:lnSpc>
              <a:spcPct val="90000"/>
            </a:lnSpc>
            <a:spcBef>
              <a:spcPct val="0"/>
            </a:spcBef>
            <a:spcAft>
              <a:spcPct val="35000"/>
            </a:spcAft>
            <a:buNone/>
          </a:pPr>
          <a:r>
            <a:rPr lang="es-MX" sz="1800" b="1" kern="1200" dirty="0">
              <a:latin typeface="Montserrat" panose="00000500000000000000" pitchFamily="2" charset="0"/>
            </a:rPr>
            <a:t>Saldo Decreciente</a:t>
          </a:r>
        </a:p>
        <a:p>
          <a:pPr marL="0" lvl="0" indent="0" algn="ctr" defTabSz="800100">
            <a:lnSpc>
              <a:spcPct val="90000"/>
            </a:lnSpc>
            <a:spcBef>
              <a:spcPct val="0"/>
            </a:spcBef>
            <a:spcAft>
              <a:spcPct val="35000"/>
            </a:spcAft>
            <a:buNone/>
          </a:pPr>
          <a:endParaRPr lang="es-MX" sz="1800" b="1" kern="1200" dirty="0">
            <a:latin typeface="Montserrat" panose="00000500000000000000" pitchFamily="2" charset="0"/>
          </a:endParaRPr>
        </a:p>
      </dsp:txBody>
      <dsp:txXfrm>
        <a:off x="2814194" y="0"/>
        <a:ext cx="1751012" cy="700405"/>
      </dsp:txXfrm>
    </dsp:sp>
    <dsp:sp modelId="{4D39FB42-4997-40E6-AE7F-0087AC989840}">
      <dsp:nvSpPr>
        <dsp:cNvPr id="0" name=""/>
        <dsp:cNvSpPr/>
      </dsp:nvSpPr>
      <dsp:spPr>
        <a:xfrm>
          <a:off x="3172835" y="662741"/>
          <a:ext cx="1751012" cy="2228751"/>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128016" rIns="0" bIns="128016" numCol="1" spcCol="1270" anchor="ctr" anchorCtr="0">
          <a:noAutofit/>
        </a:bodyPr>
        <a:lstStyle/>
        <a:p>
          <a:pPr marL="228600" lvl="1" indent="0" algn="l" defTabSz="889000">
            <a:lnSpc>
              <a:spcPct val="90000"/>
            </a:lnSpc>
            <a:spcBef>
              <a:spcPct val="0"/>
            </a:spcBef>
            <a:spcAft>
              <a:spcPct val="15000"/>
            </a:spcAft>
            <a:buNone/>
          </a:pPr>
          <a:r>
            <a:rPr lang="es-ES" sz="1800" kern="1200" dirty="0">
              <a:solidFill>
                <a:schemeClr val="bg1"/>
              </a:solidFill>
              <a:latin typeface="Montserrat" panose="00000500000000000000" pitchFamily="2" charset="0"/>
              <a:ea typeface="+mn-ea"/>
              <a:cs typeface="+mn-cs"/>
            </a:rPr>
            <a:t>Porcentaje fijo al valor en libros.</a:t>
          </a:r>
          <a:endParaRPr lang="es-MX" sz="1800" kern="1200" dirty="0">
            <a:solidFill>
              <a:schemeClr val="bg1"/>
            </a:solidFill>
            <a:latin typeface="Montserrat" panose="00000500000000000000" pitchFamily="2" charset="0"/>
            <a:ea typeface="+mn-ea"/>
            <a:cs typeface="+mn-cs"/>
          </a:endParaRPr>
        </a:p>
      </dsp:txBody>
      <dsp:txXfrm>
        <a:off x="3224120" y="714026"/>
        <a:ext cx="1648442" cy="2126181"/>
      </dsp:txXfrm>
    </dsp:sp>
    <dsp:sp modelId="{8DE0E36B-AA75-4EC8-9E89-2FC783A2EA94}">
      <dsp:nvSpPr>
        <dsp:cNvPr id="0" name=""/>
        <dsp:cNvSpPr/>
      </dsp:nvSpPr>
      <dsp:spPr>
        <a:xfrm>
          <a:off x="4830654" y="132226"/>
          <a:ext cx="562747" cy="435951"/>
        </a:xfrm>
        <a:prstGeom prst="rightArrow">
          <a:avLst>
            <a:gd name="adj1" fmla="val 60000"/>
            <a:gd name="adj2" fmla="val 50000"/>
          </a:avLst>
        </a:prstGeom>
        <a:solidFill>
          <a:srgbClr val="52796F"/>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Montserrat" panose="00000500000000000000" pitchFamily="2" charset="0"/>
          </a:endParaRPr>
        </a:p>
      </dsp:txBody>
      <dsp:txXfrm>
        <a:off x="4830654" y="219416"/>
        <a:ext cx="431962" cy="261571"/>
      </dsp:txXfrm>
    </dsp:sp>
    <dsp:sp modelId="{38ED9F29-343A-4870-9CE2-7986157AC933}">
      <dsp:nvSpPr>
        <dsp:cNvPr id="0" name=""/>
        <dsp:cNvSpPr/>
      </dsp:nvSpPr>
      <dsp:spPr>
        <a:xfrm>
          <a:off x="5626995" y="0"/>
          <a:ext cx="1751012" cy="15120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28016" rIns="0" bIns="68580" numCol="1" spcCol="1270" anchor="t" anchorCtr="0">
          <a:noAutofit/>
        </a:bodyPr>
        <a:lstStyle/>
        <a:p>
          <a:pPr marL="0" lvl="0" indent="0" algn="ctr" defTabSz="800100">
            <a:lnSpc>
              <a:spcPct val="90000"/>
            </a:lnSpc>
            <a:spcBef>
              <a:spcPct val="0"/>
            </a:spcBef>
            <a:spcAft>
              <a:spcPct val="35000"/>
            </a:spcAft>
            <a:buNone/>
          </a:pPr>
          <a:r>
            <a:rPr lang="es-MX" sz="1800" b="1" kern="1200" dirty="0">
              <a:latin typeface="Montserrat" panose="00000500000000000000" pitchFamily="2" charset="0"/>
            </a:rPr>
            <a:t>Unidades de Producción</a:t>
          </a:r>
        </a:p>
        <a:p>
          <a:pPr marL="0" lvl="0" indent="0" algn="ctr" defTabSz="800100">
            <a:lnSpc>
              <a:spcPct val="90000"/>
            </a:lnSpc>
            <a:spcBef>
              <a:spcPct val="0"/>
            </a:spcBef>
            <a:spcAft>
              <a:spcPct val="35000"/>
            </a:spcAft>
            <a:buNone/>
          </a:pPr>
          <a:endParaRPr lang="es-MX" sz="1800" b="1" kern="1200" dirty="0">
            <a:latin typeface="Montserrat" panose="00000500000000000000" pitchFamily="2" charset="0"/>
          </a:endParaRPr>
        </a:p>
      </dsp:txBody>
      <dsp:txXfrm>
        <a:off x="5626995" y="0"/>
        <a:ext cx="1751012" cy="700405"/>
      </dsp:txXfrm>
    </dsp:sp>
    <dsp:sp modelId="{B6585EE3-555A-4E6E-A320-A638E23C49A9}">
      <dsp:nvSpPr>
        <dsp:cNvPr id="0" name=""/>
        <dsp:cNvSpPr/>
      </dsp:nvSpPr>
      <dsp:spPr>
        <a:xfrm>
          <a:off x="5985636" y="662741"/>
          <a:ext cx="1751012" cy="2228751"/>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1" indent="0" algn="ctr" defTabSz="800100">
            <a:lnSpc>
              <a:spcPct val="90000"/>
            </a:lnSpc>
            <a:spcBef>
              <a:spcPct val="0"/>
            </a:spcBef>
            <a:spcAft>
              <a:spcPct val="15000"/>
            </a:spcAft>
            <a:buNone/>
          </a:pPr>
          <a:r>
            <a:rPr lang="es-MX" sz="1800" kern="1200" dirty="0">
              <a:solidFill>
                <a:schemeClr val="bg1"/>
              </a:solidFill>
              <a:latin typeface="Montserrat" panose="00000500000000000000" pitchFamily="2" charset="0"/>
            </a:rPr>
            <a:t>Uso real del activo (horas, unidades).</a:t>
          </a:r>
          <a:endParaRPr lang="es-MX" sz="1800" b="1" kern="1200" dirty="0">
            <a:solidFill>
              <a:schemeClr val="bg1"/>
            </a:solidFill>
            <a:latin typeface="Montserrat" panose="00000500000000000000" pitchFamily="2" charset="0"/>
          </a:endParaRPr>
        </a:p>
      </dsp:txBody>
      <dsp:txXfrm>
        <a:off x="6036921" y="714026"/>
        <a:ext cx="1648442" cy="2126181"/>
      </dsp:txXfrm>
    </dsp:sp>
    <dsp:sp modelId="{99BB7DBB-13F3-4FCD-8690-0725DCAC0BFE}">
      <dsp:nvSpPr>
        <dsp:cNvPr id="0" name=""/>
        <dsp:cNvSpPr/>
      </dsp:nvSpPr>
      <dsp:spPr>
        <a:xfrm>
          <a:off x="7643455" y="132226"/>
          <a:ext cx="562747" cy="435951"/>
        </a:xfrm>
        <a:prstGeom prst="rightArrow">
          <a:avLst>
            <a:gd name="adj1" fmla="val 60000"/>
            <a:gd name="adj2" fmla="val 50000"/>
          </a:avLst>
        </a:prstGeom>
        <a:solidFill>
          <a:srgbClr val="52796F"/>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latin typeface="Montserrat" panose="00000500000000000000" pitchFamily="2" charset="0"/>
          </a:endParaRPr>
        </a:p>
      </dsp:txBody>
      <dsp:txXfrm>
        <a:off x="7643455" y="219416"/>
        <a:ext cx="431962" cy="261571"/>
      </dsp:txXfrm>
    </dsp:sp>
    <dsp:sp modelId="{85DD1499-C5C0-4A3C-8A2D-123FF1653DA2}">
      <dsp:nvSpPr>
        <dsp:cNvPr id="0" name=""/>
        <dsp:cNvSpPr/>
      </dsp:nvSpPr>
      <dsp:spPr>
        <a:xfrm>
          <a:off x="8439796" y="0"/>
          <a:ext cx="1751012" cy="151200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128016" rIns="0" bIns="68580" numCol="1" spcCol="1270" anchor="t" anchorCtr="0">
          <a:noAutofit/>
        </a:bodyPr>
        <a:lstStyle/>
        <a:p>
          <a:pPr marL="0" lvl="0" indent="0" algn="ctr" defTabSz="800100">
            <a:lnSpc>
              <a:spcPct val="90000"/>
            </a:lnSpc>
            <a:spcBef>
              <a:spcPct val="0"/>
            </a:spcBef>
            <a:spcAft>
              <a:spcPct val="35000"/>
            </a:spcAft>
            <a:buNone/>
          </a:pPr>
          <a:r>
            <a:rPr lang="es-ES" sz="1800" b="1" kern="1200" dirty="0">
              <a:latin typeface="Montserrat" panose="00000500000000000000" pitchFamily="2" charset="0"/>
            </a:rPr>
            <a:t>Acelerada</a:t>
          </a:r>
          <a:endParaRPr lang="es-MX" sz="1800" b="1" kern="1200" dirty="0">
            <a:latin typeface="Montserrat" panose="00000500000000000000" pitchFamily="2" charset="0"/>
          </a:endParaRPr>
        </a:p>
      </dsp:txBody>
      <dsp:txXfrm>
        <a:off x="8439796" y="0"/>
        <a:ext cx="1751012" cy="700405"/>
      </dsp:txXfrm>
    </dsp:sp>
    <dsp:sp modelId="{243062EE-328D-4412-BEE3-E04FD3AC3A87}">
      <dsp:nvSpPr>
        <dsp:cNvPr id="0" name=""/>
        <dsp:cNvSpPr/>
      </dsp:nvSpPr>
      <dsp:spPr>
        <a:xfrm>
          <a:off x="8798438" y="662741"/>
          <a:ext cx="1751012" cy="2228751"/>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128016" rIns="0" bIns="128016" numCol="1" spcCol="1270" anchor="ctr" anchorCtr="0">
          <a:noAutofit/>
        </a:bodyPr>
        <a:lstStyle/>
        <a:p>
          <a:pPr marL="0" lvl="1" indent="0" algn="ctr" defTabSz="889000">
            <a:lnSpc>
              <a:spcPct val="90000"/>
            </a:lnSpc>
            <a:spcBef>
              <a:spcPct val="0"/>
            </a:spcBef>
            <a:spcAft>
              <a:spcPct val="15000"/>
            </a:spcAft>
            <a:buFont typeface="Arial" panose="020B0604020202020204" pitchFamily="34" charset="0"/>
            <a:buNone/>
          </a:pPr>
          <a:r>
            <a:rPr lang="es-ES" sz="1800" kern="1200" dirty="0">
              <a:solidFill>
                <a:schemeClr val="bg1"/>
              </a:solidFill>
              <a:latin typeface="Montserrat" panose="00000500000000000000" pitchFamily="2" charset="0"/>
              <a:ea typeface="+mn-ea"/>
              <a:cs typeface="+mn-cs"/>
            </a:rPr>
            <a:t>Mayor depreciación en los primeros años.</a:t>
          </a:r>
          <a:endParaRPr lang="es-MX" sz="1800" kern="1200" dirty="0">
            <a:solidFill>
              <a:schemeClr val="bg1"/>
            </a:solidFill>
            <a:latin typeface="Montserrat" panose="00000500000000000000" pitchFamily="2" charset="0"/>
            <a:ea typeface="+mn-ea"/>
            <a:cs typeface="+mn-cs"/>
          </a:endParaRPr>
        </a:p>
      </dsp:txBody>
      <dsp:txXfrm>
        <a:off x="8849723" y="714026"/>
        <a:ext cx="1648442" cy="21261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2463B-4F20-4395-A987-F1934E289B9D}">
      <dsp:nvSpPr>
        <dsp:cNvPr id="0" name=""/>
        <dsp:cNvSpPr/>
      </dsp:nvSpPr>
      <dsp:spPr>
        <a:xfrm>
          <a:off x="1006049" y="0"/>
          <a:ext cx="4430597" cy="1772239"/>
        </a:xfrm>
        <a:prstGeom prst="leftRightRibbon">
          <a:avLst/>
        </a:prstGeom>
        <a:solidFill>
          <a:srgbClr val="2F3E46"/>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bevelB/>
        </a:sp3d>
      </dsp:spPr>
      <dsp:style>
        <a:lnRef idx="2">
          <a:scrgbClr r="0" g="0" b="0"/>
        </a:lnRef>
        <a:fillRef idx="1">
          <a:scrgbClr r="0" g="0" b="0"/>
        </a:fillRef>
        <a:effectRef idx="0">
          <a:scrgbClr r="0" g="0" b="0"/>
        </a:effectRef>
        <a:fontRef idx="minor">
          <a:schemeClr val="lt1"/>
        </a:fontRef>
      </dsp:style>
    </dsp:sp>
    <dsp:sp modelId="{6A64AEDB-713C-40AD-81B2-2588C154346F}">
      <dsp:nvSpPr>
        <dsp:cNvPr id="0" name=""/>
        <dsp:cNvSpPr/>
      </dsp:nvSpPr>
      <dsp:spPr>
        <a:xfrm>
          <a:off x="1537721" y="310141"/>
          <a:ext cx="1462097" cy="86839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a:lnSpc>
              <a:spcPct val="90000"/>
            </a:lnSpc>
            <a:spcBef>
              <a:spcPct val="0"/>
            </a:spcBef>
            <a:spcAft>
              <a:spcPct val="35000"/>
            </a:spcAft>
            <a:buNone/>
          </a:pPr>
          <a:r>
            <a:rPr lang="es-ES" sz="3300" kern="1200" dirty="0"/>
            <a:t>Directos</a:t>
          </a:r>
          <a:endParaRPr lang="es-MX" sz="3300" kern="1200" dirty="0"/>
        </a:p>
      </dsp:txBody>
      <dsp:txXfrm>
        <a:off x="1537721" y="310141"/>
        <a:ext cx="1462097" cy="868397"/>
      </dsp:txXfrm>
    </dsp:sp>
    <dsp:sp modelId="{B149BBB3-1ADB-4B26-AB41-C0077DB820BA}">
      <dsp:nvSpPr>
        <dsp:cNvPr id="0" name=""/>
        <dsp:cNvSpPr/>
      </dsp:nvSpPr>
      <dsp:spPr>
        <a:xfrm>
          <a:off x="3221348" y="593700"/>
          <a:ext cx="1727933" cy="86839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marL="0" lvl="0" indent="0" algn="ctr" defTabSz="1466850">
            <a:lnSpc>
              <a:spcPct val="90000"/>
            </a:lnSpc>
            <a:spcBef>
              <a:spcPct val="0"/>
            </a:spcBef>
            <a:spcAft>
              <a:spcPct val="35000"/>
            </a:spcAft>
            <a:buNone/>
          </a:pPr>
          <a:r>
            <a:rPr lang="es-ES" sz="3300" kern="1200" dirty="0"/>
            <a:t>Indirectos</a:t>
          </a:r>
          <a:endParaRPr lang="es-MX" sz="3300" kern="1200" dirty="0"/>
        </a:p>
      </dsp:txBody>
      <dsp:txXfrm>
        <a:off x="3221348" y="593700"/>
        <a:ext cx="1727933" cy="8683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E8E32-7F75-47FE-9A3A-001BF25C5D03}">
      <dsp:nvSpPr>
        <dsp:cNvPr id="0" name=""/>
        <dsp:cNvSpPr/>
      </dsp:nvSpPr>
      <dsp:spPr>
        <a:xfrm>
          <a:off x="2658440" y="1348017"/>
          <a:ext cx="3224326" cy="3224326"/>
        </a:xfrm>
        <a:prstGeom prst="ellipse">
          <a:avLst/>
        </a:prstGeom>
        <a:blipFill rotWithShape="0">
          <a:blip xmlns:r="http://schemas.openxmlformats.org/officeDocument/2006/relationships" r:embed="rId1"/>
          <a:srcRect/>
          <a:stretch>
            <a:fillRect l="-33000" r="-33000"/>
          </a:stretch>
        </a:blip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2667000">
            <a:lnSpc>
              <a:spcPct val="90000"/>
            </a:lnSpc>
            <a:spcBef>
              <a:spcPct val="0"/>
            </a:spcBef>
            <a:spcAft>
              <a:spcPct val="35000"/>
            </a:spcAft>
            <a:buNone/>
          </a:pPr>
          <a:endParaRPr lang="es-MX" sz="6000" kern="1200" dirty="0">
            <a:noFill/>
            <a:latin typeface="Montserrat" panose="00000500000000000000" pitchFamily="2" charset="0"/>
          </a:endParaRPr>
        </a:p>
      </dsp:txBody>
      <dsp:txXfrm>
        <a:off x="3130632" y="1820209"/>
        <a:ext cx="2279942" cy="2279942"/>
      </dsp:txXfrm>
    </dsp:sp>
    <dsp:sp modelId="{08DFB4B4-0A38-4467-A04A-20FD354DF55F}">
      <dsp:nvSpPr>
        <dsp:cNvPr id="0" name=""/>
        <dsp:cNvSpPr/>
      </dsp:nvSpPr>
      <dsp:spPr>
        <a:xfrm>
          <a:off x="3464522" y="53136"/>
          <a:ext cx="1612163" cy="1612163"/>
        </a:xfrm>
        <a:prstGeom prst="ellipse">
          <a:avLst/>
        </a:prstGeom>
        <a:solidFill>
          <a:srgbClr val="84A98C"/>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bg1"/>
              </a:solidFill>
              <a:latin typeface="Montserrat" panose="00000500000000000000" pitchFamily="2" charset="0"/>
            </a:rPr>
            <a:t>Sobre la Renta</a:t>
          </a:r>
          <a:endParaRPr lang="es-MX" sz="1800" b="1" kern="1200" dirty="0">
            <a:solidFill>
              <a:schemeClr val="bg1"/>
            </a:solidFill>
            <a:latin typeface="Montserrat" panose="00000500000000000000" pitchFamily="2" charset="0"/>
          </a:endParaRPr>
        </a:p>
      </dsp:txBody>
      <dsp:txXfrm>
        <a:off x="3700618" y="289232"/>
        <a:ext cx="1139971" cy="1139971"/>
      </dsp:txXfrm>
    </dsp:sp>
    <dsp:sp modelId="{EEF43DB9-0AE2-40B3-974E-CD4E815DBE8F}">
      <dsp:nvSpPr>
        <dsp:cNvPr id="0" name=""/>
        <dsp:cNvSpPr/>
      </dsp:nvSpPr>
      <dsp:spPr>
        <a:xfrm>
          <a:off x="5107121" y="844170"/>
          <a:ext cx="1612163" cy="1612163"/>
        </a:xfrm>
        <a:prstGeom prst="ellipse">
          <a:avLst/>
        </a:prstGeom>
        <a:solidFill>
          <a:srgbClr val="2F3E46"/>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bg1"/>
              </a:solidFill>
              <a:latin typeface="Montserrat" panose="00000500000000000000" pitchFamily="2" charset="0"/>
            </a:rPr>
            <a:t>IVA</a:t>
          </a:r>
          <a:endParaRPr lang="es-MX" sz="1800" b="1" kern="1200" dirty="0">
            <a:solidFill>
              <a:schemeClr val="bg1"/>
            </a:solidFill>
            <a:latin typeface="Montserrat" panose="00000500000000000000" pitchFamily="2" charset="0"/>
          </a:endParaRPr>
        </a:p>
      </dsp:txBody>
      <dsp:txXfrm>
        <a:off x="5343217" y="1080266"/>
        <a:ext cx="1139971" cy="1139971"/>
      </dsp:txXfrm>
    </dsp:sp>
    <dsp:sp modelId="{0E8B2CA0-FF76-4C6E-85C9-CC9A3C0ACEE2}">
      <dsp:nvSpPr>
        <dsp:cNvPr id="0" name=""/>
        <dsp:cNvSpPr/>
      </dsp:nvSpPr>
      <dsp:spPr>
        <a:xfrm>
          <a:off x="5512809" y="2621607"/>
          <a:ext cx="1612163" cy="1612163"/>
        </a:xfrm>
        <a:prstGeom prst="ellipse">
          <a:avLst/>
        </a:prstGeom>
        <a:solidFill>
          <a:srgbClr val="354F52"/>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bg1"/>
              </a:solidFill>
              <a:latin typeface="Montserrat" panose="00000500000000000000" pitchFamily="2" charset="0"/>
            </a:rPr>
            <a:t>Jurídicas</a:t>
          </a:r>
          <a:endParaRPr lang="es-MX" sz="1800" b="1" kern="1200" dirty="0">
            <a:solidFill>
              <a:schemeClr val="bg1"/>
            </a:solidFill>
            <a:latin typeface="Montserrat" panose="00000500000000000000" pitchFamily="2" charset="0"/>
          </a:endParaRPr>
        </a:p>
      </dsp:txBody>
      <dsp:txXfrm>
        <a:off x="5748905" y="2857703"/>
        <a:ext cx="1139971" cy="1139971"/>
      </dsp:txXfrm>
    </dsp:sp>
    <dsp:sp modelId="{904120DD-66DA-4B0B-BE27-A29B4EF53F77}">
      <dsp:nvSpPr>
        <dsp:cNvPr id="0" name=""/>
        <dsp:cNvSpPr/>
      </dsp:nvSpPr>
      <dsp:spPr>
        <a:xfrm>
          <a:off x="4376095" y="4047001"/>
          <a:ext cx="1612163" cy="1612163"/>
        </a:xfrm>
        <a:prstGeom prst="ellipse">
          <a:avLst/>
        </a:prstGeom>
        <a:solidFill>
          <a:srgbClr val="52796F"/>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endParaRPr lang="es-MX" sz="1800" b="1" kern="1200" dirty="0">
            <a:solidFill>
              <a:schemeClr val="bg1"/>
            </a:solidFill>
            <a:latin typeface="Montserrat" panose="00000500000000000000" pitchFamily="2" charset="0"/>
          </a:endParaRPr>
        </a:p>
      </dsp:txBody>
      <dsp:txXfrm>
        <a:off x="4612191" y="4283097"/>
        <a:ext cx="1139971" cy="1139971"/>
      </dsp:txXfrm>
    </dsp:sp>
    <dsp:sp modelId="{BE4407CC-76C6-4399-A9DD-F4817B900E61}">
      <dsp:nvSpPr>
        <dsp:cNvPr id="0" name=""/>
        <dsp:cNvSpPr/>
      </dsp:nvSpPr>
      <dsp:spPr>
        <a:xfrm>
          <a:off x="2552948" y="4047001"/>
          <a:ext cx="1612163" cy="1612163"/>
        </a:xfrm>
        <a:prstGeom prst="ellipse">
          <a:avLst/>
        </a:prstGeom>
        <a:solidFill>
          <a:srgbClr val="52796F"/>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bg1"/>
              </a:solidFill>
              <a:latin typeface="Montserrat" panose="00000500000000000000" pitchFamily="2" charset="0"/>
            </a:rPr>
            <a:t>Herencia</a:t>
          </a:r>
          <a:endParaRPr lang="es-MX" sz="1800" b="1" kern="1200" dirty="0">
            <a:solidFill>
              <a:schemeClr val="bg1"/>
            </a:solidFill>
            <a:latin typeface="Montserrat" panose="00000500000000000000" pitchFamily="2" charset="0"/>
          </a:endParaRPr>
        </a:p>
      </dsp:txBody>
      <dsp:txXfrm>
        <a:off x="2789044" y="4283097"/>
        <a:ext cx="1139971" cy="1139971"/>
      </dsp:txXfrm>
    </dsp:sp>
    <dsp:sp modelId="{03701428-F08F-4A5E-B71B-F6EFB8AB0872}">
      <dsp:nvSpPr>
        <dsp:cNvPr id="0" name=""/>
        <dsp:cNvSpPr/>
      </dsp:nvSpPr>
      <dsp:spPr>
        <a:xfrm>
          <a:off x="1416235" y="2621607"/>
          <a:ext cx="1612163" cy="1612163"/>
        </a:xfrm>
        <a:prstGeom prst="ellipse">
          <a:avLst/>
        </a:prstGeom>
        <a:solidFill>
          <a:srgbClr val="354F52"/>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0" tIns="22860" rIns="0" bIns="22860" numCol="1" spcCol="1270" anchor="ctr" anchorCtr="0">
          <a:noAutofit/>
        </a:bodyPr>
        <a:lstStyle/>
        <a:p>
          <a:pPr marL="0" lvl="0" indent="0" algn="ctr" defTabSz="800100">
            <a:lnSpc>
              <a:spcPct val="90000"/>
            </a:lnSpc>
            <a:spcBef>
              <a:spcPct val="0"/>
            </a:spcBef>
            <a:spcAft>
              <a:spcPct val="35000"/>
            </a:spcAft>
            <a:buNone/>
          </a:pPr>
          <a:endParaRPr lang="es-MX" sz="1800" b="1" kern="1200" dirty="0">
            <a:solidFill>
              <a:schemeClr val="bg1"/>
            </a:solidFill>
            <a:latin typeface="Montserrat" panose="00000500000000000000" pitchFamily="2" charset="0"/>
          </a:endParaRPr>
        </a:p>
      </dsp:txBody>
      <dsp:txXfrm>
        <a:off x="1652331" y="2857703"/>
        <a:ext cx="1139971" cy="1139971"/>
      </dsp:txXfrm>
    </dsp:sp>
    <dsp:sp modelId="{06680110-CA7E-413E-A026-FC2130FDC44E}">
      <dsp:nvSpPr>
        <dsp:cNvPr id="0" name=""/>
        <dsp:cNvSpPr/>
      </dsp:nvSpPr>
      <dsp:spPr>
        <a:xfrm>
          <a:off x="1821923" y="844170"/>
          <a:ext cx="1612163" cy="1612163"/>
        </a:xfrm>
        <a:prstGeom prst="ellipse">
          <a:avLst/>
        </a:prstGeom>
        <a:solidFill>
          <a:srgbClr val="2F3E46"/>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bg1"/>
              </a:solidFill>
              <a:latin typeface="Montserrat" panose="00000500000000000000" pitchFamily="2" charset="0"/>
            </a:rPr>
            <a:t>Seguro Social</a:t>
          </a:r>
          <a:endParaRPr lang="es-MX" sz="1800" b="1" kern="1200" dirty="0">
            <a:solidFill>
              <a:schemeClr val="bg1"/>
            </a:solidFill>
            <a:latin typeface="Montserrat" panose="00000500000000000000" pitchFamily="2" charset="0"/>
          </a:endParaRPr>
        </a:p>
      </dsp:txBody>
      <dsp:txXfrm>
        <a:off x="2058019" y="1080266"/>
        <a:ext cx="1139971" cy="113997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DCA6F-3CE1-4613-8844-AC794B9A66C6}">
      <dsp:nvSpPr>
        <dsp:cNvPr id="0" name=""/>
        <dsp:cNvSpPr/>
      </dsp:nvSpPr>
      <dsp:spPr>
        <a:xfrm rot="5400000">
          <a:off x="147097" y="2191680"/>
          <a:ext cx="1098681" cy="1389555"/>
        </a:xfrm>
        <a:prstGeom prst="corner">
          <a:avLst>
            <a:gd name="adj1" fmla="val 16120"/>
            <a:gd name="adj2" fmla="val 16110"/>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A4DD46EC-6DBA-4793-9209-D267436BA805}">
      <dsp:nvSpPr>
        <dsp:cNvPr id="0" name=""/>
        <dsp:cNvSpPr/>
      </dsp:nvSpPr>
      <dsp:spPr>
        <a:xfrm>
          <a:off x="139502" y="2606858"/>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Planificación financiera</a:t>
          </a:r>
          <a:endParaRPr lang="es-MX" sz="1300" b="1" kern="1200" dirty="0">
            <a:solidFill>
              <a:srgbClr val="131D3F"/>
            </a:solidFill>
            <a:latin typeface="Montserrat" panose="00000500000000000000" pitchFamily="2" charset="0"/>
          </a:endParaRPr>
        </a:p>
      </dsp:txBody>
      <dsp:txXfrm>
        <a:off x="139502" y="2606858"/>
        <a:ext cx="1254498" cy="1099641"/>
      </dsp:txXfrm>
    </dsp:sp>
    <dsp:sp modelId="{56FD0E3D-E9FE-4B8D-AB69-7C9A807D573C}">
      <dsp:nvSpPr>
        <dsp:cNvPr id="0" name=""/>
        <dsp:cNvSpPr/>
      </dsp:nvSpPr>
      <dsp:spPr>
        <a:xfrm>
          <a:off x="1157302" y="2089379"/>
          <a:ext cx="236697" cy="236697"/>
        </a:xfrm>
        <a:prstGeom prst="triangle">
          <a:avLst>
            <a:gd name="adj" fmla="val 10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42A5B2E-5B09-4BB6-97F7-D82FC6308E76}">
      <dsp:nvSpPr>
        <dsp:cNvPr id="0" name=""/>
        <dsp:cNvSpPr/>
      </dsp:nvSpPr>
      <dsp:spPr>
        <a:xfrm rot="5400000">
          <a:off x="1682847" y="1811657"/>
          <a:ext cx="1098681" cy="1389555"/>
        </a:xfrm>
        <a:prstGeom prst="corner">
          <a:avLst>
            <a:gd name="adj1" fmla="val 16120"/>
            <a:gd name="adj2" fmla="val 16110"/>
          </a:avLst>
        </a:prstGeom>
        <a:solidFill>
          <a:srgbClr val="354F52"/>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D59BF341-E979-4D0E-8889-0C0947DA589D}">
      <dsp:nvSpPr>
        <dsp:cNvPr id="0" name=""/>
        <dsp:cNvSpPr/>
      </dsp:nvSpPr>
      <dsp:spPr>
        <a:xfrm>
          <a:off x="1675253" y="2226835"/>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Gestión del tiempo</a:t>
          </a:r>
          <a:endParaRPr lang="es-MX" sz="1300" b="1" kern="1200" dirty="0">
            <a:solidFill>
              <a:srgbClr val="131D3F"/>
            </a:solidFill>
            <a:latin typeface="Montserrat" panose="00000500000000000000" pitchFamily="2" charset="0"/>
          </a:endParaRPr>
        </a:p>
      </dsp:txBody>
      <dsp:txXfrm>
        <a:off x="1675253" y="2226835"/>
        <a:ext cx="1254498" cy="1099641"/>
      </dsp:txXfrm>
    </dsp:sp>
    <dsp:sp modelId="{5955598A-9B84-401C-8F1A-102FBD8654A1}">
      <dsp:nvSpPr>
        <dsp:cNvPr id="0" name=""/>
        <dsp:cNvSpPr/>
      </dsp:nvSpPr>
      <dsp:spPr>
        <a:xfrm>
          <a:off x="2693053" y="1709356"/>
          <a:ext cx="236697" cy="236697"/>
        </a:xfrm>
        <a:prstGeom prst="triangle">
          <a:avLst>
            <a:gd name="adj" fmla="val 10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9F3CE01-8DD0-4E0E-85BE-7BB25AAC0154}">
      <dsp:nvSpPr>
        <dsp:cNvPr id="0" name=""/>
        <dsp:cNvSpPr/>
      </dsp:nvSpPr>
      <dsp:spPr>
        <a:xfrm rot="5400000">
          <a:off x="3218598" y="1431634"/>
          <a:ext cx="1098681" cy="1389555"/>
        </a:xfrm>
        <a:prstGeom prst="corner">
          <a:avLst>
            <a:gd name="adj1" fmla="val 16120"/>
            <a:gd name="adj2" fmla="val 16110"/>
          </a:avLst>
        </a:prstGeom>
        <a:solidFill>
          <a:srgbClr val="52796F"/>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993FD98F-2BC7-4733-824C-69D77D2B1B23}">
      <dsp:nvSpPr>
        <dsp:cNvPr id="0" name=""/>
        <dsp:cNvSpPr/>
      </dsp:nvSpPr>
      <dsp:spPr>
        <a:xfrm>
          <a:off x="3211003" y="1846811"/>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Optimización de recursos</a:t>
          </a:r>
          <a:endParaRPr lang="es-MX" sz="1300" b="1" kern="1200" dirty="0">
            <a:solidFill>
              <a:srgbClr val="131D3F"/>
            </a:solidFill>
            <a:latin typeface="Montserrat" panose="00000500000000000000" pitchFamily="2" charset="0"/>
          </a:endParaRPr>
        </a:p>
      </dsp:txBody>
      <dsp:txXfrm>
        <a:off x="3211003" y="1846811"/>
        <a:ext cx="1254498" cy="1099641"/>
      </dsp:txXfrm>
    </dsp:sp>
    <dsp:sp modelId="{BAFB5D97-9C78-419C-8115-BD4E5D93185E}">
      <dsp:nvSpPr>
        <dsp:cNvPr id="0" name=""/>
        <dsp:cNvSpPr/>
      </dsp:nvSpPr>
      <dsp:spPr>
        <a:xfrm>
          <a:off x="4228804" y="1329333"/>
          <a:ext cx="236697" cy="236697"/>
        </a:xfrm>
        <a:prstGeom prst="triangle">
          <a:avLst>
            <a:gd name="adj" fmla="val 10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08A84858-872A-48C3-881F-A0986D5E1AB4}">
      <dsp:nvSpPr>
        <dsp:cNvPr id="0" name=""/>
        <dsp:cNvSpPr/>
      </dsp:nvSpPr>
      <dsp:spPr>
        <a:xfrm rot="5400000">
          <a:off x="4754349" y="1051611"/>
          <a:ext cx="1098681" cy="1389555"/>
        </a:xfrm>
        <a:prstGeom prst="corner">
          <a:avLst>
            <a:gd name="adj1" fmla="val 16120"/>
            <a:gd name="adj2" fmla="val 16110"/>
          </a:avLst>
        </a:prstGeom>
        <a:solidFill>
          <a:srgbClr val="84A98C"/>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7FF1AFA7-8E32-441A-8D38-4DA057D08B9B}">
      <dsp:nvSpPr>
        <dsp:cNvPr id="0" name=""/>
        <dsp:cNvSpPr/>
      </dsp:nvSpPr>
      <dsp:spPr>
        <a:xfrm>
          <a:off x="4746754" y="1466788"/>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Herramientas y tecnología</a:t>
          </a:r>
          <a:endParaRPr lang="es-MX" sz="1300" b="1" kern="1200" dirty="0">
            <a:solidFill>
              <a:srgbClr val="131D3F"/>
            </a:solidFill>
            <a:latin typeface="Montserrat" panose="00000500000000000000" pitchFamily="2" charset="0"/>
          </a:endParaRPr>
        </a:p>
      </dsp:txBody>
      <dsp:txXfrm>
        <a:off x="4746754" y="1466788"/>
        <a:ext cx="1254498" cy="1099641"/>
      </dsp:txXfrm>
    </dsp:sp>
    <dsp:sp modelId="{61EBD819-D40D-4781-8646-B03CCAC771E9}">
      <dsp:nvSpPr>
        <dsp:cNvPr id="0" name=""/>
        <dsp:cNvSpPr/>
      </dsp:nvSpPr>
      <dsp:spPr>
        <a:xfrm>
          <a:off x="5764555" y="949310"/>
          <a:ext cx="236697" cy="236697"/>
        </a:xfrm>
        <a:prstGeom prst="triangle">
          <a:avLst>
            <a:gd name="adj" fmla="val 10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4DEDB585-6166-492D-982B-BC326BFE086B}">
      <dsp:nvSpPr>
        <dsp:cNvPr id="0" name=""/>
        <dsp:cNvSpPr/>
      </dsp:nvSpPr>
      <dsp:spPr>
        <a:xfrm rot="5400000">
          <a:off x="6290100" y="671588"/>
          <a:ext cx="1098681" cy="1389555"/>
        </a:xfrm>
        <a:prstGeom prst="corner">
          <a:avLst>
            <a:gd name="adj1" fmla="val 16120"/>
            <a:gd name="adj2" fmla="val 16110"/>
          </a:avLst>
        </a:prstGeom>
        <a:solidFill>
          <a:srgbClr val="52796F"/>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0D66743-9A54-475C-A9F2-BD69759F8007}">
      <dsp:nvSpPr>
        <dsp:cNvPr id="0" name=""/>
        <dsp:cNvSpPr/>
      </dsp:nvSpPr>
      <dsp:spPr>
        <a:xfrm>
          <a:off x="6282505" y="1086765"/>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Educación Financiera</a:t>
          </a:r>
          <a:endParaRPr lang="es-MX" sz="1300" b="1" kern="1200" dirty="0">
            <a:solidFill>
              <a:srgbClr val="131D3F"/>
            </a:solidFill>
            <a:latin typeface="Montserrat" panose="00000500000000000000" pitchFamily="2" charset="0"/>
          </a:endParaRPr>
        </a:p>
      </dsp:txBody>
      <dsp:txXfrm>
        <a:off x="6282505" y="1086765"/>
        <a:ext cx="1254498" cy="1099641"/>
      </dsp:txXfrm>
    </dsp:sp>
    <dsp:sp modelId="{8A4A2425-6557-4F75-8281-5C6F8F6DA59F}">
      <dsp:nvSpPr>
        <dsp:cNvPr id="0" name=""/>
        <dsp:cNvSpPr/>
      </dsp:nvSpPr>
      <dsp:spPr>
        <a:xfrm>
          <a:off x="7300306" y="569287"/>
          <a:ext cx="236697" cy="236697"/>
        </a:xfrm>
        <a:prstGeom prst="triangle">
          <a:avLst>
            <a:gd name="adj" fmla="val 10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B4A303C5-E1A3-4AF4-A343-FB4FDCB237EA}">
      <dsp:nvSpPr>
        <dsp:cNvPr id="0" name=""/>
        <dsp:cNvSpPr/>
      </dsp:nvSpPr>
      <dsp:spPr>
        <a:xfrm rot="5400000">
          <a:off x="7825851" y="291565"/>
          <a:ext cx="1098681" cy="1389555"/>
        </a:xfrm>
        <a:prstGeom prst="corner">
          <a:avLst>
            <a:gd name="adj1" fmla="val 16120"/>
            <a:gd name="adj2" fmla="val 16110"/>
          </a:avLst>
        </a:prstGeom>
        <a:solidFill>
          <a:srgbClr val="354F52"/>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A9BCC5D8-5A68-4F31-9EFB-4DCECCF53E8F}">
      <dsp:nvSpPr>
        <dsp:cNvPr id="0" name=""/>
        <dsp:cNvSpPr/>
      </dsp:nvSpPr>
      <dsp:spPr>
        <a:xfrm>
          <a:off x="7818256" y="706742"/>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Optimización de costos</a:t>
          </a:r>
          <a:endParaRPr lang="es-MX" sz="1300" b="1" kern="1200" dirty="0">
            <a:solidFill>
              <a:srgbClr val="131D3F"/>
            </a:solidFill>
            <a:latin typeface="Montserrat" panose="00000500000000000000" pitchFamily="2" charset="0"/>
          </a:endParaRPr>
        </a:p>
      </dsp:txBody>
      <dsp:txXfrm>
        <a:off x="7818256" y="706742"/>
        <a:ext cx="1254498" cy="1099641"/>
      </dsp:txXfrm>
    </dsp:sp>
    <dsp:sp modelId="{DDA1086D-B78F-41A6-A9D7-7D5FCDCE5AE6}">
      <dsp:nvSpPr>
        <dsp:cNvPr id="0" name=""/>
        <dsp:cNvSpPr/>
      </dsp:nvSpPr>
      <dsp:spPr>
        <a:xfrm>
          <a:off x="8836056" y="189264"/>
          <a:ext cx="236697" cy="236697"/>
        </a:xfrm>
        <a:prstGeom prst="triangle">
          <a:avLst>
            <a:gd name="adj" fmla="val 100000"/>
          </a:avLst>
        </a:prstGeom>
        <a:solidFill>
          <a:srgbClr val="CAD2C5"/>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B8E645B2-023A-4424-AA11-22069B0DDA99}">
      <dsp:nvSpPr>
        <dsp:cNvPr id="0" name=""/>
        <dsp:cNvSpPr/>
      </dsp:nvSpPr>
      <dsp:spPr>
        <a:xfrm rot="5400000">
          <a:off x="9361602" y="-88457"/>
          <a:ext cx="1098681" cy="1389555"/>
        </a:xfrm>
        <a:prstGeom prst="corner">
          <a:avLst>
            <a:gd name="adj1" fmla="val 16120"/>
            <a:gd name="adj2" fmla="val 16110"/>
          </a:avLst>
        </a:prstGeom>
        <a:solidFill>
          <a:srgbClr val="2F3E46"/>
        </a:solidFill>
        <a:ln w="12700" cap="flat" cmpd="sng" algn="ctr">
          <a:no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864183EF-002F-4A7E-A39E-20915529845F}">
      <dsp:nvSpPr>
        <dsp:cNvPr id="0" name=""/>
        <dsp:cNvSpPr/>
      </dsp:nvSpPr>
      <dsp:spPr>
        <a:xfrm>
          <a:off x="9354007" y="326719"/>
          <a:ext cx="1254498" cy="10996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Seguimiento y evaluación</a:t>
          </a:r>
          <a:endParaRPr lang="es-MX" sz="1300" b="1" kern="1200" dirty="0">
            <a:solidFill>
              <a:srgbClr val="131D3F"/>
            </a:solidFill>
            <a:latin typeface="Montserrat" panose="00000500000000000000" pitchFamily="2" charset="0"/>
          </a:endParaRPr>
        </a:p>
      </dsp:txBody>
      <dsp:txXfrm>
        <a:off x="9354007" y="326719"/>
        <a:ext cx="1254498" cy="109964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C8C16E-067B-44A5-81B1-EE28450CAEF7}">
      <dsp:nvSpPr>
        <dsp:cNvPr id="0" name=""/>
        <dsp:cNvSpPr/>
      </dsp:nvSpPr>
      <dsp:spPr>
        <a:xfrm>
          <a:off x="2850" y="454891"/>
          <a:ext cx="2536921" cy="1014768"/>
        </a:xfrm>
        <a:prstGeom prst="chevron">
          <a:avLst/>
        </a:prstGeom>
        <a:solidFill>
          <a:srgbClr val="CAD2C5"/>
        </a:solidFill>
        <a:ln w="12700" cap="flat" cmpd="sng" algn="ctr">
          <a:solidFill>
            <a:srgbClr val="CAD2C5"/>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0" tIns="29337" rIns="0" bIns="29337" numCol="1" spcCol="1270" anchor="ctr" anchorCtr="0">
          <a:noAutofit/>
        </a:bodyPr>
        <a:lstStyle/>
        <a:p>
          <a:pPr marL="0" lvl="0" indent="0" algn="ctr" defTabSz="977900">
            <a:lnSpc>
              <a:spcPct val="90000"/>
            </a:lnSpc>
            <a:spcBef>
              <a:spcPct val="0"/>
            </a:spcBef>
            <a:spcAft>
              <a:spcPct val="35000"/>
            </a:spcAft>
            <a:buNone/>
          </a:pPr>
          <a:endParaRPr lang="es-MX" sz="2200" b="1" kern="1200" dirty="0">
            <a:solidFill>
              <a:srgbClr val="131D3F"/>
            </a:solidFill>
            <a:latin typeface="Montserrat" panose="00000500000000000000" pitchFamily="2" charset="0"/>
          </a:endParaRPr>
        </a:p>
      </dsp:txBody>
      <dsp:txXfrm>
        <a:off x="510234" y="454891"/>
        <a:ext cx="1522153" cy="1014768"/>
      </dsp:txXfrm>
    </dsp:sp>
    <dsp:sp modelId="{3F975E1E-7347-46B9-82CF-956BCD3091BA}">
      <dsp:nvSpPr>
        <dsp:cNvPr id="0" name=""/>
        <dsp:cNvSpPr/>
      </dsp:nvSpPr>
      <dsp:spPr>
        <a:xfrm>
          <a:off x="2286079" y="454891"/>
          <a:ext cx="2536921" cy="1014768"/>
        </a:xfrm>
        <a:prstGeom prst="chevron">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0" tIns="29337" rIns="0" bIns="29337" numCol="1" spcCol="1270" anchor="ctr" anchorCtr="0">
          <a:noAutofit/>
        </a:bodyPr>
        <a:lstStyle/>
        <a:p>
          <a:pPr marL="0" lvl="0" indent="0" algn="ctr" defTabSz="977900">
            <a:lnSpc>
              <a:spcPct val="90000"/>
            </a:lnSpc>
            <a:spcBef>
              <a:spcPct val="0"/>
            </a:spcBef>
            <a:spcAft>
              <a:spcPts val="0"/>
            </a:spcAft>
            <a:buNone/>
          </a:pPr>
          <a:endParaRPr lang="es-MX" sz="2200" b="1" kern="1200" dirty="0">
            <a:latin typeface="Montserrat" panose="00000500000000000000" pitchFamily="2" charset="0"/>
          </a:endParaRPr>
        </a:p>
      </dsp:txBody>
      <dsp:txXfrm>
        <a:off x="2793463" y="454891"/>
        <a:ext cx="1522153" cy="1014768"/>
      </dsp:txXfrm>
    </dsp:sp>
    <dsp:sp modelId="{906A790E-97E2-44C0-94BD-F77E8D2304CA}">
      <dsp:nvSpPr>
        <dsp:cNvPr id="0" name=""/>
        <dsp:cNvSpPr/>
      </dsp:nvSpPr>
      <dsp:spPr>
        <a:xfrm>
          <a:off x="4569309" y="454891"/>
          <a:ext cx="2536921" cy="1014768"/>
        </a:xfrm>
        <a:prstGeom prst="chevron">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0" tIns="29337" rIns="0" bIns="29337" numCol="1" spcCol="1270" anchor="ctr" anchorCtr="0">
          <a:noAutofit/>
        </a:bodyPr>
        <a:lstStyle/>
        <a:p>
          <a:pPr marL="0" lvl="0" indent="0" algn="ctr" defTabSz="977900">
            <a:lnSpc>
              <a:spcPct val="90000"/>
            </a:lnSpc>
            <a:spcBef>
              <a:spcPct val="0"/>
            </a:spcBef>
            <a:spcAft>
              <a:spcPct val="35000"/>
            </a:spcAft>
            <a:buNone/>
          </a:pPr>
          <a:endParaRPr lang="es-MX" sz="2200" b="1" kern="1200" dirty="0">
            <a:latin typeface="Montserrat" panose="00000500000000000000" pitchFamily="2" charset="0"/>
          </a:endParaRPr>
        </a:p>
      </dsp:txBody>
      <dsp:txXfrm>
        <a:off x="5076693" y="454891"/>
        <a:ext cx="1522153" cy="1014768"/>
      </dsp:txXfrm>
    </dsp:sp>
    <dsp:sp modelId="{5E4653E9-AB45-4F1B-A55C-EF8756702BAB}">
      <dsp:nvSpPr>
        <dsp:cNvPr id="0" name=""/>
        <dsp:cNvSpPr/>
      </dsp:nvSpPr>
      <dsp:spPr>
        <a:xfrm>
          <a:off x="6852538" y="454891"/>
          <a:ext cx="2536921" cy="1014768"/>
        </a:xfrm>
        <a:prstGeom prst="chevron">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0" tIns="29337" rIns="0" bIns="29337" numCol="1" spcCol="1270" anchor="ctr" anchorCtr="0">
          <a:noAutofit/>
        </a:bodyPr>
        <a:lstStyle/>
        <a:p>
          <a:pPr marL="0" lvl="0" indent="0" algn="ctr" defTabSz="977900">
            <a:lnSpc>
              <a:spcPct val="90000"/>
            </a:lnSpc>
            <a:spcBef>
              <a:spcPct val="0"/>
            </a:spcBef>
            <a:spcAft>
              <a:spcPct val="35000"/>
            </a:spcAft>
            <a:buNone/>
          </a:pPr>
          <a:endParaRPr lang="es-MX" sz="2200" b="1" kern="1200" dirty="0">
            <a:latin typeface="Montserrat" panose="00000500000000000000" pitchFamily="2" charset="0"/>
          </a:endParaRPr>
        </a:p>
      </dsp:txBody>
      <dsp:txXfrm>
        <a:off x="7359922" y="454891"/>
        <a:ext cx="1522153" cy="1014768"/>
      </dsp:txXfrm>
    </dsp:sp>
    <dsp:sp modelId="{EA2EBE62-BAE0-416E-9847-12AD04F48DB8}">
      <dsp:nvSpPr>
        <dsp:cNvPr id="0" name=""/>
        <dsp:cNvSpPr/>
      </dsp:nvSpPr>
      <dsp:spPr>
        <a:xfrm>
          <a:off x="9135767" y="454891"/>
          <a:ext cx="2536921" cy="1014768"/>
        </a:xfrm>
        <a:prstGeom prst="chevron">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72000" tIns="29337" rIns="0" bIns="29337" numCol="1" spcCol="1270" anchor="ctr" anchorCtr="0">
          <a:noAutofit/>
        </a:bodyPr>
        <a:lstStyle/>
        <a:p>
          <a:pPr marL="0" lvl="0" indent="0" algn="ctr" defTabSz="977900">
            <a:lnSpc>
              <a:spcPct val="90000"/>
            </a:lnSpc>
            <a:spcBef>
              <a:spcPct val="0"/>
            </a:spcBef>
            <a:spcAft>
              <a:spcPct val="35000"/>
            </a:spcAft>
            <a:buNone/>
          </a:pPr>
          <a:r>
            <a:rPr lang="es-ES" sz="2200" b="1" kern="1200" dirty="0">
              <a:latin typeface="Montserrat" panose="00000500000000000000" pitchFamily="2" charset="0"/>
            </a:rPr>
            <a:t>Cierre</a:t>
          </a:r>
          <a:endParaRPr lang="es-MX" sz="2200" b="1" kern="1200" dirty="0">
            <a:latin typeface="Montserrat" panose="00000500000000000000" pitchFamily="2" charset="0"/>
          </a:endParaRPr>
        </a:p>
      </dsp:txBody>
      <dsp:txXfrm>
        <a:off x="9643151" y="454891"/>
        <a:ext cx="1522153" cy="10147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787E2-B806-4390-BCC0-A81841A2D4BF}">
      <dsp:nvSpPr>
        <dsp:cNvPr id="0" name=""/>
        <dsp:cNvSpPr/>
      </dsp:nvSpPr>
      <dsp:spPr>
        <a:xfrm>
          <a:off x="2427413" y="616"/>
          <a:ext cx="1014527" cy="1014527"/>
        </a:xfrm>
        <a:prstGeom prst="ellipse">
          <a:avLst/>
        </a:prstGeom>
        <a:solidFill>
          <a:srgbClr val="CAD2C5"/>
        </a:solidFill>
        <a:ln w="12700" cap="flat" cmpd="sng" algn="ctr">
          <a:solidFill>
            <a:srgbClr val="CAD2C5"/>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dirty="0">
            <a:latin typeface="Montserrat" panose="00000500000000000000" pitchFamily="2" charset="0"/>
          </a:endParaRPr>
        </a:p>
      </dsp:txBody>
      <dsp:txXfrm>
        <a:off x="2575987" y="149190"/>
        <a:ext cx="717379" cy="717379"/>
      </dsp:txXfrm>
    </dsp:sp>
    <dsp:sp modelId="{90DBA541-8DFB-4D14-8545-2CFCD371466C}">
      <dsp:nvSpPr>
        <dsp:cNvPr id="0" name=""/>
        <dsp:cNvSpPr/>
      </dsp:nvSpPr>
      <dsp:spPr>
        <a:xfrm rot="2160000">
          <a:off x="3409872" y="779895"/>
          <a:ext cx="269679" cy="342402"/>
        </a:xfrm>
        <a:prstGeom prst="rightArrow">
          <a:avLst>
            <a:gd name="adj1" fmla="val 60000"/>
            <a:gd name="adj2" fmla="val 5000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a:latin typeface="Montserrat" panose="00000500000000000000" pitchFamily="2" charset="0"/>
          </a:endParaRPr>
        </a:p>
      </dsp:txBody>
      <dsp:txXfrm>
        <a:off x="3417598" y="824598"/>
        <a:ext cx="188775" cy="205442"/>
      </dsp:txXfrm>
    </dsp:sp>
    <dsp:sp modelId="{F5CC90EB-9891-4BB2-ACE8-4090FFFF47DF}">
      <dsp:nvSpPr>
        <dsp:cNvPr id="0" name=""/>
        <dsp:cNvSpPr/>
      </dsp:nvSpPr>
      <dsp:spPr>
        <a:xfrm>
          <a:off x="3659834" y="896022"/>
          <a:ext cx="1014527" cy="1014527"/>
        </a:xfrm>
        <a:prstGeom prst="ellipse">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dirty="0">
            <a:latin typeface="Montserrat" panose="00000500000000000000" pitchFamily="2" charset="0"/>
          </a:endParaRPr>
        </a:p>
      </dsp:txBody>
      <dsp:txXfrm>
        <a:off x="3808408" y="1044596"/>
        <a:ext cx="717379" cy="717379"/>
      </dsp:txXfrm>
    </dsp:sp>
    <dsp:sp modelId="{8174F6FD-77F1-48CD-80E6-01A5E0131461}">
      <dsp:nvSpPr>
        <dsp:cNvPr id="0" name=""/>
        <dsp:cNvSpPr/>
      </dsp:nvSpPr>
      <dsp:spPr>
        <a:xfrm rot="6480000">
          <a:off x="3799245" y="1949224"/>
          <a:ext cx="269679" cy="342402"/>
        </a:xfrm>
        <a:prstGeom prst="rightArrow">
          <a:avLst>
            <a:gd name="adj1" fmla="val 60000"/>
            <a:gd name="adj2" fmla="val 5000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a:latin typeface="Montserrat" panose="00000500000000000000" pitchFamily="2" charset="0"/>
          </a:endParaRPr>
        </a:p>
      </dsp:txBody>
      <dsp:txXfrm rot="10800000">
        <a:off x="3852197" y="1979232"/>
        <a:ext cx="188775" cy="205442"/>
      </dsp:txXfrm>
    </dsp:sp>
    <dsp:sp modelId="{5C5AE728-0FDF-4E14-8B37-5FC4D3D2C1B9}">
      <dsp:nvSpPr>
        <dsp:cNvPr id="0" name=""/>
        <dsp:cNvSpPr/>
      </dsp:nvSpPr>
      <dsp:spPr>
        <a:xfrm>
          <a:off x="3189091" y="2344820"/>
          <a:ext cx="1014527" cy="1014527"/>
        </a:xfrm>
        <a:prstGeom prst="ellipse">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dirty="0">
            <a:latin typeface="Montserrat" panose="00000500000000000000" pitchFamily="2" charset="0"/>
          </a:endParaRPr>
        </a:p>
      </dsp:txBody>
      <dsp:txXfrm>
        <a:off x="3337665" y="2493394"/>
        <a:ext cx="717379" cy="717379"/>
      </dsp:txXfrm>
    </dsp:sp>
    <dsp:sp modelId="{03F01CA4-BB7E-48F5-A20B-DE53FC069F78}">
      <dsp:nvSpPr>
        <dsp:cNvPr id="0" name=""/>
        <dsp:cNvSpPr/>
      </dsp:nvSpPr>
      <dsp:spPr>
        <a:xfrm rot="10800000">
          <a:off x="2807469" y="2680882"/>
          <a:ext cx="269679" cy="342402"/>
        </a:xfrm>
        <a:prstGeom prst="rightArrow">
          <a:avLst>
            <a:gd name="adj1" fmla="val 60000"/>
            <a:gd name="adj2" fmla="val 5000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a:latin typeface="Montserrat" panose="00000500000000000000" pitchFamily="2" charset="0"/>
          </a:endParaRPr>
        </a:p>
      </dsp:txBody>
      <dsp:txXfrm rot="10800000">
        <a:off x="2888373" y="2749362"/>
        <a:ext cx="188775" cy="205442"/>
      </dsp:txXfrm>
    </dsp:sp>
    <dsp:sp modelId="{034823AF-8701-4119-AA8F-53E5E031D0C9}">
      <dsp:nvSpPr>
        <dsp:cNvPr id="0" name=""/>
        <dsp:cNvSpPr/>
      </dsp:nvSpPr>
      <dsp:spPr>
        <a:xfrm>
          <a:off x="1665735" y="2344820"/>
          <a:ext cx="1014527" cy="1014527"/>
        </a:xfrm>
        <a:prstGeom prst="ellipse">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dirty="0">
            <a:latin typeface="Montserrat" panose="00000500000000000000" pitchFamily="2" charset="0"/>
          </a:endParaRPr>
        </a:p>
      </dsp:txBody>
      <dsp:txXfrm>
        <a:off x="1814309" y="2493394"/>
        <a:ext cx="717379" cy="717379"/>
      </dsp:txXfrm>
    </dsp:sp>
    <dsp:sp modelId="{C8F9F325-EB8A-4DBE-BDBC-17CC7504CB6A}">
      <dsp:nvSpPr>
        <dsp:cNvPr id="0" name=""/>
        <dsp:cNvSpPr/>
      </dsp:nvSpPr>
      <dsp:spPr>
        <a:xfrm rot="15120000">
          <a:off x="1805146" y="1963742"/>
          <a:ext cx="269679" cy="342402"/>
        </a:xfrm>
        <a:prstGeom prst="rightArrow">
          <a:avLst>
            <a:gd name="adj1" fmla="val 60000"/>
            <a:gd name="adj2" fmla="val 5000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a:latin typeface="Montserrat" panose="00000500000000000000" pitchFamily="2" charset="0"/>
          </a:endParaRPr>
        </a:p>
      </dsp:txBody>
      <dsp:txXfrm rot="10800000">
        <a:off x="1858098" y="2070694"/>
        <a:ext cx="188775" cy="205442"/>
      </dsp:txXfrm>
    </dsp:sp>
    <dsp:sp modelId="{9A826A15-4F5B-4EAB-885C-068CFBF5A41A}">
      <dsp:nvSpPr>
        <dsp:cNvPr id="0" name=""/>
        <dsp:cNvSpPr/>
      </dsp:nvSpPr>
      <dsp:spPr>
        <a:xfrm>
          <a:off x="1194992" y="896022"/>
          <a:ext cx="1014527" cy="1014527"/>
        </a:xfrm>
        <a:prstGeom prst="ellipse">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dirty="0">
            <a:latin typeface="Montserrat" panose="00000500000000000000" pitchFamily="2" charset="0"/>
          </a:endParaRPr>
        </a:p>
      </dsp:txBody>
      <dsp:txXfrm>
        <a:off x="1343566" y="1044596"/>
        <a:ext cx="717379" cy="717379"/>
      </dsp:txXfrm>
    </dsp:sp>
    <dsp:sp modelId="{1A4D242E-2C1B-43F7-885E-B9C37E3D1E71}">
      <dsp:nvSpPr>
        <dsp:cNvPr id="0" name=""/>
        <dsp:cNvSpPr/>
      </dsp:nvSpPr>
      <dsp:spPr>
        <a:xfrm rot="19440000">
          <a:off x="2177452" y="788868"/>
          <a:ext cx="269679" cy="342402"/>
        </a:xfrm>
        <a:prstGeom prst="rightArrow">
          <a:avLst>
            <a:gd name="adj1" fmla="val 60000"/>
            <a:gd name="adj2" fmla="val 50000"/>
          </a:avLst>
        </a:prstGeom>
        <a:solidFill>
          <a:srgbClr val="2F3E46"/>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MX" sz="900" kern="1200">
            <a:latin typeface="Montserrat" panose="00000500000000000000" pitchFamily="2" charset="0"/>
          </a:endParaRPr>
        </a:p>
      </dsp:txBody>
      <dsp:txXfrm>
        <a:off x="2185178" y="881125"/>
        <a:ext cx="188775" cy="20544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B1D94-CDF4-4C6E-B90A-95A09F75B0D7}">
      <dsp:nvSpPr>
        <dsp:cNvPr id="0" name=""/>
        <dsp:cNvSpPr/>
      </dsp:nvSpPr>
      <dsp:spPr>
        <a:xfrm>
          <a:off x="6331" y="0"/>
          <a:ext cx="2210400" cy="2289037"/>
        </a:xfrm>
        <a:prstGeom prst="roundRect">
          <a:avLst>
            <a:gd name="adj" fmla="val 5000"/>
          </a:avLst>
        </a:prstGeom>
        <a:solidFill>
          <a:srgbClr val="CAD2C5"/>
        </a:solidFill>
        <a:ln w="12700" cap="flat" cmpd="sng" algn="ctr">
          <a:solidFill>
            <a:srgbClr val="CAD2C5"/>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ctr" defTabSz="711200">
            <a:lnSpc>
              <a:spcPct val="90000"/>
            </a:lnSpc>
            <a:spcBef>
              <a:spcPct val="0"/>
            </a:spcBef>
            <a:spcAft>
              <a:spcPct val="35000"/>
            </a:spcAft>
            <a:buNone/>
          </a:pPr>
          <a:r>
            <a:rPr lang="es-ES" sz="1600" b="1" kern="1200" dirty="0">
              <a:solidFill>
                <a:srgbClr val="131D3F"/>
              </a:solidFill>
              <a:latin typeface="Montserrat" panose="00000500000000000000" pitchFamily="2" charset="0"/>
            </a:rPr>
            <a:t>Objetivos</a:t>
          </a:r>
          <a:endParaRPr lang="es-MX" sz="1600" b="1" kern="1200" dirty="0">
            <a:solidFill>
              <a:srgbClr val="131D3F"/>
            </a:solidFill>
            <a:latin typeface="Montserrat" panose="00000500000000000000" pitchFamily="2" charset="0"/>
          </a:endParaRPr>
        </a:p>
      </dsp:txBody>
      <dsp:txXfrm rot="16200000">
        <a:off x="-711133" y="717465"/>
        <a:ext cx="1877010" cy="442080"/>
      </dsp:txXfrm>
    </dsp:sp>
    <dsp:sp modelId="{F168D25F-9A97-4377-AB27-0CBFECBF7DE6}">
      <dsp:nvSpPr>
        <dsp:cNvPr id="0" name=""/>
        <dsp:cNvSpPr/>
      </dsp:nvSpPr>
      <dsp:spPr>
        <a:xfrm>
          <a:off x="448411" y="0"/>
          <a:ext cx="1646748" cy="228903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144000" tIns="61722" rIns="0" bIns="0" numCol="1" spcCol="1270" anchor="ctr" anchorCtr="0">
          <a:noAutofit/>
        </a:bodyPr>
        <a:lstStyle/>
        <a:p>
          <a:pPr marL="0" lvl="0" indent="0" algn="just" defTabSz="800100">
            <a:lnSpc>
              <a:spcPct val="90000"/>
            </a:lnSpc>
            <a:spcBef>
              <a:spcPct val="0"/>
            </a:spcBef>
            <a:spcAft>
              <a:spcPct val="35000"/>
            </a:spcAft>
            <a:buNone/>
          </a:pPr>
          <a:r>
            <a:rPr lang="es-ES" sz="1800" kern="1200" dirty="0">
              <a:solidFill>
                <a:srgbClr val="131D3F"/>
              </a:solidFill>
              <a:latin typeface="Montserrat" panose="00000500000000000000" pitchFamily="2" charset="0"/>
            </a:rPr>
            <a:t>Define metas claras y alcanzables.</a:t>
          </a:r>
          <a:endParaRPr lang="es-MX" sz="1800" kern="1200" dirty="0">
            <a:solidFill>
              <a:srgbClr val="131D3F"/>
            </a:solidFill>
            <a:latin typeface="Montserrat" panose="00000500000000000000" pitchFamily="2" charset="0"/>
          </a:endParaRPr>
        </a:p>
      </dsp:txBody>
      <dsp:txXfrm>
        <a:off x="448411" y="0"/>
        <a:ext cx="1646748" cy="2289037"/>
      </dsp:txXfrm>
    </dsp:sp>
    <dsp:sp modelId="{0B383629-83CD-4359-AEEA-E90FC973FA28}">
      <dsp:nvSpPr>
        <dsp:cNvPr id="0" name=""/>
        <dsp:cNvSpPr/>
      </dsp:nvSpPr>
      <dsp:spPr>
        <a:xfrm>
          <a:off x="2294095" y="0"/>
          <a:ext cx="2210400" cy="2289037"/>
        </a:xfrm>
        <a:prstGeom prst="roundRect">
          <a:avLst>
            <a:gd name="adj" fmla="val 5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ctr" defTabSz="711200">
            <a:lnSpc>
              <a:spcPct val="90000"/>
            </a:lnSpc>
            <a:spcBef>
              <a:spcPct val="0"/>
            </a:spcBef>
            <a:spcAft>
              <a:spcPct val="35000"/>
            </a:spcAft>
            <a:buNone/>
          </a:pPr>
          <a:r>
            <a:rPr lang="es-ES" sz="1600" b="1" kern="1200" dirty="0">
              <a:latin typeface="Montserrat" panose="00000500000000000000" pitchFamily="2" charset="0"/>
            </a:rPr>
            <a:t>Planificación y Estrategia</a:t>
          </a:r>
          <a:endParaRPr lang="es-MX" sz="1600" b="1" kern="1200" dirty="0">
            <a:latin typeface="Montserrat" panose="00000500000000000000" pitchFamily="2" charset="0"/>
          </a:endParaRPr>
        </a:p>
      </dsp:txBody>
      <dsp:txXfrm rot="16200000">
        <a:off x="1576630" y="717465"/>
        <a:ext cx="1877010" cy="442080"/>
      </dsp:txXfrm>
    </dsp:sp>
    <dsp:sp modelId="{E093F4C1-5D16-4787-834D-D4C8DD5E471D}">
      <dsp:nvSpPr>
        <dsp:cNvPr id="0" name=""/>
        <dsp:cNvSpPr/>
      </dsp:nvSpPr>
      <dsp:spPr>
        <a:xfrm rot="5400000">
          <a:off x="2136868" y="1797477"/>
          <a:ext cx="336558" cy="331560"/>
        </a:xfrm>
        <a:prstGeom prst="flowChartExtract">
          <a:avLst/>
        </a:prstGeom>
        <a:solidFill>
          <a:srgbClr val="CAD2C5"/>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sp>
    <dsp:sp modelId="{4E3A2974-573A-43AF-90C4-6B9E035A07BE}">
      <dsp:nvSpPr>
        <dsp:cNvPr id="0" name=""/>
        <dsp:cNvSpPr/>
      </dsp:nvSpPr>
      <dsp:spPr>
        <a:xfrm>
          <a:off x="2736175" y="0"/>
          <a:ext cx="1646748" cy="228903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144000" tIns="61722" rIns="0" bIns="0" numCol="1" spcCol="1270" anchor="ctr" anchorCtr="0">
          <a:noAutofit/>
        </a:bodyPr>
        <a:lstStyle/>
        <a:p>
          <a:pPr marL="0" lvl="0" indent="0" algn="just" defTabSz="800100">
            <a:lnSpc>
              <a:spcPct val="90000"/>
            </a:lnSpc>
            <a:spcBef>
              <a:spcPct val="0"/>
            </a:spcBef>
            <a:spcAft>
              <a:spcPct val="35000"/>
            </a:spcAft>
            <a:buNone/>
          </a:pPr>
          <a:r>
            <a:rPr lang="es-ES" sz="1800" kern="1200" dirty="0">
              <a:latin typeface="Montserrat" panose="00000500000000000000" pitchFamily="2" charset="0"/>
            </a:rPr>
            <a:t>Guía para alcanzar tus metas.</a:t>
          </a:r>
          <a:endParaRPr lang="es-MX" sz="1800" kern="1200" dirty="0">
            <a:latin typeface="Montserrat" panose="00000500000000000000" pitchFamily="2" charset="0"/>
          </a:endParaRPr>
        </a:p>
      </dsp:txBody>
      <dsp:txXfrm>
        <a:off x="2736175" y="0"/>
        <a:ext cx="1646748" cy="2289037"/>
      </dsp:txXfrm>
    </dsp:sp>
    <dsp:sp modelId="{135033C3-8158-4562-9E97-7009B9A8B253}">
      <dsp:nvSpPr>
        <dsp:cNvPr id="0" name=""/>
        <dsp:cNvSpPr/>
      </dsp:nvSpPr>
      <dsp:spPr>
        <a:xfrm>
          <a:off x="4581859" y="0"/>
          <a:ext cx="2210400" cy="2289037"/>
        </a:xfrm>
        <a:prstGeom prst="roundRect">
          <a:avLst>
            <a:gd name="adj" fmla="val 5000"/>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ctr" defTabSz="711200">
            <a:lnSpc>
              <a:spcPct val="90000"/>
            </a:lnSpc>
            <a:spcBef>
              <a:spcPct val="0"/>
            </a:spcBef>
            <a:spcAft>
              <a:spcPct val="35000"/>
            </a:spcAft>
            <a:buNone/>
          </a:pPr>
          <a:r>
            <a:rPr lang="es-ES" sz="1600" b="1" kern="1200" dirty="0">
              <a:latin typeface="Montserrat" panose="00000500000000000000" pitchFamily="2" charset="0"/>
            </a:rPr>
            <a:t>Análisis y Evaluación</a:t>
          </a:r>
          <a:endParaRPr lang="es-MX" sz="1600" b="1" kern="1200" dirty="0">
            <a:latin typeface="Montserrat" panose="00000500000000000000" pitchFamily="2" charset="0"/>
          </a:endParaRPr>
        </a:p>
      </dsp:txBody>
      <dsp:txXfrm rot="16200000">
        <a:off x="3864394" y="717465"/>
        <a:ext cx="1877010" cy="442080"/>
      </dsp:txXfrm>
    </dsp:sp>
    <dsp:sp modelId="{16023FAC-1277-4AED-91C7-4607E8BCC14B}">
      <dsp:nvSpPr>
        <dsp:cNvPr id="0" name=""/>
        <dsp:cNvSpPr/>
      </dsp:nvSpPr>
      <dsp:spPr>
        <a:xfrm rot="5400000">
          <a:off x="4424632" y="1797477"/>
          <a:ext cx="336558" cy="331560"/>
        </a:xfrm>
        <a:prstGeom prst="flowChartExtract">
          <a:avLst/>
        </a:prstGeom>
        <a:solidFill>
          <a:srgbClr val="CAD2C5"/>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sp>
    <dsp:sp modelId="{7CAA51FA-B8F8-4507-A9F2-90968D8EBF5C}">
      <dsp:nvSpPr>
        <dsp:cNvPr id="0" name=""/>
        <dsp:cNvSpPr/>
      </dsp:nvSpPr>
      <dsp:spPr>
        <a:xfrm>
          <a:off x="5023939" y="0"/>
          <a:ext cx="1646748" cy="228903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144000" tIns="61722" rIns="0" bIns="0" numCol="1" spcCol="1270" anchor="ctr" anchorCtr="0">
          <a:noAutofit/>
        </a:bodyPr>
        <a:lstStyle/>
        <a:p>
          <a:pPr marL="0" lvl="0" indent="0" algn="just" defTabSz="800100">
            <a:lnSpc>
              <a:spcPct val="90000"/>
            </a:lnSpc>
            <a:spcBef>
              <a:spcPct val="0"/>
            </a:spcBef>
            <a:spcAft>
              <a:spcPct val="35000"/>
            </a:spcAft>
            <a:buNone/>
          </a:pPr>
          <a:r>
            <a:rPr lang="es-ES" sz="1800" kern="1200" dirty="0">
              <a:latin typeface="Montserrat" panose="00000500000000000000" pitchFamily="2" charset="0"/>
            </a:rPr>
            <a:t>Lo que se mide, se puede controlar.</a:t>
          </a:r>
          <a:endParaRPr lang="es-MX" sz="1800" kern="1200" dirty="0">
            <a:latin typeface="Montserrat" panose="00000500000000000000" pitchFamily="2" charset="0"/>
          </a:endParaRPr>
        </a:p>
      </dsp:txBody>
      <dsp:txXfrm>
        <a:off x="5023939" y="0"/>
        <a:ext cx="1646748" cy="2289037"/>
      </dsp:txXfrm>
    </dsp:sp>
    <dsp:sp modelId="{40806E1A-AC12-46CB-8035-62E0BEE68B3B}">
      <dsp:nvSpPr>
        <dsp:cNvPr id="0" name=""/>
        <dsp:cNvSpPr/>
      </dsp:nvSpPr>
      <dsp:spPr>
        <a:xfrm>
          <a:off x="6869624" y="0"/>
          <a:ext cx="2210400" cy="2289037"/>
        </a:xfrm>
        <a:prstGeom prst="roundRect">
          <a:avLst>
            <a:gd name="adj" fmla="val 5000"/>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71120" bIns="0" numCol="1" spcCol="1270" anchor="t" anchorCtr="0">
          <a:noAutofit/>
        </a:bodyPr>
        <a:lstStyle/>
        <a:p>
          <a:pPr marL="0" lvl="0" indent="0" algn="ctr" defTabSz="711200">
            <a:lnSpc>
              <a:spcPct val="90000"/>
            </a:lnSpc>
            <a:spcBef>
              <a:spcPct val="0"/>
            </a:spcBef>
            <a:spcAft>
              <a:spcPct val="35000"/>
            </a:spcAft>
            <a:buNone/>
          </a:pPr>
          <a:r>
            <a:rPr lang="es-ES" sz="1600" b="1" kern="1200" dirty="0">
              <a:latin typeface="Montserrat" panose="00000500000000000000" pitchFamily="2" charset="0"/>
            </a:rPr>
            <a:t>Gestión de recursos</a:t>
          </a:r>
          <a:endParaRPr lang="es-MX" sz="1600" b="1" kern="1200" dirty="0">
            <a:latin typeface="Montserrat" panose="00000500000000000000" pitchFamily="2" charset="0"/>
          </a:endParaRPr>
        </a:p>
      </dsp:txBody>
      <dsp:txXfrm rot="16200000">
        <a:off x="6152159" y="717465"/>
        <a:ext cx="1877010" cy="442080"/>
      </dsp:txXfrm>
    </dsp:sp>
    <dsp:sp modelId="{0DA57B71-008C-4894-B55E-E5FD733F7F74}">
      <dsp:nvSpPr>
        <dsp:cNvPr id="0" name=""/>
        <dsp:cNvSpPr/>
      </dsp:nvSpPr>
      <dsp:spPr>
        <a:xfrm rot="5400000">
          <a:off x="6712396" y="1797477"/>
          <a:ext cx="336558" cy="331560"/>
        </a:xfrm>
        <a:prstGeom prst="flowChartExtract">
          <a:avLst/>
        </a:prstGeom>
        <a:solidFill>
          <a:srgbClr val="CAD2C5"/>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sp>
    <dsp:sp modelId="{AD290A18-AAFD-43C5-818F-B8813541629E}">
      <dsp:nvSpPr>
        <dsp:cNvPr id="0" name=""/>
        <dsp:cNvSpPr/>
      </dsp:nvSpPr>
      <dsp:spPr>
        <a:xfrm>
          <a:off x="7311704" y="0"/>
          <a:ext cx="1646748" cy="228903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144000" tIns="61722" rIns="0" bIns="0" numCol="1" spcCol="1270" anchor="ctr" anchorCtr="0">
          <a:noAutofit/>
        </a:bodyPr>
        <a:lstStyle/>
        <a:p>
          <a:pPr marL="0" lvl="0" indent="0" algn="just" defTabSz="800100">
            <a:lnSpc>
              <a:spcPct val="90000"/>
            </a:lnSpc>
            <a:spcBef>
              <a:spcPct val="0"/>
            </a:spcBef>
            <a:spcAft>
              <a:spcPct val="35000"/>
            </a:spcAft>
            <a:buNone/>
          </a:pPr>
          <a:r>
            <a:rPr lang="es-ES" sz="1800" kern="1200" dirty="0">
              <a:latin typeface="Montserrat" panose="00000500000000000000" pitchFamily="2" charset="0"/>
            </a:rPr>
            <a:t>Asignación eficiente de recursos, gestión de deudas y  optimización de inversión. </a:t>
          </a:r>
          <a:endParaRPr lang="es-MX" sz="1800" kern="1200" dirty="0">
            <a:latin typeface="Montserrat" panose="00000500000000000000" pitchFamily="2" charset="0"/>
          </a:endParaRPr>
        </a:p>
      </dsp:txBody>
      <dsp:txXfrm>
        <a:off x="7311704" y="0"/>
        <a:ext cx="1646748" cy="2289037"/>
      </dsp:txXfrm>
    </dsp:sp>
    <dsp:sp modelId="{0A29BFE5-E6E5-4F58-A342-1079F1A9928A}">
      <dsp:nvSpPr>
        <dsp:cNvPr id="0" name=""/>
        <dsp:cNvSpPr/>
      </dsp:nvSpPr>
      <dsp:spPr>
        <a:xfrm>
          <a:off x="9157388" y="0"/>
          <a:ext cx="2210400" cy="2289037"/>
        </a:xfrm>
        <a:prstGeom prst="roundRect">
          <a:avLst>
            <a:gd name="adj" fmla="val 5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54864" rIns="36000" bIns="0" numCol="1" spcCol="1270" anchor="t" anchorCtr="0">
          <a:noAutofit/>
        </a:bodyPr>
        <a:lstStyle/>
        <a:p>
          <a:pPr marL="0" lvl="0" indent="0" algn="ctr" defTabSz="711200">
            <a:lnSpc>
              <a:spcPct val="90000"/>
            </a:lnSpc>
            <a:spcBef>
              <a:spcPct val="0"/>
            </a:spcBef>
            <a:spcAft>
              <a:spcPts val="0"/>
            </a:spcAft>
            <a:buNone/>
          </a:pPr>
          <a:r>
            <a:rPr lang="es-ES" sz="1600" b="1" kern="1200" dirty="0">
              <a:latin typeface="Montserrat" panose="00000500000000000000" pitchFamily="2" charset="0"/>
            </a:rPr>
            <a:t>Control y</a:t>
          </a:r>
        </a:p>
        <a:p>
          <a:pPr marL="0" lvl="0" indent="0" algn="ctr" defTabSz="711200">
            <a:lnSpc>
              <a:spcPct val="90000"/>
            </a:lnSpc>
            <a:spcBef>
              <a:spcPct val="0"/>
            </a:spcBef>
            <a:spcAft>
              <a:spcPct val="35000"/>
            </a:spcAft>
            <a:buNone/>
          </a:pPr>
          <a:r>
            <a:rPr lang="es-ES" sz="1600" b="1" kern="1200" dirty="0">
              <a:latin typeface="Montserrat" panose="00000500000000000000" pitchFamily="2" charset="0"/>
            </a:rPr>
            <a:t>ajuste</a:t>
          </a:r>
          <a:endParaRPr lang="es-MX" sz="1600" b="1" kern="1200" dirty="0">
            <a:latin typeface="Montserrat" panose="00000500000000000000" pitchFamily="2" charset="0"/>
          </a:endParaRPr>
        </a:p>
      </dsp:txBody>
      <dsp:txXfrm rot="16200000">
        <a:off x="8439923" y="717465"/>
        <a:ext cx="1877010" cy="442080"/>
      </dsp:txXfrm>
    </dsp:sp>
    <dsp:sp modelId="{1FBA44AA-878F-4A4E-B606-BACD4ADB05DA}">
      <dsp:nvSpPr>
        <dsp:cNvPr id="0" name=""/>
        <dsp:cNvSpPr/>
      </dsp:nvSpPr>
      <dsp:spPr>
        <a:xfrm rot="5400000">
          <a:off x="9000161" y="1797477"/>
          <a:ext cx="336558" cy="331560"/>
        </a:xfrm>
        <a:prstGeom prst="flowChartExtract">
          <a:avLst/>
        </a:prstGeom>
        <a:solidFill>
          <a:srgbClr val="CAD2C5"/>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sp>
    <dsp:sp modelId="{8D4C54F0-AC88-4791-BCD4-34EA0E887CE8}">
      <dsp:nvSpPr>
        <dsp:cNvPr id="0" name=""/>
        <dsp:cNvSpPr/>
      </dsp:nvSpPr>
      <dsp:spPr>
        <a:xfrm>
          <a:off x="9599468" y="0"/>
          <a:ext cx="1646748" cy="2289037"/>
        </a:xfrm>
        <a:prstGeom prst="rect">
          <a:avLst/>
        </a:prstGeom>
        <a:noFill/>
        <a:ln w="12700" cap="flat" cmpd="sng" algn="ctr">
          <a:noFill/>
          <a:prstDash val="solid"/>
          <a:miter lim="800000"/>
        </a:ln>
        <a:effectLst/>
        <a:scene3d>
          <a:camera prst="orthographicFront"/>
          <a:lightRig rig="threePt" dir="t"/>
        </a:scene3d>
        <a:sp3d/>
      </dsp:spPr>
      <dsp:style>
        <a:lnRef idx="2">
          <a:scrgbClr r="0" g="0" b="0"/>
        </a:lnRef>
        <a:fillRef idx="1">
          <a:scrgbClr r="0" g="0" b="0"/>
        </a:fillRef>
        <a:effectRef idx="0">
          <a:scrgbClr r="0" g="0" b="0"/>
        </a:effectRef>
        <a:fontRef idx="minor">
          <a:schemeClr val="lt1"/>
        </a:fontRef>
      </dsp:style>
      <dsp:txBody>
        <a:bodyPr spcFirstLastPara="0" vert="horz" wrap="square" lIns="144000" tIns="61722" rIns="0" bIns="0" numCol="1" spcCol="1270" anchor="ctr" anchorCtr="0">
          <a:noAutofit/>
        </a:bodyPr>
        <a:lstStyle/>
        <a:p>
          <a:pPr marL="0" lvl="0" indent="0" algn="just" defTabSz="800100">
            <a:lnSpc>
              <a:spcPct val="90000"/>
            </a:lnSpc>
            <a:spcBef>
              <a:spcPct val="0"/>
            </a:spcBef>
            <a:spcAft>
              <a:spcPct val="35000"/>
            </a:spcAft>
            <a:buNone/>
          </a:pPr>
          <a:r>
            <a:rPr lang="es-ES" sz="1800" kern="1200" dirty="0">
              <a:latin typeface="Montserrat" panose="00000500000000000000" pitchFamily="2" charset="0"/>
            </a:rPr>
            <a:t>Ajuste de estrategias / planes en  respuesta a cambios en el entorno económico.</a:t>
          </a:r>
          <a:endParaRPr lang="es-MX" sz="1800" kern="1200" dirty="0">
            <a:latin typeface="Montserrat" panose="00000500000000000000" pitchFamily="2" charset="0"/>
          </a:endParaRPr>
        </a:p>
      </dsp:txBody>
      <dsp:txXfrm>
        <a:off x="9599468" y="0"/>
        <a:ext cx="1646748" cy="228903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D20E93-CE3D-4B10-B4C6-45985EB08AAF}">
      <dsp:nvSpPr>
        <dsp:cNvPr id="0" name=""/>
        <dsp:cNvSpPr/>
      </dsp:nvSpPr>
      <dsp:spPr>
        <a:xfrm>
          <a:off x="372" y="669513"/>
          <a:ext cx="1916744" cy="713450"/>
        </a:xfrm>
        <a:prstGeom prst="roundRect">
          <a:avLst>
            <a:gd name="adj" fmla="val 10000"/>
          </a:avLst>
        </a:prstGeom>
        <a:solidFill>
          <a:srgbClr val="CAD2C5"/>
        </a:solidFill>
        <a:ln w="12700" cap="flat" cmpd="sng" algn="ctr">
          <a:solidFill>
            <a:srgbClr val="CAD2C5"/>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solidFill>
                <a:srgbClr val="131D3F"/>
              </a:solidFill>
              <a:latin typeface="Montserrat" panose="00000500000000000000" pitchFamily="2" charset="0"/>
            </a:rPr>
            <a:t>Resumen ejecutivo</a:t>
          </a:r>
          <a:endParaRPr lang="es-MX" sz="1600" kern="1200" dirty="0">
            <a:solidFill>
              <a:srgbClr val="131D3F"/>
            </a:solidFill>
            <a:latin typeface="Montserrat" panose="00000500000000000000" pitchFamily="2" charset="0"/>
          </a:endParaRPr>
        </a:p>
      </dsp:txBody>
      <dsp:txXfrm>
        <a:off x="21268" y="690409"/>
        <a:ext cx="1874952" cy="671658"/>
      </dsp:txXfrm>
    </dsp:sp>
    <dsp:sp modelId="{7A5F31CD-223C-4961-B5F9-3D210D453A5F}">
      <dsp:nvSpPr>
        <dsp:cNvPr id="0" name=""/>
        <dsp:cNvSpPr/>
      </dsp:nvSpPr>
      <dsp:spPr>
        <a:xfrm>
          <a:off x="2036026" y="878792"/>
          <a:ext cx="252085" cy="294892"/>
        </a:xfrm>
        <a:prstGeom prst="rightArrow">
          <a:avLst>
            <a:gd name="adj1" fmla="val 60000"/>
            <a:gd name="adj2" fmla="val 50000"/>
          </a:avLst>
        </a:prstGeom>
        <a:solidFill>
          <a:srgbClr val="84A98C"/>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latin typeface="Montserrat" panose="00000500000000000000" pitchFamily="2" charset="0"/>
          </a:endParaRPr>
        </a:p>
      </dsp:txBody>
      <dsp:txXfrm>
        <a:off x="2036026" y="937770"/>
        <a:ext cx="176460" cy="176936"/>
      </dsp:txXfrm>
    </dsp:sp>
    <dsp:sp modelId="{2D269323-00A4-442A-A128-62EBA2E49116}">
      <dsp:nvSpPr>
        <dsp:cNvPr id="0" name=""/>
        <dsp:cNvSpPr/>
      </dsp:nvSpPr>
      <dsp:spPr>
        <a:xfrm>
          <a:off x="2392751" y="669513"/>
          <a:ext cx="1916744" cy="713450"/>
        </a:xfrm>
        <a:prstGeom prst="roundRect">
          <a:avLst>
            <a:gd name="adj" fmla="val 1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Montserrat" panose="00000500000000000000" pitchFamily="2" charset="0"/>
            </a:rPr>
            <a:t>Descripción del proyecto</a:t>
          </a:r>
          <a:endParaRPr lang="es-MX" sz="1600" kern="1200" dirty="0">
            <a:latin typeface="Montserrat" panose="00000500000000000000" pitchFamily="2" charset="0"/>
          </a:endParaRPr>
        </a:p>
      </dsp:txBody>
      <dsp:txXfrm>
        <a:off x="2413647" y="690409"/>
        <a:ext cx="1874952" cy="671658"/>
      </dsp:txXfrm>
    </dsp:sp>
    <dsp:sp modelId="{31797A44-F1C4-4321-BB35-496A97862A62}">
      <dsp:nvSpPr>
        <dsp:cNvPr id="0" name=""/>
        <dsp:cNvSpPr/>
      </dsp:nvSpPr>
      <dsp:spPr>
        <a:xfrm>
          <a:off x="4428404" y="878792"/>
          <a:ext cx="252085" cy="294892"/>
        </a:xfrm>
        <a:prstGeom prst="rightArrow">
          <a:avLst>
            <a:gd name="adj1" fmla="val 60000"/>
            <a:gd name="adj2" fmla="val 50000"/>
          </a:avLst>
        </a:prstGeom>
        <a:solidFill>
          <a:srgbClr val="84A98C"/>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latin typeface="Montserrat" panose="00000500000000000000" pitchFamily="2" charset="0"/>
          </a:endParaRPr>
        </a:p>
      </dsp:txBody>
      <dsp:txXfrm>
        <a:off x="4428404" y="937770"/>
        <a:ext cx="176460" cy="176936"/>
      </dsp:txXfrm>
    </dsp:sp>
    <dsp:sp modelId="{E2762AFB-1FFF-4EE0-9718-94F838731073}">
      <dsp:nvSpPr>
        <dsp:cNvPr id="0" name=""/>
        <dsp:cNvSpPr/>
      </dsp:nvSpPr>
      <dsp:spPr>
        <a:xfrm>
          <a:off x="4785129" y="669513"/>
          <a:ext cx="1916744" cy="713450"/>
        </a:xfrm>
        <a:prstGeom prst="roundRect">
          <a:avLst>
            <a:gd name="adj" fmla="val 10000"/>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Montserrat" panose="00000500000000000000" pitchFamily="2" charset="0"/>
            </a:rPr>
            <a:t>Análisis del mercado</a:t>
          </a:r>
          <a:endParaRPr lang="es-MX" sz="1600" kern="1200" dirty="0">
            <a:latin typeface="Montserrat" panose="00000500000000000000" pitchFamily="2" charset="0"/>
          </a:endParaRPr>
        </a:p>
      </dsp:txBody>
      <dsp:txXfrm>
        <a:off x="4806025" y="690409"/>
        <a:ext cx="1874952" cy="671658"/>
      </dsp:txXfrm>
    </dsp:sp>
    <dsp:sp modelId="{13F7FB76-305F-4A22-B220-45E68BA23231}">
      <dsp:nvSpPr>
        <dsp:cNvPr id="0" name=""/>
        <dsp:cNvSpPr/>
      </dsp:nvSpPr>
      <dsp:spPr>
        <a:xfrm>
          <a:off x="6820782" y="878792"/>
          <a:ext cx="252085" cy="294892"/>
        </a:xfrm>
        <a:prstGeom prst="rightArrow">
          <a:avLst>
            <a:gd name="adj1" fmla="val 60000"/>
            <a:gd name="adj2" fmla="val 50000"/>
          </a:avLst>
        </a:prstGeom>
        <a:solidFill>
          <a:srgbClr val="84A98C"/>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latin typeface="Montserrat" panose="00000500000000000000" pitchFamily="2" charset="0"/>
          </a:endParaRPr>
        </a:p>
      </dsp:txBody>
      <dsp:txXfrm>
        <a:off x="6820782" y="937770"/>
        <a:ext cx="176460" cy="176936"/>
      </dsp:txXfrm>
    </dsp:sp>
    <dsp:sp modelId="{694025E5-C4F9-45E4-83D4-6B9D0F0EB72A}">
      <dsp:nvSpPr>
        <dsp:cNvPr id="0" name=""/>
        <dsp:cNvSpPr/>
      </dsp:nvSpPr>
      <dsp:spPr>
        <a:xfrm>
          <a:off x="7177508" y="669513"/>
          <a:ext cx="1916744" cy="713450"/>
        </a:xfrm>
        <a:prstGeom prst="roundRect">
          <a:avLst>
            <a:gd name="adj" fmla="val 10000"/>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Montserrat" panose="00000500000000000000" pitchFamily="2" charset="0"/>
            </a:rPr>
            <a:t>Plan financiero</a:t>
          </a:r>
          <a:endParaRPr lang="es-MX" sz="1600" kern="1200" dirty="0">
            <a:latin typeface="Montserrat" panose="00000500000000000000" pitchFamily="2" charset="0"/>
          </a:endParaRPr>
        </a:p>
      </dsp:txBody>
      <dsp:txXfrm>
        <a:off x="7198404" y="690409"/>
        <a:ext cx="1874952" cy="671658"/>
      </dsp:txXfrm>
    </dsp:sp>
    <dsp:sp modelId="{78DE79A8-B1B8-4359-81DE-31B7869AFBDC}">
      <dsp:nvSpPr>
        <dsp:cNvPr id="0" name=""/>
        <dsp:cNvSpPr/>
      </dsp:nvSpPr>
      <dsp:spPr>
        <a:xfrm>
          <a:off x="9213161" y="878792"/>
          <a:ext cx="252085" cy="294892"/>
        </a:xfrm>
        <a:prstGeom prst="rightArrow">
          <a:avLst>
            <a:gd name="adj1" fmla="val 60000"/>
            <a:gd name="adj2" fmla="val 50000"/>
          </a:avLst>
        </a:prstGeom>
        <a:solidFill>
          <a:srgbClr val="84A98C"/>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latin typeface="Montserrat" panose="00000500000000000000" pitchFamily="2" charset="0"/>
          </a:endParaRPr>
        </a:p>
      </dsp:txBody>
      <dsp:txXfrm>
        <a:off x="9213161" y="937770"/>
        <a:ext cx="176460" cy="176936"/>
      </dsp:txXfrm>
    </dsp:sp>
    <dsp:sp modelId="{50476DBC-4E34-4204-807D-E93B682490CA}">
      <dsp:nvSpPr>
        <dsp:cNvPr id="0" name=""/>
        <dsp:cNvSpPr/>
      </dsp:nvSpPr>
      <dsp:spPr>
        <a:xfrm>
          <a:off x="9569886" y="669513"/>
          <a:ext cx="1916744" cy="713450"/>
        </a:xfrm>
        <a:prstGeom prst="roundRect">
          <a:avLst>
            <a:gd name="adj" fmla="val 1000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kern="1200" dirty="0">
              <a:latin typeface="Montserrat" panose="00000500000000000000" pitchFamily="2" charset="0"/>
            </a:rPr>
            <a:t>Estrategia de financiamiento</a:t>
          </a:r>
          <a:endParaRPr lang="es-MX" sz="1600" kern="1200" dirty="0">
            <a:latin typeface="Montserrat" panose="00000500000000000000" pitchFamily="2" charset="0"/>
          </a:endParaRPr>
        </a:p>
      </dsp:txBody>
      <dsp:txXfrm>
        <a:off x="9590782" y="690409"/>
        <a:ext cx="1874952" cy="67165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D20E93-CE3D-4B10-B4C6-45985EB08AAF}">
      <dsp:nvSpPr>
        <dsp:cNvPr id="0" name=""/>
        <dsp:cNvSpPr/>
      </dsp:nvSpPr>
      <dsp:spPr>
        <a:xfrm>
          <a:off x="522" y="652725"/>
          <a:ext cx="1917088" cy="747027"/>
        </a:xfrm>
        <a:prstGeom prst="roundRect">
          <a:avLst>
            <a:gd name="adj" fmla="val 10000"/>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Montserrat" panose="00000500000000000000" pitchFamily="2" charset="0"/>
            </a:rPr>
            <a:t>Plan de implementación</a:t>
          </a:r>
          <a:endParaRPr lang="es-MX" sz="1500" kern="1200" dirty="0">
            <a:latin typeface="Montserrat" panose="00000500000000000000" pitchFamily="2" charset="0"/>
          </a:endParaRPr>
        </a:p>
      </dsp:txBody>
      <dsp:txXfrm>
        <a:off x="22402" y="674605"/>
        <a:ext cx="1873328" cy="703267"/>
      </dsp:txXfrm>
    </dsp:sp>
    <dsp:sp modelId="{7A5F31CD-223C-4961-B5F9-3D210D453A5F}">
      <dsp:nvSpPr>
        <dsp:cNvPr id="0" name=""/>
        <dsp:cNvSpPr/>
      </dsp:nvSpPr>
      <dsp:spPr>
        <a:xfrm>
          <a:off x="2036541" y="878766"/>
          <a:ext cx="252131" cy="294945"/>
        </a:xfrm>
        <a:prstGeom prst="rightArrow">
          <a:avLst>
            <a:gd name="adj1" fmla="val 60000"/>
            <a:gd name="adj2" fmla="val 50000"/>
          </a:avLst>
        </a:prstGeom>
        <a:solidFill>
          <a:srgbClr val="84A98C"/>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latin typeface="Montserrat" panose="00000500000000000000" pitchFamily="2" charset="0"/>
          </a:endParaRPr>
        </a:p>
      </dsp:txBody>
      <dsp:txXfrm>
        <a:off x="2036541" y="937755"/>
        <a:ext cx="176492" cy="176967"/>
      </dsp:txXfrm>
    </dsp:sp>
    <dsp:sp modelId="{2D269323-00A4-442A-A128-62EBA2E49116}">
      <dsp:nvSpPr>
        <dsp:cNvPr id="0" name=""/>
        <dsp:cNvSpPr/>
      </dsp:nvSpPr>
      <dsp:spPr>
        <a:xfrm>
          <a:off x="2393330" y="652725"/>
          <a:ext cx="1917088" cy="747027"/>
        </a:xfrm>
        <a:prstGeom prst="roundRect">
          <a:avLst>
            <a:gd name="adj" fmla="val 10000"/>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Montserrat" panose="00000500000000000000" pitchFamily="2" charset="0"/>
            </a:rPr>
            <a:t>Beneficio e impacto</a:t>
          </a:r>
          <a:endParaRPr lang="es-MX" sz="1500" kern="1200" dirty="0">
            <a:latin typeface="Montserrat" panose="00000500000000000000" pitchFamily="2" charset="0"/>
          </a:endParaRPr>
        </a:p>
      </dsp:txBody>
      <dsp:txXfrm>
        <a:off x="2415210" y="674605"/>
        <a:ext cx="1873328" cy="70326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DCA6F-3CE1-4613-8844-AC794B9A66C6}">
      <dsp:nvSpPr>
        <dsp:cNvPr id="0" name=""/>
        <dsp:cNvSpPr/>
      </dsp:nvSpPr>
      <dsp:spPr>
        <a:xfrm rot="5400000">
          <a:off x="325226" y="2195959"/>
          <a:ext cx="976395" cy="1625040"/>
        </a:xfrm>
        <a:prstGeom prst="corner">
          <a:avLst>
            <a:gd name="adj1" fmla="val 16120"/>
            <a:gd name="adj2" fmla="val 16110"/>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A4DD46EC-6DBA-4793-9209-D267436BA805}">
      <dsp:nvSpPr>
        <dsp:cNvPr id="0" name=""/>
        <dsp:cNvSpPr/>
      </dsp:nvSpPr>
      <dsp:spPr>
        <a:xfrm>
          <a:off x="162105" y="2681496"/>
          <a:ext cx="1467096" cy="1285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Evaluación del valor</a:t>
          </a:r>
          <a:endParaRPr lang="es-MX" sz="1300" b="1" kern="1200" dirty="0">
            <a:solidFill>
              <a:srgbClr val="131D3F"/>
            </a:solidFill>
            <a:latin typeface="Montserrat" panose="00000500000000000000" pitchFamily="2" charset="0"/>
          </a:endParaRPr>
        </a:p>
      </dsp:txBody>
      <dsp:txXfrm>
        <a:off x="162105" y="2681496"/>
        <a:ext cx="1467096" cy="1285995"/>
      </dsp:txXfrm>
    </dsp:sp>
    <dsp:sp modelId="{56FD0E3D-E9FE-4B8D-AB69-7C9A807D573C}">
      <dsp:nvSpPr>
        <dsp:cNvPr id="0" name=""/>
        <dsp:cNvSpPr/>
      </dsp:nvSpPr>
      <dsp:spPr>
        <a:xfrm>
          <a:off x="1352390" y="2076322"/>
          <a:ext cx="276810" cy="276810"/>
        </a:xfrm>
        <a:prstGeom prst="triangle">
          <a:avLst>
            <a:gd name="adj" fmla="val 10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42A5B2E-5B09-4BB6-97F7-D82FC6308E76}">
      <dsp:nvSpPr>
        <dsp:cNvPr id="0" name=""/>
        <dsp:cNvSpPr/>
      </dsp:nvSpPr>
      <dsp:spPr>
        <a:xfrm rot="5400000">
          <a:off x="2121238" y="1751534"/>
          <a:ext cx="976395" cy="1625040"/>
        </a:xfrm>
        <a:prstGeom prst="corner">
          <a:avLst>
            <a:gd name="adj1" fmla="val 16120"/>
            <a:gd name="adj2" fmla="val 16110"/>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D59BF341-E979-4D0E-8889-0C0947DA589D}">
      <dsp:nvSpPr>
        <dsp:cNvPr id="0" name=""/>
        <dsp:cNvSpPr/>
      </dsp:nvSpPr>
      <dsp:spPr>
        <a:xfrm>
          <a:off x="1958117" y="2237071"/>
          <a:ext cx="1467096" cy="1285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Planificación y estrategia</a:t>
          </a:r>
          <a:endParaRPr lang="es-MX" sz="1300" b="1" kern="1200" dirty="0">
            <a:solidFill>
              <a:srgbClr val="131D3F"/>
            </a:solidFill>
            <a:latin typeface="Montserrat" panose="00000500000000000000" pitchFamily="2" charset="0"/>
          </a:endParaRPr>
        </a:p>
      </dsp:txBody>
      <dsp:txXfrm>
        <a:off x="1958117" y="2237071"/>
        <a:ext cx="1467096" cy="1285995"/>
      </dsp:txXfrm>
    </dsp:sp>
    <dsp:sp modelId="{5955598A-9B84-401C-8F1A-102FBD8654A1}">
      <dsp:nvSpPr>
        <dsp:cNvPr id="0" name=""/>
        <dsp:cNvSpPr/>
      </dsp:nvSpPr>
      <dsp:spPr>
        <a:xfrm>
          <a:off x="3148402" y="1631897"/>
          <a:ext cx="276810" cy="276810"/>
        </a:xfrm>
        <a:prstGeom prst="triangle">
          <a:avLst>
            <a:gd name="adj" fmla="val 10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9F3CE01-8DD0-4E0E-85BE-7BB25AAC0154}">
      <dsp:nvSpPr>
        <dsp:cNvPr id="0" name=""/>
        <dsp:cNvSpPr/>
      </dsp:nvSpPr>
      <dsp:spPr>
        <a:xfrm rot="5400000">
          <a:off x="3917250" y="1307109"/>
          <a:ext cx="976395" cy="1625040"/>
        </a:xfrm>
        <a:prstGeom prst="corner">
          <a:avLst>
            <a:gd name="adj1" fmla="val 16120"/>
            <a:gd name="adj2" fmla="val 16110"/>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993FD98F-2BC7-4733-824C-69D77D2B1B23}">
      <dsp:nvSpPr>
        <dsp:cNvPr id="0" name=""/>
        <dsp:cNvSpPr/>
      </dsp:nvSpPr>
      <dsp:spPr>
        <a:xfrm>
          <a:off x="3754129" y="1792646"/>
          <a:ext cx="1467096" cy="1285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Asignación de recursos</a:t>
          </a:r>
          <a:endParaRPr lang="es-MX" sz="1300" b="1" kern="1200" dirty="0">
            <a:solidFill>
              <a:srgbClr val="131D3F"/>
            </a:solidFill>
            <a:latin typeface="Montserrat" panose="00000500000000000000" pitchFamily="2" charset="0"/>
          </a:endParaRPr>
        </a:p>
      </dsp:txBody>
      <dsp:txXfrm>
        <a:off x="3754129" y="1792646"/>
        <a:ext cx="1467096" cy="1285995"/>
      </dsp:txXfrm>
    </dsp:sp>
    <dsp:sp modelId="{BAFB5D97-9C78-419C-8115-BD4E5D93185E}">
      <dsp:nvSpPr>
        <dsp:cNvPr id="0" name=""/>
        <dsp:cNvSpPr/>
      </dsp:nvSpPr>
      <dsp:spPr>
        <a:xfrm>
          <a:off x="4944415" y="1187472"/>
          <a:ext cx="276810" cy="276810"/>
        </a:xfrm>
        <a:prstGeom prst="triangle">
          <a:avLst>
            <a:gd name="adj" fmla="val 10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08A84858-872A-48C3-881F-A0986D5E1AB4}">
      <dsp:nvSpPr>
        <dsp:cNvPr id="0" name=""/>
        <dsp:cNvSpPr/>
      </dsp:nvSpPr>
      <dsp:spPr>
        <a:xfrm rot="5400000">
          <a:off x="5713263" y="862684"/>
          <a:ext cx="976395" cy="1625040"/>
        </a:xfrm>
        <a:prstGeom prst="corner">
          <a:avLst>
            <a:gd name="adj1" fmla="val 16120"/>
            <a:gd name="adj2" fmla="val 16110"/>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7FF1AFA7-8E32-441A-8D38-4DA057D08B9B}">
      <dsp:nvSpPr>
        <dsp:cNvPr id="0" name=""/>
        <dsp:cNvSpPr/>
      </dsp:nvSpPr>
      <dsp:spPr>
        <a:xfrm>
          <a:off x="5550141" y="1348221"/>
          <a:ext cx="1467096" cy="1285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Monitoreo y control</a:t>
          </a:r>
          <a:endParaRPr lang="es-MX" sz="1300" b="1" kern="1200" dirty="0">
            <a:solidFill>
              <a:srgbClr val="131D3F"/>
            </a:solidFill>
            <a:latin typeface="Montserrat" panose="00000500000000000000" pitchFamily="2" charset="0"/>
          </a:endParaRPr>
        </a:p>
      </dsp:txBody>
      <dsp:txXfrm>
        <a:off x="5550141" y="1348221"/>
        <a:ext cx="1467096" cy="1285995"/>
      </dsp:txXfrm>
    </dsp:sp>
    <dsp:sp modelId="{61EBD819-D40D-4781-8646-B03CCAC771E9}">
      <dsp:nvSpPr>
        <dsp:cNvPr id="0" name=""/>
        <dsp:cNvSpPr/>
      </dsp:nvSpPr>
      <dsp:spPr>
        <a:xfrm>
          <a:off x="6740427" y="743047"/>
          <a:ext cx="276810" cy="276810"/>
        </a:xfrm>
        <a:prstGeom prst="triangle">
          <a:avLst>
            <a:gd name="adj" fmla="val 10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4DEDB585-6166-492D-982B-BC326BFE086B}">
      <dsp:nvSpPr>
        <dsp:cNvPr id="0" name=""/>
        <dsp:cNvSpPr/>
      </dsp:nvSpPr>
      <dsp:spPr>
        <a:xfrm rot="5400000">
          <a:off x="7509275" y="418259"/>
          <a:ext cx="976395" cy="1625040"/>
        </a:xfrm>
        <a:prstGeom prst="corner">
          <a:avLst>
            <a:gd name="adj1" fmla="val 16120"/>
            <a:gd name="adj2" fmla="val 16110"/>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0D66743-9A54-475C-A9F2-BD69759F8007}">
      <dsp:nvSpPr>
        <dsp:cNvPr id="0" name=""/>
        <dsp:cNvSpPr/>
      </dsp:nvSpPr>
      <dsp:spPr>
        <a:xfrm>
          <a:off x="7346154" y="903796"/>
          <a:ext cx="1467096" cy="1285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9530" rIns="0" bIns="49530" numCol="1" spcCol="1270" anchor="t" anchorCtr="0">
          <a:noAutofit/>
        </a:bodyPr>
        <a:lstStyle/>
        <a:p>
          <a:pPr marL="0" lvl="0" indent="0" algn="ctr" defTabSz="577850">
            <a:lnSpc>
              <a:spcPct val="90000"/>
            </a:lnSpc>
            <a:spcBef>
              <a:spcPct val="0"/>
            </a:spcBef>
            <a:spcAft>
              <a:spcPct val="35000"/>
            </a:spcAft>
            <a:buNone/>
          </a:pPr>
          <a:r>
            <a:rPr lang="es-ES" sz="1300" b="1" kern="1200" dirty="0">
              <a:solidFill>
                <a:srgbClr val="131D3F"/>
              </a:solidFill>
              <a:latin typeface="Montserrat" panose="00000500000000000000" pitchFamily="2" charset="0"/>
            </a:rPr>
            <a:t>Ajuste y mejora continua</a:t>
          </a:r>
          <a:endParaRPr lang="es-MX" sz="1300" b="1" kern="1200" dirty="0">
            <a:solidFill>
              <a:srgbClr val="131D3F"/>
            </a:solidFill>
            <a:latin typeface="Montserrat" panose="00000500000000000000" pitchFamily="2" charset="0"/>
          </a:endParaRPr>
        </a:p>
      </dsp:txBody>
      <dsp:txXfrm>
        <a:off x="7346154" y="903796"/>
        <a:ext cx="1467096" cy="1285995"/>
      </dsp:txXfrm>
    </dsp:sp>
    <dsp:sp modelId="{8A4A2425-6557-4F75-8281-5C6F8F6DA59F}">
      <dsp:nvSpPr>
        <dsp:cNvPr id="0" name=""/>
        <dsp:cNvSpPr/>
      </dsp:nvSpPr>
      <dsp:spPr>
        <a:xfrm>
          <a:off x="8536439" y="298622"/>
          <a:ext cx="276810" cy="276810"/>
        </a:xfrm>
        <a:prstGeom prst="triangle">
          <a:avLst>
            <a:gd name="adj" fmla="val 100000"/>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sp>
    <dsp:sp modelId="{FE6674BE-A39E-4AA7-9FEB-1A0231D5FBF4}">
      <dsp:nvSpPr>
        <dsp:cNvPr id="0" name=""/>
        <dsp:cNvSpPr/>
      </dsp:nvSpPr>
      <dsp:spPr>
        <a:xfrm rot="5400000">
          <a:off x="9305185" y="-26165"/>
          <a:ext cx="976600" cy="1625040"/>
        </a:xfrm>
        <a:prstGeom prst="corner">
          <a:avLst>
            <a:gd name="adj1" fmla="val 16120"/>
            <a:gd name="adj2" fmla="val 16110"/>
          </a:avLst>
        </a:prstGeom>
        <a:solidFill>
          <a:srgbClr val="2F3E46"/>
        </a:solidFill>
        <a:ln w="12700" cap="flat" cmpd="sng" algn="ctr">
          <a:solidFill>
            <a:srgbClr val="2F3E46"/>
          </a:solidFill>
          <a:prstDash val="solid"/>
          <a:miter lim="800000"/>
        </a:ln>
        <a:effectLst/>
        <a:scene3d>
          <a:camera prst="orthographicFront"/>
          <a:lightRig rig="threePt" dir="t"/>
        </a:scene3d>
        <a:sp3d>
          <a:bevelT/>
          <a:bevelB/>
        </a:sp3d>
      </dsp:spPr>
      <dsp:style>
        <a:lnRef idx="2">
          <a:scrgbClr r="0" g="0" b="0"/>
        </a:lnRef>
        <a:fillRef idx="1">
          <a:scrgbClr r="0" g="0" b="0"/>
        </a:fillRef>
        <a:effectRef idx="0">
          <a:scrgbClr r="0" g="0" b="0"/>
        </a:effectRef>
        <a:fontRef idx="minor">
          <a:schemeClr val="lt1"/>
        </a:fontRef>
      </dsp:style>
    </dsp:sp>
    <dsp:sp modelId="{32782DEC-8909-4B83-A947-9EAC217FE2BD}">
      <dsp:nvSpPr>
        <dsp:cNvPr id="0" name=""/>
        <dsp:cNvSpPr/>
      </dsp:nvSpPr>
      <dsp:spPr>
        <a:xfrm>
          <a:off x="9142166" y="459371"/>
          <a:ext cx="1467096" cy="1285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ctr" defTabSz="577850">
            <a:lnSpc>
              <a:spcPct val="90000"/>
            </a:lnSpc>
            <a:spcBef>
              <a:spcPct val="0"/>
            </a:spcBef>
            <a:spcAft>
              <a:spcPct val="35000"/>
            </a:spcAft>
            <a:buNone/>
          </a:pPr>
          <a:r>
            <a:rPr lang="es-MX" sz="1300" b="1" kern="1200" dirty="0">
              <a:solidFill>
                <a:srgbClr val="131D3F"/>
              </a:solidFill>
              <a:latin typeface="Montserrat" panose="00000500000000000000" pitchFamily="2" charset="0"/>
            </a:rPr>
            <a:t>Comunicación y transparencia</a:t>
          </a:r>
        </a:p>
      </dsp:txBody>
      <dsp:txXfrm>
        <a:off x="9142166" y="459371"/>
        <a:ext cx="1467096" cy="128599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F371F-F6F6-4240-8400-4426EBD7CE8A}">
      <dsp:nvSpPr>
        <dsp:cNvPr id="0" name=""/>
        <dsp:cNvSpPr/>
      </dsp:nvSpPr>
      <dsp:spPr>
        <a:xfrm>
          <a:off x="3383" y="318220"/>
          <a:ext cx="3298719" cy="570348"/>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MAXIMIN</a:t>
          </a:r>
          <a:endParaRPr lang="es-MX" sz="2000" b="1" kern="1200" dirty="0">
            <a:solidFill>
              <a:schemeClr val="bg1"/>
            </a:solidFill>
            <a:latin typeface="Montserrat" panose="00000500000000000000" pitchFamily="2" charset="0"/>
          </a:endParaRPr>
        </a:p>
      </dsp:txBody>
      <dsp:txXfrm>
        <a:off x="3383" y="318220"/>
        <a:ext cx="3298719" cy="570348"/>
      </dsp:txXfrm>
    </dsp:sp>
    <dsp:sp modelId="{86B503BB-B3D3-4894-99AE-49CEFC65F173}">
      <dsp:nvSpPr>
        <dsp:cNvPr id="0" name=""/>
        <dsp:cNvSpPr/>
      </dsp:nvSpPr>
      <dsp:spPr>
        <a:xfrm>
          <a:off x="3383" y="1226638"/>
          <a:ext cx="3298719" cy="2756545"/>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lvl="1" indent="0" algn="just"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También llamado Criterio Wald, consiste en elegir aquella estrategia que maximice el </a:t>
          </a:r>
          <a:r>
            <a:rPr lang="es-ES" sz="1800" b="1" kern="1200" dirty="0">
              <a:solidFill>
                <a:schemeClr val="bg1"/>
              </a:solidFill>
              <a:latin typeface="Montserrat" panose="00000500000000000000" pitchFamily="2" charset="0"/>
            </a:rPr>
            <a:t>peor de los resultados</a:t>
          </a:r>
          <a:r>
            <a:rPr lang="es-ES" sz="1800" kern="1200" dirty="0">
              <a:solidFill>
                <a:schemeClr val="bg1"/>
              </a:solidFill>
              <a:latin typeface="Montserrat" panose="00000500000000000000" pitchFamily="2" charset="0"/>
            </a:rPr>
            <a:t> posibles. Estaría asociado a una persona pesimista e intentaría proporcionar el mayor nivel de seguridad posible. </a:t>
          </a:r>
          <a:endParaRPr lang="es-MX" sz="1800" kern="1200" dirty="0">
            <a:solidFill>
              <a:schemeClr val="bg1"/>
            </a:solidFill>
            <a:latin typeface="Montserrat" panose="00000500000000000000" pitchFamily="2" charset="0"/>
          </a:endParaRPr>
        </a:p>
      </dsp:txBody>
      <dsp:txXfrm>
        <a:off x="3383" y="1226638"/>
        <a:ext cx="3298719" cy="2756545"/>
      </dsp:txXfrm>
    </dsp:sp>
    <dsp:sp modelId="{7978B78B-7A0F-46AF-89B7-E0C232C6B2A8}">
      <dsp:nvSpPr>
        <dsp:cNvPr id="0" name=""/>
        <dsp:cNvSpPr/>
      </dsp:nvSpPr>
      <dsp:spPr>
        <a:xfrm>
          <a:off x="3763923" y="318220"/>
          <a:ext cx="3298719" cy="570348"/>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MAXIMAX</a:t>
          </a:r>
          <a:endParaRPr lang="es-MX" sz="2000" b="1" kern="1200" dirty="0">
            <a:solidFill>
              <a:schemeClr val="bg1"/>
            </a:solidFill>
            <a:latin typeface="Montserrat" panose="00000500000000000000" pitchFamily="2" charset="0"/>
          </a:endParaRPr>
        </a:p>
      </dsp:txBody>
      <dsp:txXfrm>
        <a:off x="3763923" y="318220"/>
        <a:ext cx="3298719" cy="570348"/>
      </dsp:txXfrm>
    </dsp:sp>
    <dsp:sp modelId="{EAF60EAD-DBD9-4850-A3AE-387140EEDD93}">
      <dsp:nvSpPr>
        <dsp:cNvPr id="0" name=""/>
        <dsp:cNvSpPr/>
      </dsp:nvSpPr>
      <dsp:spPr>
        <a:xfrm>
          <a:off x="3763923" y="1226638"/>
          <a:ext cx="3298719" cy="2756545"/>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lvl="1" indent="0" algn="just"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Según este criterio habría que optar por aquella estrategia que maximice el </a:t>
          </a:r>
          <a:r>
            <a:rPr lang="es-ES" sz="1800" b="1" kern="1200" dirty="0">
              <a:solidFill>
                <a:schemeClr val="bg1"/>
              </a:solidFill>
              <a:latin typeface="Montserrat" panose="00000500000000000000" pitchFamily="2" charset="0"/>
            </a:rPr>
            <a:t>mejor de los resultados </a:t>
          </a:r>
          <a:r>
            <a:rPr lang="es-ES" sz="1800" kern="1200" dirty="0">
              <a:solidFill>
                <a:schemeClr val="bg1"/>
              </a:solidFill>
              <a:latin typeface="Montserrat" panose="00000500000000000000" pitchFamily="2" charset="0"/>
            </a:rPr>
            <a:t>posibles. </a:t>
          </a:r>
          <a:endParaRPr lang="es-MX" sz="1800" kern="1200" dirty="0">
            <a:solidFill>
              <a:schemeClr val="bg1"/>
            </a:solidFill>
            <a:latin typeface="Montserrat" panose="00000500000000000000" pitchFamily="2" charset="0"/>
          </a:endParaRPr>
        </a:p>
      </dsp:txBody>
      <dsp:txXfrm>
        <a:off x="3763923" y="1226638"/>
        <a:ext cx="3298719" cy="2756545"/>
      </dsp:txXfrm>
    </dsp:sp>
    <dsp:sp modelId="{3EA8024D-F738-4FF7-A744-A4F7BFF81245}">
      <dsp:nvSpPr>
        <dsp:cNvPr id="0" name=""/>
        <dsp:cNvSpPr/>
      </dsp:nvSpPr>
      <dsp:spPr>
        <a:xfrm>
          <a:off x="7524463" y="318220"/>
          <a:ext cx="3298719" cy="570348"/>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Frustración mínima</a:t>
          </a:r>
          <a:endParaRPr lang="es-MX" sz="2000" b="1" kern="1200" dirty="0">
            <a:solidFill>
              <a:schemeClr val="bg1"/>
            </a:solidFill>
            <a:latin typeface="Montserrat" panose="00000500000000000000" pitchFamily="2" charset="0"/>
          </a:endParaRPr>
        </a:p>
      </dsp:txBody>
      <dsp:txXfrm>
        <a:off x="7524463" y="318220"/>
        <a:ext cx="3298719" cy="570348"/>
      </dsp:txXfrm>
    </dsp:sp>
    <dsp:sp modelId="{73050548-397B-4500-9670-5A6F97AF363D}">
      <dsp:nvSpPr>
        <dsp:cNvPr id="0" name=""/>
        <dsp:cNvSpPr/>
      </dsp:nvSpPr>
      <dsp:spPr>
        <a:xfrm>
          <a:off x="7524463" y="1226638"/>
          <a:ext cx="3298719" cy="2756545"/>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lvl="1" indent="0" algn="just" defTabSz="977900">
            <a:lnSpc>
              <a:spcPct val="90000"/>
            </a:lnSpc>
            <a:spcBef>
              <a:spcPct val="0"/>
            </a:spcBef>
            <a:spcAft>
              <a:spcPct val="15000"/>
            </a:spcAft>
            <a:buNone/>
          </a:pPr>
          <a:r>
            <a:rPr lang="es-ES" sz="1800" kern="1200" dirty="0">
              <a:solidFill>
                <a:schemeClr val="bg1"/>
              </a:solidFill>
              <a:latin typeface="Montserrat" panose="00000500000000000000" pitchFamily="2" charset="0"/>
              <a:ea typeface="+mn-ea"/>
              <a:cs typeface="+mn-cs"/>
            </a:rPr>
            <a:t>Este criterio establece que hay que ordenar las estrategias y establecer diferencia entre el resultado obtenido y el mayor posible con cada posible situación, escogiendo la estrategia que minimice el riesgo.</a:t>
          </a:r>
          <a:endParaRPr lang="es-MX" sz="1800" kern="1200" dirty="0">
            <a:solidFill>
              <a:schemeClr val="bg1"/>
            </a:solidFill>
            <a:latin typeface="Montserrat" panose="00000500000000000000" pitchFamily="2" charset="0"/>
            <a:ea typeface="+mn-ea"/>
            <a:cs typeface="+mn-cs"/>
          </a:endParaRPr>
        </a:p>
      </dsp:txBody>
      <dsp:txXfrm>
        <a:off x="7524463" y="1226638"/>
        <a:ext cx="3298719" cy="275654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F371F-F6F6-4240-8400-4426EBD7CE8A}">
      <dsp:nvSpPr>
        <dsp:cNvPr id="0" name=""/>
        <dsp:cNvSpPr/>
      </dsp:nvSpPr>
      <dsp:spPr>
        <a:xfrm>
          <a:off x="3383" y="632898"/>
          <a:ext cx="3298719" cy="570348"/>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MAXIMIN</a:t>
          </a:r>
          <a:endParaRPr lang="es-MX" sz="2000" b="1" kern="1200" dirty="0">
            <a:solidFill>
              <a:schemeClr val="bg1"/>
            </a:solidFill>
            <a:latin typeface="Montserrat" panose="00000500000000000000" pitchFamily="2" charset="0"/>
          </a:endParaRPr>
        </a:p>
      </dsp:txBody>
      <dsp:txXfrm>
        <a:off x="3383" y="632898"/>
        <a:ext cx="3298719" cy="570348"/>
      </dsp:txXfrm>
    </dsp:sp>
    <dsp:sp modelId="{86B503BB-B3D3-4894-99AE-49CEFC65F173}">
      <dsp:nvSpPr>
        <dsp:cNvPr id="0" name=""/>
        <dsp:cNvSpPr/>
      </dsp:nvSpPr>
      <dsp:spPr>
        <a:xfrm>
          <a:off x="6780" y="1309214"/>
          <a:ext cx="3298719" cy="1409995"/>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96012" rIns="0" bIns="144018" numCol="1" spcCol="1270" anchor="ctr" anchorCtr="0">
          <a:noAutofit/>
        </a:bodyPr>
        <a:lstStyle/>
        <a:p>
          <a:pPr marL="0" lvl="1" indent="0" algn="just"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Producción: 1,000</a:t>
          </a:r>
          <a:endParaRPr lang="es-MX" sz="1800" kern="1200" dirty="0">
            <a:solidFill>
              <a:schemeClr val="bg1"/>
            </a:solidFill>
            <a:latin typeface="Montserrat" panose="00000500000000000000" pitchFamily="2" charset="0"/>
          </a:endParaRPr>
        </a:p>
        <a:p>
          <a:pPr marL="0" lvl="1" indent="0" algn="just"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Rendimiento Min: $35,000</a:t>
          </a:r>
          <a:endParaRPr lang="es-MX" sz="1800" kern="1200" dirty="0">
            <a:solidFill>
              <a:schemeClr val="bg1"/>
            </a:solidFill>
            <a:latin typeface="Montserrat" panose="00000500000000000000" pitchFamily="2" charset="0"/>
          </a:endParaRPr>
        </a:p>
        <a:p>
          <a:pPr marL="0" lvl="1" indent="0" algn="just" defTabSz="800100">
            <a:lnSpc>
              <a:spcPct val="90000"/>
            </a:lnSpc>
            <a:spcBef>
              <a:spcPct val="0"/>
            </a:spcBef>
            <a:spcAft>
              <a:spcPct val="15000"/>
            </a:spcAft>
            <a:buNone/>
          </a:pPr>
          <a:r>
            <a:rPr lang="es-ES" sz="1800" kern="1200" dirty="0">
              <a:solidFill>
                <a:schemeClr val="bg1"/>
              </a:solidFill>
              <a:latin typeface="Montserrat" panose="00000500000000000000" pitchFamily="2" charset="0"/>
            </a:rPr>
            <a:t>Rendimiento Max: $35,000</a:t>
          </a:r>
          <a:endParaRPr lang="es-MX" sz="1800" kern="1200" dirty="0">
            <a:solidFill>
              <a:schemeClr val="bg1"/>
            </a:solidFill>
            <a:latin typeface="Montserrat" panose="00000500000000000000" pitchFamily="2" charset="0"/>
          </a:endParaRPr>
        </a:p>
      </dsp:txBody>
      <dsp:txXfrm>
        <a:off x="6780" y="1309214"/>
        <a:ext cx="3298719" cy="1409995"/>
      </dsp:txXfrm>
    </dsp:sp>
    <dsp:sp modelId="{7978B78B-7A0F-46AF-89B7-E0C232C6B2A8}">
      <dsp:nvSpPr>
        <dsp:cNvPr id="0" name=""/>
        <dsp:cNvSpPr/>
      </dsp:nvSpPr>
      <dsp:spPr>
        <a:xfrm>
          <a:off x="3763923" y="632898"/>
          <a:ext cx="3298719" cy="570348"/>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MAXIMAX</a:t>
          </a:r>
          <a:endParaRPr lang="es-MX" sz="2000" b="1" kern="1200" dirty="0">
            <a:solidFill>
              <a:schemeClr val="bg1"/>
            </a:solidFill>
            <a:latin typeface="Montserrat" panose="00000500000000000000" pitchFamily="2" charset="0"/>
          </a:endParaRPr>
        </a:p>
      </dsp:txBody>
      <dsp:txXfrm>
        <a:off x="3763923" y="632898"/>
        <a:ext cx="3298719" cy="570348"/>
      </dsp:txXfrm>
    </dsp:sp>
    <dsp:sp modelId="{EAF60EAD-DBD9-4850-A3AE-387140EEDD93}">
      <dsp:nvSpPr>
        <dsp:cNvPr id="0" name=""/>
        <dsp:cNvSpPr/>
      </dsp:nvSpPr>
      <dsp:spPr>
        <a:xfrm>
          <a:off x="3767321" y="1309214"/>
          <a:ext cx="3298719" cy="1409995"/>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192024" rIns="0" bIns="288036" numCol="1" spcCol="1270" anchor="ctr" anchorCtr="0">
          <a:noAutofit/>
        </a:bodyPr>
        <a:lstStyle/>
        <a:p>
          <a:pPr marL="0" lvl="1" indent="0" algn="l" defTabSz="44450">
            <a:lnSpc>
              <a:spcPct val="90000"/>
            </a:lnSpc>
            <a:spcBef>
              <a:spcPct val="0"/>
            </a:spcBef>
            <a:spcAft>
              <a:spcPct val="15000"/>
            </a:spcAft>
            <a:buNone/>
          </a:pPr>
          <a:r>
            <a:rPr lang="es-ES" kern="1200" dirty="0">
              <a:solidFill>
                <a:schemeClr val="bg1"/>
              </a:solidFill>
              <a:latin typeface="Montserrat" panose="00000500000000000000" pitchFamily="2" charset="0"/>
            </a:rPr>
            <a:t>Producción: 1,500</a:t>
          </a:r>
          <a:endParaRPr lang="es-MX" sz="1800" kern="1200" dirty="0">
            <a:solidFill>
              <a:schemeClr val="bg1"/>
            </a:solidFill>
            <a:latin typeface="Montserrat" panose="00000500000000000000" pitchFamily="2" charset="0"/>
          </a:endParaRPr>
        </a:p>
        <a:p>
          <a:pPr marL="0" lvl="1" indent="0" algn="l" defTabSz="1600200">
            <a:lnSpc>
              <a:spcPct val="90000"/>
            </a:lnSpc>
            <a:spcBef>
              <a:spcPct val="0"/>
            </a:spcBef>
            <a:spcAft>
              <a:spcPct val="15000"/>
            </a:spcAft>
            <a:buNone/>
          </a:pPr>
          <a:r>
            <a:rPr lang="es-ES" sz="3600" kern="1200" dirty="0">
              <a:solidFill>
                <a:schemeClr val="bg1"/>
              </a:solidFill>
              <a:latin typeface="Montserrat" panose="00000500000000000000" pitchFamily="2" charset="0"/>
            </a:rPr>
            <a:t>Rendimiento Min: $27,500</a:t>
          </a:r>
          <a:endParaRPr lang="es-MX" sz="3600" kern="1200" dirty="0">
            <a:solidFill>
              <a:schemeClr val="bg1"/>
            </a:solidFill>
            <a:latin typeface="Montserrat" panose="00000500000000000000" pitchFamily="2" charset="0"/>
          </a:endParaRPr>
        </a:p>
        <a:p>
          <a:pPr marL="0" lvl="1" indent="0" algn="l" defTabSz="1600200">
            <a:lnSpc>
              <a:spcPct val="90000"/>
            </a:lnSpc>
            <a:spcBef>
              <a:spcPct val="0"/>
            </a:spcBef>
            <a:spcAft>
              <a:spcPct val="15000"/>
            </a:spcAft>
            <a:buNone/>
          </a:pPr>
          <a:r>
            <a:rPr lang="es-ES" sz="3600" kern="1200" dirty="0">
              <a:solidFill>
                <a:schemeClr val="bg1"/>
              </a:solidFill>
              <a:latin typeface="Montserrat" panose="00000500000000000000" pitchFamily="2" charset="0"/>
            </a:rPr>
            <a:t>Rendimiento Max: $52,500</a:t>
          </a:r>
          <a:endParaRPr lang="es-MX" sz="3600" kern="1200" dirty="0">
            <a:solidFill>
              <a:schemeClr val="bg1"/>
            </a:solidFill>
            <a:latin typeface="Montserrat" panose="00000500000000000000" pitchFamily="2" charset="0"/>
          </a:endParaRPr>
        </a:p>
      </dsp:txBody>
      <dsp:txXfrm>
        <a:off x="3767321" y="1309214"/>
        <a:ext cx="3298719" cy="1409995"/>
      </dsp:txXfrm>
    </dsp:sp>
    <dsp:sp modelId="{3EA8024D-F738-4FF7-A744-A4F7BFF81245}">
      <dsp:nvSpPr>
        <dsp:cNvPr id="0" name=""/>
        <dsp:cNvSpPr/>
      </dsp:nvSpPr>
      <dsp:spPr>
        <a:xfrm>
          <a:off x="7524463" y="632898"/>
          <a:ext cx="3298719" cy="570348"/>
        </a:xfrm>
        <a:prstGeom prst="rect">
          <a:avLst/>
        </a:prstGeom>
        <a:solidFill>
          <a:srgbClr val="2F3E46"/>
        </a:solidFill>
        <a:ln w="12700" cap="flat" cmpd="sng" algn="ctr">
          <a:solidFill>
            <a:schemeClr val="accent1">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Frustración mínima</a:t>
          </a:r>
          <a:endParaRPr lang="es-MX" sz="2000" b="1" kern="1200" dirty="0">
            <a:solidFill>
              <a:schemeClr val="bg1"/>
            </a:solidFill>
            <a:latin typeface="Montserrat" panose="00000500000000000000" pitchFamily="2" charset="0"/>
          </a:endParaRPr>
        </a:p>
      </dsp:txBody>
      <dsp:txXfrm>
        <a:off x="7524463" y="632898"/>
        <a:ext cx="3298719" cy="570348"/>
      </dsp:txXfrm>
    </dsp:sp>
    <dsp:sp modelId="{73050548-397B-4500-9670-5A6F97AF363D}">
      <dsp:nvSpPr>
        <dsp:cNvPr id="0" name=""/>
        <dsp:cNvSpPr/>
      </dsp:nvSpPr>
      <dsp:spPr>
        <a:xfrm>
          <a:off x="7527846" y="1309214"/>
          <a:ext cx="3298719" cy="1409995"/>
        </a:xfrm>
        <a:prstGeom prst="rect">
          <a:avLst/>
        </a:prstGeom>
        <a:solidFill>
          <a:srgbClr val="52796F"/>
        </a:solidFill>
        <a:ln w="1270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dsp:style>
      <dsp:txBody>
        <a:bodyPr spcFirstLastPara="0" vert="horz" wrap="square" lIns="0" tIns="96012" rIns="0" bIns="144018" numCol="1" spcCol="1270" anchor="ctr" anchorCtr="0">
          <a:noAutofit/>
        </a:bodyPr>
        <a:lstStyle/>
        <a:p>
          <a:pPr marL="0" lvl="1" indent="0" algn="ctr" defTabSz="977900">
            <a:lnSpc>
              <a:spcPct val="90000"/>
            </a:lnSpc>
            <a:spcBef>
              <a:spcPct val="0"/>
            </a:spcBef>
            <a:spcAft>
              <a:spcPct val="15000"/>
            </a:spcAft>
            <a:buNone/>
          </a:pPr>
          <a:r>
            <a:rPr lang="es-ES" sz="1800" b="1" kern="1200" dirty="0">
              <a:solidFill>
                <a:schemeClr val="bg1"/>
              </a:solidFill>
              <a:latin typeface="Montserrat" panose="00000500000000000000" pitchFamily="2" charset="0"/>
              <a:ea typeface="+mn-ea"/>
              <a:cs typeface="+mn-cs"/>
            </a:rPr>
            <a:t>¿¿¿???</a:t>
          </a:r>
          <a:endParaRPr lang="es-MX" sz="1800" b="1" kern="1200" dirty="0">
            <a:solidFill>
              <a:schemeClr val="bg1"/>
            </a:solidFill>
            <a:latin typeface="Montserrat" panose="00000500000000000000" pitchFamily="2" charset="0"/>
            <a:ea typeface="+mn-ea"/>
            <a:cs typeface="+mn-cs"/>
          </a:endParaRPr>
        </a:p>
      </dsp:txBody>
      <dsp:txXfrm>
        <a:off x="7527846" y="1309214"/>
        <a:ext cx="3298719" cy="140999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1406CE-9304-4F6E-812F-2A5D313AC822}">
      <dsp:nvSpPr>
        <dsp:cNvPr id="0" name=""/>
        <dsp:cNvSpPr/>
      </dsp:nvSpPr>
      <dsp:spPr>
        <a:xfrm>
          <a:off x="1354666" y="0"/>
          <a:ext cx="5418667" cy="5418667"/>
        </a:xfrm>
        <a:prstGeom prst="diamond">
          <a:avLst/>
        </a:prstGeom>
        <a:solidFill>
          <a:srgbClr val="CAD2C5">
            <a:alpha val="60000"/>
          </a:srgbClr>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dsp:style>
    </dsp:sp>
    <dsp:sp modelId="{D8355214-C708-4291-80E4-ECB4AE994B7B}">
      <dsp:nvSpPr>
        <dsp:cNvPr id="0" name=""/>
        <dsp:cNvSpPr/>
      </dsp:nvSpPr>
      <dsp:spPr>
        <a:xfrm>
          <a:off x="1869439" y="514773"/>
          <a:ext cx="2113280" cy="2113280"/>
        </a:xfrm>
        <a:prstGeom prst="roundRect">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s-ES" sz="2000" b="1" kern="1200" dirty="0">
              <a:latin typeface="Montserrat" panose="00000500000000000000" pitchFamily="2" charset="0"/>
            </a:rPr>
            <a:t>Fortalezas</a:t>
          </a:r>
        </a:p>
        <a:p>
          <a:pPr marL="0" lvl="0" indent="0" algn="ctr" defTabSz="889000">
            <a:lnSpc>
              <a:spcPct val="90000"/>
            </a:lnSpc>
            <a:spcBef>
              <a:spcPct val="0"/>
            </a:spcBef>
            <a:spcAft>
              <a:spcPct val="35000"/>
            </a:spcAft>
            <a:buNone/>
          </a:pPr>
          <a:r>
            <a:rPr lang="es-ES" sz="1700" kern="1200" dirty="0">
              <a:latin typeface="Montserrat" panose="00000500000000000000" pitchFamily="2" charset="0"/>
            </a:rPr>
            <a:t> </a:t>
          </a:r>
          <a:r>
            <a:rPr lang="es-ES" sz="1800" kern="1200" dirty="0">
              <a:latin typeface="Montserrat" panose="00000500000000000000" pitchFamily="2" charset="0"/>
            </a:rPr>
            <a:t>Aspectos </a:t>
          </a:r>
          <a:r>
            <a:rPr lang="es-ES" sz="1800" b="1" kern="1200" dirty="0">
              <a:latin typeface="Montserrat" panose="00000500000000000000" pitchFamily="2" charset="0"/>
            </a:rPr>
            <a:t>internos</a:t>
          </a:r>
          <a:r>
            <a:rPr lang="es-ES" sz="1800" kern="1200" dirty="0">
              <a:latin typeface="Montserrat" panose="00000500000000000000" pitchFamily="2" charset="0"/>
            </a:rPr>
            <a:t> y positivos que proporcionan una ventaja competitiva</a:t>
          </a:r>
          <a:endParaRPr lang="es-MX" sz="1800" kern="1200" dirty="0">
            <a:latin typeface="Montserrat" panose="00000500000000000000" pitchFamily="2" charset="0"/>
          </a:endParaRPr>
        </a:p>
      </dsp:txBody>
      <dsp:txXfrm>
        <a:off x="1972601" y="617935"/>
        <a:ext cx="1906956" cy="1906956"/>
      </dsp:txXfrm>
    </dsp:sp>
    <dsp:sp modelId="{37994ABD-B264-42AE-BE93-884EB42D14E9}">
      <dsp:nvSpPr>
        <dsp:cNvPr id="0" name=""/>
        <dsp:cNvSpPr/>
      </dsp:nvSpPr>
      <dsp:spPr>
        <a:xfrm>
          <a:off x="4145280" y="514773"/>
          <a:ext cx="2113280" cy="2113280"/>
        </a:xfrm>
        <a:prstGeom prst="roundRect">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s-ES" sz="1800" b="1" kern="1200" dirty="0">
              <a:latin typeface="Montserrat" panose="00000500000000000000" pitchFamily="2" charset="0"/>
            </a:rPr>
            <a:t>Oportunidades</a:t>
          </a:r>
        </a:p>
        <a:p>
          <a:pPr marL="0" lvl="0" indent="0" algn="ctr" defTabSz="800100">
            <a:lnSpc>
              <a:spcPct val="90000"/>
            </a:lnSpc>
            <a:spcBef>
              <a:spcPct val="0"/>
            </a:spcBef>
            <a:spcAft>
              <a:spcPct val="35000"/>
            </a:spcAft>
            <a:buNone/>
          </a:pPr>
          <a:r>
            <a:rPr lang="es-ES" sz="1700" kern="1200" dirty="0">
              <a:latin typeface="Montserrat" panose="00000500000000000000" pitchFamily="2" charset="0"/>
            </a:rPr>
            <a:t>Factores </a:t>
          </a:r>
          <a:r>
            <a:rPr lang="es-ES" sz="1700" b="1" kern="1200" dirty="0">
              <a:latin typeface="Montserrat" panose="00000500000000000000" pitchFamily="2" charset="0"/>
            </a:rPr>
            <a:t>externos</a:t>
          </a:r>
          <a:r>
            <a:rPr lang="es-ES" sz="1700" kern="1200" dirty="0">
              <a:latin typeface="Montserrat" panose="00000500000000000000" pitchFamily="2" charset="0"/>
            </a:rPr>
            <a:t> que pueden ser aprovechados para lograr beneficios o crecimiento</a:t>
          </a:r>
          <a:endParaRPr lang="es-MX" sz="1400" kern="1200" dirty="0">
            <a:latin typeface="Montserrat" panose="00000500000000000000" pitchFamily="2" charset="0"/>
          </a:endParaRPr>
        </a:p>
      </dsp:txBody>
      <dsp:txXfrm>
        <a:off x="4248442" y="617935"/>
        <a:ext cx="1906956" cy="1906956"/>
      </dsp:txXfrm>
    </dsp:sp>
    <dsp:sp modelId="{81BAD31C-319B-424A-82D8-3613A4439AA1}">
      <dsp:nvSpPr>
        <dsp:cNvPr id="0" name=""/>
        <dsp:cNvSpPr/>
      </dsp:nvSpPr>
      <dsp:spPr>
        <a:xfrm>
          <a:off x="1869439" y="2790613"/>
          <a:ext cx="2113280" cy="2113280"/>
        </a:xfrm>
        <a:prstGeom prst="roundRect">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latin typeface="Montserrat" panose="00000500000000000000" pitchFamily="2" charset="0"/>
            </a:rPr>
            <a:t>Debilidades</a:t>
          </a:r>
        </a:p>
        <a:p>
          <a:pPr marL="0" lvl="0" indent="0" algn="ctr" defTabSz="889000">
            <a:lnSpc>
              <a:spcPct val="90000"/>
            </a:lnSpc>
            <a:spcBef>
              <a:spcPct val="0"/>
            </a:spcBef>
            <a:spcAft>
              <a:spcPct val="35000"/>
            </a:spcAft>
            <a:buNone/>
          </a:pPr>
          <a:r>
            <a:rPr lang="es-ES" sz="1800" kern="1200" dirty="0">
              <a:latin typeface="Montserrat" panose="00000500000000000000" pitchFamily="2" charset="0"/>
            </a:rPr>
            <a:t>Desventajas o limitaciones </a:t>
          </a:r>
          <a:r>
            <a:rPr lang="es-ES" sz="1800" b="1" kern="1200" dirty="0">
              <a:latin typeface="Montserrat" panose="00000500000000000000" pitchFamily="2" charset="0"/>
            </a:rPr>
            <a:t>propias</a:t>
          </a:r>
          <a:r>
            <a:rPr lang="es-ES" sz="1800" kern="1200" dirty="0">
              <a:latin typeface="Montserrat" panose="00000500000000000000" pitchFamily="2" charset="0"/>
            </a:rPr>
            <a:t> que pueden afectar negativamente</a:t>
          </a:r>
          <a:endParaRPr lang="es-MX" sz="1800" kern="1200" dirty="0">
            <a:latin typeface="Montserrat" panose="00000500000000000000" pitchFamily="2" charset="0"/>
          </a:endParaRPr>
        </a:p>
      </dsp:txBody>
      <dsp:txXfrm>
        <a:off x="1972601" y="2893775"/>
        <a:ext cx="1906956" cy="1906956"/>
      </dsp:txXfrm>
    </dsp:sp>
    <dsp:sp modelId="{5461072D-6098-48C3-8C2A-5ED5D288459D}">
      <dsp:nvSpPr>
        <dsp:cNvPr id="0" name=""/>
        <dsp:cNvSpPr/>
      </dsp:nvSpPr>
      <dsp:spPr>
        <a:xfrm>
          <a:off x="4145280" y="2790613"/>
          <a:ext cx="2113280" cy="2113280"/>
        </a:xfrm>
        <a:prstGeom prst="roundRect">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latin typeface="Montserrat" panose="00000500000000000000" pitchFamily="2" charset="0"/>
            </a:rPr>
            <a:t>Amenazas</a:t>
          </a:r>
        </a:p>
        <a:p>
          <a:pPr marL="0" lvl="0" indent="0" algn="ctr" defTabSz="889000">
            <a:lnSpc>
              <a:spcPct val="90000"/>
            </a:lnSpc>
            <a:spcBef>
              <a:spcPct val="0"/>
            </a:spcBef>
            <a:spcAft>
              <a:spcPct val="35000"/>
            </a:spcAft>
            <a:buNone/>
          </a:pPr>
          <a:r>
            <a:rPr lang="es-ES" sz="1700" b="0" kern="1200" dirty="0">
              <a:latin typeface="Montserrat" panose="00000500000000000000" pitchFamily="2" charset="0"/>
            </a:rPr>
            <a:t>Factores </a:t>
          </a:r>
          <a:r>
            <a:rPr lang="es-ES" sz="1700" b="1" kern="1200" dirty="0">
              <a:latin typeface="Montserrat" panose="00000500000000000000" pitchFamily="2" charset="0"/>
            </a:rPr>
            <a:t>externos</a:t>
          </a:r>
          <a:r>
            <a:rPr lang="es-ES" sz="1700" b="0" kern="1200" dirty="0">
              <a:latin typeface="Montserrat" panose="00000500000000000000" pitchFamily="2" charset="0"/>
            </a:rPr>
            <a:t> que pueden representar riesgos o desafíos para el éxito </a:t>
          </a:r>
          <a:endParaRPr lang="es-MX" sz="1700" b="0" kern="1200" dirty="0">
            <a:latin typeface="Montserrat" panose="00000500000000000000" pitchFamily="2" charset="0"/>
          </a:endParaRPr>
        </a:p>
      </dsp:txBody>
      <dsp:txXfrm>
        <a:off x="4248442" y="2893775"/>
        <a:ext cx="1906956" cy="190695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1406CE-9304-4F6E-812F-2A5D313AC822}">
      <dsp:nvSpPr>
        <dsp:cNvPr id="0" name=""/>
        <dsp:cNvSpPr/>
      </dsp:nvSpPr>
      <dsp:spPr>
        <a:xfrm>
          <a:off x="1354666" y="0"/>
          <a:ext cx="5418667" cy="5418667"/>
        </a:xfrm>
        <a:prstGeom prst="diamond">
          <a:avLst/>
        </a:prstGeom>
        <a:solidFill>
          <a:srgbClr val="CAD2C5">
            <a:alpha val="60000"/>
          </a:srgbClr>
        </a:solidFill>
        <a:ln>
          <a:noFill/>
        </a:ln>
        <a:effectLst/>
        <a:scene3d>
          <a:camera prst="orthographicFront"/>
          <a:lightRig rig="threePt" dir="t"/>
        </a:scene3d>
        <a:sp3d>
          <a:bevelT/>
        </a:sp3d>
      </dsp:spPr>
      <dsp:style>
        <a:lnRef idx="0">
          <a:scrgbClr r="0" g="0" b="0"/>
        </a:lnRef>
        <a:fillRef idx="1">
          <a:scrgbClr r="0" g="0" b="0"/>
        </a:fillRef>
        <a:effectRef idx="0">
          <a:scrgbClr r="0" g="0" b="0"/>
        </a:effectRef>
        <a:fontRef idx="minor"/>
      </dsp:style>
    </dsp:sp>
    <dsp:sp modelId="{D8355214-C708-4291-80E4-ECB4AE994B7B}">
      <dsp:nvSpPr>
        <dsp:cNvPr id="0" name=""/>
        <dsp:cNvSpPr/>
      </dsp:nvSpPr>
      <dsp:spPr>
        <a:xfrm>
          <a:off x="1869439" y="514773"/>
          <a:ext cx="2113280" cy="2113280"/>
        </a:xfrm>
        <a:prstGeom prst="roundRect">
          <a:avLst/>
        </a:prstGeom>
        <a:solidFill>
          <a:srgbClr val="2F3E46"/>
        </a:solidFill>
        <a:ln w="12700" cap="flat" cmpd="sng" algn="ctr">
          <a:solidFill>
            <a:srgbClr val="2F3E46"/>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200400">
            <a:lnSpc>
              <a:spcPct val="90000"/>
            </a:lnSpc>
            <a:spcBef>
              <a:spcPct val="0"/>
            </a:spcBef>
            <a:spcAft>
              <a:spcPct val="35000"/>
            </a:spcAft>
            <a:buNone/>
          </a:pPr>
          <a:r>
            <a:rPr lang="es-ES" sz="7200" b="1" kern="1200" dirty="0">
              <a:latin typeface="Montserrat" panose="00000500000000000000" pitchFamily="2" charset="0"/>
            </a:rPr>
            <a:t>F</a:t>
          </a:r>
          <a:endParaRPr lang="es-MX" sz="7200" kern="1200" dirty="0">
            <a:latin typeface="Montserrat" panose="00000500000000000000" pitchFamily="2" charset="0"/>
          </a:endParaRPr>
        </a:p>
      </dsp:txBody>
      <dsp:txXfrm>
        <a:off x="1972601" y="617935"/>
        <a:ext cx="1906956" cy="1906956"/>
      </dsp:txXfrm>
    </dsp:sp>
    <dsp:sp modelId="{37994ABD-B264-42AE-BE93-884EB42D14E9}">
      <dsp:nvSpPr>
        <dsp:cNvPr id="0" name=""/>
        <dsp:cNvSpPr/>
      </dsp:nvSpPr>
      <dsp:spPr>
        <a:xfrm>
          <a:off x="4145280" y="514773"/>
          <a:ext cx="2113280" cy="2113280"/>
        </a:xfrm>
        <a:prstGeom prst="roundRect">
          <a:avLst/>
        </a:prstGeom>
        <a:solidFill>
          <a:srgbClr val="354F52"/>
        </a:solidFill>
        <a:ln w="12700" cap="flat" cmpd="sng" algn="ctr">
          <a:solidFill>
            <a:srgbClr val="354F52"/>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200400">
            <a:lnSpc>
              <a:spcPct val="90000"/>
            </a:lnSpc>
            <a:spcBef>
              <a:spcPct val="0"/>
            </a:spcBef>
            <a:spcAft>
              <a:spcPct val="35000"/>
            </a:spcAft>
            <a:buNone/>
          </a:pPr>
          <a:r>
            <a:rPr lang="es-ES" sz="7200" b="1" kern="1200" dirty="0">
              <a:latin typeface="Montserrat" panose="00000500000000000000" pitchFamily="2" charset="0"/>
            </a:rPr>
            <a:t>O</a:t>
          </a:r>
          <a:endParaRPr lang="es-MX" sz="7200" kern="1200" dirty="0">
            <a:latin typeface="Montserrat" panose="00000500000000000000" pitchFamily="2" charset="0"/>
          </a:endParaRPr>
        </a:p>
      </dsp:txBody>
      <dsp:txXfrm>
        <a:off x="4248442" y="617935"/>
        <a:ext cx="1906956" cy="1906956"/>
      </dsp:txXfrm>
    </dsp:sp>
    <dsp:sp modelId="{81BAD31C-319B-424A-82D8-3613A4439AA1}">
      <dsp:nvSpPr>
        <dsp:cNvPr id="0" name=""/>
        <dsp:cNvSpPr/>
      </dsp:nvSpPr>
      <dsp:spPr>
        <a:xfrm>
          <a:off x="1869439" y="2790613"/>
          <a:ext cx="2113280" cy="2113280"/>
        </a:xfrm>
        <a:prstGeom prst="roundRect">
          <a:avLst/>
        </a:prstGeom>
        <a:solidFill>
          <a:srgbClr val="52796F"/>
        </a:solidFill>
        <a:ln w="12700" cap="flat" cmpd="sng" algn="ctr">
          <a:solidFill>
            <a:srgbClr val="52796F"/>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274320" rIns="0" bIns="274320" numCol="1" spcCol="1270" anchor="ctr" anchorCtr="0">
          <a:noAutofit/>
        </a:bodyPr>
        <a:lstStyle/>
        <a:p>
          <a:pPr marL="0" lvl="0" indent="0" algn="ctr" defTabSz="3200400">
            <a:lnSpc>
              <a:spcPct val="90000"/>
            </a:lnSpc>
            <a:spcBef>
              <a:spcPct val="0"/>
            </a:spcBef>
            <a:spcAft>
              <a:spcPct val="35000"/>
            </a:spcAft>
            <a:buNone/>
          </a:pPr>
          <a:r>
            <a:rPr lang="es-ES" sz="7200" b="1" kern="1200" dirty="0">
              <a:latin typeface="Montserrat" panose="00000500000000000000" pitchFamily="2" charset="0"/>
            </a:rPr>
            <a:t>D</a:t>
          </a:r>
          <a:endParaRPr lang="es-MX" sz="7200" kern="1200" dirty="0">
            <a:latin typeface="Montserrat" panose="00000500000000000000" pitchFamily="2" charset="0"/>
          </a:endParaRPr>
        </a:p>
      </dsp:txBody>
      <dsp:txXfrm>
        <a:off x="1972601" y="2893775"/>
        <a:ext cx="1906956" cy="1906956"/>
      </dsp:txXfrm>
    </dsp:sp>
    <dsp:sp modelId="{5461072D-6098-48C3-8C2A-5ED5D288459D}">
      <dsp:nvSpPr>
        <dsp:cNvPr id="0" name=""/>
        <dsp:cNvSpPr/>
      </dsp:nvSpPr>
      <dsp:spPr>
        <a:xfrm>
          <a:off x="4145280" y="2790613"/>
          <a:ext cx="2113280" cy="2113280"/>
        </a:xfrm>
        <a:prstGeom prst="roundRect">
          <a:avLst/>
        </a:prstGeom>
        <a:solidFill>
          <a:srgbClr val="84A98C"/>
        </a:solidFill>
        <a:ln w="12700" cap="flat" cmpd="sng" algn="ctr">
          <a:solidFill>
            <a:srgbClr val="84A98C"/>
          </a:solidFill>
          <a:prstDash val="solid"/>
          <a:miter lim="800000"/>
        </a:ln>
        <a:effectLst/>
        <a:scene3d>
          <a:camera prst="orthographicFront"/>
          <a:lightRig rig="threePt" dir="t"/>
        </a:scene3d>
        <a:sp3d>
          <a:bevelT/>
        </a:sp3d>
      </dsp:spPr>
      <dsp:style>
        <a:lnRef idx="2">
          <a:scrgbClr r="0" g="0" b="0"/>
        </a:lnRef>
        <a:fillRef idx="1">
          <a:scrgbClr r="0" g="0" b="0"/>
        </a:fillRef>
        <a:effectRef idx="0">
          <a:scrgbClr r="0" g="0" b="0"/>
        </a:effectRef>
        <a:fontRef idx="minor">
          <a:schemeClr val="lt1"/>
        </a:fontRef>
      </dsp:style>
      <dsp:txBody>
        <a:bodyPr spcFirstLastPara="0" vert="horz" wrap="square" lIns="0" tIns="274320" rIns="0" bIns="274320" numCol="1" spcCol="1270" anchor="ctr" anchorCtr="0">
          <a:noAutofit/>
        </a:bodyPr>
        <a:lstStyle/>
        <a:p>
          <a:pPr marL="0" lvl="0" indent="0" algn="ctr" defTabSz="3200400">
            <a:lnSpc>
              <a:spcPct val="90000"/>
            </a:lnSpc>
            <a:spcBef>
              <a:spcPct val="0"/>
            </a:spcBef>
            <a:spcAft>
              <a:spcPct val="35000"/>
            </a:spcAft>
            <a:buNone/>
          </a:pPr>
          <a:r>
            <a:rPr lang="es-ES" sz="7200" b="1" kern="1200" dirty="0">
              <a:latin typeface="Montserrat" panose="00000500000000000000" pitchFamily="2" charset="0"/>
            </a:rPr>
            <a:t>A</a:t>
          </a:r>
          <a:endParaRPr lang="es-MX" sz="7200" b="0" kern="1200" dirty="0">
            <a:latin typeface="Montserrat" panose="00000500000000000000" pitchFamily="2" charset="0"/>
          </a:endParaRPr>
        </a:p>
      </dsp:txBody>
      <dsp:txXfrm>
        <a:off x="4248442" y="2893775"/>
        <a:ext cx="1906956" cy="1906956"/>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8.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9.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0.04831</cdr:x>
      <cdr:y>0.18509</cdr:y>
    </cdr:from>
    <cdr:to>
      <cdr:x>0.94161</cdr:x>
      <cdr:y>0.81498</cdr:y>
    </cdr:to>
    <cdr:cxnSp macro="">
      <cdr:nvCxnSpPr>
        <cdr:cNvPr id="2" name="Conector recto 1">
          <a:extLst xmlns:a="http://schemas.openxmlformats.org/drawingml/2006/main">
            <a:ext uri="{FF2B5EF4-FFF2-40B4-BE49-F238E27FC236}">
              <a16:creationId xmlns:a16="http://schemas.microsoft.com/office/drawing/2014/main" id="{8DACBDCE-A0D9-4A23-8FDB-6ADBBF6F66C6}"/>
            </a:ext>
          </a:extLst>
        </cdr:cNvPr>
        <cdr:cNvCxnSpPr/>
      </cdr:nvCxnSpPr>
      <cdr:spPr>
        <a:xfrm xmlns:a="http://schemas.openxmlformats.org/drawingml/2006/main" flipV="1">
          <a:off x="411273" y="731238"/>
          <a:ext cx="7604204" cy="2488494"/>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BDAFBA-C4C9-11A0-355A-5955EB00E4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C9987109-358E-DC43-304D-32A603AB35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DAF56DCE-EBF4-9BCA-EA06-4536A13B93E8}"/>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5" name="Marcador de pie de página 4">
            <a:extLst>
              <a:ext uri="{FF2B5EF4-FFF2-40B4-BE49-F238E27FC236}">
                <a16:creationId xmlns:a16="http://schemas.microsoft.com/office/drawing/2014/main" id="{A0B8EA1D-88F9-6965-EA14-87609AE4484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F85A0C-56FB-6C6E-F483-1AB8CA4852ED}"/>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49874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E147E7-D799-5543-A003-16B4D3BAADC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AC09F90-E40E-AC44-EEE8-DC427B9A6B2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48C93B6-631B-0D12-D857-9003FF61AA5C}"/>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5" name="Marcador de pie de página 4">
            <a:extLst>
              <a:ext uri="{FF2B5EF4-FFF2-40B4-BE49-F238E27FC236}">
                <a16:creationId xmlns:a16="http://schemas.microsoft.com/office/drawing/2014/main" id="{20DD3AA8-8ED7-346A-FCD9-D33241901BB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F09291B-D4C4-FD25-D438-FAD1E1C64A8B}"/>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1703900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3D8040-A772-4908-BF18-AFF7FE0330D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2083DAA-9147-FC25-7031-4F309ACCBF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E618FEE-8E5F-9FC5-78BA-4FE59C80C490}"/>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5" name="Marcador de pie de página 4">
            <a:extLst>
              <a:ext uri="{FF2B5EF4-FFF2-40B4-BE49-F238E27FC236}">
                <a16:creationId xmlns:a16="http://schemas.microsoft.com/office/drawing/2014/main" id="{60DF07E0-9259-36FC-7925-05F56E8A464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101B842-3D51-9213-F176-A1F6C7C57B14}"/>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1838654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11F48E-9A35-AAC0-EAB4-7F23E9DCFF4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A960944-FA24-210A-9166-0F87A564225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44DD02B-1220-902E-4A14-0C67A8807CC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F8E424FE-5680-7ABB-FD92-95C48885FA9A}"/>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6" name="Marcador de pie de página 5">
            <a:extLst>
              <a:ext uri="{FF2B5EF4-FFF2-40B4-BE49-F238E27FC236}">
                <a16:creationId xmlns:a16="http://schemas.microsoft.com/office/drawing/2014/main" id="{C9D4574B-17C2-F4B9-8554-96EB9906D45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EFF948D-9B25-70C4-E393-63ABE36815B5}"/>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59485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C0C396-0308-2798-9832-28E8BFCEFC0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4840828-5A95-AC58-16B4-EC835074E3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0DE111C-7D0E-9F4A-5324-32A1615DC0E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96B5142-2B22-608F-B436-303B5B49B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242E9AB-69B1-C68B-E57D-728E83B5EA6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2DD11D4-67DA-4090-4759-46509C41B6F9}"/>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8" name="Marcador de pie de página 7">
            <a:extLst>
              <a:ext uri="{FF2B5EF4-FFF2-40B4-BE49-F238E27FC236}">
                <a16:creationId xmlns:a16="http://schemas.microsoft.com/office/drawing/2014/main" id="{A54B257D-1933-670E-D16E-5017D50EDB1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BD378BD-D48F-5A72-E6BD-0B041F95867D}"/>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1248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7BEFCF-6AF6-D837-6742-3D4B8B88FD2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571557F-3B24-4F43-BBDC-E09409948505}"/>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4" name="Marcador de pie de página 3">
            <a:extLst>
              <a:ext uri="{FF2B5EF4-FFF2-40B4-BE49-F238E27FC236}">
                <a16:creationId xmlns:a16="http://schemas.microsoft.com/office/drawing/2014/main" id="{0984D8F2-E2D4-0E3C-6C0E-9F924152F81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D310BF4-C74A-3E7D-D731-37DA2FE4BB1C}"/>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360150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6816E85-FD32-F21F-59CC-E3FC03AF9795}"/>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3" name="Marcador de pie de página 2">
            <a:extLst>
              <a:ext uri="{FF2B5EF4-FFF2-40B4-BE49-F238E27FC236}">
                <a16:creationId xmlns:a16="http://schemas.microsoft.com/office/drawing/2014/main" id="{B825FBAA-756C-7AA8-EECB-AC0F3C2340EE}"/>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FD8E480-043A-93FF-8825-98CC5487FEF7}"/>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129256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1A801F-2E3C-D822-ADA4-9AFAFE3F937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21F1408-FE09-437C-71F8-5BF1E054C8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C462A08E-9E3D-2ED5-36B2-34E499898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3DCD1E9-AF34-238E-62EA-68BA655C3AC2}"/>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6" name="Marcador de pie de página 5">
            <a:extLst>
              <a:ext uri="{FF2B5EF4-FFF2-40B4-BE49-F238E27FC236}">
                <a16:creationId xmlns:a16="http://schemas.microsoft.com/office/drawing/2014/main" id="{3371335C-4B13-0A91-AF91-43F216DE74D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F7E0D34-E9BF-E670-8CBE-327DA958767D}"/>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1296504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8104A-0C3A-B912-17C2-6BDD36B45A4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94E5B70-07F6-DB92-4709-FA76C4563C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84586C9-D1A7-0124-E551-96C63F5BF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5D365F8-B1F4-944F-A512-96DFE0F66DD3}"/>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6" name="Marcador de pie de página 5">
            <a:extLst>
              <a:ext uri="{FF2B5EF4-FFF2-40B4-BE49-F238E27FC236}">
                <a16:creationId xmlns:a16="http://schemas.microsoft.com/office/drawing/2014/main" id="{54C3328D-56A3-B1F5-A148-F8C3FBE7E8F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957EC45-3638-60AB-7EDB-806900DAD060}"/>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61006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E805A0-063A-AFCA-832E-13C825912F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0A2683C-C45C-64B0-35EF-8120F917CAD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E34F61D-9694-C2FA-45A5-D330CA6F9F9A}"/>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5" name="Marcador de pie de página 4">
            <a:extLst>
              <a:ext uri="{FF2B5EF4-FFF2-40B4-BE49-F238E27FC236}">
                <a16:creationId xmlns:a16="http://schemas.microsoft.com/office/drawing/2014/main" id="{9C78172F-3194-E489-D6E6-1DC50280B22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418F4C-F18D-95D1-C5C6-35A419F4510E}"/>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29209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B2FD5D1-4836-FD8C-F32D-8DA68F9EFEC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65769B7-F9BB-60DF-87A0-2A7AE0B49DC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B195614-CF5B-034A-4647-60FD9E4075E7}"/>
              </a:ext>
            </a:extLst>
          </p:cNvPr>
          <p:cNvSpPr>
            <a:spLocks noGrp="1"/>
          </p:cNvSpPr>
          <p:nvPr>
            <p:ph type="dt" sz="half" idx="10"/>
          </p:nvPr>
        </p:nvSpPr>
        <p:spPr/>
        <p:txBody>
          <a:bodyPr/>
          <a:lstStyle/>
          <a:p>
            <a:fld id="{4C6C250B-7DD2-4FFC-AB5B-E6BC66DCCCAA}" type="datetimeFigureOut">
              <a:rPr lang="es-MX" smtClean="0"/>
              <a:t>22/11/2024</a:t>
            </a:fld>
            <a:endParaRPr lang="es-MX"/>
          </a:p>
        </p:txBody>
      </p:sp>
      <p:sp>
        <p:nvSpPr>
          <p:cNvPr id="5" name="Marcador de pie de página 4">
            <a:extLst>
              <a:ext uri="{FF2B5EF4-FFF2-40B4-BE49-F238E27FC236}">
                <a16:creationId xmlns:a16="http://schemas.microsoft.com/office/drawing/2014/main" id="{8C101743-6E32-D74C-9309-97C819BCC00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4D13D41-0C9F-2C81-77D4-C9D3CDCC8994}"/>
              </a:ext>
            </a:extLst>
          </p:cNvPr>
          <p:cNvSpPr>
            <a:spLocks noGrp="1"/>
          </p:cNvSpPr>
          <p:nvPr>
            <p:ph type="sldNum" sz="quarter" idx="12"/>
          </p:nvPr>
        </p:nvSpPr>
        <p:spPr/>
        <p:txBody>
          <a:bodyPr/>
          <a:lstStyle/>
          <a:p>
            <a:fld id="{4C3E97DE-F4D1-47E0-AF60-7A701AC36D66}" type="slidenum">
              <a:rPr lang="es-MX" smtClean="0"/>
              <a:t>‹Nº›</a:t>
            </a:fld>
            <a:endParaRPr lang="es-MX"/>
          </a:p>
        </p:txBody>
      </p:sp>
    </p:spTree>
    <p:extLst>
      <p:ext uri="{BB962C8B-B14F-4D97-AF65-F5344CB8AC3E}">
        <p14:creationId xmlns:p14="http://schemas.microsoft.com/office/powerpoint/2010/main" val="354393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2115E2B-8CD8-800F-199E-37619583D2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ECCB3D-32AD-CC3C-54C7-8FCFC3AEA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2ABAEAA-8CD5-6E49-FA30-9DE0ADA98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6C250B-7DD2-4FFC-AB5B-E6BC66DCCCAA}" type="datetimeFigureOut">
              <a:rPr lang="es-MX" smtClean="0"/>
              <a:t>22/11/2024</a:t>
            </a:fld>
            <a:endParaRPr lang="es-MX"/>
          </a:p>
        </p:txBody>
      </p:sp>
      <p:sp>
        <p:nvSpPr>
          <p:cNvPr id="5" name="Marcador de pie de página 4">
            <a:extLst>
              <a:ext uri="{FF2B5EF4-FFF2-40B4-BE49-F238E27FC236}">
                <a16:creationId xmlns:a16="http://schemas.microsoft.com/office/drawing/2014/main" id="{FD4C4CC3-77AE-C6A4-BF28-2BBFA21BF3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781ED7C3-03E5-772B-9B2A-2C9DD3ECC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3E97DE-F4D1-47E0-AF60-7A701AC36D66}" type="slidenum">
              <a:rPr lang="es-MX" smtClean="0"/>
              <a:t>‹Nº›</a:t>
            </a:fld>
            <a:endParaRPr lang="es-MX"/>
          </a:p>
        </p:txBody>
      </p:sp>
    </p:spTree>
    <p:extLst>
      <p:ext uri="{BB962C8B-B14F-4D97-AF65-F5344CB8AC3E}">
        <p14:creationId xmlns:p14="http://schemas.microsoft.com/office/powerpoint/2010/main" val="1654487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hyperlink" Target="https://www.youtube.com/watch?v=Z3_f6a-YrY8" TargetMode="External"/><Relationship Id="rId4" Type="http://schemas.openxmlformats.org/officeDocument/2006/relationships/hyperlink" Target="https://www.youtube.com/watch?v=kXXW8yzqRZc"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18" Type="http://schemas.openxmlformats.org/officeDocument/2006/relationships/image" Target="../media/image22.png"/><Relationship Id="rId3" Type="http://schemas.openxmlformats.org/officeDocument/2006/relationships/image" Target="../media/image6.png"/><Relationship Id="rId21" Type="http://schemas.openxmlformats.org/officeDocument/2006/relationships/image" Target="../media/image25.svg"/><Relationship Id="rId7" Type="http://schemas.openxmlformats.org/officeDocument/2006/relationships/image" Target="../media/image11.svg"/><Relationship Id="rId12" Type="http://schemas.openxmlformats.org/officeDocument/2006/relationships/image" Target="../media/image16.png"/><Relationship Id="rId17" Type="http://schemas.openxmlformats.org/officeDocument/2006/relationships/image" Target="../media/image21.svg"/><Relationship Id="rId2" Type="http://schemas.openxmlformats.org/officeDocument/2006/relationships/image" Target="../media/image8.jp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5" Type="http://schemas.openxmlformats.org/officeDocument/2006/relationships/image" Target="../media/image19.svg"/><Relationship Id="rId10" Type="http://schemas.openxmlformats.org/officeDocument/2006/relationships/image" Target="../media/image14.png"/><Relationship Id="rId19" Type="http://schemas.openxmlformats.org/officeDocument/2006/relationships/image" Target="../media/image23.svg"/><Relationship Id="rId4" Type="http://schemas.openxmlformats.org/officeDocument/2006/relationships/image" Target="../media/image7.svg"/><Relationship Id="rId9" Type="http://schemas.openxmlformats.org/officeDocument/2006/relationships/image" Target="../media/image13.sv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9.jpeg"/><Relationship Id="rId13" Type="http://schemas.microsoft.com/office/2007/relationships/hdphoto" Target="../media/hdphoto1.wdp"/><Relationship Id="rId3" Type="http://schemas.openxmlformats.org/officeDocument/2006/relationships/image" Target="../media/image6.png"/><Relationship Id="rId7" Type="http://schemas.openxmlformats.org/officeDocument/2006/relationships/image" Target="../media/image28.jpeg"/><Relationship Id="rId12" Type="http://schemas.openxmlformats.org/officeDocument/2006/relationships/image" Target="../media/image33.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27.jpeg"/><Relationship Id="rId11" Type="http://schemas.openxmlformats.org/officeDocument/2006/relationships/image" Target="../media/image32.jpeg"/><Relationship Id="rId5" Type="http://schemas.openxmlformats.org/officeDocument/2006/relationships/image" Target="../media/image26.jpeg"/><Relationship Id="rId15" Type="http://schemas.openxmlformats.org/officeDocument/2006/relationships/image" Target="../media/image35.jpeg"/><Relationship Id="rId10" Type="http://schemas.openxmlformats.org/officeDocument/2006/relationships/image" Target="../media/image31.jpeg"/><Relationship Id="rId4" Type="http://schemas.openxmlformats.org/officeDocument/2006/relationships/image" Target="../media/image7.svg"/><Relationship Id="rId9" Type="http://schemas.openxmlformats.org/officeDocument/2006/relationships/image" Target="../media/image30.jpeg"/><Relationship Id="rId14" Type="http://schemas.openxmlformats.org/officeDocument/2006/relationships/image" Target="../media/image34.jpe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6.png"/><Relationship Id="rId7" Type="http://schemas.openxmlformats.org/officeDocument/2006/relationships/diagramQuickStyle" Target="../diagrams/quickStyle1.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sv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6.png"/><Relationship Id="rId7" Type="http://schemas.openxmlformats.org/officeDocument/2006/relationships/diagramQuickStyle" Target="../diagrams/quickStyle2.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slide" Target="slide214.xml"/><Relationship Id="rId4" Type="http://schemas.openxmlformats.org/officeDocument/2006/relationships/image" Target="../media/image7.svg"/><Relationship Id="rId9" Type="http://schemas.microsoft.com/office/2007/relationships/diagramDrawing" Target="../diagrams/drawing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6.png"/><Relationship Id="rId7" Type="http://schemas.openxmlformats.org/officeDocument/2006/relationships/diagramQuickStyle" Target="../diagrams/quickStyle3.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7.svg"/><Relationship Id="rId9" Type="http://schemas.microsoft.com/office/2007/relationships/diagramDrawing" Target="../diagrams/drawing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37.jpe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6.png"/><Relationship Id="rId7" Type="http://schemas.openxmlformats.org/officeDocument/2006/relationships/diagramQuickStyle" Target="../diagrams/quickStyle4.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4.xml"/><Relationship Id="rId5" Type="http://schemas.openxmlformats.org/officeDocument/2006/relationships/diagramData" Target="../diagrams/data4.xml"/><Relationship Id="rId10" Type="http://schemas.openxmlformats.org/officeDocument/2006/relationships/slide" Target="slide217.xml"/><Relationship Id="rId4" Type="http://schemas.openxmlformats.org/officeDocument/2006/relationships/image" Target="../media/image7.svg"/><Relationship Id="rId9" Type="http://schemas.microsoft.com/office/2007/relationships/diagramDrawing" Target="../diagrams/drawing4.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6.png"/><Relationship Id="rId7" Type="http://schemas.openxmlformats.org/officeDocument/2006/relationships/diagramQuickStyle" Target="../diagrams/quickStyle5.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7.svg"/><Relationship Id="rId9" Type="http://schemas.microsoft.com/office/2007/relationships/diagramDrawing" Target="../diagrams/drawing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23.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6.png"/><Relationship Id="rId7" Type="http://schemas.openxmlformats.org/officeDocument/2006/relationships/image" Target="../media/image42.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6.png"/><Relationship Id="rId7" Type="http://schemas.openxmlformats.org/officeDocument/2006/relationships/image" Target="../media/image51.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5.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7.sv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slide" Target="slide16.xml"/><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8.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38.jpeg"/><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39.jpeg"/><Relationship Id="rId4" Type="http://schemas.openxmlformats.org/officeDocument/2006/relationships/image" Target="../media/image7.sv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7.svg"/></Relationships>
</file>

<file path=ppt/slides/_rels/slide3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png"/><Relationship Id="rId7" Type="http://schemas.openxmlformats.org/officeDocument/2006/relationships/image" Target="../media/image62.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7.svg"/></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6.png"/><Relationship Id="rId7" Type="http://schemas.openxmlformats.org/officeDocument/2006/relationships/diagramQuickStyle" Target="../diagrams/quickStyle6.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7.svg"/><Relationship Id="rId9" Type="http://schemas.microsoft.com/office/2007/relationships/diagramDrawing" Target="../diagrams/drawing6.xml"/></Relationships>
</file>

<file path=ppt/slides/_rels/slide32.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6.png"/><Relationship Id="rId7" Type="http://schemas.openxmlformats.org/officeDocument/2006/relationships/diagramQuickStyle" Target="../diagrams/quickStyle7.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7.svg"/><Relationship Id="rId9" Type="http://schemas.microsoft.com/office/2007/relationships/diagramDrawing" Target="../diagrams/drawing7.xml"/></Relationships>
</file>

<file path=ppt/slides/_rels/slide33.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6.png"/><Relationship Id="rId7" Type="http://schemas.openxmlformats.org/officeDocument/2006/relationships/diagramQuickStyle" Target="../diagrams/quickStyle8.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7.svg"/><Relationship Id="rId9" Type="http://schemas.microsoft.com/office/2007/relationships/diagramDrawing" Target="../diagrams/drawing8.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3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png"/><Relationship Id="rId7" Type="http://schemas.openxmlformats.org/officeDocument/2006/relationships/image" Target="../media/image67.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7.sv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1.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7.sv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65.jpeg"/><Relationship Id="rId4" Type="http://schemas.openxmlformats.org/officeDocument/2006/relationships/image" Target="../media/image7.svg"/></Relationships>
</file>

<file path=ppt/slides/_rels/slide40.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6.png"/><Relationship Id="rId7" Type="http://schemas.openxmlformats.org/officeDocument/2006/relationships/diagramQuickStyle" Target="../diagrams/quickStyle9.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7.svg"/><Relationship Id="rId9" Type="http://schemas.microsoft.com/office/2007/relationships/diagramDrawing" Target="../diagrams/drawing9.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7.sv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45.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6.png"/><Relationship Id="rId7" Type="http://schemas.openxmlformats.org/officeDocument/2006/relationships/diagramQuickStyle" Target="../diagrams/quickStyle10.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7.svg"/><Relationship Id="rId9" Type="http://schemas.microsoft.com/office/2007/relationships/diagramDrawing" Target="../diagrams/drawing10.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73.jpeg"/><Relationship Id="rId5" Type="http://schemas.openxmlformats.org/officeDocument/2006/relationships/image" Target="../media/image72.png"/><Relationship Id="rId4" Type="http://schemas.openxmlformats.org/officeDocument/2006/relationships/image" Target="../media/image7.sv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74.jpeg"/><Relationship Id="rId4" Type="http://schemas.openxmlformats.org/officeDocument/2006/relationships/image" Target="../media/image7.sv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7.jpe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svg"/></Relationships>
</file>

<file path=ppt/slides/_rels/slide50.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6.png"/><Relationship Id="rId7" Type="http://schemas.openxmlformats.org/officeDocument/2006/relationships/diagramQuickStyle" Target="../diagrams/quickStyle11.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7.svg"/><Relationship Id="rId9" Type="http://schemas.microsoft.com/office/2007/relationships/diagramDrawing" Target="../diagrams/drawing11.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6.png"/><Relationship Id="rId7" Type="http://schemas.openxmlformats.org/officeDocument/2006/relationships/diagramQuickStyle" Target="../diagrams/quickStyle12.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7.svg"/><Relationship Id="rId9" Type="http://schemas.microsoft.com/office/2007/relationships/diagramDrawing" Target="../diagrams/drawing12.xml"/></Relationships>
</file>

<file path=ppt/slides/_rels/slide54.xml.rels><?xml version="1.0" encoding="UTF-8" standalone="yes"?>
<Relationships xmlns="http://schemas.openxmlformats.org/package/2006/relationships"><Relationship Id="rId8" Type="http://schemas.openxmlformats.org/officeDocument/2006/relationships/image" Target="../media/image81.svg"/><Relationship Id="rId13" Type="http://schemas.openxmlformats.org/officeDocument/2006/relationships/image" Target="../media/image86.png"/><Relationship Id="rId18" Type="http://schemas.openxmlformats.org/officeDocument/2006/relationships/image" Target="../media/image91.png"/><Relationship Id="rId3" Type="http://schemas.openxmlformats.org/officeDocument/2006/relationships/image" Target="../media/image6.png"/><Relationship Id="rId7" Type="http://schemas.openxmlformats.org/officeDocument/2006/relationships/image" Target="../media/image80.svg"/><Relationship Id="rId12" Type="http://schemas.openxmlformats.org/officeDocument/2006/relationships/image" Target="../media/image85.svg"/><Relationship Id="rId17" Type="http://schemas.openxmlformats.org/officeDocument/2006/relationships/image" Target="../media/image90.png"/><Relationship Id="rId2" Type="http://schemas.openxmlformats.org/officeDocument/2006/relationships/image" Target="../media/image8.jpg"/><Relationship Id="rId16" Type="http://schemas.openxmlformats.org/officeDocument/2006/relationships/image" Target="../media/image89.svg"/><Relationship Id="rId1" Type="http://schemas.openxmlformats.org/officeDocument/2006/relationships/slideLayout" Target="../slideLayouts/slideLayout4.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jpeg"/><Relationship Id="rId15" Type="http://schemas.openxmlformats.org/officeDocument/2006/relationships/image" Target="../media/image88.png"/><Relationship Id="rId10" Type="http://schemas.openxmlformats.org/officeDocument/2006/relationships/image" Target="../media/image83.svg"/><Relationship Id="rId4" Type="http://schemas.openxmlformats.org/officeDocument/2006/relationships/image" Target="../media/image7.svg"/><Relationship Id="rId9" Type="http://schemas.openxmlformats.org/officeDocument/2006/relationships/image" Target="../media/image82.png"/><Relationship Id="rId14" Type="http://schemas.openxmlformats.org/officeDocument/2006/relationships/image" Target="../media/image87.sv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slide" Target="slide99.xml"/><Relationship Id="rId4" Type="http://schemas.openxmlformats.org/officeDocument/2006/relationships/image" Target="../media/image7.svg"/></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57.xml.rels><?xml version="1.0" encoding="UTF-8" standalone="yes"?>
<Relationships xmlns="http://schemas.openxmlformats.org/package/2006/relationships"><Relationship Id="rId8" Type="http://schemas.openxmlformats.org/officeDocument/2006/relationships/diagramColors" Target="../diagrams/colors13.xml"/><Relationship Id="rId13" Type="http://schemas.openxmlformats.org/officeDocument/2006/relationships/diagramColors" Target="../diagrams/colors14.xml"/><Relationship Id="rId3" Type="http://schemas.openxmlformats.org/officeDocument/2006/relationships/image" Target="../media/image6.png"/><Relationship Id="rId7" Type="http://schemas.openxmlformats.org/officeDocument/2006/relationships/diagramQuickStyle" Target="../diagrams/quickStyle13.xml"/><Relationship Id="rId12" Type="http://schemas.openxmlformats.org/officeDocument/2006/relationships/diagramQuickStyle" Target="../diagrams/quickStyle14.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3.xml"/><Relationship Id="rId11" Type="http://schemas.openxmlformats.org/officeDocument/2006/relationships/diagramLayout" Target="../diagrams/layout14.xml"/><Relationship Id="rId5" Type="http://schemas.openxmlformats.org/officeDocument/2006/relationships/diagramData" Target="../diagrams/data13.xml"/><Relationship Id="rId10" Type="http://schemas.openxmlformats.org/officeDocument/2006/relationships/diagramData" Target="../diagrams/data14.xml"/><Relationship Id="rId4" Type="http://schemas.openxmlformats.org/officeDocument/2006/relationships/image" Target="../media/image7.svg"/><Relationship Id="rId9" Type="http://schemas.microsoft.com/office/2007/relationships/diagramDrawing" Target="../diagrams/drawing13.xml"/><Relationship Id="rId14" Type="http://schemas.microsoft.com/office/2007/relationships/diagramDrawing" Target="../diagrams/drawing14.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33.png"/><Relationship Id="rId4" Type="http://schemas.openxmlformats.org/officeDocument/2006/relationships/image" Target="../media/image7.sv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92.png"/><Relationship Id="rId4" Type="http://schemas.openxmlformats.org/officeDocument/2006/relationships/image" Target="../media/image7.svg"/></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94.jpeg"/><Relationship Id="rId5" Type="http://schemas.openxmlformats.org/officeDocument/2006/relationships/image" Target="../media/image93.jpeg"/><Relationship Id="rId4" Type="http://schemas.openxmlformats.org/officeDocument/2006/relationships/image" Target="../media/image7.svg"/></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96.png"/><Relationship Id="rId5" Type="http://schemas.openxmlformats.org/officeDocument/2006/relationships/image" Target="../media/image95.jpeg"/><Relationship Id="rId4" Type="http://schemas.openxmlformats.org/officeDocument/2006/relationships/image" Target="../media/image7.svg"/></Relationships>
</file>

<file path=ppt/slides/_rels/slide6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6.png"/><Relationship Id="rId7" Type="http://schemas.openxmlformats.org/officeDocument/2006/relationships/image" Target="../media/image99.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7.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01.jpeg"/><Relationship Id="rId4" Type="http://schemas.openxmlformats.org/officeDocument/2006/relationships/image" Target="../media/image7.sv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7.svg"/></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7.svg"/></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7.svg"/></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7.svg"/></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7.svg"/></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7.svg"/></Relationships>
</file>

<file path=ppt/slides/_rels/slide80.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6.png"/><Relationship Id="rId7" Type="http://schemas.openxmlformats.org/officeDocument/2006/relationships/hyperlink" Target="https://www.bmv.com.mx/es/emisoras/informacionfinanciera/WALMEX-5214-CGEN_CAPIT" TargetMode="Externa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hyperlink" Target="https://generadorestudio.com/proyectos/walmart2023/pdf/valor_financiero_es.pdf" TargetMode="External"/><Relationship Id="rId5" Type="http://schemas.openxmlformats.org/officeDocument/2006/relationships/image" Target="../media/image114.png"/><Relationship Id="rId4" Type="http://schemas.openxmlformats.org/officeDocument/2006/relationships/image" Target="../media/image7.sv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83.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6.png"/><Relationship Id="rId7" Type="http://schemas.openxmlformats.org/officeDocument/2006/relationships/diagramQuickStyle" Target="../diagrams/quickStyle15.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7.svg"/><Relationship Id="rId9" Type="http://schemas.microsoft.com/office/2007/relationships/diagramDrawing" Target="../diagrams/drawing15.xml"/></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16.jpeg"/><Relationship Id="rId4" Type="http://schemas.openxmlformats.org/officeDocument/2006/relationships/image" Target="../media/image7.svg"/></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17.jpeg"/><Relationship Id="rId4" Type="http://schemas.openxmlformats.org/officeDocument/2006/relationships/image" Target="../media/image7.svg"/></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18.png"/><Relationship Id="rId4" Type="http://schemas.openxmlformats.org/officeDocument/2006/relationships/image" Target="../media/image7.svg"/></Relationships>
</file>

<file path=ppt/slides/_rels/slide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slide" Target="slide54.xml"/><Relationship Id="rId4" Type="http://schemas.openxmlformats.org/officeDocument/2006/relationships/image" Target="../media/image7.svg"/></Relationships>
</file>

<file path=ppt/slides/_rels/slide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20.jpeg"/><Relationship Id="rId5" Type="http://schemas.openxmlformats.org/officeDocument/2006/relationships/image" Target="../media/image119.jpeg"/><Relationship Id="rId4" Type="http://schemas.openxmlformats.org/officeDocument/2006/relationships/image" Target="../media/image7.svg"/></Relationships>
</file>

<file path=ppt/slides/_rels/slide1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21.jpeg"/><Relationship Id="rId4" Type="http://schemas.openxmlformats.org/officeDocument/2006/relationships/image" Target="../media/image7.svg"/></Relationships>
</file>

<file path=ppt/slides/_rels/slide10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22.jpeg"/><Relationship Id="rId4" Type="http://schemas.openxmlformats.org/officeDocument/2006/relationships/image" Target="../media/image7.svg"/></Relationships>
</file>

<file path=ppt/slides/_rels/slide10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23.png"/><Relationship Id="rId4" Type="http://schemas.openxmlformats.org/officeDocument/2006/relationships/image" Target="../media/image7.svg"/></Relationships>
</file>

<file path=ppt/slides/_rels/slide1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28.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6.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7.svg"/><Relationship Id="rId9" Type="http://schemas.openxmlformats.org/officeDocument/2006/relationships/image" Target="../media/image128.png"/><Relationship Id="rId14" Type="http://schemas.openxmlformats.org/officeDocument/2006/relationships/image" Target="../media/image133.png"/></Relationships>
</file>

<file path=ppt/slides/_rels/slide1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34.png"/><Relationship Id="rId4" Type="http://schemas.openxmlformats.org/officeDocument/2006/relationships/image" Target="../media/image7.svg"/></Relationships>
</file>

<file path=ppt/slides/_rels/slide130.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6.png"/><Relationship Id="rId7" Type="http://schemas.openxmlformats.org/officeDocument/2006/relationships/image" Target="../media/image137.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7.svg"/></Relationships>
</file>

<file path=ppt/slides/_rels/slide131.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6.png"/><Relationship Id="rId7" Type="http://schemas.openxmlformats.org/officeDocument/2006/relationships/image" Target="../media/image141.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7.svg"/></Relationships>
</file>

<file path=ppt/slides/_rels/slide1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chart" Target="../charts/chart1.xml"/><Relationship Id="rId4" Type="http://schemas.openxmlformats.org/officeDocument/2006/relationships/image" Target="../media/image7.svg"/></Relationships>
</file>

<file path=ppt/slides/_rels/slide1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36.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6.png"/><Relationship Id="rId7" Type="http://schemas.openxmlformats.org/officeDocument/2006/relationships/image" Target="../media/image145.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44.png"/><Relationship Id="rId5" Type="http://schemas.openxmlformats.org/officeDocument/2006/relationships/image" Target="../media/image143.png"/><Relationship Id="rId10" Type="http://schemas.openxmlformats.org/officeDocument/2006/relationships/image" Target="../media/image148.png"/><Relationship Id="rId4" Type="http://schemas.openxmlformats.org/officeDocument/2006/relationships/image" Target="../media/image7.svg"/><Relationship Id="rId9" Type="http://schemas.openxmlformats.org/officeDocument/2006/relationships/image" Target="../media/image147.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44.jpeg"/><Relationship Id="rId4" Type="http://schemas.openxmlformats.org/officeDocument/2006/relationships/image" Target="../media/image7.svg"/></Relationships>
</file>

<file path=ppt/slides/_rels/slide1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chart" Target="../charts/chart2.xml"/><Relationship Id="rId4" Type="http://schemas.openxmlformats.org/officeDocument/2006/relationships/image" Target="../media/image7.svg"/></Relationships>
</file>

<file path=ppt/slides/_rels/slide1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49.png"/><Relationship Id="rId4" Type="http://schemas.openxmlformats.org/officeDocument/2006/relationships/image" Target="../media/image7.svg"/></Relationships>
</file>

<file path=ppt/slides/_rels/slide1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7.sv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45.jpeg"/><Relationship Id="rId4" Type="http://schemas.openxmlformats.org/officeDocument/2006/relationships/image" Target="../media/image7.svg"/></Relationships>
</file>

<file path=ppt/slides/_rels/slide1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7.svg"/></Relationships>
</file>

<file path=ppt/slides/_rels/slide1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6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5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57.png"/><Relationship Id="rId5" Type="http://schemas.openxmlformats.org/officeDocument/2006/relationships/image" Target="../media/image154.png"/><Relationship Id="rId4" Type="http://schemas.openxmlformats.org/officeDocument/2006/relationships/image" Target="../media/image7.svg"/></Relationships>
</file>

<file path=ppt/slides/_rels/slide1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6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60.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7.svg"/></Relationships>
</file>

<file path=ppt/slides/_rels/slide16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63.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7.svg"/></Relationships>
</file>

<file path=ppt/slides/_rels/slide1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3.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6.png"/><Relationship Id="rId7" Type="http://schemas.openxmlformats.org/officeDocument/2006/relationships/diagramQuickStyle" Target="../diagrams/quickStyle16.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6.xml"/><Relationship Id="rId5" Type="http://schemas.openxmlformats.org/officeDocument/2006/relationships/diagramData" Target="../diagrams/data16.xml"/><Relationship Id="rId4" Type="http://schemas.openxmlformats.org/officeDocument/2006/relationships/image" Target="../media/image7.svg"/><Relationship Id="rId9" Type="http://schemas.microsoft.com/office/2007/relationships/diagramDrawing" Target="../diagrams/drawing16.xml"/></Relationships>
</file>

<file path=ppt/slides/_rels/slide174.xml.rels><?xml version="1.0" encoding="UTF-8" standalone="yes"?>
<Relationships xmlns="http://schemas.openxmlformats.org/package/2006/relationships"><Relationship Id="rId8" Type="http://schemas.openxmlformats.org/officeDocument/2006/relationships/diagramColors" Target="../diagrams/colors17.xml"/><Relationship Id="rId3" Type="http://schemas.openxmlformats.org/officeDocument/2006/relationships/image" Target="../media/image6.png"/><Relationship Id="rId7" Type="http://schemas.openxmlformats.org/officeDocument/2006/relationships/diagramQuickStyle" Target="../diagrams/quickStyle17.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Layout" Target="../diagrams/layout17.xml"/><Relationship Id="rId5" Type="http://schemas.openxmlformats.org/officeDocument/2006/relationships/diagramData" Target="../diagrams/data17.xml"/><Relationship Id="rId4" Type="http://schemas.openxmlformats.org/officeDocument/2006/relationships/image" Target="../media/image7.svg"/><Relationship Id="rId9" Type="http://schemas.microsoft.com/office/2007/relationships/diagramDrawing" Target="../diagrams/drawing17.xml"/></Relationships>
</file>

<file path=ppt/slides/_rels/slide1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64.png"/><Relationship Id="rId5" Type="http://schemas.openxmlformats.org/officeDocument/2006/relationships/image" Target="../media/image155.png"/><Relationship Id="rId4" Type="http://schemas.openxmlformats.org/officeDocument/2006/relationships/image" Target="../media/image7.svg"/></Relationships>
</file>

<file path=ppt/slides/_rels/slide1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65.png"/><Relationship Id="rId4" Type="http://schemas.openxmlformats.org/officeDocument/2006/relationships/image" Target="../media/image7.svg"/></Relationships>
</file>

<file path=ppt/slides/_rels/slide1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66.png"/><Relationship Id="rId4" Type="http://schemas.openxmlformats.org/officeDocument/2006/relationships/image" Target="../media/image7.svg"/></Relationships>
</file>

<file path=ppt/slides/_rels/slide1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67.png"/><Relationship Id="rId4" Type="http://schemas.openxmlformats.org/officeDocument/2006/relationships/image" Target="../media/image7.svg"/></Relationships>
</file>

<file path=ppt/slides/_rels/slide1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7.svg"/></Relationships>
</file>

<file path=ppt/slides/_rels/slide1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70.png"/><Relationship Id="rId4" Type="http://schemas.openxmlformats.org/officeDocument/2006/relationships/image" Target="../media/image7.svg"/></Relationships>
</file>

<file path=ppt/slides/_rels/slide1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46.jpeg"/><Relationship Id="rId5" Type="http://schemas.openxmlformats.org/officeDocument/2006/relationships/image" Target="../media/image171.png"/><Relationship Id="rId4" Type="http://schemas.openxmlformats.org/officeDocument/2006/relationships/image" Target="../media/image7.svg"/></Relationships>
</file>

<file path=ppt/slides/_rels/slide1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74.jpe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73.jpeg"/><Relationship Id="rId5" Type="http://schemas.openxmlformats.org/officeDocument/2006/relationships/image" Target="../media/image172.png"/><Relationship Id="rId4" Type="http://schemas.openxmlformats.org/officeDocument/2006/relationships/image" Target="../media/image7.svg"/></Relationships>
</file>

<file path=ppt/slides/_rels/slide2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0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7.svg"/></Relationships>
</file>

<file path=ppt/slides/_rels/slide2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77.jpeg"/><Relationship Id="rId4" Type="http://schemas.openxmlformats.org/officeDocument/2006/relationships/image" Target="../media/image7.svg"/></Relationships>
</file>

<file path=ppt/slides/_rels/slide2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78.png"/><Relationship Id="rId4" Type="http://schemas.openxmlformats.org/officeDocument/2006/relationships/image" Target="../media/image7.svg"/></Relationships>
</file>

<file path=ppt/slides/_rels/slide2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5" Type="http://schemas.openxmlformats.org/officeDocument/2006/relationships/image" Target="../media/image179.png"/><Relationship Id="rId4" Type="http://schemas.openxmlformats.org/officeDocument/2006/relationships/image" Target="../media/image7.svg"/></Relationships>
</file>

<file path=ppt/slides/_rels/slide2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slide" Target="slide8.xml"/><Relationship Id="rId5" Type="http://schemas.openxmlformats.org/officeDocument/2006/relationships/image" Target="../media/image180.png"/><Relationship Id="rId4" Type="http://schemas.openxmlformats.org/officeDocument/2006/relationships/image" Target="../media/image7.svg"/></Relationships>
</file>

<file path=ppt/slides/_rels/slide217.xml.rels><?xml version="1.0" encoding="UTF-8" standalone="yes"?>
<Relationships xmlns="http://schemas.openxmlformats.org/package/2006/relationships"><Relationship Id="rId8" Type="http://schemas.openxmlformats.org/officeDocument/2006/relationships/diagramData" Target="../diagrams/data19.xml"/><Relationship Id="rId13" Type="http://schemas.openxmlformats.org/officeDocument/2006/relationships/image" Target="../media/image6.png"/><Relationship Id="rId3" Type="http://schemas.openxmlformats.org/officeDocument/2006/relationships/diagramData" Target="../diagrams/data18.xml"/><Relationship Id="rId7" Type="http://schemas.microsoft.com/office/2007/relationships/diagramDrawing" Target="../diagrams/drawing18.xml"/><Relationship Id="rId12" Type="http://schemas.microsoft.com/office/2007/relationships/diagramDrawing" Target="../diagrams/drawing19.xml"/><Relationship Id="rId2" Type="http://schemas.openxmlformats.org/officeDocument/2006/relationships/image" Target="../media/image8.jpg"/><Relationship Id="rId1" Type="http://schemas.openxmlformats.org/officeDocument/2006/relationships/slideLayout" Target="../slideLayouts/slideLayout4.xml"/><Relationship Id="rId6" Type="http://schemas.openxmlformats.org/officeDocument/2006/relationships/diagramColors" Target="../diagrams/colors18.xml"/><Relationship Id="rId11" Type="http://schemas.openxmlformats.org/officeDocument/2006/relationships/diagramColors" Target="../diagrams/colors19.xml"/><Relationship Id="rId5" Type="http://schemas.openxmlformats.org/officeDocument/2006/relationships/diagramQuickStyle" Target="../diagrams/quickStyle18.xml"/><Relationship Id="rId10" Type="http://schemas.openxmlformats.org/officeDocument/2006/relationships/diagramQuickStyle" Target="../diagrams/quickStyle19.xml"/><Relationship Id="rId4" Type="http://schemas.openxmlformats.org/officeDocument/2006/relationships/diagramLayout" Target="../diagrams/layout18.xml"/><Relationship Id="rId9" Type="http://schemas.openxmlformats.org/officeDocument/2006/relationships/diagramLayout" Target="../diagrams/layout19.xml"/><Relationship Id="rId1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680F33-49D6-A622-059B-BC54AB9F6BED}"/>
              </a:ext>
            </a:extLst>
          </p:cNvPr>
          <p:cNvSpPr>
            <a:spLocks noGrp="1"/>
          </p:cNvSpPr>
          <p:nvPr>
            <p:ph type="ctrTitle"/>
          </p:nvPr>
        </p:nvSpPr>
        <p:spPr/>
        <p:txBody>
          <a:bodyPr anchor="ctr" anchorCtr="0">
            <a:normAutofit/>
          </a:bodyPr>
          <a:lstStyle/>
          <a:p>
            <a:r>
              <a:rPr lang="es-ES" sz="4400" b="1" dirty="0">
                <a:solidFill>
                  <a:srgbClr val="7C0A0A"/>
                </a:solidFill>
                <a:latin typeface="Montserrat SemiBold" panose="00000700000000000000" pitchFamily="2" charset="0"/>
              </a:rPr>
              <a:t>Finanzas en la Ingeniería en Computación </a:t>
            </a:r>
            <a:endParaRPr lang="es-MX" sz="4400" b="1" dirty="0">
              <a:solidFill>
                <a:srgbClr val="7C0A0A"/>
              </a:solidFill>
              <a:latin typeface="Montserrat SemiBold" panose="00000700000000000000" pitchFamily="2" charset="0"/>
            </a:endParaRPr>
          </a:p>
        </p:txBody>
      </p:sp>
      <p:sp>
        <p:nvSpPr>
          <p:cNvPr id="3" name="Subtítulo 2">
            <a:extLst>
              <a:ext uri="{FF2B5EF4-FFF2-40B4-BE49-F238E27FC236}">
                <a16:creationId xmlns:a16="http://schemas.microsoft.com/office/drawing/2014/main" id="{71776685-0A8B-17E3-0C5F-7921AFAC3500}"/>
              </a:ext>
            </a:extLst>
          </p:cNvPr>
          <p:cNvSpPr>
            <a:spLocks noGrp="1"/>
          </p:cNvSpPr>
          <p:nvPr>
            <p:ph type="subTitle" idx="1"/>
          </p:nvPr>
        </p:nvSpPr>
        <p:spPr/>
        <p:txBody>
          <a:bodyPr anchor="ctr" anchorCtr="0"/>
          <a:lstStyle/>
          <a:p>
            <a:r>
              <a:rPr lang="es-ES" b="1" dirty="0">
                <a:solidFill>
                  <a:srgbClr val="BA955B"/>
                </a:solidFill>
                <a:latin typeface="Montserrat SemiBold" panose="00000700000000000000" pitchFamily="2" charset="0"/>
              </a:rPr>
              <a:t>Facultad de Ingeniería</a:t>
            </a:r>
          </a:p>
          <a:p>
            <a:r>
              <a:rPr lang="es-ES" b="1" dirty="0">
                <a:solidFill>
                  <a:srgbClr val="BA955B"/>
                </a:solidFill>
                <a:latin typeface="Montserrat SemiBold" panose="00000700000000000000" pitchFamily="2" charset="0"/>
              </a:rPr>
              <a:t>Agosto – Diciembre 2024</a:t>
            </a:r>
            <a:endParaRPr lang="es-MX" b="1" dirty="0">
              <a:solidFill>
                <a:srgbClr val="BA955B"/>
              </a:solidFill>
              <a:latin typeface="Montserrat SemiBold" panose="00000700000000000000" pitchFamily="2" charset="0"/>
            </a:endParaRPr>
          </a:p>
        </p:txBody>
      </p:sp>
    </p:spTree>
    <p:extLst>
      <p:ext uri="{BB962C8B-B14F-4D97-AF65-F5344CB8AC3E}">
        <p14:creationId xmlns:p14="http://schemas.microsoft.com/office/powerpoint/2010/main" val="4249652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17FE4390-DF2E-E7CD-998A-D2043BA3B7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78826" y="500225"/>
            <a:ext cx="8572006" cy="1227900"/>
          </a:xfrm>
          <a:prstGeom prst="rect">
            <a:avLst/>
          </a:prstGeom>
        </p:spPr>
      </p:pic>
      <p:sp>
        <p:nvSpPr>
          <p:cNvPr id="5" name="Google Shape;89;p2">
            <a:extLst>
              <a:ext uri="{FF2B5EF4-FFF2-40B4-BE49-F238E27FC236}">
                <a16:creationId xmlns:a16="http://schemas.microsoft.com/office/drawing/2014/main" id="{BF5D67B0-B60B-F215-C59D-F418E3C2DD51}"/>
              </a:ext>
            </a:extLst>
          </p:cNvPr>
          <p:cNvSpPr txBox="1"/>
          <p:nvPr/>
        </p:nvSpPr>
        <p:spPr>
          <a:xfrm>
            <a:off x="4282892" y="751829"/>
            <a:ext cx="649389"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6000"/>
              <a:buFont typeface="Montserrat Black"/>
              <a:buNone/>
            </a:pPr>
            <a:r>
              <a:rPr lang="es-MX" sz="4800" b="0" i="0" u="none" strike="noStrike" cap="none" dirty="0">
                <a:solidFill>
                  <a:srgbClr val="BA955B"/>
                </a:solidFill>
                <a:latin typeface="Montserrat Black"/>
                <a:ea typeface="Montserrat Black"/>
                <a:cs typeface="Montserrat Black"/>
                <a:sym typeface="Montserrat Black"/>
              </a:rPr>
              <a:t>1</a:t>
            </a:r>
            <a:endParaRPr sz="4800" b="0" i="0" u="none" strike="noStrike" cap="none" dirty="0">
              <a:solidFill>
                <a:srgbClr val="BA955B"/>
              </a:solidFill>
              <a:latin typeface="Montserrat Black"/>
              <a:ea typeface="Montserrat Black"/>
              <a:cs typeface="Montserrat Black"/>
              <a:sym typeface="Montserrat Black"/>
            </a:endParaRPr>
          </a:p>
        </p:txBody>
      </p:sp>
      <p:cxnSp>
        <p:nvCxnSpPr>
          <p:cNvPr id="6" name="Google Shape;90;p2">
            <a:extLst>
              <a:ext uri="{FF2B5EF4-FFF2-40B4-BE49-F238E27FC236}">
                <a16:creationId xmlns:a16="http://schemas.microsoft.com/office/drawing/2014/main" id="{830C2E3B-612C-15F2-A169-C6686CD376F9}"/>
              </a:ext>
            </a:extLst>
          </p:cNvPr>
          <p:cNvCxnSpPr>
            <a:cxnSpLocks/>
          </p:cNvCxnSpPr>
          <p:nvPr/>
        </p:nvCxnSpPr>
        <p:spPr>
          <a:xfrm>
            <a:off x="4829454" y="799289"/>
            <a:ext cx="0" cy="709500"/>
          </a:xfrm>
          <a:prstGeom prst="straightConnector1">
            <a:avLst/>
          </a:prstGeom>
          <a:noFill/>
          <a:ln w="38100" cap="flat" cmpd="sng">
            <a:solidFill>
              <a:srgbClr val="BA955B"/>
            </a:solidFill>
            <a:prstDash val="solid"/>
            <a:round/>
            <a:headEnd type="none" w="sm" len="sm"/>
            <a:tailEnd type="none" w="sm" len="sm"/>
          </a:ln>
        </p:spPr>
      </p:cxnSp>
      <p:sp>
        <p:nvSpPr>
          <p:cNvPr id="9" name="Google Shape;88;p2">
            <a:extLst>
              <a:ext uri="{FF2B5EF4-FFF2-40B4-BE49-F238E27FC236}">
                <a16:creationId xmlns:a16="http://schemas.microsoft.com/office/drawing/2014/main" id="{F2AE8F30-1073-5E71-E58A-4EDF352BB3B4}"/>
              </a:ext>
            </a:extLst>
          </p:cNvPr>
          <p:cNvSpPr txBox="1"/>
          <p:nvPr/>
        </p:nvSpPr>
        <p:spPr>
          <a:xfrm>
            <a:off x="4932281" y="571515"/>
            <a:ext cx="3678319" cy="107693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2300"/>
              <a:buFont typeface="Montserrat"/>
              <a:buNone/>
            </a:pPr>
            <a:r>
              <a:rPr lang="es-ES" sz="2300" b="1" i="0" u="none" strike="noStrike" cap="none" dirty="0">
                <a:solidFill>
                  <a:srgbClr val="BA955B"/>
                </a:solidFill>
                <a:latin typeface="Montserrat"/>
                <a:ea typeface="Montserrat"/>
                <a:cs typeface="Montserrat"/>
                <a:sym typeface="Montserrat"/>
              </a:rPr>
              <a:t>Fundamentos de la Economía en Ingeniería en Computación</a:t>
            </a:r>
            <a:endParaRPr sz="1100" b="0" i="0" u="none" strike="noStrike" cap="none" dirty="0">
              <a:solidFill>
                <a:srgbClr val="BA955B"/>
              </a:solidFill>
              <a:latin typeface="Montserrat"/>
              <a:ea typeface="Montserrat"/>
              <a:cs typeface="Montserrat"/>
              <a:sym typeface="Montserrat"/>
            </a:endParaRPr>
          </a:p>
        </p:txBody>
      </p:sp>
      <p:pic>
        <p:nvPicPr>
          <p:cNvPr id="13" name="Gráfico 12">
            <a:extLst>
              <a:ext uri="{FF2B5EF4-FFF2-40B4-BE49-F238E27FC236}">
                <a16:creationId xmlns:a16="http://schemas.microsoft.com/office/drawing/2014/main" id="{6EB78A73-3963-AE80-494C-073248A441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78826" y="1848731"/>
            <a:ext cx="8572006" cy="1227900"/>
          </a:xfrm>
          <a:prstGeom prst="rect">
            <a:avLst/>
          </a:prstGeom>
        </p:spPr>
      </p:pic>
      <p:cxnSp>
        <p:nvCxnSpPr>
          <p:cNvPr id="14" name="Google Shape;90;p2">
            <a:extLst>
              <a:ext uri="{FF2B5EF4-FFF2-40B4-BE49-F238E27FC236}">
                <a16:creationId xmlns:a16="http://schemas.microsoft.com/office/drawing/2014/main" id="{DE174C2E-D9B0-6109-9961-DB278C720FB3}"/>
              </a:ext>
            </a:extLst>
          </p:cNvPr>
          <p:cNvCxnSpPr>
            <a:cxnSpLocks/>
          </p:cNvCxnSpPr>
          <p:nvPr/>
        </p:nvCxnSpPr>
        <p:spPr>
          <a:xfrm>
            <a:off x="4829454" y="2147795"/>
            <a:ext cx="0" cy="709500"/>
          </a:xfrm>
          <a:prstGeom prst="straightConnector1">
            <a:avLst/>
          </a:prstGeom>
          <a:noFill/>
          <a:ln w="38100" cap="flat" cmpd="sng">
            <a:solidFill>
              <a:srgbClr val="BA955B"/>
            </a:solidFill>
            <a:prstDash val="solid"/>
            <a:round/>
            <a:headEnd type="none" w="sm" len="sm"/>
            <a:tailEnd type="none" w="sm" len="sm"/>
          </a:ln>
        </p:spPr>
      </p:cxnSp>
      <p:sp>
        <p:nvSpPr>
          <p:cNvPr id="15" name="Google Shape;88;p2">
            <a:extLst>
              <a:ext uri="{FF2B5EF4-FFF2-40B4-BE49-F238E27FC236}">
                <a16:creationId xmlns:a16="http://schemas.microsoft.com/office/drawing/2014/main" id="{525AB990-A17F-3C31-C5AA-DB5C46D4B1C3}"/>
              </a:ext>
            </a:extLst>
          </p:cNvPr>
          <p:cNvSpPr txBox="1"/>
          <p:nvPr/>
        </p:nvSpPr>
        <p:spPr>
          <a:xfrm>
            <a:off x="5035108" y="2129571"/>
            <a:ext cx="3222202" cy="7277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2300"/>
              <a:buFont typeface="Montserrat"/>
              <a:buNone/>
            </a:pPr>
            <a:r>
              <a:rPr lang="es-ES" sz="2300" b="1" i="0" u="none" strike="noStrike" cap="none" dirty="0">
                <a:solidFill>
                  <a:srgbClr val="BA955B"/>
                </a:solidFill>
                <a:latin typeface="Montserrat"/>
                <a:ea typeface="Montserrat"/>
                <a:cs typeface="Montserrat"/>
                <a:sym typeface="Montserrat"/>
              </a:rPr>
              <a:t>El ciclo de vida de la Economía</a:t>
            </a:r>
            <a:endParaRPr lang="es-MX" sz="1100" b="0" i="0" u="none" strike="noStrike" cap="none" dirty="0">
              <a:solidFill>
                <a:srgbClr val="BA955B"/>
              </a:solidFill>
              <a:latin typeface="Montserrat"/>
              <a:ea typeface="Montserrat"/>
              <a:cs typeface="Montserrat"/>
              <a:sym typeface="Montserrat"/>
            </a:endParaRPr>
          </a:p>
        </p:txBody>
      </p:sp>
      <p:pic>
        <p:nvPicPr>
          <p:cNvPr id="17" name="Gráfico 16">
            <a:extLst>
              <a:ext uri="{FF2B5EF4-FFF2-40B4-BE49-F238E27FC236}">
                <a16:creationId xmlns:a16="http://schemas.microsoft.com/office/drawing/2014/main" id="{F7B7CEC8-CA81-E580-BCBE-66EC0955BC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78826" y="3197237"/>
            <a:ext cx="8572006" cy="1227900"/>
          </a:xfrm>
          <a:prstGeom prst="rect">
            <a:avLst/>
          </a:prstGeom>
        </p:spPr>
      </p:pic>
      <p:cxnSp>
        <p:nvCxnSpPr>
          <p:cNvPr id="18" name="Google Shape;90;p2">
            <a:extLst>
              <a:ext uri="{FF2B5EF4-FFF2-40B4-BE49-F238E27FC236}">
                <a16:creationId xmlns:a16="http://schemas.microsoft.com/office/drawing/2014/main" id="{8D796389-C9F0-A8EE-2070-7CA99F550672}"/>
              </a:ext>
            </a:extLst>
          </p:cNvPr>
          <p:cNvCxnSpPr>
            <a:cxnSpLocks/>
          </p:cNvCxnSpPr>
          <p:nvPr/>
        </p:nvCxnSpPr>
        <p:spPr>
          <a:xfrm>
            <a:off x="4829454" y="3496301"/>
            <a:ext cx="0" cy="709500"/>
          </a:xfrm>
          <a:prstGeom prst="straightConnector1">
            <a:avLst/>
          </a:prstGeom>
          <a:noFill/>
          <a:ln w="38100" cap="flat" cmpd="sng">
            <a:solidFill>
              <a:srgbClr val="BA955B"/>
            </a:solidFill>
            <a:prstDash val="solid"/>
            <a:round/>
            <a:headEnd type="none" w="sm" len="sm"/>
            <a:tailEnd type="none" w="sm" len="sm"/>
          </a:ln>
        </p:spPr>
      </p:cxnSp>
      <p:sp>
        <p:nvSpPr>
          <p:cNvPr id="19" name="Google Shape;88;p2">
            <a:extLst>
              <a:ext uri="{FF2B5EF4-FFF2-40B4-BE49-F238E27FC236}">
                <a16:creationId xmlns:a16="http://schemas.microsoft.com/office/drawing/2014/main" id="{38997689-C9DD-CE23-DA90-C48309881440}"/>
              </a:ext>
            </a:extLst>
          </p:cNvPr>
          <p:cNvSpPr txBox="1"/>
          <p:nvPr/>
        </p:nvSpPr>
        <p:spPr>
          <a:xfrm>
            <a:off x="5035108" y="3478077"/>
            <a:ext cx="3222202" cy="7277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2300"/>
              <a:buFont typeface="Montserrat"/>
              <a:buNone/>
            </a:pPr>
            <a:r>
              <a:rPr lang="es-MX" sz="2300" b="1" i="0" u="none" strike="noStrike" cap="none" dirty="0">
                <a:solidFill>
                  <a:srgbClr val="BA955B"/>
                </a:solidFill>
                <a:latin typeface="Montserrat"/>
                <a:ea typeface="Montserrat"/>
                <a:cs typeface="Montserrat"/>
                <a:sym typeface="Montserrat"/>
              </a:rPr>
              <a:t>Riesgo e incertidumbre</a:t>
            </a:r>
            <a:endParaRPr sz="1100" b="0" i="0" u="none" strike="noStrike" cap="none" dirty="0">
              <a:solidFill>
                <a:srgbClr val="BA955B"/>
              </a:solidFill>
              <a:latin typeface="Montserrat"/>
              <a:ea typeface="Montserrat"/>
              <a:cs typeface="Montserrat"/>
              <a:sym typeface="Montserrat"/>
            </a:endParaRPr>
          </a:p>
        </p:txBody>
      </p:sp>
      <p:sp>
        <p:nvSpPr>
          <p:cNvPr id="21" name="Google Shape;89;p2">
            <a:extLst>
              <a:ext uri="{FF2B5EF4-FFF2-40B4-BE49-F238E27FC236}">
                <a16:creationId xmlns:a16="http://schemas.microsoft.com/office/drawing/2014/main" id="{ED9474AF-2F9F-4610-992C-9A2F28773466}"/>
              </a:ext>
            </a:extLst>
          </p:cNvPr>
          <p:cNvSpPr txBox="1"/>
          <p:nvPr/>
        </p:nvSpPr>
        <p:spPr>
          <a:xfrm>
            <a:off x="4173374" y="2088351"/>
            <a:ext cx="649389"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6000"/>
              <a:buFont typeface="Montserrat Black"/>
              <a:buNone/>
            </a:pPr>
            <a:r>
              <a:rPr lang="es-MX" sz="4800" b="0" i="0" u="none" strike="noStrike" cap="none" dirty="0">
                <a:solidFill>
                  <a:srgbClr val="BA955B"/>
                </a:solidFill>
                <a:latin typeface="Montserrat Black"/>
                <a:ea typeface="Montserrat Black"/>
                <a:cs typeface="Montserrat Black"/>
                <a:sym typeface="Montserrat Black"/>
              </a:rPr>
              <a:t>2</a:t>
            </a:r>
            <a:endParaRPr sz="4800" b="0" i="0" u="none" strike="noStrike" cap="none" dirty="0">
              <a:solidFill>
                <a:srgbClr val="BA955B"/>
              </a:solidFill>
              <a:latin typeface="Montserrat Black"/>
              <a:ea typeface="Montserrat Black"/>
              <a:cs typeface="Montserrat Black"/>
              <a:sym typeface="Montserrat Black"/>
            </a:endParaRPr>
          </a:p>
        </p:txBody>
      </p:sp>
      <p:sp>
        <p:nvSpPr>
          <p:cNvPr id="22" name="Google Shape;89;p2">
            <a:extLst>
              <a:ext uri="{FF2B5EF4-FFF2-40B4-BE49-F238E27FC236}">
                <a16:creationId xmlns:a16="http://schemas.microsoft.com/office/drawing/2014/main" id="{3EB6E1C2-E1EE-FD2C-FD0C-475B206EF511}"/>
              </a:ext>
            </a:extLst>
          </p:cNvPr>
          <p:cNvSpPr txBox="1"/>
          <p:nvPr/>
        </p:nvSpPr>
        <p:spPr>
          <a:xfrm>
            <a:off x="4173373" y="3472404"/>
            <a:ext cx="649389"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6000"/>
              <a:buFont typeface="Montserrat Black"/>
              <a:buNone/>
            </a:pPr>
            <a:r>
              <a:rPr lang="es-MX" sz="4800" b="0" i="0" u="none" strike="noStrike" cap="none" dirty="0">
                <a:solidFill>
                  <a:srgbClr val="BA955B"/>
                </a:solidFill>
                <a:latin typeface="Montserrat Black"/>
                <a:ea typeface="Montserrat Black"/>
                <a:cs typeface="Montserrat Black"/>
                <a:sym typeface="Montserrat Black"/>
              </a:rPr>
              <a:t>3</a:t>
            </a:r>
            <a:endParaRPr sz="4800" b="0" i="0" u="none" strike="noStrike" cap="none" dirty="0">
              <a:solidFill>
                <a:srgbClr val="BA955B"/>
              </a:solidFill>
              <a:latin typeface="Montserrat Black"/>
              <a:ea typeface="Montserrat Black"/>
              <a:cs typeface="Montserrat Black"/>
              <a:sym typeface="Montserrat Black"/>
            </a:endParaRPr>
          </a:p>
        </p:txBody>
      </p:sp>
      <p:sp>
        <p:nvSpPr>
          <p:cNvPr id="23" name="Google Shape;86;p2">
            <a:extLst>
              <a:ext uri="{FF2B5EF4-FFF2-40B4-BE49-F238E27FC236}">
                <a16:creationId xmlns:a16="http://schemas.microsoft.com/office/drawing/2014/main" id="{40FFB3B8-CCC3-1EE7-3587-CD403EEF49EC}"/>
              </a:ext>
            </a:extLst>
          </p:cNvPr>
          <p:cNvSpPr txBox="1">
            <a:spLocks/>
          </p:cNvSpPr>
          <p:nvPr/>
        </p:nvSpPr>
        <p:spPr>
          <a:xfrm>
            <a:off x="673536" y="316426"/>
            <a:ext cx="2097373" cy="764229"/>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r>
              <a:rPr lang="es-MX" sz="3600" b="1" dirty="0">
                <a:solidFill>
                  <a:srgbClr val="131D3F"/>
                </a:solidFill>
                <a:latin typeface="Montserrat SemiBold" panose="00000700000000000000" pitchFamily="2" charset="0"/>
              </a:rPr>
              <a:t>INDICE</a:t>
            </a:r>
          </a:p>
        </p:txBody>
      </p:sp>
      <p:pic>
        <p:nvPicPr>
          <p:cNvPr id="25" name="Gráfico 24">
            <a:extLst>
              <a:ext uri="{FF2B5EF4-FFF2-40B4-BE49-F238E27FC236}">
                <a16:creationId xmlns:a16="http://schemas.microsoft.com/office/drawing/2014/main" id="{D45BF182-9765-498B-54B0-F928887351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flipV="1">
            <a:off x="-454375" y="454373"/>
            <a:ext cx="1337787" cy="429038"/>
          </a:xfrm>
          <a:prstGeom prst="rect">
            <a:avLst/>
          </a:prstGeom>
        </p:spPr>
      </p:pic>
      <p:sp>
        <p:nvSpPr>
          <p:cNvPr id="26" name="Google Shape;86;p2">
            <a:extLst>
              <a:ext uri="{FF2B5EF4-FFF2-40B4-BE49-F238E27FC236}">
                <a16:creationId xmlns:a16="http://schemas.microsoft.com/office/drawing/2014/main" id="{17F1C0FB-BF4F-180F-E27D-051DEB983846}"/>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2</a:t>
            </a:fld>
            <a:endParaRPr lang="es-MX" sz="2400" b="1" dirty="0">
              <a:solidFill>
                <a:srgbClr val="BA955B"/>
              </a:solidFill>
              <a:latin typeface="Montserrat SemiBold" panose="00000700000000000000" pitchFamily="2" charset="0"/>
            </a:endParaRPr>
          </a:p>
        </p:txBody>
      </p:sp>
      <p:pic>
        <p:nvPicPr>
          <p:cNvPr id="2" name="Gráfico 1">
            <a:extLst>
              <a:ext uri="{FF2B5EF4-FFF2-40B4-BE49-F238E27FC236}">
                <a16:creationId xmlns:a16="http://schemas.microsoft.com/office/drawing/2014/main" id="{643DF97D-E64F-4F8E-B9CF-4925DC1BD5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78826" y="4563057"/>
            <a:ext cx="8572006" cy="1227900"/>
          </a:xfrm>
          <a:prstGeom prst="rect">
            <a:avLst/>
          </a:prstGeom>
        </p:spPr>
      </p:pic>
      <p:sp>
        <p:nvSpPr>
          <p:cNvPr id="3" name="Google Shape;88;p2">
            <a:extLst>
              <a:ext uri="{FF2B5EF4-FFF2-40B4-BE49-F238E27FC236}">
                <a16:creationId xmlns:a16="http://schemas.microsoft.com/office/drawing/2014/main" id="{E7C6A5BB-F8EA-AEDF-AB6C-04012D8F306E}"/>
              </a:ext>
            </a:extLst>
          </p:cNvPr>
          <p:cNvSpPr txBox="1"/>
          <p:nvPr/>
        </p:nvSpPr>
        <p:spPr>
          <a:xfrm>
            <a:off x="5035108" y="4870423"/>
            <a:ext cx="3222202" cy="7277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2300"/>
              <a:buFont typeface="Montserrat"/>
              <a:buNone/>
            </a:pPr>
            <a:r>
              <a:rPr lang="es-ES" sz="2300" b="1" i="0" u="none" strike="noStrike" cap="none" dirty="0">
                <a:solidFill>
                  <a:srgbClr val="BA955B"/>
                </a:solidFill>
                <a:latin typeface="Montserrat"/>
                <a:ea typeface="Montserrat"/>
                <a:cs typeface="Montserrat"/>
                <a:sym typeface="Montserrat"/>
              </a:rPr>
              <a:t>Métodos para el análisis económico</a:t>
            </a:r>
            <a:endParaRPr lang="es-ES" sz="1100" b="0" i="0" u="none" strike="noStrike" cap="none" dirty="0">
              <a:solidFill>
                <a:srgbClr val="BA955B"/>
              </a:solidFill>
              <a:latin typeface="Montserrat"/>
              <a:ea typeface="Montserrat"/>
              <a:cs typeface="Montserrat"/>
              <a:sym typeface="Montserrat"/>
            </a:endParaRPr>
          </a:p>
        </p:txBody>
      </p:sp>
      <p:sp>
        <p:nvSpPr>
          <p:cNvPr id="7" name="Google Shape;89;p2">
            <a:extLst>
              <a:ext uri="{FF2B5EF4-FFF2-40B4-BE49-F238E27FC236}">
                <a16:creationId xmlns:a16="http://schemas.microsoft.com/office/drawing/2014/main" id="{EF9CBD3C-F5D5-7ED0-2B96-0E3454F7118F}"/>
              </a:ext>
            </a:extLst>
          </p:cNvPr>
          <p:cNvSpPr txBox="1"/>
          <p:nvPr/>
        </p:nvSpPr>
        <p:spPr>
          <a:xfrm>
            <a:off x="4173373" y="4864750"/>
            <a:ext cx="649389"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6000"/>
              <a:buFont typeface="Montserrat Black"/>
              <a:buNone/>
            </a:pPr>
            <a:r>
              <a:rPr lang="es-MX" sz="4800" b="0" i="0" u="none" strike="noStrike" cap="none" dirty="0">
                <a:solidFill>
                  <a:srgbClr val="BA955B"/>
                </a:solidFill>
                <a:latin typeface="Montserrat Black"/>
                <a:ea typeface="Montserrat Black"/>
                <a:cs typeface="Montserrat Black"/>
                <a:sym typeface="Montserrat Black"/>
              </a:rPr>
              <a:t>4</a:t>
            </a:r>
            <a:endParaRPr sz="4800" b="0" i="0" u="none" strike="noStrike" cap="none" dirty="0">
              <a:solidFill>
                <a:srgbClr val="BA955B"/>
              </a:solidFill>
              <a:latin typeface="Montserrat Black"/>
              <a:ea typeface="Montserrat Black"/>
              <a:cs typeface="Montserrat Black"/>
              <a:sym typeface="Montserrat Black"/>
            </a:endParaRPr>
          </a:p>
        </p:txBody>
      </p:sp>
      <p:cxnSp>
        <p:nvCxnSpPr>
          <p:cNvPr id="8" name="Google Shape;90;p2">
            <a:extLst>
              <a:ext uri="{FF2B5EF4-FFF2-40B4-BE49-F238E27FC236}">
                <a16:creationId xmlns:a16="http://schemas.microsoft.com/office/drawing/2014/main" id="{F386F4E5-4706-B36D-C7D5-B80A00FC3AB6}"/>
              </a:ext>
            </a:extLst>
          </p:cNvPr>
          <p:cNvCxnSpPr>
            <a:cxnSpLocks/>
          </p:cNvCxnSpPr>
          <p:nvPr/>
        </p:nvCxnSpPr>
        <p:spPr>
          <a:xfrm>
            <a:off x="4822762" y="4888647"/>
            <a:ext cx="0" cy="709500"/>
          </a:xfrm>
          <a:prstGeom prst="straightConnector1">
            <a:avLst/>
          </a:prstGeom>
          <a:noFill/>
          <a:ln w="38100" cap="flat" cmpd="sng">
            <a:solidFill>
              <a:srgbClr val="BA955B"/>
            </a:solidFill>
            <a:prstDash val="solid"/>
            <a:round/>
            <a:headEnd type="none" w="sm" len="sm"/>
            <a:tailEnd type="none" w="sm" len="sm"/>
          </a:ln>
        </p:spPr>
      </p:cxnSp>
    </p:spTree>
    <p:extLst>
      <p:ext uri="{BB962C8B-B14F-4D97-AF65-F5344CB8AC3E}">
        <p14:creationId xmlns:p14="http://schemas.microsoft.com/office/powerpoint/2010/main" val="3952439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3</a:t>
            </a:fld>
            <a:endParaRPr lang="es-MX" sz="2400" b="1" dirty="0">
              <a:solidFill>
                <a:srgbClr val="BA955B"/>
              </a:solidFill>
              <a:latin typeface="Montserrat SemiBold" panose="00000700000000000000" pitchFamily="2" charset="0"/>
            </a:endParaRPr>
          </a:p>
        </p:txBody>
      </p:sp>
      <p:sp>
        <p:nvSpPr>
          <p:cNvPr id="9" name="Título 10">
            <a:extLst>
              <a:ext uri="{FF2B5EF4-FFF2-40B4-BE49-F238E27FC236}">
                <a16:creationId xmlns:a16="http://schemas.microsoft.com/office/drawing/2014/main" id="{F09F3C7F-C6A3-4156-B2C1-556E96C50DE6}"/>
              </a:ext>
            </a:extLst>
          </p:cNvPr>
          <p:cNvSpPr txBox="1">
            <a:spLocks/>
          </p:cNvSpPr>
          <p:nvPr/>
        </p:nvSpPr>
        <p:spPr>
          <a:xfrm>
            <a:off x="429038" y="983320"/>
            <a:ext cx="3730133" cy="8068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dirty="0">
                <a:solidFill>
                  <a:srgbClr val="131D3F"/>
                </a:solidFill>
                <a:latin typeface="Montserrat SemiBold" panose="00000700000000000000" pitchFamily="2" charset="0"/>
              </a:rPr>
              <a:t>Objetivo:</a:t>
            </a:r>
            <a:endParaRPr lang="es-MX" sz="3200" b="1" dirty="0">
              <a:solidFill>
                <a:srgbClr val="131D3F"/>
              </a:solidFill>
              <a:latin typeface="Montserrat SemiBold" panose="00000700000000000000" pitchFamily="2" charset="0"/>
            </a:endParaRPr>
          </a:p>
        </p:txBody>
      </p:sp>
      <p:sp>
        <p:nvSpPr>
          <p:cNvPr id="10" name="Google Shape;112;p3">
            <a:extLst>
              <a:ext uri="{FF2B5EF4-FFF2-40B4-BE49-F238E27FC236}">
                <a16:creationId xmlns:a16="http://schemas.microsoft.com/office/drawing/2014/main" id="{A0DA3AF6-21BB-4964-8305-97D835C91E44}"/>
              </a:ext>
            </a:extLst>
          </p:cNvPr>
          <p:cNvSpPr txBox="1"/>
          <p:nvPr/>
        </p:nvSpPr>
        <p:spPr>
          <a:xfrm>
            <a:off x="2554665" y="1132504"/>
            <a:ext cx="9393496" cy="1646406"/>
          </a:xfrm>
          <a:prstGeom prst="rect">
            <a:avLst/>
          </a:prstGeom>
          <a:noFill/>
          <a:ln>
            <a:noFill/>
          </a:ln>
        </p:spPr>
        <p:txBody>
          <a:bodyPr spcFirstLastPara="1" wrap="square" lIns="91425" tIns="45700" rIns="91425" bIns="45700" anchor="t" anchorCtr="0">
            <a:noAutofit/>
          </a:bodyPr>
          <a:lstStyle/>
          <a:p>
            <a:pPr algn="just"/>
            <a:r>
              <a:rPr lang="es-ES" sz="2000" dirty="0">
                <a:solidFill>
                  <a:srgbClr val="131D3F"/>
                </a:solidFill>
                <a:latin typeface="Montserrat" panose="00000500000000000000" pitchFamily="2" charset="0"/>
              </a:rPr>
              <a:t>El alumno decidirá, considerando los objetivos y las limitantes comerciales la mitigación de riesgos, las consideraciones fiscales y la estrategia de negocio adecuado, para conocer la inversión adecuada, manejar el flujo de caja y dónde conseguir el financiamiento, así como evaluar el desempeño financiero para así tomar las acciones correctivas</a:t>
            </a:r>
            <a:r>
              <a:rPr lang="es-ES" sz="2200" dirty="0">
                <a:solidFill>
                  <a:srgbClr val="131D3F"/>
                </a:solidFill>
                <a:latin typeface="Montserrat" panose="00000500000000000000" pitchFamily="2" charset="0"/>
              </a:rPr>
              <a:t>.</a:t>
            </a:r>
          </a:p>
        </p:txBody>
      </p:sp>
      <p:sp>
        <p:nvSpPr>
          <p:cNvPr id="11" name="Título 10">
            <a:extLst>
              <a:ext uri="{FF2B5EF4-FFF2-40B4-BE49-F238E27FC236}">
                <a16:creationId xmlns:a16="http://schemas.microsoft.com/office/drawing/2014/main" id="{A7798FE9-CFB0-4BF6-80B7-E6532650E772}"/>
              </a:ext>
            </a:extLst>
          </p:cNvPr>
          <p:cNvSpPr txBox="1">
            <a:spLocks/>
          </p:cNvSpPr>
          <p:nvPr/>
        </p:nvSpPr>
        <p:spPr>
          <a:xfrm>
            <a:off x="429038" y="3120889"/>
            <a:ext cx="5528702" cy="51611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s-ES" sz="3200" b="1" dirty="0">
                <a:solidFill>
                  <a:srgbClr val="131D3F"/>
                </a:solidFill>
                <a:latin typeface="Montserrat SemiBold" panose="00000700000000000000" pitchFamily="2" charset="0"/>
              </a:rPr>
              <a:t>Criterios de Evaluación:</a:t>
            </a:r>
            <a:endParaRPr lang="es-MX" sz="3200" b="1" dirty="0">
              <a:solidFill>
                <a:srgbClr val="131D3F"/>
              </a:solidFill>
              <a:latin typeface="Montserrat SemiBold" panose="00000700000000000000" pitchFamily="2" charset="0"/>
            </a:endParaRPr>
          </a:p>
        </p:txBody>
      </p:sp>
      <p:sp>
        <p:nvSpPr>
          <p:cNvPr id="12" name="Marcador de contenido 4">
            <a:extLst>
              <a:ext uri="{FF2B5EF4-FFF2-40B4-BE49-F238E27FC236}">
                <a16:creationId xmlns:a16="http://schemas.microsoft.com/office/drawing/2014/main" id="{78C3838B-6F58-499E-B568-9F5DAF56C150}"/>
              </a:ext>
            </a:extLst>
          </p:cNvPr>
          <p:cNvSpPr txBox="1">
            <a:spLocks/>
          </p:cNvSpPr>
          <p:nvPr/>
        </p:nvSpPr>
        <p:spPr>
          <a:xfrm>
            <a:off x="1173759" y="3640877"/>
            <a:ext cx="4019712" cy="21131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2000" b="1" dirty="0">
                <a:solidFill>
                  <a:srgbClr val="131D3F"/>
                </a:solidFill>
                <a:latin typeface="Montserrat" panose="00000500000000000000" pitchFamily="2" charset="0"/>
              </a:rPr>
              <a:t>Tareas: 		10%</a:t>
            </a:r>
          </a:p>
          <a:p>
            <a:pPr algn="l"/>
            <a:r>
              <a:rPr lang="es-ES" sz="2000" b="1" dirty="0">
                <a:solidFill>
                  <a:srgbClr val="131D3F"/>
                </a:solidFill>
                <a:latin typeface="Montserrat" panose="00000500000000000000" pitchFamily="2" charset="0"/>
              </a:rPr>
              <a:t>Proyecto: 		40%</a:t>
            </a:r>
          </a:p>
          <a:p>
            <a:pPr algn="l"/>
            <a:r>
              <a:rPr lang="es-ES" sz="2000" b="1" dirty="0">
                <a:solidFill>
                  <a:srgbClr val="131D3F"/>
                </a:solidFill>
                <a:latin typeface="Montserrat" panose="00000500000000000000" pitchFamily="2" charset="0"/>
              </a:rPr>
              <a:t>Exámenes: 		50%</a:t>
            </a:r>
          </a:p>
          <a:p>
            <a:pPr marL="324000" lvl="1" algn="l"/>
            <a:r>
              <a:rPr lang="es-ES" sz="1800" dirty="0">
                <a:solidFill>
                  <a:srgbClr val="131D3F"/>
                </a:solidFill>
                <a:latin typeface="Montserrat" panose="00000500000000000000" pitchFamily="2" charset="0"/>
              </a:rPr>
              <a:t>1er Parcial: 	20%</a:t>
            </a:r>
          </a:p>
          <a:p>
            <a:pPr marL="324000" lvl="1" algn="l"/>
            <a:r>
              <a:rPr lang="es-ES" sz="1800" dirty="0">
                <a:solidFill>
                  <a:srgbClr val="131D3F"/>
                </a:solidFill>
                <a:latin typeface="Montserrat" panose="00000500000000000000" pitchFamily="2" charset="0"/>
              </a:rPr>
              <a:t>Final: 	30%</a:t>
            </a:r>
          </a:p>
        </p:txBody>
      </p:sp>
      <p:sp>
        <p:nvSpPr>
          <p:cNvPr id="13" name="Título 10">
            <a:extLst>
              <a:ext uri="{FF2B5EF4-FFF2-40B4-BE49-F238E27FC236}">
                <a16:creationId xmlns:a16="http://schemas.microsoft.com/office/drawing/2014/main" id="{25D2D4D9-0DA6-4149-B517-2088C983FBFA}"/>
              </a:ext>
            </a:extLst>
          </p:cNvPr>
          <p:cNvSpPr txBox="1">
            <a:spLocks/>
          </p:cNvSpPr>
          <p:nvPr/>
        </p:nvSpPr>
        <p:spPr>
          <a:xfrm>
            <a:off x="6234262" y="3120889"/>
            <a:ext cx="5093617" cy="51611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s-ES" sz="3200" b="1" dirty="0">
                <a:solidFill>
                  <a:srgbClr val="131D3F"/>
                </a:solidFill>
                <a:latin typeface="Montserrat SemiBold" panose="00000700000000000000" pitchFamily="2" charset="0"/>
              </a:rPr>
              <a:t>Material Audiovisual:</a:t>
            </a:r>
            <a:endParaRPr lang="es-MX" sz="32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6894912B-7F5B-4F31-80B4-8D4AC054BBC1}"/>
              </a:ext>
            </a:extLst>
          </p:cNvPr>
          <p:cNvSpPr txBox="1"/>
          <p:nvPr/>
        </p:nvSpPr>
        <p:spPr>
          <a:xfrm>
            <a:off x="6234262" y="3846399"/>
            <a:ext cx="5713899" cy="1569660"/>
          </a:xfrm>
          <a:prstGeom prst="rect">
            <a:avLst/>
          </a:prstGeom>
          <a:noFill/>
        </p:spPr>
        <p:txBody>
          <a:bodyPr wrap="square">
            <a:spAutoFit/>
          </a:bodyPr>
          <a:lstStyle/>
          <a:p>
            <a:pPr marL="285750" indent="-285750" algn="l">
              <a:buFont typeface="Arial" panose="020B0604020202020204" pitchFamily="34" charset="0"/>
              <a:buChar char="•"/>
            </a:pPr>
            <a:r>
              <a:rPr lang="es-MX" dirty="0" err="1">
                <a:solidFill>
                  <a:srgbClr val="131D3F"/>
                </a:solidFill>
                <a:latin typeface="Montserrat" panose="00000500000000000000" pitchFamily="2" charset="0"/>
              </a:rPr>
              <a:t>The</a:t>
            </a:r>
            <a:r>
              <a:rPr lang="es-MX" dirty="0">
                <a:solidFill>
                  <a:srgbClr val="131D3F"/>
                </a:solidFill>
                <a:latin typeface="Montserrat" panose="00000500000000000000" pitchFamily="2" charset="0"/>
              </a:rPr>
              <a:t> Big Short (La gran apuesta)</a:t>
            </a:r>
            <a:endParaRPr lang="es-ES" dirty="0">
              <a:solidFill>
                <a:srgbClr val="131D3F"/>
              </a:solidFill>
              <a:latin typeface="Montserrat" panose="00000500000000000000" pitchFamily="2" charset="0"/>
            </a:endParaRPr>
          </a:p>
          <a:p>
            <a:pPr marL="285750" indent="-285750" algn="l">
              <a:buFont typeface="Arial" panose="020B0604020202020204" pitchFamily="34" charset="0"/>
              <a:buChar char="•"/>
            </a:pPr>
            <a:r>
              <a:rPr lang="es-ES" sz="1800" dirty="0">
                <a:solidFill>
                  <a:srgbClr val="131D3F"/>
                </a:solidFill>
                <a:latin typeface="Montserrat" panose="00000500000000000000" pitchFamily="2" charset="0"/>
              </a:rPr>
              <a:t>Descifrando el rompecabezas de la vida - Gerry </a:t>
            </a:r>
            <a:r>
              <a:rPr lang="es-ES" sz="1800" dirty="0" err="1">
                <a:solidFill>
                  <a:srgbClr val="131D3F"/>
                </a:solidFill>
                <a:latin typeface="Montserrat" panose="00000500000000000000" pitchFamily="2" charset="0"/>
              </a:rPr>
              <a:t>Garbulsky</a:t>
            </a:r>
            <a:r>
              <a:rPr lang="es-ES" sz="1800" dirty="0">
                <a:solidFill>
                  <a:srgbClr val="131D3F"/>
                </a:solidFill>
                <a:latin typeface="Montserrat" panose="00000500000000000000" pitchFamily="2" charset="0"/>
              </a:rPr>
              <a:t> - </a:t>
            </a:r>
            <a:r>
              <a:rPr lang="es-ES" sz="1200" dirty="0">
                <a:solidFill>
                  <a:srgbClr val="131D3F"/>
                </a:solidFill>
                <a:latin typeface="Montserrat" panose="00000500000000000000" pitchFamily="2" charset="0"/>
                <a:hlinkClick r:id="rId4"/>
              </a:rPr>
              <a:t>https://www.youtube.com/watch?v=kXXW8yzqRZc</a:t>
            </a:r>
            <a:endParaRPr lang="es-ES" sz="1200" dirty="0">
              <a:solidFill>
                <a:srgbClr val="131D3F"/>
              </a:solidFill>
              <a:latin typeface="Montserrat" panose="00000500000000000000" pitchFamily="2" charset="0"/>
            </a:endParaRPr>
          </a:p>
          <a:p>
            <a:pPr marL="285750" indent="-285750">
              <a:buFont typeface="Arial" panose="020B0604020202020204" pitchFamily="34" charset="0"/>
              <a:buChar char="•"/>
            </a:pPr>
            <a:r>
              <a:rPr lang="es-ES" dirty="0">
                <a:solidFill>
                  <a:srgbClr val="131D3F"/>
                </a:solidFill>
                <a:latin typeface="Montserrat" panose="00000500000000000000" pitchFamily="2" charset="0"/>
              </a:rPr>
              <a:t>El valor de tu actitud - </a:t>
            </a:r>
            <a:r>
              <a:rPr lang="es-MX" dirty="0">
                <a:solidFill>
                  <a:srgbClr val="131D3F"/>
                </a:solidFill>
                <a:latin typeface="Montserrat" panose="00000500000000000000" pitchFamily="2" charset="0"/>
              </a:rPr>
              <a:t>Victor </a:t>
            </a:r>
            <a:r>
              <a:rPr lang="es-MX" dirty="0" err="1">
                <a:solidFill>
                  <a:srgbClr val="131D3F"/>
                </a:solidFill>
                <a:latin typeface="Montserrat" panose="00000500000000000000" pitchFamily="2" charset="0"/>
              </a:rPr>
              <a:t>Küppers</a:t>
            </a:r>
            <a:r>
              <a:rPr lang="es-MX" dirty="0">
                <a:solidFill>
                  <a:srgbClr val="131D3F"/>
                </a:solidFill>
                <a:latin typeface="Montserrat" panose="00000500000000000000" pitchFamily="2" charset="0"/>
              </a:rPr>
              <a:t> - </a:t>
            </a:r>
            <a:r>
              <a:rPr lang="es-MX" sz="1200" dirty="0">
                <a:solidFill>
                  <a:srgbClr val="131D3F"/>
                </a:solidFill>
                <a:latin typeface="Montserrat" panose="00000500000000000000" pitchFamily="2" charset="0"/>
                <a:hlinkClick r:id="rId5"/>
              </a:rPr>
              <a:t>https://www.youtube.com/watch?v=Z3_f6a-YrY8</a:t>
            </a:r>
            <a:endParaRPr lang="es-MX" sz="1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294952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 name="Gráfico 24">
            <a:extLst>
              <a:ext uri="{FF2B5EF4-FFF2-40B4-BE49-F238E27FC236}">
                <a16:creationId xmlns:a16="http://schemas.microsoft.com/office/drawing/2014/main" id="{D45BF182-9765-498B-54B0-F928887351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26" name="Google Shape;86;p2">
            <a:extLst>
              <a:ext uri="{FF2B5EF4-FFF2-40B4-BE49-F238E27FC236}">
                <a16:creationId xmlns:a16="http://schemas.microsoft.com/office/drawing/2014/main" id="{17F1C0FB-BF4F-180F-E27D-051DEB983846}"/>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4</a:t>
            </a:fld>
            <a:endParaRPr lang="es-MX" sz="2400" b="1" dirty="0">
              <a:solidFill>
                <a:srgbClr val="BA955B"/>
              </a:solidFill>
              <a:latin typeface="Montserrat SemiBold" panose="00000700000000000000" pitchFamily="2" charset="0"/>
            </a:endParaRPr>
          </a:p>
        </p:txBody>
      </p:sp>
      <p:sp>
        <p:nvSpPr>
          <p:cNvPr id="2" name="Google Shape;118;p4">
            <a:extLst>
              <a:ext uri="{FF2B5EF4-FFF2-40B4-BE49-F238E27FC236}">
                <a16:creationId xmlns:a16="http://schemas.microsoft.com/office/drawing/2014/main" id="{0E982364-79BA-6D46-495F-E7C7AD4EC16F}"/>
              </a:ext>
            </a:extLst>
          </p:cNvPr>
          <p:cNvSpPr txBox="1">
            <a:spLocks/>
          </p:cNvSpPr>
          <p:nvPr/>
        </p:nvSpPr>
        <p:spPr>
          <a:xfrm>
            <a:off x="764948" y="1387381"/>
            <a:ext cx="10662103" cy="4083238"/>
          </a:xfrm>
          <a:prstGeom prst="rect">
            <a:avLst/>
          </a:prstGeom>
          <a:noFill/>
          <a:ln>
            <a:noFill/>
          </a:ln>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400"/>
              <a:buFont typeface="Montserrat SemiBold"/>
              <a:buNone/>
            </a:pPr>
            <a:r>
              <a:rPr lang="es-ES" sz="4800" dirty="0">
                <a:solidFill>
                  <a:srgbClr val="131D3F"/>
                </a:solidFill>
                <a:latin typeface="Montserrat SemiBold" panose="00000700000000000000" pitchFamily="2" charset="0"/>
              </a:rPr>
              <a:t>1 Fundamentos de la Economía en Ingeniería en Computación</a:t>
            </a:r>
          </a:p>
          <a:p>
            <a:pPr algn="just">
              <a:spcBef>
                <a:spcPts val="0"/>
              </a:spcBef>
              <a:buClr>
                <a:schemeClr val="accent2"/>
              </a:buClr>
              <a:buSzPts val="4400"/>
              <a:buFont typeface="Montserrat SemiBold"/>
              <a:buNone/>
            </a:pPr>
            <a:endParaRPr lang="es-ES" sz="4800" dirty="0">
              <a:solidFill>
                <a:srgbClr val="131D3F"/>
              </a:solidFill>
              <a:latin typeface="Montserrat SemiBold" panose="00000700000000000000" pitchFamily="2" charset="0"/>
            </a:endParaRPr>
          </a:p>
          <a:p>
            <a:pPr algn="just">
              <a:spcBef>
                <a:spcPts val="0"/>
              </a:spcBef>
              <a:buClr>
                <a:schemeClr val="accent2"/>
              </a:buClr>
              <a:buSzPts val="4400"/>
              <a:buFont typeface="Montserrat SemiBold"/>
              <a:buNone/>
            </a:pPr>
            <a:r>
              <a:rPr lang="es-ES" sz="3200" dirty="0">
                <a:solidFill>
                  <a:srgbClr val="131D3F"/>
                </a:solidFill>
                <a:latin typeface="Montserrat" panose="00000500000000000000" pitchFamily="2" charset="0"/>
              </a:rPr>
              <a:t>El alumno clasificará los conceptos fundamentales para toma de decisiones en los negocios.</a:t>
            </a:r>
            <a:endParaRPr lang="es-MX" sz="3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551036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76F0E5D-E0FD-A932-96D3-FB14B0798A58}"/>
              </a:ext>
            </a:extLst>
          </p:cNvPr>
          <p:cNvSpPr>
            <a:spLocks noGrp="1"/>
          </p:cNvSpPr>
          <p:nvPr>
            <p:ph type="title"/>
          </p:nvPr>
        </p:nvSpPr>
        <p:spPr>
          <a:xfrm>
            <a:off x="817880" y="310530"/>
            <a:ext cx="4079240" cy="823595"/>
          </a:xfrm>
        </p:spPr>
        <p:txBody>
          <a:bodyPr>
            <a:normAutofit/>
          </a:bodyPr>
          <a:lstStyle/>
          <a:p>
            <a:r>
              <a:rPr lang="es-ES" sz="3600" b="1" dirty="0">
                <a:solidFill>
                  <a:srgbClr val="131D3F"/>
                </a:solidFill>
                <a:latin typeface="Montserrat SemiBold" panose="00000700000000000000" pitchFamily="2" charset="0"/>
              </a:rPr>
              <a:t>1.1 Finanzas</a:t>
            </a:r>
            <a:endParaRPr lang="es-MX" sz="3600" b="1" dirty="0">
              <a:solidFill>
                <a:srgbClr val="131D3F"/>
              </a:solidFill>
              <a:latin typeface="Montserrat SemiBold" panose="00000700000000000000" pitchFamily="2" charset="0"/>
            </a:endParaRPr>
          </a:p>
        </p:txBody>
      </p:sp>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5</a:t>
            </a:fld>
            <a:endParaRPr lang="es-MX" sz="2400" b="1" dirty="0">
              <a:solidFill>
                <a:srgbClr val="BA955B"/>
              </a:solidFill>
              <a:latin typeface="Montserrat SemiBold" panose="00000700000000000000" pitchFamily="2" charset="0"/>
            </a:endParaRPr>
          </a:p>
        </p:txBody>
      </p:sp>
      <p:sp>
        <p:nvSpPr>
          <p:cNvPr id="9" name="Google Shape;112;p3">
            <a:extLst>
              <a:ext uri="{FF2B5EF4-FFF2-40B4-BE49-F238E27FC236}">
                <a16:creationId xmlns:a16="http://schemas.microsoft.com/office/drawing/2014/main" id="{53A8940B-73C9-4CFB-AB34-1DB03CCCBED6}"/>
              </a:ext>
            </a:extLst>
          </p:cNvPr>
          <p:cNvSpPr txBox="1"/>
          <p:nvPr/>
        </p:nvSpPr>
        <p:spPr>
          <a:xfrm>
            <a:off x="489987" y="1063189"/>
            <a:ext cx="11305772" cy="770510"/>
          </a:xfrm>
          <a:prstGeom prst="rect">
            <a:avLst/>
          </a:prstGeom>
          <a:noFill/>
          <a:ln>
            <a:noFill/>
          </a:ln>
        </p:spPr>
        <p:txBody>
          <a:bodyPr spcFirstLastPara="1" wrap="square" lIns="91425" tIns="45700" rIns="91425" bIns="45700" anchor="t" anchorCtr="0">
            <a:noAutofit/>
          </a:bodyPr>
          <a:lstStyle/>
          <a:p>
            <a:pPr algn="just"/>
            <a:r>
              <a:rPr lang="es-ES" sz="2200" dirty="0">
                <a:solidFill>
                  <a:srgbClr val="131D3F"/>
                </a:solidFill>
                <a:latin typeface="Montserrat" panose="00000500000000000000" pitchFamily="2" charset="0"/>
              </a:rPr>
              <a:t>Es la rama de la economía enfocada en la obtención y gestión de los recursos económicos, para </a:t>
            </a:r>
            <a:r>
              <a:rPr lang="es-ES" sz="2200" b="1" dirty="0">
                <a:solidFill>
                  <a:srgbClr val="131D3F"/>
                </a:solidFill>
                <a:latin typeface="Montserrat" panose="00000500000000000000" pitchFamily="2" charset="0"/>
              </a:rPr>
              <a:t>crear valor económico</a:t>
            </a:r>
            <a:r>
              <a:rPr lang="es-ES" sz="2200" dirty="0">
                <a:solidFill>
                  <a:srgbClr val="131D3F"/>
                </a:solidFill>
                <a:latin typeface="Montserrat" panose="00000500000000000000" pitchFamily="2" charset="0"/>
              </a:rPr>
              <a:t>, en otras palabras, </a:t>
            </a:r>
            <a:r>
              <a:rPr lang="es-ES" sz="2200" b="1" dirty="0">
                <a:solidFill>
                  <a:srgbClr val="131D3F"/>
                </a:solidFill>
                <a:latin typeface="Montserrat" panose="00000500000000000000" pitchFamily="2" charset="0"/>
              </a:rPr>
              <a:t>generar riqueza</a:t>
            </a:r>
            <a:r>
              <a:rPr lang="es-ES" sz="2200" dirty="0">
                <a:solidFill>
                  <a:srgbClr val="131D3F"/>
                </a:solidFill>
                <a:latin typeface="Montserrat" panose="00000500000000000000" pitchFamily="2" charset="0"/>
              </a:rPr>
              <a:t>.</a:t>
            </a:r>
          </a:p>
        </p:txBody>
      </p:sp>
      <p:grpSp>
        <p:nvGrpSpPr>
          <p:cNvPr id="10" name="그룹 1821">
            <a:extLst>
              <a:ext uri="{FF2B5EF4-FFF2-40B4-BE49-F238E27FC236}">
                <a16:creationId xmlns:a16="http://schemas.microsoft.com/office/drawing/2014/main" id="{31F1A575-C1FA-415F-B685-EC236C866221}"/>
              </a:ext>
            </a:extLst>
          </p:cNvPr>
          <p:cNvGrpSpPr/>
          <p:nvPr/>
        </p:nvGrpSpPr>
        <p:grpSpPr>
          <a:xfrm>
            <a:off x="4264559" y="1901788"/>
            <a:ext cx="3972298" cy="4505154"/>
            <a:chOff x="6849798" y="1270938"/>
            <a:chExt cx="4430454" cy="5024768"/>
          </a:xfrm>
        </p:grpSpPr>
        <p:grpSp>
          <p:nvGrpSpPr>
            <p:cNvPr id="12" name="Group 3">
              <a:extLst>
                <a:ext uri="{FF2B5EF4-FFF2-40B4-BE49-F238E27FC236}">
                  <a16:creationId xmlns:a16="http://schemas.microsoft.com/office/drawing/2014/main" id="{8660E07D-0F7A-45FC-94D6-7512A772B1BE}"/>
                </a:ext>
              </a:extLst>
            </p:cNvPr>
            <p:cNvGrpSpPr/>
            <p:nvPr/>
          </p:nvGrpSpPr>
          <p:grpSpPr>
            <a:xfrm rot="5400000" flipH="1">
              <a:off x="6552641" y="1568095"/>
              <a:ext cx="5024768" cy="4430454"/>
              <a:chOff x="2027268" y="1259074"/>
              <a:chExt cx="5024770" cy="4430455"/>
            </a:xfrm>
          </p:grpSpPr>
          <p:sp>
            <p:nvSpPr>
              <p:cNvPr id="18" name="Block Arc 4">
                <a:extLst>
                  <a:ext uri="{FF2B5EF4-FFF2-40B4-BE49-F238E27FC236}">
                    <a16:creationId xmlns:a16="http://schemas.microsoft.com/office/drawing/2014/main" id="{CAF7476E-C3FF-420A-B701-6AAB04ADFF0D}"/>
                  </a:ext>
                </a:extLst>
              </p:cNvPr>
              <p:cNvSpPr/>
              <p:nvPr/>
            </p:nvSpPr>
            <p:spPr>
              <a:xfrm rot="10800000">
                <a:off x="2339753" y="1259074"/>
                <a:ext cx="4427886" cy="4427886"/>
              </a:xfrm>
              <a:prstGeom prst="blockArc">
                <a:avLst/>
              </a:prstGeom>
              <a:solidFill>
                <a:srgbClr val="1B1F3A"/>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solidFill>
                </a:endParaRPr>
              </a:p>
            </p:txBody>
          </p:sp>
          <p:sp>
            <p:nvSpPr>
              <p:cNvPr id="19" name="Block Arc 5">
                <a:extLst>
                  <a:ext uri="{FF2B5EF4-FFF2-40B4-BE49-F238E27FC236}">
                    <a16:creationId xmlns:a16="http://schemas.microsoft.com/office/drawing/2014/main" id="{6EC5BBDA-97D3-43FD-9A03-709352C44E4E}"/>
                  </a:ext>
                </a:extLst>
              </p:cNvPr>
              <p:cNvSpPr/>
              <p:nvPr/>
            </p:nvSpPr>
            <p:spPr>
              <a:xfrm rot="10800000">
                <a:off x="2339753" y="1259074"/>
                <a:ext cx="4427886" cy="4427886"/>
              </a:xfrm>
              <a:prstGeom prst="blockArc">
                <a:avLst>
                  <a:gd name="adj1" fmla="val 13310865"/>
                  <a:gd name="adj2" fmla="val 0"/>
                  <a:gd name="adj3" fmla="val 25000"/>
                </a:avLst>
              </a:prstGeom>
              <a:solidFill>
                <a:srgbClr val="392F5A"/>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20" name="Block Arc 6">
                <a:extLst>
                  <a:ext uri="{FF2B5EF4-FFF2-40B4-BE49-F238E27FC236}">
                    <a16:creationId xmlns:a16="http://schemas.microsoft.com/office/drawing/2014/main" id="{BEE046B9-2F25-4345-8A8F-DA22C8C23FA6}"/>
                  </a:ext>
                </a:extLst>
              </p:cNvPr>
              <p:cNvSpPr/>
              <p:nvPr/>
            </p:nvSpPr>
            <p:spPr>
              <a:xfrm rot="10800000">
                <a:off x="2339753" y="1259074"/>
                <a:ext cx="4427886" cy="4427886"/>
              </a:xfrm>
              <a:prstGeom prst="blockArc">
                <a:avLst>
                  <a:gd name="adj1" fmla="val 16261930"/>
                  <a:gd name="adj2" fmla="val 0"/>
                  <a:gd name="adj3" fmla="val 25000"/>
                </a:avLst>
              </a:prstGeom>
              <a:solidFill>
                <a:srgbClr val="635B8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21" name="Block Arc 7">
                <a:extLst>
                  <a:ext uri="{FF2B5EF4-FFF2-40B4-BE49-F238E27FC236}">
                    <a16:creationId xmlns:a16="http://schemas.microsoft.com/office/drawing/2014/main" id="{5D2753F8-B078-401F-B503-E1FD8A10D521}"/>
                  </a:ext>
                </a:extLst>
              </p:cNvPr>
              <p:cNvSpPr/>
              <p:nvPr/>
            </p:nvSpPr>
            <p:spPr>
              <a:xfrm rot="10800000">
                <a:off x="2339753" y="1261643"/>
                <a:ext cx="4427886" cy="4427886"/>
              </a:xfrm>
              <a:prstGeom prst="blockArc">
                <a:avLst>
                  <a:gd name="adj1" fmla="val 19038967"/>
                  <a:gd name="adj2" fmla="val 0"/>
                  <a:gd name="adj3" fmla="val 25000"/>
                </a:avLst>
              </a:prstGeom>
              <a:solidFill>
                <a:srgbClr val="A8A3C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pic>
            <p:nvPicPr>
              <p:cNvPr id="22" name="Picture 2" descr="E:\002-KIMS BUSINESS\007-04-1-FIVERR\01-PPT-TEMPLATE\COVER-PSD\05-cut-01.png">
                <a:extLst>
                  <a:ext uri="{FF2B5EF4-FFF2-40B4-BE49-F238E27FC236}">
                    <a16:creationId xmlns:a16="http://schemas.microsoft.com/office/drawing/2014/main" id="{3ACBC4E7-BFBC-4005-88CB-26BCD161B3A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0800000" flipV="1">
                <a:off x="2027268" y="3359561"/>
                <a:ext cx="1687950" cy="333412"/>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pic>
            <p:nvPicPr>
              <p:cNvPr id="23" name="Picture 2" descr="E:\002-KIMS BUSINESS\007-04-1-FIVERR\01-PPT-TEMPLATE\COVER-PSD\05-cut-01.png">
                <a:extLst>
                  <a:ext uri="{FF2B5EF4-FFF2-40B4-BE49-F238E27FC236}">
                    <a16:creationId xmlns:a16="http://schemas.microsoft.com/office/drawing/2014/main" id="{7707FCA7-6A3E-4FB6-837E-A3EB444BFFB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0800000" flipV="1">
                <a:off x="5364088" y="3359562"/>
                <a:ext cx="1687950" cy="333412"/>
              </a:xfrm>
              <a:prstGeom prst="rect">
                <a:avLst/>
              </a:prstGeom>
              <a:noFill/>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grpSp>
        <p:sp>
          <p:nvSpPr>
            <p:cNvPr id="17" name="Graphic 232">
              <a:extLst>
                <a:ext uri="{FF2B5EF4-FFF2-40B4-BE49-F238E27FC236}">
                  <a16:creationId xmlns:a16="http://schemas.microsoft.com/office/drawing/2014/main" id="{4FCDAA44-FA4C-443E-9A96-C1BD4C20D9F3}"/>
                </a:ext>
              </a:extLst>
            </p:cNvPr>
            <p:cNvSpPr/>
            <p:nvPr/>
          </p:nvSpPr>
          <p:spPr>
            <a:xfrm>
              <a:off x="8387698" y="3107277"/>
              <a:ext cx="1352092" cy="1352092"/>
            </a:xfrm>
            <a:custGeom>
              <a:avLst/>
              <a:gdLst>
                <a:gd name="connsiteX0" fmla="*/ 814208 w 1690360"/>
                <a:gd name="connsiteY0" fmla="*/ 0 h 1690360"/>
                <a:gd name="connsiteX1" fmla="*/ 877727 w 1690360"/>
                <a:gd name="connsiteY1" fmla="*/ 0 h 1690360"/>
                <a:gd name="connsiteX2" fmla="*/ 884902 w 1690360"/>
                <a:gd name="connsiteY2" fmla="*/ 1225 h 1690360"/>
                <a:gd name="connsiteX3" fmla="*/ 947897 w 1690360"/>
                <a:gd name="connsiteY3" fmla="*/ 6649 h 1690360"/>
                <a:gd name="connsiteX4" fmla="*/ 1104509 w 1690360"/>
                <a:gd name="connsiteY4" fmla="*/ 40772 h 1690360"/>
                <a:gd name="connsiteX5" fmla="*/ 1530423 w 1690360"/>
                <a:gd name="connsiteY5" fmla="*/ 349446 h 1690360"/>
                <a:gd name="connsiteX6" fmla="*/ 1690360 w 1690360"/>
                <a:gd name="connsiteY6" fmla="*/ 795834 h 1690360"/>
                <a:gd name="connsiteX7" fmla="*/ 1685461 w 1690360"/>
                <a:gd name="connsiteY7" fmla="*/ 948072 h 1690360"/>
                <a:gd name="connsiteX8" fmla="*/ 1651338 w 1690360"/>
                <a:gd name="connsiteY8" fmla="*/ 1103984 h 1690360"/>
                <a:gd name="connsiteX9" fmla="*/ 1353688 w 1690360"/>
                <a:gd name="connsiteY9" fmla="*/ 1522199 h 1690360"/>
                <a:gd name="connsiteX10" fmla="*/ 896626 w 1690360"/>
                <a:gd name="connsiteY10" fmla="*/ 1690360 h 1690360"/>
                <a:gd name="connsiteX11" fmla="*/ 728640 w 1690360"/>
                <a:gd name="connsiteY11" fmla="*/ 1683711 h 1690360"/>
                <a:gd name="connsiteX12" fmla="*/ 591451 w 1690360"/>
                <a:gd name="connsiteY12" fmla="*/ 1652563 h 1690360"/>
                <a:gd name="connsiteX13" fmla="*/ 295026 w 1690360"/>
                <a:gd name="connsiteY13" fmla="*/ 1487902 h 1690360"/>
                <a:gd name="connsiteX14" fmla="*/ 95542 w 1690360"/>
                <a:gd name="connsiteY14" fmla="*/ 1236623 h 1690360"/>
                <a:gd name="connsiteX15" fmla="*/ 2450 w 1690360"/>
                <a:gd name="connsiteY15" fmla="*/ 905200 h 1690360"/>
                <a:gd name="connsiteX16" fmla="*/ 0 w 1690360"/>
                <a:gd name="connsiteY16" fmla="*/ 877727 h 1690360"/>
                <a:gd name="connsiteX17" fmla="*/ 0 w 1690360"/>
                <a:gd name="connsiteY17" fmla="*/ 814208 h 1690360"/>
                <a:gd name="connsiteX18" fmla="*/ 1225 w 1690360"/>
                <a:gd name="connsiteY18" fmla="*/ 807208 h 1690360"/>
                <a:gd name="connsiteX19" fmla="*/ 5250 w 1690360"/>
                <a:gd name="connsiteY19" fmla="*/ 755937 h 1690360"/>
                <a:gd name="connsiteX20" fmla="*/ 24323 w 1690360"/>
                <a:gd name="connsiteY20" fmla="*/ 645172 h 1690360"/>
                <a:gd name="connsiteX21" fmla="*/ 199833 w 1690360"/>
                <a:gd name="connsiteY21" fmla="*/ 300275 h 1690360"/>
                <a:gd name="connsiteX22" fmla="*/ 508158 w 1690360"/>
                <a:gd name="connsiteY22" fmla="*/ 70519 h 1690360"/>
                <a:gd name="connsiteX23" fmla="*/ 787435 w 1690360"/>
                <a:gd name="connsiteY23" fmla="*/ 2275 h 1690360"/>
                <a:gd name="connsiteX24" fmla="*/ 814208 w 1690360"/>
                <a:gd name="connsiteY24" fmla="*/ 0 h 1690360"/>
                <a:gd name="connsiteX25" fmla="*/ 867403 w 1690360"/>
                <a:gd name="connsiteY25" fmla="*/ 824357 h 1690360"/>
                <a:gd name="connsiteX26" fmla="*/ 1008792 w 1690360"/>
                <a:gd name="connsiteY26" fmla="*/ 824357 h 1690360"/>
                <a:gd name="connsiteX27" fmla="*/ 1008792 w 1690360"/>
                <a:gd name="connsiteY27" fmla="*/ 797759 h 1690360"/>
                <a:gd name="connsiteX28" fmla="*/ 1051138 w 1690360"/>
                <a:gd name="connsiteY28" fmla="*/ 797759 h 1690360"/>
                <a:gd name="connsiteX29" fmla="*/ 1051138 w 1690360"/>
                <a:gd name="connsiteY29" fmla="*/ 824357 h 1690360"/>
                <a:gd name="connsiteX30" fmla="*/ 1192701 w 1690360"/>
                <a:gd name="connsiteY30" fmla="*/ 824357 h 1690360"/>
                <a:gd name="connsiteX31" fmla="*/ 1192701 w 1690360"/>
                <a:gd name="connsiteY31" fmla="*/ 797584 h 1690360"/>
                <a:gd name="connsiteX32" fmla="*/ 1234698 w 1690360"/>
                <a:gd name="connsiteY32" fmla="*/ 797584 h 1690360"/>
                <a:gd name="connsiteX33" fmla="*/ 1234698 w 1690360"/>
                <a:gd name="connsiteY33" fmla="*/ 824532 h 1690360"/>
                <a:gd name="connsiteX34" fmla="*/ 1376786 w 1690360"/>
                <a:gd name="connsiteY34" fmla="*/ 824532 h 1690360"/>
                <a:gd name="connsiteX35" fmla="*/ 1376786 w 1690360"/>
                <a:gd name="connsiteY35" fmla="*/ 797584 h 1690360"/>
                <a:gd name="connsiteX36" fmla="*/ 1418433 w 1690360"/>
                <a:gd name="connsiteY36" fmla="*/ 797584 h 1690360"/>
                <a:gd name="connsiteX37" fmla="*/ 1418433 w 1690360"/>
                <a:gd name="connsiteY37" fmla="*/ 824357 h 1690360"/>
                <a:gd name="connsiteX38" fmla="*/ 1498751 w 1690360"/>
                <a:gd name="connsiteY38" fmla="*/ 824357 h 1690360"/>
                <a:gd name="connsiteX39" fmla="*/ 1498751 w 1690360"/>
                <a:gd name="connsiteY39" fmla="*/ 797059 h 1690360"/>
                <a:gd name="connsiteX40" fmla="*/ 1619491 w 1690360"/>
                <a:gd name="connsiteY40" fmla="*/ 797059 h 1690360"/>
                <a:gd name="connsiteX41" fmla="*/ 1371537 w 1690360"/>
                <a:gd name="connsiteY41" fmla="*/ 277527 h 1690360"/>
                <a:gd name="connsiteX42" fmla="*/ 894351 w 1690360"/>
                <a:gd name="connsiteY42" fmla="*/ 72444 h 1690360"/>
                <a:gd name="connsiteX43" fmla="*/ 894351 w 1690360"/>
                <a:gd name="connsiteY43" fmla="*/ 193359 h 1690360"/>
                <a:gd name="connsiteX44" fmla="*/ 867403 w 1690360"/>
                <a:gd name="connsiteY44" fmla="*/ 193359 h 1690360"/>
                <a:gd name="connsiteX45" fmla="*/ 867403 w 1690360"/>
                <a:gd name="connsiteY45" fmla="*/ 273852 h 1690360"/>
                <a:gd name="connsiteX46" fmla="*/ 894176 w 1690360"/>
                <a:gd name="connsiteY46" fmla="*/ 273852 h 1690360"/>
                <a:gd name="connsiteX47" fmla="*/ 894176 w 1690360"/>
                <a:gd name="connsiteY47" fmla="*/ 315324 h 1690360"/>
                <a:gd name="connsiteX48" fmla="*/ 867403 w 1690360"/>
                <a:gd name="connsiteY48" fmla="*/ 315324 h 1690360"/>
                <a:gd name="connsiteX49" fmla="*/ 867403 w 1690360"/>
                <a:gd name="connsiteY49" fmla="*/ 457762 h 1690360"/>
                <a:gd name="connsiteX50" fmla="*/ 894001 w 1690360"/>
                <a:gd name="connsiteY50" fmla="*/ 457762 h 1690360"/>
                <a:gd name="connsiteX51" fmla="*/ 894001 w 1690360"/>
                <a:gd name="connsiteY51" fmla="*/ 499584 h 1690360"/>
                <a:gd name="connsiteX52" fmla="*/ 867228 w 1690360"/>
                <a:gd name="connsiteY52" fmla="*/ 499584 h 1690360"/>
                <a:gd name="connsiteX53" fmla="*/ 867228 w 1690360"/>
                <a:gd name="connsiteY53" fmla="*/ 641322 h 1690360"/>
                <a:gd name="connsiteX54" fmla="*/ 894001 w 1690360"/>
                <a:gd name="connsiteY54" fmla="*/ 641322 h 1690360"/>
                <a:gd name="connsiteX55" fmla="*/ 894001 w 1690360"/>
                <a:gd name="connsiteY55" fmla="*/ 683318 h 1690360"/>
                <a:gd name="connsiteX56" fmla="*/ 867228 w 1690360"/>
                <a:gd name="connsiteY56" fmla="*/ 683318 h 1690360"/>
                <a:gd name="connsiteX57" fmla="*/ 867403 w 1690360"/>
                <a:gd name="connsiteY57" fmla="*/ 824357 h 1690360"/>
                <a:gd name="connsiteX58" fmla="*/ 797059 w 1690360"/>
                <a:gd name="connsiteY58" fmla="*/ 72969 h 1690360"/>
                <a:gd name="connsiteX59" fmla="*/ 73144 w 1690360"/>
                <a:gd name="connsiteY59" fmla="*/ 797059 h 1690360"/>
                <a:gd name="connsiteX60" fmla="*/ 193184 w 1690360"/>
                <a:gd name="connsiteY60" fmla="*/ 797059 h 1690360"/>
                <a:gd name="connsiteX61" fmla="*/ 193184 w 1690360"/>
                <a:gd name="connsiteY61" fmla="*/ 824357 h 1690360"/>
                <a:gd name="connsiteX62" fmla="*/ 273502 w 1690360"/>
                <a:gd name="connsiteY62" fmla="*/ 824357 h 1690360"/>
                <a:gd name="connsiteX63" fmla="*/ 273502 w 1690360"/>
                <a:gd name="connsiteY63" fmla="*/ 797584 h 1690360"/>
                <a:gd name="connsiteX64" fmla="*/ 315149 w 1690360"/>
                <a:gd name="connsiteY64" fmla="*/ 797584 h 1690360"/>
                <a:gd name="connsiteX65" fmla="*/ 315149 w 1690360"/>
                <a:gd name="connsiteY65" fmla="*/ 824357 h 1690360"/>
                <a:gd name="connsiteX66" fmla="*/ 457237 w 1690360"/>
                <a:gd name="connsiteY66" fmla="*/ 824357 h 1690360"/>
                <a:gd name="connsiteX67" fmla="*/ 457237 w 1690360"/>
                <a:gd name="connsiteY67" fmla="*/ 797759 h 1690360"/>
                <a:gd name="connsiteX68" fmla="*/ 499584 w 1690360"/>
                <a:gd name="connsiteY68" fmla="*/ 797759 h 1690360"/>
                <a:gd name="connsiteX69" fmla="*/ 499584 w 1690360"/>
                <a:gd name="connsiteY69" fmla="*/ 824357 h 1690360"/>
                <a:gd name="connsiteX70" fmla="*/ 641147 w 1690360"/>
                <a:gd name="connsiteY70" fmla="*/ 824357 h 1690360"/>
                <a:gd name="connsiteX71" fmla="*/ 641147 w 1690360"/>
                <a:gd name="connsiteY71" fmla="*/ 797584 h 1690360"/>
                <a:gd name="connsiteX72" fmla="*/ 683143 w 1690360"/>
                <a:gd name="connsiteY72" fmla="*/ 797584 h 1690360"/>
                <a:gd name="connsiteX73" fmla="*/ 683143 w 1690360"/>
                <a:gd name="connsiteY73" fmla="*/ 824357 h 1690360"/>
                <a:gd name="connsiteX74" fmla="*/ 824182 w 1690360"/>
                <a:gd name="connsiteY74" fmla="*/ 824357 h 1690360"/>
                <a:gd name="connsiteX75" fmla="*/ 824182 w 1690360"/>
                <a:gd name="connsiteY75" fmla="*/ 683143 h 1690360"/>
                <a:gd name="connsiteX76" fmla="*/ 797234 w 1690360"/>
                <a:gd name="connsiteY76" fmla="*/ 683143 h 1690360"/>
                <a:gd name="connsiteX77" fmla="*/ 797234 w 1690360"/>
                <a:gd name="connsiteY77" fmla="*/ 641147 h 1690360"/>
                <a:gd name="connsiteX78" fmla="*/ 824007 w 1690360"/>
                <a:gd name="connsiteY78" fmla="*/ 641147 h 1690360"/>
                <a:gd name="connsiteX79" fmla="*/ 824007 w 1690360"/>
                <a:gd name="connsiteY79" fmla="*/ 499409 h 1690360"/>
                <a:gd name="connsiteX80" fmla="*/ 797234 w 1690360"/>
                <a:gd name="connsiteY80" fmla="*/ 499409 h 1690360"/>
                <a:gd name="connsiteX81" fmla="*/ 797234 w 1690360"/>
                <a:gd name="connsiteY81" fmla="*/ 457412 h 1690360"/>
                <a:gd name="connsiteX82" fmla="*/ 824007 w 1690360"/>
                <a:gd name="connsiteY82" fmla="*/ 457412 h 1690360"/>
                <a:gd name="connsiteX83" fmla="*/ 824007 w 1690360"/>
                <a:gd name="connsiteY83" fmla="*/ 315149 h 1690360"/>
                <a:gd name="connsiteX84" fmla="*/ 797234 w 1690360"/>
                <a:gd name="connsiteY84" fmla="*/ 315149 h 1690360"/>
                <a:gd name="connsiteX85" fmla="*/ 797234 w 1690360"/>
                <a:gd name="connsiteY85" fmla="*/ 273677 h 1690360"/>
                <a:gd name="connsiteX86" fmla="*/ 824007 w 1690360"/>
                <a:gd name="connsiteY86" fmla="*/ 273677 h 1690360"/>
                <a:gd name="connsiteX87" fmla="*/ 824007 w 1690360"/>
                <a:gd name="connsiteY87" fmla="*/ 193359 h 1690360"/>
                <a:gd name="connsiteX88" fmla="*/ 796709 w 1690360"/>
                <a:gd name="connsiteY88" fmla="*/ 193359 h 1690360"/>
                <a:gd name="connsiteX89" fmla="*/ 797059 w 1690360"/>
                <a:gd name="connsiteY89" fmla="*/ 72969 h 1690360"/>
                <a:gd name="connsiteX90" fmla="*/ 193184 w 1690360"/>
                <a:gd name="connsiteY90" fmla="*/ 895051 h 1690360"/>
                <a:gd name="connsiteX91" fmla="*/ 72969 w 1690360"/>
                <a:gd name="connsiteY91" fmla="*/ 895051 h 1690360"/>
                <a:gd name="connsiteX92" fmla="*/ 797409 w 1690360"/>
                <a:gd name="connsiteY92" fmla="*/ 1618791 h 1690360"/>
                <a:gd name="connsiteX93" fmla="*/ 797409 w 1690360"/>
                <a:gd name="connsiteY93" fmla="*/ 1498401 h 1690360"/>
                <a:gd name="connsiteX94" fmla="*/ 824532 w 1690360"/>
                <a:gd name="connsiteY94" fmla="*/ 1498401 h 1690360"/>
                <a:gd name="connsiteX95" fmla="*/ 824532 w 1690360"/>
                <a:gd name="connsiteY95" fmla="*/ 1418083 h 1690360"/>
                <a:gd name="connsiteX96" fmla="*/ 797759 w 1690360"/>
                <a:gd name="connsiteY96" fmla="*/ 1418083 h 1690360"/>
                <a:gd name="connsiteX97" fmla="*/ 797759 w 1690360"/>
                <a:gd name="connsiteY97" fmla="*/ 1376611 h 1690360"/>
                <a:gd name="connsiteX98" fmla="*/ 824532 w 1690360"/>
                <a:gd name="connsiteY98" fmla="*/ 1376611 h 1690360"/>
                <a:gd name="connsiteX99" fmla="*/ 824532 w 1690360"/>
                <a:gd name="connsiteY99" fmla="*/ 1234523 h 1690360"/>
                <a:gd name="connsiteX100" fmla="*/ 797934 w 1690360"/>
                <a:gd name="connsiteY100" fmla="*/ 1234523 h 1690360"/>
                <a:gd name="connsiteX101" fmla="*/ 797934 w 1690360"/>
                <a:gd name="connsiteY101" fmla="*/ 1192176 h 1690360"/>
                <a:gd name="connsiteX102" fmla="*/ 824532 w 1690360"/>
                <a:gd name="connsiteY102" fmla="*/ 1192176 h 1690360"/>
                <a:gd name="connsiteX103" fmla="*/ 824532 w 1690360"/>
                <a:gd name="connsiteY103" fmla="*/ 1050613 h 1690360"/>
                <a:gd name="connsiteX104" fmla="*/ 797934 w 1690360"/>
                <a:gd name="connsiteY104" fmla="*/ 1050613 h 1690360"/>
                <a:gd name="connsiteX105" fmla="*/ 797934 w 1690360"/>
                <a:gd name="connsiteY105" fmla="*/ 1008267 h 1690360"/>
                <a:gd name="connsiteX106" fmla="*/ 824532 w 1690360"/>
                <a:gd name="connsiteY106" fmla="*/ 1008267 h 1690360"/>
                <a:gd name="connsiteX107" fmla="*/ 824532 w 1690360"/>
                <a:gd name="connsiteY107" fmla="*/ 867403 h 1690360"/>
                <a:gd name="connsiteX108" fmla="*/ 683143 w 1690360"/>
                <a:gd name="connsiteY108" fmla="*/ 867403 h 1690360"/>
                <a:gd name="connsiteX109" fmla="*/ 683143 w 1690360"/>
                <a:gd name="connsiteY109" fmla="*/ 894176 h 1690360"/>
                <a:gd name="connsiteX110" fmla="*/ 641147 w 1690360"/>
                <a:gd name="connsiteY110" fmla="*/ 894176 h 1690360"/>
                <a:gd name="connsiteX111" fmla="*/ 641147 w 1690360"/>
                <a:gd name="connsiteY111" fmla="*/ 867403 h 1690360"/>
                <a:gd name="connsiteX112" fmla="*/ 499409 w 1690360"/>
                <a:gd name="connsiteY112" fmla="*/ 867403 h 1690360"/>
                <a:gd name="connsiteX113" fmla="*/ 499409 w 1690360"/>
                <a:gd name="connsiteY113" fmla="*/ 894176 h 1690360"/>
                <a:gd name="connsiteX114" fmla="*/ 457587 w 1690360"/>
                <a:gd name="connsiteY114" fmla="*/ 894176 h 1690360"/>
                <a:gd name="connsiteX115" fmla="*/ 457587 w 1690360"/>
                <a:gd name="connsiteY115" fmla="*/ 867403 h 1690360"/>
                <a:gd name="connsiteX116" fmla="*/ 315149 w 1690360"/>
                <a:gd name="connsiteY116" fmla="*/ 867403 h 1690360"/>
                <a:gd name="connsiteX117" fmla="*/ 315149 w 1690360"/>
                <a:gd name="connsiteY117" fmla="*/ 894176 h 1690360"/>
                <a:gd name="connsiteX118" fmla="*/ 273677 w 1690360"/>
                <a:gd name="connsiteY118" fmla="*/ 894176 h 1690360"/>
                <a:gd name="connsiteX119" fmla="*/ 273677 w 1690360"/>
                <a:gd name="connsiteY119" fmla="*/ 867578 h 1690360"/>
                <a:gd name="connsiteX120" fmla="*/ 193359 w 1690360"/>
                <a:gd name="connsiteY120" fmla="*/ 867578 h 1690360"/>
                <a:gd name="connsiteX121" fmla="*/ 193184 w 1690360"/>
                <a:gd name="connsiteY121" fmla="*/ 895051 h 1690360"/>
                <a:gd name="connsiteX122" fmla="*/ 894876 w 1690360"/>
                <a:gd name="connsiteY122" fmla="*/ 1618966 h 1690360"/>
                <a:gd name="connsiteX123" fmla="*/ 1618791 w 1690360"/>
                <a:gd name="connsiteY123" fmla="*/ 894526 h 1690360"/>
                <a:gd name="connsiteX124" fmla="*/ 1498401 w 1690360"/>
                <a:gd name="connsiteY124" fmla="*/ 894526 h 1690360"/>
                <a:gd name="connsiteX125" fmla="*/ 1498401 w 1690360"/>
                <a:gd name="connsiteY125" fmla="*/ 867403 h 1690360"/>
                <a:gd name="connsiteX126" fmla="*/ 1418258 w 1690360"/>
                <a:gd name="connsiteY126" fmla="*/ 867403 h 1690360"/>
                <a:gd name="connsiteX127" fmla="*/ 1418258 w 1690360"/>
                <a:gd name="connsiteY127" fmla="*/ 894176 h 1690360"/>
                <a:gd name="connsiteX128" fmla="*/ 1376611 w 1690360"/>
                <a:gd name="connsiteY128" fmla="*/ 894176 h 1690360"/>
                <a:gd name="connsiteX129" fmla="*/ 1376611 w 1690360"/>
                <a:gd name="connsiteY129" fmla="*/ 867403 h 1690360"/>
                <a:gd name="connsiteX130" fmla="*/ 1234523 w 1690360"/>
                <a:gd name="connsiteY130" fmla="*/ 867403 h 1690360"/>
                <a:gd name="connsiteX131" fmla="*/ 1234523 w 1690360"/>
                <a:gd name="connsiteY131" fmla="*/ 894001 h 1690360"/>
                <a:gd name="connsiteX132" fmla="*/ 1192176 w 1690360"/>
                <a:gd name="connsiteY132" fmla="*/ 894001 h 1690360"/>
                <a:gd name="connsiteX133" fmla="*/ 1192176 w 1690360"/>
                <a:gd name="connsiteY133" fmla="*/ 867403 h 1690360"/>
                <a:gd name="connsiteX134" fmla="*/ 1050613 w 1690360"/>
                <a:gd name="connsiteY134" fmla="*/ 867403 h 1690360"/>
                <a:gd name="connsiteX135" fmla="*/ 1050613 w 1690360"/>
                <a:gd name="connsiteY135" fmla="*/ 894001 h 1690360"/>
                <a:gd name="connsiteX136" fmla="*/ 1008267 w 1690360"/>
                <a:gd name="connsiteY136" fmla="*/ 894001 h 1690360"/>
                <a:gd name="connsiteX137" fmla="*/ 1008267 w 1690360"/>
                <a:gd name="connsiteY137" fmla="*/ 867403 h 1690360"/>
                <a:gd name="connsiteX138" fmla="*/ 867403 w 1690360"/>
                <a:gd name="connsiteY138" fmla="*/ 867403 h 1690360"/>
                <a:gd name="connsiteX139" fmla="*/ 867403 w 1690360"/>
                <a:gd name="connsiteY139" fmla="*/ 1008617 h 1690360"/>
                <a:gd name="connsiteX140" fmla="*/ 894351 w 1690360"/>
                <a:gd name="connsiteY140" fmla="*/ 1008617 h 1690360"/>
                <a:gd name="connsiteX141" fmla="*/ 894351 w 1690360"/>
                <a:gd name="connsiteY141" fmla="*/ 1050963 h 1690360"/>
                <a:gd name="connsiteX142" fmla="*/ 867403 w 1690360"/>
                <a:gd name="connsiteY142" fmla="*/ 1050963 h 1690360"/>
                <a:gd name="connsiteX143" fmla="*/ 867403 w 1690360"/>
                <a:gd name="connsiteY143" fmla="*/ 1192526 h 1690360"/>
                <a:gd name="connsiteX144" fmla="*/ 894351 w 1690360"/>
                <a:gd name="connsiteY144" fmla="*/ 1192526 h 1690360"/>
                <a:gd name="connsiteX145" fmla="*/ 894351 w 1690360"/>
                <a:gd name="connsiteY145" fmla="*/ 1234523 h 1690360"/>
                <a:gd name="connsiteX146" fmla="*/ 867578 w 1690360"/>
                <a:gd name="connsiteY146" fmla="*/ 1234523 h 1690360"/>
                <a:gd name="connsiteX147" fmla="*/ 867578 w 1690360"/>
                <a:gd name="connsiteY147" fmla="*/ 1376786 h 1690360"/>
                <a:gd name="connsiteX148" fmla="*/ 894351 w 1690360"/>
                <a:gd name="connsiteY148" fmla="*/ 1376786 h 1690360"/>
                <a:gd name="connsiteX149" fmla="*/ 894351 w 1690360"/>
                <a:gd name="connsiteY149" fmla="*/ 1418258 h 1690360"/>
                <a:gd name="connsiteX150" fmla="*/ 867578 w 1690360"/>
                <a:gd name="connsiteY150" fmla="*/ 1418258 h 1690360"/>
                <a:gd name="connsiteX151" fmla="*/ 867578 w 1690360"/>
                <a:gd name="connsiteY151" fmla="*/ 1498576 h 1690360"/>
                <a:gd name="connsiteX152" fmla="*/ 894876 w 1690360"/>
                <a:gd name="connsiteY152" fmla="*/ 1498576 h 1690360"/>
                <a:gd name="connsiteX153" fmla="*/ 894876 w 1690360"/>
                <a:gd name="connsiteY153" fmla="*/ 1618966 h 169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690360" h="1690360">
                  <a:moveTo>
                    <a:pt x="814208" y="0"/>
                  </a:moveTo>
                  <a:cubicBezTo>
                    <a:pt x="835381" y="0"/>
                    <a:pt x="856554" y="0"/>
                    <a:pt x="877727" y="0"/>
                  </a:cubicBezTo>
                  <a:cubicBezTo>
                    <a:pt x="880177" y="350"/>
                    <a:pt x="882452" y="1050"/>
                    <a:pt x="884902" y="1225"/>
                  </a:cubicBezTo>
                  <a:cubicBezTo>
                    <a:pt x="905900" y="2975"/>
                    <a:pt x="927073" y="4200"/>
                    <a:pt x="947897" y="6649"/>
                  </a:cubicBezTo>
                  <a:cubicBezTo>
                    <a:pt x="1001267" y="12424"/>
                    <a:pt x="1053413" y="24148"/>
                    <a:pt x="1104509" y="40772"/>
                  </a:cubicBezTo>
                  <a:cubicBezTo>
                    <a:pt x="1279494" y="97992"/>
                    <a:pt x="1421932" y="200533"/>
                    <a:pt x="1530423" y="349446"/>
                  </a:cubicBezTo>
                  <a:cubicBezTo>
                    <a:pt x="1627365" y="482435"/>
                    <a:pt x="1679686" y="631873"/>
                    <a:pt x="1690360" y="795834"/>
                  </a:cubicBezTo>
                  <a:cubicBezTo>
                    <a:pt x="1693685" y="846755"/>
                    <a:pt x="1691585" y="897501"/>
                    <a:pt x="1685461" y="948072"/>
                  </a:cubicBezTo>
                  <a:cubicBezTo>
                    <a:pt x="1678986" y="1001092"/>
                    <a:pt x="1667962" y="1053238"/>
                    <a:pt x="1651338" y="1103984"/>
                  </a:cubicBezTo>
                  <a:cubicBezTo>
                    <a:pt x="1595868" y="1274420"/>
                    <a:pt x="1496826" y="1414408"/>
                    <a:pt x="1353688" y="1522199"/>
                  </a:cubicBezTo>
                  <a:cubicBezTo>
                    <a:pt x="1218424" y="1624041"/>
                    <a:pt x="1065487" y="1679161"/>
                    <a:pt x="896626" y="1690360"/>
                  </a:cubicBezTo>
                  <a:cubicBezTo>
                    <a:pt x="840455" y="1694035"/>
                    <a:pt x="784460" y="1691410"/>
                    <a:pt x="728640" y="1683711"/>
                  </a:cubicBezTo>
                  <a:cubicBezTo>
                    <a:pt x="682094" y="1677236"/>
                    <a:pt x="636422" y="1666737"/>
                    <a:pt x="591451" y="1652563"/>
                  </a:cubicBezTo>
                  <a:cubicBezTo>
                    <a:pt x="481385" y="1617916"/>
                    <a:pt x="382693" y="1562796"/>
                    <a:pt x="295026" y="1487902"/>
                  </a:cubicBezTo>
                  <a:cubicBezTo>
                    <a:pt x="212257" y="1417033"/>
                    <a:pt x="145938" y="1333215"/>
                    <a:pt x="95542" y="1236623"/>
                  </a:cubicBezTo>
                  <a:cubicBezTo>
                    <a:pt x="41647" y="1132681"/>
                    <a:pt x="10499" y="1022090"/>
                    <a:pt x="2450" y="905200"/>
                  </a:cubicBezTo>
                  <a:cubicBezTo>
                    <a:pt x="1750" y="895926"/>
                    <a:pt x="875" y="886827"/>
                    <a:pt x="0" y="877727"/>
                  </a:cubicBezTo>
                  <a:cubicBezTo>
                    <a:pt x="0" y="856554"/>
                    <a:pt x="0" y="835381"/>
                    <a:pt x="0" y="814208"/>
                  </a:cubicBezTo>
                  <a:cubicBezTo>
                    <a:pt x="350" y="811933"/>
                    <a:pt x="1050" y="809483"/>
                    <a:pt x="1225" y="807208"/>
                  </a:cubicBezTo>
                  <a:cubicBezTo>
                    <a:pt x="2625" y="790060"/>
                    <a:pt x="3675" y="773086"/>
                    <a:pt x="5250" y="755937"/>
                  </a:cubicBezTo>
                  <a:cubicBezTo>
                    <a:pt x="8574" y="718491"/>
                    <a:pt x="15399" y="681569"/>
                    <a:pt x="24323" y="645172"/>
                  </a:cubicBezTo>
                  <a:cubicBezTo>
                    <a:pt x="55995" y="516557"/>
                    <a:pt x="114441" y="401417"/>
                    <a:pt x="199833" y="300275"/>
                  </a:cubicBezTo>
                  <a:cubicBezTo>
                    <a:pt x="284701" y="199658"/>
                    <a:pt x="387768" y="123365"/>
                    <a:pt x="508158" y="70519"/>
                  </a:cubicBezTo>
                  <a:cubicBezTo>
                    <a:pt x="597226" y="31497"/>
                    <a:pt x="690318" y="8749"/>
                    <a:pt x="787435" y="2275"/>
                  </a:cubicBezTo>
                  <a:cubicBezTo>
                    <a:pt x="796359" y="1750"/>
                    <a:pt x="805283" y="700"/>
                    <a:pt x="814208" y="0"/>
                  </a:cubicBezTo>
                  <a:close/>
                  <a:moveTo>
                    <a:pt x="867403" y="824357"/>
                  </a:moveTo>
                  <a:cubicBezTo>
                    <a:pt x="914649" y="824357"/>
                    <a:pt x="961371" y="824357"/>
                    <a:pt x="1008792" y="824357"/>
                  </a:cubicBezTo>
                  <a:cubicBezTo>
                    <a:pt x="1008792" y="815258"/>
                    <a:pt x="1008792" y="806508"/>
                    <a:pt x="1008792" y="797759"/>
                  </a:cubicBezTo>
                  <a:cubicBezTo>
                    <a:pt x="1023140" y="797759"/>
                    <a:pt x="1036789" y="797759"/>
                    <a:pt x="1051138" y="797759"/>
                  </a:cubicBezTo>
                  <a:cubicBezTo>
                    <a:pt x="1051138" y="807033"/>
                    <a:pt x="1051138" y="815783"/>
                    <a:pt x="1051138" y="824357"/>
                  </a:cubicBezTo>
                  <a:cubicBezTo>
                    <a:pt x="1098559" y="824357"/>
                    <a:pt x="1145280" y="824357"/>
                    <a:pt x="1192701" y="824357"/>
                  </a:cubicBezTo>
                  <a:cubicBezTo>
                    <a:pt x="1192701" y="815258"/>
                    <a:pt x="1192701" y="806508"/>
                    <a:pt x="1192701" y="797584"/>
                  </a:cubicBezTo>
                  <a:cubicBezTo>
                    <a:pt x="1206875" y="797584"/>
                    <a:pt x="1220349" y="797584"/>
                    <a:pt x="1234698" y="797584"/>
                  </a:cubicBezTo>
                  <a:cubicBezTo>
                    <a:pt x="1234698" y="806683"/>
                    <a:pt x="1234698" y="815608"/>
                    <a:pt x="1234698" y="824532"/>
                  </a:cubicBezTo>
                  <a:cubicBezTo>
                    <a:pt x="1282294" y="824532"/>
                    <a:pt x="1329190" y="824532"/>
                    <a:pt x="1376786" y="824532"/>
                  </a:cubicBezTo>
                  <a:cubicBezTo>
                    <a:pt x="1376786" y="815433"/>
                    <a:pt x="1376786" y="806508"/>
                    <a:pt x="1376786" y="797584"/>
                  </a:cubicBezTo>
                  <a:cubicBezTo>
                    <a:pt x="1390960" y="797584"/>
                    <a:pt x="1404259" y="797584"/>
                    <a:pt x="1418433" y="797584"/>
                  </a:cubicBezTo>
                  <a:cubicBezTo>
                    <a:pt x="1418433" y="806858"/>
                    <a:pt x="1418433" y="815608"/>
                    <a:pt x="1418433" y="824357"/>
                  </a:cubicBezTo>
                  <a:cubicBezTo>
                    <a:pt x="1445555" y="824357"/>
                    <a:pt x="1471803" y="824357"/>
                    <a:pt x="1498751" y="824357"/>
                  </a:cubicBezTo>
                  <a:cubicBezTo>
                    <a:pt x="1498751" y="815258"/>
                    <a:pt x="1498751" y="806508"/>
                    <a:pt x="1498751" y="797059"/>
                  </a:cubicBezTo>
                  <a:cubicBezTo>
                    <a:pt x="1539173" y="797059"/>
                    <a:pt x="1578894" y="797059"/>
                    <a:pt x="1619491" y="797059"/>
                  </a:cubicBezTo>
                  <a:cubicBezTo>
                    <a:pt x="1602867" y="591626"/>
                    <a:pt x="1522199" y="417340"/>
                    <a:pt x="1371537" y="277527"/>
                  </a:cubicBezTo>
                  <a:cubicBezTo>
                    <a:pt x="1237498" y="153112"/>
                    <a:pt x="1077561" y="86443"/>
                    <a:pt x="894351" y="72444"/>
                  </a:cubicBezTo>
                  <a:cubicBezTo>
                    <a:pt x="894351" y="113216"/>
                    <a:pt x="894351" y="152937"/>
                    <a:pt x="894351" y="193359"/>
                  </a:cubicBezTo>
                  <a:cubicBezTo>
                    <a:pt x="884902" y="193359"/>
                    <a:pt x="876153" y="193359"/>
                    <a:pt x="867403" y="193359"/>
                  </a:cubicBezTo>
                  <a:cubicBezTo>
                    <a:pt x="867403" y="220482"/>
                    <a:pt x="867403" y="246905"/>
                    <a:pt x="867403" y="273852"/>
                  </a:cubicBezTo>
                  <a:cubicBezTo>
                    <a:pt x="876677" y="273852"/>
                    <a:pt x="885427" y="273852"/>
                    <a:pt x="894176" y="273852"/>
                  </a:cubicBezTo>
                  <a:cubicBezTo>
                    <a:pt x="894176" y="287676"/>
                    <a:pt x="894176" y="301150"/>
                    <a:pt x="894176" y="315324"/>
                  </a:cubicBezTo>
                  <a:cubicBezTo>
                    <a:pt x="885077" y="315324"/>
                    <a:pt x="876153" y="315324"/>
                    <a:pt x="867403" y="315324"/>
                  </a:cubicBezTo>
                  <a:cubicBezTo>
                    <a:pt x="867403" y="363095"/>
                    <a:pt x="867403" y="410166"/>
                    <a:pt x="867403" y="457762"/>
                  </a:cubicBezTo>
                  <a:cubicBezTo>
                    <a:pt x="876677" y="457762"/>
                    <a:pt x="885427" y="457762"/>
                    <a:pt x="894001" y="457762"/>
                  </a:cubicBezTo>
                  <a:cubicBezTo>
                    <a:pt x="894001" y="471936"/>
                    <a:pt x="894001" y="485410"/>
                    <a:pt x="894001" y="499584"/>
                  </a:cubicBezTo>
                  <a:cubicBezTo>
                    <a:pt x="884902" y="499584"/>
                    <a:pt x="876153" y="499584"/>
                    <a:pt x="867228" y="499584"/>
                  </a:cubicBezTo>
                  <a:cubicBezTo>
                    <a:pt x="867228" y="547005"/>
                    <a:pt x="867228" y="593726"/>
                    <a:pt x="867228" y="641322"/>
                  </a:cubicBezTo>
                  <a:cubicBezTo>
                    <a:pt x="876503" y="641322"/>
                    <a:pt x="885252" y="641322"/>
                    <a:pt x="894001" y="641322"/>
                  </a:cubicBezTo>
                  <a:cubicBezTo>
                    <a:pt x="894001" y="655671"/>
                    <a:pt x="894001" y="669145"/>
                    <a:pt x="894001" y="683318"/>
                  </a:cubicBezTo>
                  <a:cubicBezTo>
                    <a:pt x="884902" y="683318"/>
                    <a:pt x="876153" y="683318"/>
                    <a:pt x="867228" y="683318"/>
                  </a:cubicBezTo>
                  <a:cubicBezTo>
                    <a:pt x="867403" y="730565"/>
                    <a:pt x="867403" y="777111"/>
                    <a:pt x="867403" y="824357"/>
                  </a:cubicBezTo>
                  <a:close/>
                  <a:moveTo>
                    <a:pt x="797059" y="72969"/>
                  </a:moveTo>
                  <a:cubicBezTo>
                    <a:pt x="388993" y="99742"/>
                    <a:pt x="93092" y="430114"/>
                    <a:pt x="73144" y="797059"/>
                  </a:cubicBezTo>
                  <a:cubicBezTo>
                    <a:pt x="112866" y="797059"/>
                    <a:pt x="152587" y="797059"/>
                    <a:pt x="193184" y="797059"/>
                  </a:cubicBezTo>
                  <a:cubicBezTo>
                    <a:pt x="193184" y="806683"/>
                    <a:pt x="193184" y="815433"/>
                    <a:pt x="193184" y="824357"/>
                  </a:cubicBezTo>
                  <a:cubicBezTo>
                    <a:pt x="220307" y="824357"/>
                    <a:pt x="246730" y="824357"/>
                    <a:pt x="273502" y="824357"/>
                  </a:cubicBezTo>
                  <a:cubicBezTo>
                    <a:pt x="273502" y="815258"/>
                    <a:pt x="273502" y="806508"/>
                    <a:pt x="273502" y="797584"/>
                  </a:cubicBezTo>
                  <a:cubicBezTo>
                    <a:pt x="287501" y="797584"/>
                    <a:pt x="301150" y="797584"/>
                    <a:pt x="315149" y="797584"/>
                  </a:cubicBezTo>
                  <a:cubicBezTo>
                    <a:pt x="315149" y="806683"/>
                    <a:pt x="315149" y="815433"/>
                    <a:pt x="315149" y="824357"/>
                  </a:cubicBezTo>
                  <a:cubicBezTo>
                    <a:pt x="362745" y="824357"/>
                    <a:pt x="409641" y="824357"/>
                    <a:pt x="457237" y="824357"/>
                  </a:cubicBezTo>
                  <a:cubicBezTo>
                    <a:pt x="457237" y="815258"/>
                    <a:pt x="457237" y="806508"/>
                    <a:pt x="457237" y="797759"/>
                  </a:cubicBezTo>
                  <a:cubicBezTo>
                    <a:pt x="471586" y="797759"/>
                    <a:pt x="485235" y="797759"/>
                    <a:pt x="499584" y="797759"/>
                  </a:cubicBezTo>
                  <a:cubicBezTo>
                    <a:pt x="499584" y="807033"/>
                    <a:pt x="499584" y="815783"/>
                    <a:pt x="499584" y="824357"/>
                  </a:cubicBezTo>
                  <a:cubicBezTo>
                    <a:pt x="547005" y="824357"/>
                    <a:pt x="593726" y="824357"/>
                    <a:pt x="641147" y="824357"/>
                  </a:cubicBezTo>
                  <a:cubicBezTo>
                    <a:pt x="641147" y="815258"/>
                    <a:pt x="641147" y="806508"/>
                    <a:pt x="641147" y="797584"/>
                  </a:cubicBezTo>
                  <a:cubicBezTo>
                    <a:pt x="655321" y="797584"/>
                    <a:pt x="668795" y="797584"/>
                    <a:pt x="683143" y="797584"/>
                  </a:cubicBezTo>
                  <a:cubicBezTo>
                    <a:pt x="683143" y="806858"/>
                    <a:pt x="683143" y="815608"/>
                    <a:pt x="683143" y="824357"/>
                  </a:cubicBezTo>
                  <a:cubicBezTo>
                    <a:pt x="730740" y="824357"/>
                    <a:pt x="777461" y="824357"/>
                    <a:pt x="824182" y="824357"/>
                  </a:cubicBezTo>
                  <a:cubicBezTo>
                    <a:pt x="824182" y="777286"/>
                    <a:pt x="824182" y="730565"/>
                    <a:pt x="824182" y="683143"/>
                  </a:cubicBezTo>
                  <a:cubicBezTo>
                    <a:pt x="815083" y="683143"/>
                    <a:pt x="806158" y="683143"/>
                    <a:pt x="797234" y="683143"/>
                  </a:cubicBezTo>
                  <a:cubicBezTo>
                    <a:pt x="797234" y="668795"/>
                    <a:pt x="797234" y="655146"/>
                    <a:pt x="797234" y="641147"/>
                  </a:cubicBezTo>
                  <a:cubicBezTo>
                    <a:pt x="806333" y="641147"/>
                    <a:pt x="815083" y="641147"/>
                    <a:pt x="824007" y="641147"/>
                  </a:cubicBezTo>
                  <a:cubicBezTo>
                    <a:pt x="824007" y="593726"/>
                    <a:pt x="824007" y="547005"/>
                    <a:pt x="824007" y="499409"/>
                  </a:cubicBezTo>
                  <a:cubicBezTo>
                    <a:pt x="814908" y="499409"/>
                    <a:pt x="805983" y="499409"/>
                    <a:pt x="797234" y="499409"/>
                  </a:cubicBezTo>
                  <a:cubicBezTo>
                    <a:pt x="797234" y="485060"/>
                    <a:pt x="797234" y="471411"/>
                    <a:pt x="797234" y="457412"/>
                  </a:cubicBezTo>
                  <a:cubicBezTo>
                    <a:pt x="806333" y="457412"/>
                    <a:pt x="815083" y="457412"/>
                    <a:pt x="824007" y="457412"/>
                  </a:cubicBezTo>
                  <a:cubicBezTo>
                    <a:pt x="824007" y="409816"/>
                    <a:pt x="824007" y="362920"/>
                    <a:pt x="824007" y="315149"/>
                  </a:cubicBezTo>
                  <a:cubicBezTo>
                    <a:pt x="814733" y="315149"/>
                    <a:pt x="805808" y="315149"/>
                    <a:pt x="797234" y="315149"/>
                  </a:cubicBezTo>
                  <a:cubicBezTo>
                    <a:pt x="797234" y="300975"/>
                    <a:pt x="797234" y="287676"/>
                    <a:pt x="797234" y="273677"/>
                  </a:cubicBezTo>
                  <a:cubicBezTo>
                    <a:pt x="806333" y="273677"/>
                    <a:pt x="815083" y="273677"/>
                    <a:pt x="824007" y="273677"/>
                  </a:cubicBezTo>
                  <a:cubicBezTo>
                    <a:pt x="824007" y="246730"/>
                    <a:pt x="824007" y="220482"/>
                    <a:pt x="824007" y="193359"/>
                  </a:cubicBezTo>
                  <a:cubicBezTo>
                    <a:pt x="814908" y="193359"/>
                    <a:pt x="805983" y="193359"/>
                    <a:pt x="796709" y="193359"/>
                  </a:cubicBezTo>
                  <a:cubicBezTo>
                    <a:pt x="797059" y="152587"/>
                    <a:pt x="797059" y="113041"/>
                    <a:pt x="797059" y="72969"/>
                  </a:cubicBezTo>
                  <a:close/>
                  <a:moveTo>
                    <a:pt x="193184" y="895051"/>
                  </a:moveTo>
                  <a:cubicBezTo>
                    <a:pt x="152587" y="895051"/>
                    <a:pt x="112866" y="895051"/>
                    <a:pt x="72969" y="895051"/>
                  </a:cubicBezTo>
                  <a:cubicBezTo>
                    <a:pt x="99042" y="1298568"/>
                    <a:pt x="425215" y="1598143"/>
                    <a:pt x="797409" y="1618791"/>
                  </a:cubicBezTo>
                  <a:cubicBezTo>
                    <a:pt x="797409" y="1578894"/>
                    <a:pt x="797409" y="1538998"/>
                    <a:pt x="797409" y="1498401"/>
                  </a:cubicBezTo>
                  <a:cubicBezTo>
                    <a:pt x="807033" y="1498401"/>
                    <a:pt x="815783" y="1498401"/>
                    <a:pt x="824532" y="1498401"/>
                  </a:cubicBezTo>
                  <a:cubicBezTo>
                    <a:pt x="824532" y="1471453"/>
                    <a:pt x="824532" y="1445206"/>
                    <a:pt x="824532" y="1418083"/>
                  </a:cubicBezTo>
                  <a:cubicBezTo>
                    <a:pt x="815258" y="1418083"/>
                    <a:pt x="806333" y="1418083"/>
                    <a:pt x="797759" y="1418083"/>
                  </a:cubicBezTo>
                  <a:cubicBezTo>
                    <a:pt x="797759" y="1403909"/>
                    <a:pt x="797759" y="1390610"/>
                    <a:pt x="797759" y="1376611"/>
                  </a:cubicBezTo>
                  <a:cubicBezTo>
                    <a:pt x="806858" y="1376611"/>
                    <a:pt x="815608" y="1376611"/>
                    <a:pt x="824532" y="1376611"/>
                  </a:cubicBezTo>
                  <a:cubicBezTo>
                    <a:pt x="824532" y="1329015"/>
                    <a:pt x="824532" y="1282119"/>
                    <a:pt x="824532" y="1234523"/>
                  </a:cubicBezTo>
                  <a:cubicBezTo>
                    <a:pt x="815433" y="1234523"/>
                    <a:pt x="806683" y="1234523"/>
                    <a:pt x="797934" y="1234523"/>
                  </a:cubicBezTo>
                  <a:cubicBezTo>
                    <a:pt x="797934" y="1220174"/>
                    <a:pt x="797934" y="1206525"/>
                    <a:pt x="797934" y="1192176"/>
                  </a:cubicBezTo>
                  <a:cubicBezTo>
                    <a:pt x="807208" y="1192176"/>
                    <a:pt x="815783" y="1192176"/>
                    <a:pt x="824532" y="1192176"/>
                  </a:cubicBezTo>
                  <a:cubicBezTo>
                    <a:pt x="824532" y="1144755"/>
                    <a:pt x="824532" y="1098034"/>
                    <a:pt x="824532" y="1050613"/>
                  </a:cubicBezTo>
                  <a:cubicBezTo>
                    <a:pt x="815433" y="1050613"/>
                    <a:pt x="806683" y="1050613"/>
                    <a:pt x="797934" y="1050613"/>
                  </a:cubicBezTo>
                  <a:cubicBezTo>
                    <a:pt x="797934" y="1036264"/>
                    <a:pt x="797934" y="1022615"/>
                    <a:pt x="797934" y="1008267"/>
                  </a:cubicBezTo>
                  <a:cubicBezTo>
                    <a:pt x="807208" y="1008267"/>
                    <a:pt x="815958" y="1008267"/>
                    <a:pt x="824532" y="1008267"/>
                  </a:cubicBezTo>
                  <a:cubicBezTo>
                    <a:pt x="824532" y="960845"/>
                    <a:pt x="824532" y="914124"/>
                    <a:pt x="824532" y="867403"/>
                  </a:cubicBezTo>
                  <a:cubicBezTo>
                    <a:pt x="777286" y="867403"/>
                    <a:pt x="730565" y="867403"/>
                    <a:pt x="683143" y="867403"/>
                  </a:cubicBezTo>
                  <a:cubicBezTo>
                    <a:pt x="683143" y="876677"/>
                    <a:pt x="683143" y="885252"/>
                    <a:pt x="683143" y="894176"/>
                  </a:cubicBezTo>
                  <a:cubicBezTo>
                    <a:pt x="668970" y="894176"/>
                    <a:pt x="655496" y="894176"/>
                    <a:pt x="641147" y="894176"/>
                  </a:cubicBezTo>
                  <a:cubicBezTo>
                    <a:pt x="641147" y="884902"/>
                    <a:pt x="641147" y="875978"/>
                    <a:pt x="641147" y="867403"/>
                  </a:cubicBezTo>
                  <a:cubicBezTo>
                    <a:pt x="593551" y="867403"/>
                    <a:pt x="546655" y="867403"/>
                    <a:pt x="499409" y="867403"/>
                  </a:cubicBezTo>
                  <a:cubicBezTo>
                    <a:pt x="499409" y="876677"/>
                    <a:pt x="499409" y="885252"/>
                    <a:pt x="499409" y="894176"/>
                  </a:cubicBezTo>
                  <a:cubicBezTo>
                    <a:pt x="485235" y="894176"/>
                    <a:pt x="471761" y="894176"/>
                    <a:pt x="457587" y="894176"/>
                  </a:cubicBezTo>
                  <a:cubicBezTo>
                    <a:pt x="457587" y="885077"/>
                    <a:pt x="457587" y="876328"/>
                    <a:pt x="457587" y="867403"/>
                  </a:cubicBezTo>
                  <a:cubicBezTo>
                    <a:pt x="409991" y="867403"/>
                    <a:pt x="363095" y="867403"/>
                    <a:pt x="315149" y="867403"/>
                  </a:cubicBezTo>
                  <a:cubicBezTo>
                    <a:pt x="315149" y="876677"/>
                    <a:pt x="315149" y="885602"/>
                    <a:pt x="315149" y="894176"/>
                  </a:cubicBezTo>
                  <a:cubicBezTo>
                    <a:pt x="300975" y="894176"/>
                    <a:pt x="287676" y="894176"/>
                    <a:pt x="273677" y="894176"/>
                  </a:cubicBezTo>
                  <a:cubicBezTo>
                    <a:pt x="273677" y="885077"/>
                    <a:pt x="273677" y="876328"/>
                    <a:pt x="273677" y="867578"/>
                  </a:cubicBezTo>
                  <a:cubicBezTo>
                    <a:pt x="246730" y="867578"/>
                    <a:pt x="220132" y="867578"/>
                    <a:pt x="193359" y="867578"/>
                  </a:cubicBezTo>
                  <a:cubicBezTo>
                    <a:pt x="193184" y="876852"/>
                    <a:pt x="193184" y="885252"/>
                    <a:pt x="193184" y="895051"/>
                  </a:cubicBezTo>
                  <a:close/>
                  <a:moveTo>
                    <a:pt x="894876" y="1618966"/>
                  </a:moveTo>
                  <a:cubicBezTo>
                    <a:pt x="1300842" y="1592543"/>
                    <a:pt x="1598493" y="1264270"/>
                    <a:pt x="1618791" y="894526"/>
                  </a:cubicBezTo>
                  <a:cubicBezTo>
                    <a:pt x="1578894" y="894526"/>
                    <a:pt x="1538998" y="894526"/>
                    <a:pt x="1498401" y="894526"/>
                  </a:cubicBezTo>
                  <a:cubicBezTo>
                    <a:pt x="1498401" y="884902"/>
                    <a:pt x="1498401" y="876153"/>
                    <a:pt x="1498401" y="867403"/>
                  </a:cubicBezTo>
                  <a:cubicBezTo>
                    <a:pt x="1471453" y="867403"/>
                    <a:pt x="1445206" y="867403"/>
                    <a:pt x="1418258" y="867403"/>
                  </a:cubicBezTo>
                  <a:cubicBezTo>
                    <a:pt x="1418258" y="876503"/>
                    <a:pt x="1418258" y="885252"/>
                    <a:pt x="1418258" y="894176"/>
                  </a:cubicBezTo>
                  <a:cubicBezTo>
                    <a:pt x="1404259" y="894176"/>
                    <a:pt x="1390610" y="894176"/>
                    <a:pt x="1376611" y="894176"/>
                  </a:cubicBezTo>
                  <a:cubicBezTo>
                    <a:pt x="1376611" y="885077"/>
                    <a:pt x="1376611" y="876328"/>
                    <a:pt x="1376611" y="867403"/>
                  </a:cubicBezTo>
                  <a:cubicBezTo>
                    <a:pt x="1329015" y="867403"/>
                    <a:pt x="1282119" y="867403"/>
                    <a:pt x="1234523" y="867403"/>
                  </a:cubicBezTo>
                  <a:cubicBezTo>
                    <a:pt x="1234523" y="876503"/>
                    <a:pt x="1234523" y="885252"/>
                    <a:pt x="1234523" y="894001"/>
                  </a:cubicBezTo>
                  <a:cubicBezTo>
                    <a:pt x="1220174" y="894001"/>
                    <a:pt x="1206525" y="894001"/>
                    <a:pt x="1192176" y="894001"/>
                  </a:cubicBezTo>
                  <a:cubicBezTo>
                    <a:pt x="1192176" y="884727"/>
                    <a:pt x="1192176" y="875978"/>
                    <a:pt x="1192176" y="867403"/>
                  </a:cubicBezTo>
                  <a:cubicBezTo>
                    <a:pt x="1144755" y="867403"/>
                    <a:pt x="1098034" y="867403"/>
                    <a:pt x="1050613" y="867403"/>
                  </a:cubicBezTo>
                  <a:cubicBezTo>
                    <a:pt x="1050613" y="876503"/>
                    <a:pt x="1050613" y="885252"/>
                    <a:pt x="1050613" y="894001"/>
                  </a:cubicBezTo>
                  <a:cubicBezTo>
                    <a:pt x="1036264" y="894001"/>
                    <a:pt x="1022615" y="894001"/>
                    <a:pt x="1008267" y="894001"/>
                  </a:cubicBezTo>
                  <a:cubicBezTo>
                    <a:pt x="1008267" y="884727"/>
                    <a:pt x="1008267" y="875978"/>
                    <a:pt x="1008267" y="867403"/>
                  </a:cubicBezTo>
                  <a:cubicBezTo>
                    <a:pt x="960845" y="867403"/>
                    <a:pt x="914124" y="867403"/>
                    <a:pt x="867403" y="867403"/>
                  </a:cubicBezTo>
                  <a:cubicBezTo>
                    <a:pt x="867403" y="914474"/>
                    <a:pt x="867403" y="961195"/>
                    <a:pt x="867403" y="1008617"/>
                  </a:cubicBezTo>
                  <a:cubicBezTo>
                    <a:pt x="876503" y="1008617"/>
                    <a:pt x="885427" y="1008617"/>
                    <a:pt x="894351" y="1008617"/>
                  </a:cubicBezTo>
                  <a:cubicBezTo>
                    <a:pt x="894351" y="1022965"/>
                    <a:pt x="894351" y="1036614"/>
                    <a:pt x="894351" y="1050963"/>
                  </a:cubicBezTo>
                  <a:cubicBezTo>
                    <a:pt x="885077" y="1050963"/>
                    <a:pt x="876153" y="1050963"/>
                    <a:pt x="867403" y="1050963"/>
                  </a:cubicBezTo>
                  <a:cubicBezTo>
                    <a:pt x="867403" y="1098384"/>
                    <a:pt x="867403" y="1145105"/>
                    <a:pt x="867403" y="1192526"/>
                  </a:cubicBezTo>
                  <a:cubicBezTo>
                    <a:pt x="876503" y="1192526"/>
                    <a:pt x="885427" y="1192526"/>
                    <a:pt x="894351" y="1192526"/>
                  </a:cubicBezTo>
                  <a:cubicBezTo>
                    <a:pt x="894351" y="1206875"/>
                    <a:pt x="894351" y="1220524"/>
                    <a:pt x="894351" y="1234523"/>
                  </a:cubicBezTo>
                  <a:cubicBezTo>
                    <a:pt x="885252" y="1234523"/>
                    <a:pt x="876503" y="1234523"/>
                    <a:pt x="867578" y="1234523"/>
                  </a:cubicBezTo>
                  <a:cubicBezTo>
                    <a:pt x="867578" y="1282119"/>
                    <a:pt x="867578" y="1329015"/>
                    <a:pt x="867578" y="1376786"/>
                  </a:cubicBezTo>
                  <a:cubicBezTo>
                    <a:pt x="876852" y="1376786"/>
                    <a:pt x="885777" y="1376786"/>
                    <a:pt x="894351" y="1376786"/>
                  </a:cubicBezTo>
                  <a:cubicBezTo>
                    <a:pt x="894351" y="1390960"/>
                    <a:pt x="894351" y="1404259"/>
                    <a:pt x="894351" y="1418258"/>
                  </a:cubicBezTo>
                  <a:cubicBezTo>
                    <a:pt x="885252" y="1418258"/>
                    <a:pt x="876503" y="1418258"/>
                    <a:pt x="867578" y="1418258"/>
                  </a:cubicBezTo>
                  <a:cubicBezTo>
                    <a:pt x="867578" y="1445206"/>
                    <a:pt x="867578" y="1471453"/>
                    <a:pt x="867578" y="1498576"/>
                  </a:cubicBezTo>
                  <a:cubicBezTo>
                    <a:pt x="876677" y="1498576"/>
                    <a:pt x="885602" y="1498576"/>
                    <a:pt x="894876" y="1498576"/>
                  </a:cubicBezTo>
                  <a:cubicBezTo>
                    <a:pt x="894876" y="1539348"/>
                    <a:pt x="894876" y="1578894"/>
                    <a:pt x="894876" y="1618966"/>
                  </a:cubicBezTo>
                  <a:close/>
                </a:path>
              </a:pathLst>
            </a:custGeom>
            <a:solidFill>
              <a:srgbClr val="1B1F3A"/>
            </a:solidFill>
            <a:ln w="1743" cap="flat">
              <a:noFill/>
              <a:prstDash val="solid"/>
              <a:miter/>
            </a:ln>
            <a:scene3d>
              <a:camera prst="orthographicFront"/>
              <a:lightRig rig="threePt" dir="t"/>
            </a:scene3d>
            <a:sp3d>
              <a:bevelT/>
            </a:sp3d>
          </p:spPr>
          <p:txBody>
            <a:bodyPr rtlCol="0" anchor="ctr"/>
            <a:lstStyle/>
            <a:p>
              <a:endParaRPr lang="en-US"/>
            </a:p>
          </p:txBody>
        </p:sp>
      </p:grpSp>
      <p:grpSp>
        <p:nvGrpSpPr>
          <p:cNvPr id="24" name="Group 16">
            <a:extLst>
              <a:ext uri="{FF2B5EF4-FFF2-40B4-BE49-F238E27FC236}">
                <a16:creationId xmlns:a16="http://schemas.microsoft.com/office/drawing/2014/main" id="{F54D6DA5-5277-4220-B028-23285A4626FD}"/>
              </a:ext>
            </a:extLst>
          </p:cNvPr>
          <p:cNvGrpSpPr/>
          <p:nvPr/>
        </p:nvGrpSpPr>
        <p:grpSpPr>
          <a:xfrm>
            <a:off x="1004047" y="1893830"/>
            <a:ext cx="3833920" cy="861776"/>
            <a:chOff x="6210996" y="1433695"/>
            <a:chExt cx="1493001" cy="613086"/>
          </a:xfrm>
        </p:grpSpPr>
        <p:sp>
          <p:nvSpPr>
            <p:cNvPr id="25" name="TextBox 1809">
              <a:extLst>
                <a:ext uri="{FF2B5EF4-FFF2-40B4-BE49-F238E27FC236}">
                  <a16:creationId xmlns:a16="http://schemas.microsoft.com/office/drawing/2014/main" id="{AA616A55-C40A-4B8D-93D5-5C627F443F6C}"/>
                </a:ext>
              </a:extLst>
            </p:cNvPr>
            <p:cNvSpPr txBox="1"/>
            <p:nvPr/>
          </p:nvSpPr>
          <p:spPr>
            <a:xfrm>
              <a:off x="6210999" y="1433695"/>
              <a:ext cx="1492998" cy="240855"/>
            </a:xfrm>
            <a:prstGeom prst="rect">
              <a:avLst/>
            </a:prstGeom>
            <a:noFill/>
          </p:spPr>
          <p:txBody>
            <a:bodyPr wrap="square" rtlCol="0">
              <a:spAutoFit/>
            </a:bodyPr>
            <a:lstStyle/>
            <a:p>
              <a:pPr algn="r"/>
              <a:r>
                <a:rPr lang="es-MX" altLang="ko-KR" sz="1600" b="1">
                  <a:solidFill>
                    <a:srgbClr val="131D3F"/>
                  </a:solidFill>
                  <a:latin typeface="Montserrat" panose="00000500000000000000" pitchFamily="2" charset="0"/>
                  <a:cs typeface="Arial" pitchFamily="34" charset="0"/>
                </a:rPr>
                <a:t>Personales</a:t>
              </a:r>
            </a:p>
          </p:txBody>
        </p:sp>
        <p:sp>
          <p:nvSpPr>
            <p:cNvPr id="26" name="TextBox 1810">
              <a:extLst>
                <a:ext uri="{FF2B5EF4-FFF2-40B4-BE49-F238E27FC236}">
                  <a16:creationId xmlns:a16="http://schemas.microsoft.com/office/drawing/2014/main" id="{1B344357-1DB0-4925-B4E1-4725C3109DB1}"/>
                </a:ext>
              </a:extLst>
            </p:cNvPr>
            <p:cNvSpPr txBox="1"/>
            <p:nvPr/>
          </p:nvSpPr>
          <p:spPr>
            <a:xfrm>
              <a:off x="6210996" y="1630759"/>
              <a:ext cx="1492998" cy="416022"/>
            </a:xfrm>
            <a:prstGeom prst="rect">
              <a:avLst/>
            </a:prstGeom>
            <a:noFill/>
          </p:spPr>
          <p:txBody>
            <a:bodyPr wrap="square" rtlCol="0">
              <a:spAutoFit/>
            </a:bodyPr>
            <a:lstStyle/>
            <a:p>
              <a:pPr algn="just"/>
              <a:r>
                <a:rPr lang="es-ES" altLang="ko-KR" sz="1600" dirty="0">
                  <a:solidFill>
                    <a:srgbClr val="131D3F"/>
                  </a:solidFill>
                  <a:latin typeface="Montserrat" panose="00000500000000000000" pitchFamily="2" charset="0"/>
                  <a:cs typeface="Arial" pitchFamily="34" charset="0"/>
                </a:rPr>
                <a:t>Gestionan de recursos económicos individuales o familiares.</a:t>
              </a:r>
              <a:endParaRPr lang="ko-KR" altLang="en-US" sz="1600" dirty="0">
                <a:solidFill>
                  <a:srgbClr val="131D3F"/>
                </a:solidFill>
                <a:latin typeface="Montserrat" panose="00000500000000000000" pitchFamily="2" charset="0"/>
                <a:cs typeface="Arial" pitchFamily="34" charset="0"/>
              </a:endParaRPr>
            </a:p>
          </p:txBody>
        </p:sp>
      </p:grpSp>
      <p:grpSp>
        <p:nvGrpSpPr>
          <p:cNvPr id="27" name="Group 16">
            <a:extLst>
              <a:ext uri="{FF2B5EF4-FFF2-40B4-BE49-F238E27FC236}">
                <a16:creationId xmlns:a16="http://schemas.microsoft.com/office/drawing/2014/main" id="{5C95E10B-3611-41FC-83E5-EBA8CD7C23AE}"/>
              </a:ext>
            </a:extLst>
          </p:cNvPr>
          <p:cNvGrpSpPr/>
          <p:nvPr/>
        </p:nvGrpSpPr>
        <p:grpSpPr>
          <a:xfrm>
            <a:off x="541905" y="2983687"/>
            <a:ext cx="3357208" cy="861774"/>
            <a:chOff x="6210996" y="1433695"/>
            <a:chExt cx="1493001" cy="613087"/>
          </a:xfrm>
        </p:grpSpPr>
        <p:sp>
          <p:nvSpPr>
            <p:cNvPr id="28" name="TextBox 1809">
              <a:extLst>
                <a:ext uri="{FF2B5EF4-FFF2-40B4-BE49-F238E27FC236}">
                  <a16:creationId xmlns:a16="http://schemas.microsoft.com/office/drawing/2014/main" id="{F878B1AB-5260-462F-8B16-A0A0487790C7}"/>
                </a:ext>
              </a:extLst>
            </p:cNvPr>
            <p:cNvSpPr txBox="1"/>
            <p:nvPr/>
          </p:nvSpPr>
          <p:spPr>
            <a:xfrm>
              <a:off x="6210999" y="1433695"/>
              <a:ext cx="1492998" cy="240855"/>
            </a:xfrm>
            <a:prstGeom prst="rect">
              <a:avLst/>
            </a:prstGeom>
            <a:noFill/>
          </p:spPr>
          <p:txBody>
            <a:bodyPr wrap="square" rtlCol="0">
              <a:spAutoFit/>
            </a:bodyPr>
            <a:lstStyle/>
            <a:p>
              <a:pPr algn="r"/>
              <a:r>
                <a:rPr lang="es-MX" altLang="ko-KR" sz="1600" b="1">
                  <a:solidFill>
                    <a:srgbClr val="131D3F"/>
                  </a:solidFill>
                  <a:latin typeface="Montserrat" panose="00000500000000000000" pitchFamily="2" charset="0"/>
                  <a:cs typeface="Arial" pitchFamily="34" charset="0"/>
                </a:rPr>
                <a:t>Corporativas</a:t>
              </a:r>
            </a:p>
          </p:txBody>
        </p:sp>
        <p:sp>
          <p:nvSpPr>
            <p:cNvPr id="29" name="TextBox 1810">
              <a:extLst>
                <a:ext uri="{FF2B5EF4-FFF2-40B4-BE49-F238E27FC236}">
                  <a16:creationId xmlns:a16="http://schemas.microsoft.com/office/drawing/2014/main" id="{7F9E84C8-9D8A-44C7-894A-5783E2AB3FCE}"/>
                </a:ext>
              </a:extLst>
            </p:cNvPr>
            <p:cNvSpPr txBox="1"/>
            <p:nvPr/>
          </p:nvSpPr>
          <p:spPr>
            <a:xfrm>
              <a:off x="6210996" y="1630759"/>
              <a:ext cx="1492998" cy="416023"/>
            </a:xfrm>
            <a:prstGeom prst="rect">
              <a:avLst/>
            </a:prstGeom>
            <a:noFill/>
          </p:spPr>
          <p:txBody>
            <a:bodyPr wrap="square" rtlCol="0">
              <a:spAutoFit/>
            </a:bodyPr>
            <a:lstStyle/>
            <a:p>
              <a:pPr algn="just"/>
              <a:r>
                <a:rPr lang="es-MX" altLang="ko-KR" sz="1600">
                  <a:solidFill>
                    <a:srgbClr val="131D3F"/>
                  </a:solidFill>
                  <a:latin typeface="Montserrat" panose="00000500000000000000" pitchFamily="2" charset="0"/>
                  <a:cs typeface="Arial" pitchFamily="34" charset="0"/>
                </a:rPr>
                <a:t>Gestión financiera de empresas y organizaciones.</a:t>
              </a:r>
              <a:endParaRPr lang="es-MX" altLang="ko-KR" sz="1600">
                <a:solidFill>
                  <a:srgbClr val="131D3F"/>
                </a:solidFill>
                <a:cs typeface="Arial" pitchFamily="34" charset="0"/>
              </a:endParaRPr>
            </a:p>
          </p:txBody>
        </p:sp>
      </p:grpSp>
      <p:grpSp>
        <p:nvGrpSpPr>
          <p:cNvPr id="30" name="Group 16">
            <a:extLst>
              <a:ext uri="{FF2B5EF4-FFF2-40B4-BE49-F238E27FC236}">
                <a16:creationId xmlns:a16="http://schemas.microsoft.com/office/drawing/2014/main" id="{505FDE59-46D0-4857-8CA4-6325120FD721}"/>
              </a:ext>
            </a:extLst>
          </p:cNvPr>
          <p:cNvGrpSpPr/>
          <p:nvPr/>
        </p:nvGrpSpPr>
        <p:grpSpPr>
          <a:xfrm>
            <a:off x="541910" y="4445064"/>
            <a:ext cx="3357206" cy="1107995"/>
            <a:chOff x="6210996" y="1433696"/>
            <a:chExt cx="1493000" cy="788253"/>
          </a:xfrm>
        </p:grpSpPr>
        <p:sp>
          <p:nvSpPr>
            <p:cNvPr id="31" name="TextBox 1809">
              <a:extLst>
                <a:ext uri="{FF2B5EF4-FFF2-40B4-BE49-F238E27FC236}">
                  <a16:creationId xmlns:a16="http://schemas.microsoft.com/office/drawing/2014/main" id="{1651508E-159B-4D71-A83F-A9DBAC83CF21}"/>
                </a:ext>
              </a:extLst>
            </p:cNvPr>
            <p:cNvSpPr txBox="1"/>
            <p:nvPr/>
          </p:nvSpPr>
          <p:spPr>
            <a:xfrm>
              <a:off x="6210998" y="1433696"/>
              <a:ext cx="1492998" cy="240855"/>
            </a:xfrm>
            <a:prstGeom prst="rect">
              <a:avLst/>
            </a:prstGeom>
            <a:noFill/>
          </p:spPr>
          <p:txBody>
            <a:bodyPr wrap="square" rtlCol="0">
              <a:spAutoFit/>
            </a:bodyPr>
            <a:lstStyle/>
            <a:p>
              <a:pPr algn="r"/>
              <a:r>
                <a:rPr lang="es-MX" altLang="ko-KR" sz="1600" b="1">
                  <a:solidFill>
                    <a:srgbClr val="131D3F"/>
                  </a:solidFill>
                  <a:latin typeface="Montserrat" panose="00000500000000000000" pitchFamily="2" charset="0"/>
                  <a:cs typeface="Arial" pitchFamily="34" charset="0"/>
                </a:rPr>
                <a:t>Públicas</a:t>
              </a:r>
            </a:p>
          </p:txBody>
        </p:sp>
        <p:sp>
          <p:nvSpPr>
            <p:cNvPr id="32" name="TextBox 1810">
              <a:extLst>
                <a:ext uri="{FF2B5EF4-FFF2-40B4-BE49-F238E27FC236}">
                  <a16:creationId xmlns:a16="http://schemas.microsoft.com/office/drawing/2014/main" id="{0BA4334B-F11F-478F-A08E-FE9A5A25250E}"/>
                </a:ext>
              </a:extLst>
            </p:cNvPr>
            <p:cNvSpPr txBox="1"/>
            <p:nvPr/>
          </p:nvSpPr>
          <p:spPr>
            <a:xfrm>
              <a:off x="6210996" y="1630759"/>
              <a:ext cx="1492998" cy="591190"/>
            </a:xfrm>
            <a:prstGeom prst="rect">
              <a:avLst/>
            </a:prstGeom>
            <a:noFill/>
          </p:spPr>
          <p:txBody>
            <a:bodyPr wrap="square" rtlCol="0">
              <a:spAutoFit/>
            </a:bodyPr>
            <a:lstStyle/>
            <a:p>
              <a:pPr algn="just"/>
              <a:r>
                <a:rPr lang="es-ES" altLang="ko-KR" sz="1600" dirty="0">
                  <a:solidFill>
                    <a:srgbClr val="131D3F"/>
                  </a:solidFill>
                  <a:latin typeface="Montserrat" panose="00000500000000000000" pitchFamily="2" charset="0"/>
                  <a:cs typeface="Arial" pitchFamily="34" charset="0"/>
                </a:rPr>
                <a:t>Gestión de los ingresos y gastos del gobierno y las entidades públicas.</a:t>
              </a:r>
              <a:endParaRPr lang="ko-KR" altLang="en-US" sz="1600" dirty="0">
                <a:solidFill>
                  <a:srgbClr val="131D3F"/>
                </a:solidFill>
                <a:latin typeface="Montserrat" panose="00000500000000000000" pitchFamily="2" charset="0"/>
                <a:cs typeface="Arial" pitchFamily="34" charset="0"/>
              </a:endParaRPr>
            </a:p>
          </p:txBody>
        </p:sp>
      </p:grpSp>
      <p:grpSp>
        <p:nvGrpSpPr>
          <p:cNvPr id="33" name="Group 16">
            <a:extLst>
              <a:ext uri="{FF2B5EF4-FFF2-40B4-BE49-F238E27FC236}">
                <a16:creationId xmlns:a16="http://schemas.microsoft.com/office/drawing/2014/main" id="{0DDDCE85-B28F-4CC4-953A-EBAEE0EE2115}"/>
              </a:ext>
            </a:extLst>
          </p:cNvPr>
          <p:cNvGrpSpPr/>
          <p:nvPr/>
        </p:nvGrpSpPr>
        <p:grpSpPr>
          <a:xfrm>
            <a:off x="1560515" y="5797713"/>
            <a:ext cx="3357208" cy="861774"/>
            <a:chOff x="6210996" y="1433695"/>
            <a:chExt cx="1493001" cy="613087"/>
          </a:xfrm>
        </p:grpSpPr>
        <p:sp>
          <p:nvSpPr>
            <p:cNvPr id="34" name="TextBox 1809">
              <a:extLst>
                <a:ext uri="{FF2B5EF4-FFF2-40B4-BE49-F238E27FC236}">
                  <a16:creationId xmlns:a16="http://schemas.microsoft.com/office/drawing/2014/main" id="{BD7D83F3-871B-4BB1-A504-2C23C7107E2B}"/>
                </a:ext>
              </a:extLst>
            </p:cNvPr>
            <p:cNvSpPr txBox="1"/>
            <p:nvPr/>
          </p:nvSpPr>
          <p:spPr>
            <a:xfrm>
              <a:off x="6210999" y="1433695"/>
              <a:ext cx="1492998" cy="240855"/>
            </a:xfrm>
            <a:prstGeom prst="rect">
              <a:avLst/>
            </a:prstGeom>
            <a:noFill/>
          </p:spPr>
          <p:txBody>
            <a:bodyPr wrap="square" rtlCol="0">
              <a:spAutoFit/>
            </a:bodyPr>
            <a:lstStyle/>
            <a:p>
              <a:pPr algn="r"/>
              <a:r>
                <a:rPr lang="es-MX" altLang="ko-KR" sz="1600" b="1">
                  <a:solidFill>
                    <a:srgbClr val="131D3F"/>
                  </a:solidFill>
                  <a:latin typeface="Montserrat" panose="00000500000000000000" pitchFamily="2" charset="0"/>
                  <a:cs typeface="Arial" pitchFamily="34" charset="0"/>
                </a:rPr>
                <a:t>Internacionales</a:t>
              </a:r>
            </a:p>
          </p:txBody>
        </p:sp>
        <p:sp>
          <p:nvSpPr>
            <p:cNvPr id="35" name="TextBox 1810">
              <a:extLst>
                <a:ext uri="{FF2B5EF4-FFF2-40B4-BE49-F238E27FC236}">
                  <a16:creationId xmlns:a16="http://schemas.microsoft.com/office/drawing/2014/main" id="{03BDD0BA-B99E-4960-B8D8-FECC7508E345}"/>
                </a:ext>
              </a:extLst>
            </p:cNvPr>
            <p:cNvSpPr txBox="1"/>
            <p:nvPr/>
          </p:nvSpPr>
          <p:spPr>
            <a:xfrm>
              <a:off x="6210996" y="1630759"/>
              <a:ext cx="1492998" cy="416023"/>
            </a:xfrm>
            <a:prstGeom prst="rect">
              <a:avLst/>
            </a:prstGeom>
            <a:noFill/>
          </p:spPr>
          <p:txBody>
            <a:bodyPr wrap="square" rtlCol="0">
              <a:spAutoFit/>
            </a:bodyPr>
            <a:lstStyle/>
            <a:p>
              <a:pPr algn="just"/>
              <a:r>
                <a:rPr lang="es-ES" altLang="ko-KR" sz="1600" dirty="0">
                  <a:solidFill>
                    <a:srgbClr val="131D3F"/>
                  </a:solidFill>
                  <a:latin typeface="Montserrat" panose="00000500000000000000" pitchFamily="2" charset="0"/>
                  <a:cs typeface="Arial" pitchFamily="34" charset="0"/>
                </a:rPr>
                <a:t>Gestión financiera en un contexto global.</a:t>
              </a:r>
              <a:endParaRPr lang="ko-KR" altLang="en-US" sz="1600" dirty="0">
                <a:solidFill>
                  <a:srgbClr val="131D3F"/>
                </a:solidFill>
                <a:latin typeface="Montserrat" panose="00000500000000000000" pitchFamily="2" charset="0"/>
                <a:cs typeface="Arial" pitchFamily="34" charset="0"/>
              </a:endParaRPr>
            </a:p>
          </p:txBody>
        </p:sp>
      </p:grpSp>
      <p:pic>
        <p:nvPicPr>
          <p:cNvPr id="3" name="Gráfico 2" descr="Perfil de hombre con relleno sólido">
            <a:extLst>
              <a:ext uri="{FF2B5EF4-FFF2-40B4-BE49-F238E27FC236}">
                <a16:creationId xmlns:a16="http://schemas.microsoft.com/office/drawing/2014/main" id="{50A2CCAB-F64D-4D51-9D9B-2AB065AE52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41451" y="2384754"/>
            <a:ext cx="600706" cy="600706"/>
          </a:xfrm>
          <a:prstGeom prst="rect">
            <a:avLst/>
          </a:prstGeom>
        </p:spPr>
      </p:pic>
      <p:pic>
        <p:nvPicPr>
          <p:cNvPr id="6" name="Gráfico 5" descr="Maletín con relleno sólido">
            <a:extLst>
              <a:ext uri="{FF2B5EF4-FFF2-40B4-BE49-F238E27FC236}">
                <a16:creationId xmlns:a16="http://schemas.microsoft.com/office/drawing/2014/main" id="{E95C48C5-3599-41E8-A8C9-841F8E97723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43244" y="3300359"/>
            <a:ext cx="507751" cy="507751"/>
          </a:xfrm>
          <a:prstGeom prst="rect">
            <a:avLst/>
          </a:prstGeom>
        </p:spPr>
      </p:pic>
      <p:pic>
        <p:nvPicPr>
          <p:cNvPr id="38" name="Gráfico 37" descr="Globo terráqueo: América con relleno sólido">
            <a:extLst>
              <a:ext uri="{FF2B5EF4-FFF2-40B4-BE49-F238E27FC236}">
                <a16:creationId xmlns:a16="http://schemas.microsoft.com/office/drawing/2014/main" id="{D2513394-5F6A-4B24-A64B-97BE946BDD3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441804" y="5229554"/>
            <a:ext cx="600706" cy="600706"/>
          </a:xfrm>
          <a:prstGeom prst="rect">
            <a:avLst/>
          </a:prstGeom>
        </p:spPr>
      </p:pic>
      <p:pic>
        <p:nvPicPr>
          <p:cNvPr id="44" name="Gráfico 43" descr="Euro con relleno sólido">
            <a:extLst>
              <a:ext uri="{FF2B5EF4-FFF2-40B4-BE49-F238E27FC236}">
                <a16:creationId xmlns:a16="http://schemas.microsoft.com/office/drawing/2014/main" id="{C13F6B97-2E9F-4C3A-953C-080C219F15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02520" y="3691549"/>
            <a:ext cx="415958" cy="415958"/>
          </a:xfrm>
          <a:prstGeom prst="rect">
            <a:avLst/>
          </a:prstGeom>
        </p:spPr>
      </p:pic>
      <p:pic>
        <p:nvPicPr>
          <p:cNvPr id="46" name="Gráfico 45" descr="Dólar con relleno sólido">
            <a:extLst>
              <a:ext uri="{FF2B5EF4-FFF2-40B4-BE49-F238E27FC236}">
                <a16:creationId xmlns:a16="http://schemas.microsoft.com/office/drawing/2014/main" id="{F5EAE760-4FAF-44FA-9B67-02EE4C105BF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89715" y="4196742"/>
            <a:ext cx="415958" cy="415958"/>
          </a:xfrm>
          <a:prstGeom prst="rect">
            <a:avLst/>
          </a:prstGeom>
        </p:spPr>
      </p:pic>
      <p:pic>
        <p:nvPicPr>
          <p:cNvPr id="48" name="Gráfico 47" descr="Dinero con relleno sólido">
            <a:extLst>
              <a:ext uri="{FF2B5EF4-FFF2-40B4-BE49-F238E27FC236}">
                <a16:creationId xmlns:a16="http://schemas.microsoft.com/office/drawing/2014/main" id="{A70B244C-7901-4A23-8C6C-FD81AE01E24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89715" y="3691549"/>
            <a:ext cx="415958" cy="415958"/>
          </a:xfrm>
          <a:prstGeom prst="rect">
            <a:avLst/>
          </a:prstGeom>
        </p:spPr>
      </p:pic>
      <p:pic>
        <p:nvPicPr>
          <p:cNvPr id="50" name="Gráfico 49" descr="Hucha con relleno sólido">
            <a:extLst>
              <a:ext uri="{FF2B5EF4-FFF2-40B4-BE49-F238E27FC236}">
                <a16:creationId xmlns:a16="http://schemas.microsoft.com/office/drawing/2014/main" id="{539F20C3-E433-4B7A-A06F-6F137002F4C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799969" y="4155500"/>
            <a:ext cx="415958" cy="415958"/>
          </a:xfrm>
          <a:prstGeom prst="rect">
            <a:avLst/>
          </a:prstGeom>
        </p:spPr>
      </p:pic>
      <p:sp>
        <p:nvSpPr>
          <p:cNvPr id="62" name="CuadroTexto 61">
            <a:extLst>
              <a:ext uri="{FF2B5EF4-FFF2-40B4-BE49-F238E27FC236}">
                <a16:creationId xmlns:a16="http://schemas.microsoft.com/office/drawing/2014/main" id="{4C4A2706-C97C-495B-A065-1EBCE0F46DA4}"/>
              </a:ext>
            </a:extLst>
          </p:cNvPr>
          <p:cNvSpPr txBox="1"/>
          <p:nvPr/>
        </p:nvSpPr>
        <p:spPr>
          <a:xfrm>
            <a:off x="7570265" y="3105896"/>
            <a:ext cx="4228658" cy="2123658"/>
          </a:xfrm>
          <a:prstGeom prst="rect">
            <a:avLst/>
          </a:prstGeom>
          <a:noFill/>
        </p:spPr>
        <p:txBody>
          <a:bodyPr wrap="square">
            <a:spAutoFit/>
          </a:bodyPr>
          <a:lstStyle/>
          <a:p>
            <a:pPr algn="just"/>
            <a:r>
              <a:rPr lang="es-ES" sz="2200" dirty="0">
                <a:solidFill>
                  <a:srgbClr val="131D3F"/>
                </a:solidFill>
                <a:latin typeface="Montserrat" panose="00000500000000000000" pitchFamily="2" charset="0"/>
              </a:rPr>
              <a:t>Las finanzas son fundamentales para </a:t>
            </a:r>
            <a:r>
              <a:rPr lang="es-ES" sz="2200" b="1" dirty="0">
                <a:solidFill>
                  <a:srgbClr val="131D3F"/>
                </a:solidFill>
                <a:latin typeface="Montserrat" panose="00000500000000000000" pitchFamily="2" charset="0"/>
              </a:rPr>
              <a:t>tomar decisiones informadas</a:t>
            </a:r>
            <a:r>
              <a:rPr lang="es-ES" sz="2200" dirty="0">
                <a:solidFill>
                  <a:srgbClr val="131D3F"/>
                </a:solidFill>
                <a:latin typeface="Montserrat" panose="00000500000000000000" pitchFamily="2" charset="0"/>
              </a:rPr>
              <a:t> y </a:t>
            </a:r>
            <a:r>
              <a:rPr lang="es-ES" sz="2200" b="1" dirty="0">
                <a:solidFill>
                  <a:srgbClr val="131D3F"/>
                </a:solidFill>
                <a:latin typeface="Montserrat" panose="00000500000000000000" pitchFamily="2" charset="0"/>
              </a:rPr>
              <a:t>estratégicas</a:t>
            </a:r>
            <a:r>
              <a:rPr lang="es-ES" sz="2200" dirty="0">
                <a:solidFill>
                  <a:srgbClr val="131D3F"/>
                </a:solidFill>
                <a:latin typeface="Montserrat" panose="00000500000000000000" pitchFamily="2" charset="0"/>
              </a:rPr>
              <a:t> sobre cómo manejar y optimizar los recursos económicos.</a:t>
            </a:r>
            <a:endParaRPr lang="es-MX" sz="2200" dirty="0">
              <a:solidFill>
                <a:srgbClr val="131D3F"/>
              </a:solidFill>
              <a:latin typeface="Montserrat" panose="00000500000000000000" pitchFamily="2" charset="0"/>
            </a:endParaRPr>
          </a:p>
        </p:txBody>
      </p:sp>
      <p:sp>
        <p:nvSpPr>
          <p:cNvPr id="36" name="CuadroTexto 35">
            <a:extLst>
              <a:ext uri="{FF2B5EF4-FFF2-40B4-BE49-F238E27FC236}">
                <a16:creationId xmlns:a16="http://schemas.microsoft.com/office/drawing/2014/main" id="{7BA07BEF-4955-478F-AF91-C5DCA0DFC365}"/>
              </a:ext>
            </a:extLst>
          </p:cNvPr>
          <p:cNvSpPr txBox="1"/>
          <p:nvPr/>
        </p:nvSpPr>
        <p:spPr>
          <a:xfrm>
            <a:off x="7570265" y="6488668"/>
            <a:ext cx="4621736" cy="369332"/>
          </a:xfrm>
          <a:prstGeom prst="rect">
            <a:avLst/>
          </a:prstGeom>
          <a:noFill/>
        </p:spPr>
        <p:txBody>
          <a:bodyPr wrap="square">
            <a:spAutoFit/>
          </a:bodyPr>
          <a:lstStyle/>
          <a:p>
            <a:r>
              <a:rPr lang="es-ES" b="1" dirty="0">
                <a:solidFill>
                  <a:srgbClr val="131D3F"/>
                </a:solidFill>
                <a:latin typeface="Montserrat" panose="00000500000000000000" pitchFamily="2" charset="0"/>
              </a:rPr>
              <a:t>Gestión de recursos para crear valor</a:t>
            </a:r>
            <a:r>
              <a:rPr lang="es-ES" sz="1800" b="1" dirty="0">
                <a:solidFill>
                  <a:srgbClr val="131D3F"/>
                </a:solidFill>
                <a:latin typeface="Montserrat" panose="00000500000000000000" pitchFamily="2" charset="0"/>
              </a:rPr>
              <a:t>.</a:t>
            </a:r>
            <a:endParaRPr lang="es-MX" dirty="0"/>
          </a:p>
        </p:txBody>
      </p:sp>
      <p:pic>
        <p:nvPicPr>
          <p:cNvPr id="5" name="Gráfico 4" descr="Banco con relleno sólido">
            <a:extLst>
              <a:ext uri="{FF2B5EF4-FFF2-40B4-BE49-F238E27FC236}">
                <a16:creationId xmlns:a16="http://schemas.microsoft.com/office/drawing/2014/main" id="{6BF82205-31AA-4F21-AADB-00A132FA58F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607540" y="4385892"/>
            <a:ext cx="584775" cy="584775"/>
          </a:xfrm>
          <a:prstGeom prst="rect">
            <a:avLst/>
          </a:prstGeom>
        </p:spPr>
      </p:pic>
    </p:spTree>
    <p:extLst>
      <p:ext uri="{BB962C8B-B14F-4D97-AF65-F5344CB8AC3E}">
        <p14:creationId xmlns:p14="http://schemas.microsoft.com/office/powerpoint/2010/main" val="219633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76F0E5D-E0FD-A932-96D3-FB14B0798A58}"/>
              </a:ext>
            </a:extLst>
          </p:cNvPr>
          <p:cNvSpPr>
            <a:spLocks noGrp="1"/>
          </p:cNvSpPr>
          <p:nvPr>
            <p:ph type="title"/>
          </p:nvPr>
        </p:nvSpPr>
        <p:spPr>
          <a:xfrm>
            <a:off x="817879" y="310530"/>
            <a:ext cx="6820049" cy="1027256"/>
          </a:xfrm>
        </p:spPr>
        <p:txBody>
          <a:bodyPr>
            <a:normAutofit/>
          </a:bodyPr>
          <a:lstStyle/>
          <a:p>
            <a:r>
              <a:rPr lang="es-ES" sz="3600" b="1" dirty="0">
                <a:solidFill>
                  <a:srgbClr val="131D3F"/>
                </a:solidFill>
                <a:latin typeface="Montserrat SemiBold" panose="00000700000000000000" pitchFamily="2" charset="0"/>
              </a:rPr>
              <a:t>1.1 Finanzas</a:t>
            </a:r>
            <a:br>
              <a:rPr lang="es-ES" sz="3600" b="1" dirty="0">
                <a:solidFill>
                  <a:srgbClr val="131D3F"/>
                </a:solidFill>
                <a:latin typeface="Montserrat SemiBold" panose="00000700000000000000" pitchFamily="2" charset="0"/>
              </a:rPr>
            </a:br>
            <a:r>
              <a:rPr lang="es-ES" sz="2400" b="1" dirty="0">
                <a:solidFill>
                  <a:srgbClr val="131D3F"/>
                </a:solidFill>
                <a:latin typeface="Montserrat SemiBold" panose="00000700000000000000" pitchFamily="2" charset="0"/>
              </a:rPr>
              <a:t>Conceptos complementarios</a:t>
            </a:r>
            <a:endParaRPr lang="es-MX" sz="3600" b="1" dirty="0">
              <a:solidFill>
                <a:srgbClr val="131D3F"/>
              </a:solidFill>
              <a:latin typeface="Montserrat SemiBold" panose="00000700000000000000" pitchFamily="2" charset="0"/>
            </a:endParaRPr>
          </a:p>
        </p:txBody>
      </p:sp>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6</a:t>
            </a:fld>
            <a:endParaRPr lang="es-MX" sz="2400" b="1" dirty="0">
              <a:solidFill>
                <a:srgbClr val="BA955B"/>
              </a:solidFill>
              <a:latin typeface="Montserrat SemiBold" panose="00000700000000000000" pitchFamily="2" charset="0"/>
            </a:endParaRPr>
          </a:p>
        </p:txBody>
      </p:sp>
      <p:sp>
        <p:nvSpPr>
          <p:cNvPr id="9" name="Google Shape;112;p3">
            <a:extLst>
              <a:ext uri="{FF2B5EF4-FFF2-40B4-BE49-F238E27FC236}">
                <a16:creationId xmlns:a16="http://schemas.microsoft.com/office/drawing/2014/main" id="{53A8940B-73C9-4CFB-AB34-1DB03CCCBED6}"/>
              </a:ext>
            </a:extLst>
          </p:cNvPr>
          <p:cNvSpPr txBox="1"/>
          <p:nvPr/>
        </p:nvSpPr>
        <p:spPr>
          <a:xfrm>
            <a:off x="1157361" y="1291057"/>
            <a:ext cx="4683461" cy="417330"/>
          </a:xfrm>
          <a:prstGeom prst="rect">
            <a:avLst/>
          </a:prstGeom>
          <a:noFill/>
          <a:ln>
            <a:noFill/>
          </a:ln>
        </p:spPr>
        <p:txBody>
          <a:bodyPr spcFirstLastPara="1" wrap="square" lIns="91425" tIns="45700" rIns="91425" bIns="45700" anchor="t" anchorCtr="0">
            <a:noAutofit/>
          </a:bodyPr>
          <a:lstStyle/>
          <a:p>
            <a:pPr algn="ctr"/>
            <a:r>
              <a:rPr lang="es-ES" sz="2200" dirty="0">
                <a:solidFill>
                  <a:srgbClr val="131D3F"/>
                </a:solidFill>
                <a:latin typeface="Montserrat" panose="00000500000000000000" pitchFamily="2" charset="0"/>
              </a:rPr>
              <a:t>Valor del Dinero en el Tiempo:</a:t>
            </a:r>
          </a:p>
        </p:txBody>
      </p:sp>
      <p:pic>
        <p:nvPicPr>
          <p:cNvPr id="2052" name="Picture 4" descr="Palma Laritza by laritza.palma18 - Issuu">
            <a:extLst>
              <a:ext uri="{FF2B5EF4-FFF2-40B4-BE49-F238E27FC236}">
                <a16:creationId xmlns:a16="http://schemas.microsoft.com/office/drawing/2014/main" id="{F96058FA-6A53-4DBE-9203-BF82C1F527F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430" t="8893" r="35687" b="18194"/>
          <a:stretch/>
        </p:blipFill>
        <p:spPr bwMode="auto">
          <a:xfrm>
            <a:off x="938785" y="2316202"/>
            <a:ext cx="1111496" cy="1027256"/>
          </a:xfrm>
          <a:prstGeom prst="ellipse">
            <a:avLst/>
          </a:prstGeom>
          <a:ln w="190500" cap="rnd">
            <a:noFill/>
            <a:prstDash val="solid"/>
          </a:ln>
          <a:effectLst>
            <a:outerShdw blurRad="127000" algn="bl" rotWithShape="0">
              <a:srgbClr val="000000"/>
            </a:outerShdw>
          </a:effectLst>
          <a:scene3d>
            <a:camera prst="perspectiveFront" fov="5400000"/>
            <a:lightRig rig="threePt" dir="t">
              <a:rot lat="0" lon="0" rev="19200000"/>
            </a:lightRig>
          </a:scene3d>
          <a:sp3d extrusionH="25400">
            <a:extrusionClr>
              <a:srgbClr val="000000"/>
            </a:extrusionClr>
          </a:sp3d>
          <a:extLst>
            <a:ext uri="{909E8E84-426E-40DD-AFC4-6F175D3DCCD1}">
              <a14:hiddenFill xmlns:a14="http://schemas.microsoft.com/office/drawing/2010/main">
                <a:solidFill>
                  <a:srgbClr val="FFFFFF"/>
                </a:solidFill>
              </a14:hiddenFill>
            </a:ext>
          </a:extLst>
        </p:spPr>
      </p:pic>
      <p:sp>
        <p:nvSpPr>
          <p:cNvPr id="2" name="Rectángulo: esquinas redondeadas 1">
            <a:extLst>
              <a:ext uri="{FF2B5EF4-FFF2-40B4-BE49-F238E27FC236}">
                <a16:creationId xmlns:a16="http://schemas.microsoft.com/office/drawing/2014/main" id="{1981E09A-D659-4349-9553-AFA72C126DB5}"/>
              </a:ext>
            </a:extLst>
          </p:cNvPr>
          <p:cNvSpPr/>
          <p:nvPr/>
        </p:nvSpPr>
        <p:spPr>
          <a:xfrm>
            <a:off x="2587715" y="2110592"/>
            <a:ext cx="935694" cy="611086"/>
          </a:xfrm>
          <a:prstGeom prst="roundRect">
            <a:avLst/>
          </a:prstGeom>
          <a:solidFill>
            <a:srgbClr val="131D3F"/>
          </a:solidFill>
          <a:scene3d>
            <a:camera prst="orthographicFront"/>
            <a:lightRig rig="threePt" dir="t"/>
          </a:scene3d>
          <a:sp3d extrusionH="76200" contourW="12700">
            <a:bevelT/>
            <a:extrusionClr>
              <a:srgbClr val="131D3F"/>
            </a:extrusionClr>
            <a:contourClr>
              <a:srgbClr val="1B1F3A"/>
            </a:contourClr>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sz="1100" dirty="0">
                <a:latin typeface="Montserrat" panose="00000500000000000000" pitchFamily="2" charset="0"/>
              </a:rPr>
              <a:t>Año 2000</a:t>
            </a:r>
          </a:p>
          <a:p>
            <a:pPr algn="ctr"/>
            <a:r>
              <a:rPr lang="es-ES" sz="1100" dirty="0">
                <a:latin typeface="Montserrat" panose="00000500000000000000" pitchFamily="2" charset="0"/>
              </a:rPr>
              <a:t>$4.50</a:t>
            </a:r>
            <a:endParaRPr lang="es-MX" sz="1100" dirty="0">
              <a:latin typeface="Montserrat" panose="00000500000000000000" pitchFamily="2" charset="0"/>
            </a:endParaRPr>
          </a:p>
        </p:txBody>
      </p:sp>
      <p:sp>
        <p:nvSpPr>
          <p:cNvPr id="42" name="Rectángulo: esquinas redondeadas 41">
            <a:extLst>
              <a:ext uri="{FF2B5EF4-FFF2-40B4-BE49-F238E27FC236}">
                <a16:creationId xmlns:a16="http://schemas.microsoft.com/office/drawing/2014/main" id="{54BB7775-A9F7-4DD9-9E94-C2D7B678856E}"/>
              </a:ext>
            </a:extLst>
          </p:cNvPr>
          <p:cNvSpPr/>
          <p:nvPr/>
        </p:nvSpPr>
        <p:spPr>
          <a:xfrm>
            <a:off x="4379342" y="2110592"/>
            <a:ext cx="935694" cy="611086"/>
          </a:xfrm>
          <a:prstGeom prst="roundRect">
            <a:avLst/>
          </a:prstGeom>
          <a:solidFill>
            <a:srgbClr val="131D3F"/>
          </a:solidFill>
          <a:scene3d>
            <a:camera prst="orthographicFront"/>
            <a:lightRig rig="threePt" dir="t"/>
          </a:scene3d>
          <a:sp3d extrusionH="76200" contourW="12700">
            <a:bevelT/>
            <a:extrusionClr>
              <a:srgbClr val="131D3F"/>
            </a:extrusionClr>
            <a:contourClr>
              <a:srgbClr val="1B1F3A"/>
            </a:contourClr>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sz="1100" dirty="0">
                <a:latin typeface="Montserrat" panose="00000500000000000000" pitchFamily="2" charset="0"/>
              </a:rPr>
              <a:t>Año 2024</a:t>
            </a:r>
          </a:p>
          <a:p>
            <a:pPr algn="ctr"/>
            <a:r>
              <a:rPr lang="es-ES" sz="1100" dirty="0">
                <a:latin typeface="Montserrat" panose="00000500000000000000" pitchFamily="2" charset="0"/>
              </a:rPr>
              <a:t>$23.50</a:t>
            </a:r>
            <a:endParaRPr lang="es-MX" sz="1100" dirty="0">
              <a:latin typeface="Montserrat" panose="00000500000000000000" pitchFamily="2" charset="0"/>
            </a:endParaRPr>
          </a:p>
        </p:txBody>
      </p:sp>
      <p:sp>
        <p:nvSpPr>
          <p:cNvPr id="43" name="Rectángulo: esquinas redondeadas 42">
            <a:extLst>
              <a:ext uri="{FF2B5EF4-FFF2-40B4-BE49-F238E27FC236}">
                <a16:creationId xmlns:a16="http://schemas.microsoft.com/office/drawing/2014/main" id="{165BD7EF-1B34-4710-B6C7-2FA76DE1053F}"/>
              </a:ext>
            </a:extLst>
          </p:cNvPr>
          <p:cNvSpPr/>
          <p:nvPr/>
        </p:nvSpPr>
        <p:spPr>
          <a:xfrm>
            <a:off x="3024867" y="3082422"/>
            <a:ext cx="1853016" cy="411401"/>
          </a:xfrm>
          <a:prstGeom prst="roundRect">
            <a:avLst/>
          </a:prstGeom>
          <a:solidFill>
            <a:srgbClr val="131D3F"/>
          </a:solidFill>
          <a:scene3d>
            <a:camera prst="orthographicFront"/>
            <a:lightRig rig="threePt" dir="t"/>
          </a:scene3d>
          <a:sp3d extrusionH="76200" contourW="12700">
            <a:bevelT/>
            <a:extrusionClr>
              <a:srgbClr val="131D3F"/>
            </a:extrusionClr>
            <a:contourClr>
              <a:srgbClr val="1B1F3A"/>
            </a:contourClr>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sz="1400" b="1" dirty="0">
                <a:latin typeface="Montserrat" panose="00000500000000000000" pitchFamily="2" charset="0"/>
              </a:rPr>
              <a:t>522.22%</a:t>
            </a:r>
            <a:endParaRPr lang="es-MX" sz="1400" b="1" dirty="0">
              <a:latin typeface="Montserrat" panose="00000500000000000000" pitchFamily="2" charset="0"/>
            </a:endParaRPr>
          </a:p>
        </p:txBody>
      </p:sp>
      <p:sp>
        <p:nvSpPr>
          <p:cNvPr id="5" name="Flecha: a la derecha 4">
            <a:extLst>
              <a:ext uri="{FF2B5EF4-FFF2-40B4-BE49-F238E27FC236}">
                <a16:creationId xmlns:a16="http://schemas.microsoft.com/office/drawing/2014/main" id="{08F9CDAD-F8F6-4D83-8333-1BAD7A55DC1B}"/>
              </a:ext>
            </a:extLst>
          </p:cNvPr>
          <p:cNvSpPr/>
          <p:nvPr/>
        </p:nvSpPr>
        <p:spPr>
          <a:xfrm>
            <a:off x="3737624" y="2297074"/>
            <a:ext cx="427503" cy="238125"/>
          </a:xfrm>
          <a:prstGeom prst="rightArrow">
            <a:avLst/>
          </a:prstGeom>
          <a:solidFill>
            <a:srgbClr val="131D3F"/>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7" name="Google Shape;112;p3">
            <a:extLst>
              <a:ext uri="{FF2B5EF4-FFF2-40B4-BE49-F238E27FC236}">
                <a16:creationId xmlns:a16="http://schemas.microsoft.com/office/drawing/2014/main" id="{C0A737BE-17F6-44F7-B01B-C5B61345AF49}"/>
              </a:ext>
            </a:extLst>
          </p:cNvPr>
          <p:cNvSpPr txBox="1"/>
          <p:nvPr/>
        </p:nvSpPr>
        <p:spPr>
          <a:xfrm>
            <a:off x="1163101" y="3949732"/>
            <a:ext cx="4677719" cy="472705"/>
          </a:xfrm>
          <a:prstGeom prst="rect">
            <a:avLst/>
          </a:prstGeom>
          <a:noFill/>
          <a:ln>
            <a:noFill/>
          </a:ln>
        </p:spPr>
        <p:txBody>
          <a:bodyPr spcFirstLastPara="1" wrap="square" lIns="91425" tIns="45700" rIns="91425" bIns="45700" anchor="ctr" anchorCtr="0">
            <a:noAutofit/>
          </a:bodyPr>
          <a:lstStyle/>
          <a:p>
            <a:pPr algn="ctr"/>
            <a:r>
              <a:rPr lang="es-ES" sz="2200" dirty="0">
                <a:solidFill>
                  <a:srgbClr val="131D3F"/>
                </a:solidFill>
                <a:latin typeface="Montserrat" panose="00000500000000000000" pitchFamily="2" charset="0"/>
              </a:rPr>
              <a:t>Riesgo/Rendimiento:</a:t>
            </a:r>
          </a:p>
        </p:txBody>
      </p:sp>
      <p:cxnSp>
        <p:nvCxnSpPr>
          <p:cNvPr id="37" name="Conector recto 36">
            <a:extLst>
              <a:ext uri="{FF2B5EF4-FFF2-40B4-BE49-F238E27FC236}">
                <a16:creationId xmlns:a16="http://schemas.microsoft.com/office/drawing/2014/main" id="{AEFEA887-B3D3-4318-8892-52DA20CBF697}"/>
              </a:ext>
            </a:extLst>
          </p:cNvPr>
          <p:cNvCxnSpPr>
            <a:cxnSpLocks/>
          </p:cNvCxnSpPr>
          <p:nvPr/>
        </p:nvCxnSpPr>
        <p:spPr>
          <a:xfrm>
            <a:off x="6096000" y="1786531"/>
            <a:ext cx="0" cy="4240643"/>
          </a:xfrm>
          <a:prstGeom prst="line">
            <a:avLst/>
          </a:prstGeom>
          <a:ln w="28575">
            <a:solidFill>
              <a:srgbClr val="993300">
                <a:alpha val="4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AC35A0D8-8103-4C3A-B5B4-B69CCBC9AE90}"/>
              </a:ext>
            </a:extLst>
          </p:cNvPr>
          <p:cNvCxnSpPr>
            <a:cxnSpLocks/>
          </p:cNvCxnSpPr>
          <p:nvPr/>
        </p:nvCxnSpPr>
        <p:spPr>
          <a:xfrm flipH="1">
            <a:off x="2705942" y="3906852"/>
            <a:ext cx="7098890" cy="0"/>
          </a:xfrm>
          <a:prstGeom prst="line">
            <a:avLst/>
          </a:prstGeom>
          <a:ln w="28575">
            <a:solidFill>
              <a:srgbClr val="993300">
                <a:alpha val="49804"/>
              </a:srgbClr>
            </a:solidFill>
            <a:prstDash val="sysDot"/>
          </a:ln>
        </p:spPr>
        <p:style>
          <a:lnRef idx="1">
            <a:schemeClr val="accent1"/>
          </a:lnRef>
          <a:fillRef idx="0">
            <a:schemeClr val="accent1"/>
          </a:fillRef>
          <a:effectRef idx="0">
            <a:schemeClr val="accent1"/>
          </a:effectRef>
          <a:fontRef idx="minor">
            <a:schemeClr val="tx1"/>
          </a:fontRef>
        </p:style>
      </p:cxnSp>
      <p:sp>
        <p:nvSpPr>
          <p:cNvPr id="64" name="Google Shape;112;p3">
            <a:extLst>
              <a:ext uri="{FF2B5EF4-FFF2-40B4-BE49-F238E27FC236}">
                <a16:creationId xmlns:a16="http://schemas.microsoft.com/office/drawing/2014/main" id="{9DB2F468-DF78-4D0C-A032-87AFB5116A53}"/>
              </a:ext>
            </a:extLst>
          </p:cNvPr>
          <p:cNvSpPr txBox="1"/>
          <p:nvPr/>
        </p:nvSpPr>
        <p:spPr>
          <a:xfrm>
            <a:off x="6461864" y="1291057"/>
            <a:ext cx="4683461" cy="417330"/>
          </a:xfrm>
          <a:prstGeom prst="rect">
            <a:avLst/>
          </a:prstGeom>
          <a:noFill/>
          <a:ln>
            <a:noFill/>
          </a:ln>
        </p:spPr>
        <p:txBody>
          <a:bodyPr spcFirstLastPara="1" wrap="square" lIns="91425" tIns="45700" rIns="91425" bIns="45700" anchor="t" anchorCtr="0">
            <a:noAutofit/>
          </a:bodyPr>
          <a:lstStyle/>
          <a:p>
            <a:pPr algn="ctr"/>
            <a:r>
              <a:rPr lang="es-ES" sz="2200" dirty="0">
                <a:solidFill>
                  <a:srgbClr val="131D3F"/>
                </a:solidFill>
                <a:latin typeface="Montserrat" panose="00000500000000000000" pitchFamily="2" charset="0"/>
              </a:rPr>
              <a:t>Inversión:</a:t>
            </a:r>
          </a:p>
        </p:txBody>
      </p:sp>
      <p:pic>
        <p:nvPicPr>
          <p:cNvPr id="2064" name="Picture 16" descr="Qué es el dinero, tipos, creación y cuánto dinero hay en el mundo">
            <a:extLst>
              <a:ext uri="{FF2B5EF4-FFF2-40B4-BE49-F238E27FC236}">
                <a16:creationId xmlns:a16="http://schemas.microsoft.com/office/drawing/2014/main" id="{4BBE21E2-0AEE-4C1C-8C97-2ABA448089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1694" y="1651647"/>
            <a:ext cx="1549502" cy="1033799"/>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Definición de Materia Prima - Qué es, Concepto y Significado.">
            <a:extLst>
              <a:ext uri="{FF2B5EF4-FFF2-40B4-BE49-F238E27FC236}">
                <a16:creationId xmlns:a16="http://schemas.microsoft.com/office/drawing/2014/main" id="{64415E2D-D1E9-41B9-8070-0CEB448B66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1837" y="1651647"/>
            <a:ext cx="1722995" cy="1033797"/>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Inversión en Bienes Raíces en EE.UU. - Guía completa para inversionistas  extranjeros">
            <a:extLst>
              <a:ext uri="{FF2B5EF4-FFF2-40B4-BE49-F238E27FC236}">
                <a16:creationId xmlns:a16="http://schemas.microsoft.com/office/drawing/2014/main" id="{3490357A-79B2-41D2-94B4-0F693C6B80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6967" y="1651647"/>
            <a:ext cx="1551174" cy="1033797"/>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Qué son las acciones? | Charles Schwab Internacional">
            <a:extLst>
              <a:ext uri="{FF2B5EF4-FFF2-40B4-BE49-F238E27FC236}">
                <a16:creationId xmlns:a16="http://schemas.microsoft.com/office/drawing/2014/main" id="{1AF0749E-3A4E-4518-8D22-7C887E2D92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1694" y="2826790"/>
            <a:ext cx="1549500" cy="1026977"/>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What Is An NFT? How Do NFTs Work? – Forbes Advisor INDIA">
            <a:extLst>
              <a:ext uri="{FF2B5EF4-FFF2-40B4-BE49-F238E27FC236}">
                <a16:creationId xmlns:a16="http://schemas.microsoft.com/office/drawing/2014/main" id="{20C65AB6-78AC-40CF-A5A7-33F2AE48ED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86689" y="2826791"/>
            <a:ext cx="1718144" cy="1026976"/>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Bonos - Concepto, tipos de bonos y ejemplos">
            <a:extLst>
              <a:ext uri="{FF2B5EF4-FFF2-40B4-BE49-F238E27FC236}">
                <a16:creationId xmlns:a16="http://schemas.microsoft.com/office/drawing/2014/main" id="{C37D179C-AFF3-4A23-A8D5-33F064CCE45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66966" y="2826791"/>
            <a:ext cx="1551175" cy="1026976"/>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Juan en Cripto ₿ 🍊⚡ on X: &quot;Relación riesgo-rentabilidad de algunos  activos. Cada persona tiene un perfil de riesgo diferente y debe tener un  portafolio diferente. Lo ideal es tener un portafolio">
            <a:extLst>
              <a:ext uri="{FF2B5EF4-FFF2-40B4-BE49-F238E27FC236}">
                <a16:creationId xmlns:a16="http://schemas.microsoft.com/office/drawing/2014/main" id="{90A9DE17-C19F-4649-B68B-E2F14C1A6A79}"/>
              </a:ext>
            </a:extLst>
          </p:cNvPr>
          <p:cNvPicPr>
            <a:picLocks noChangeAspect="1" noChangeArrowheads="1"/>
          </p:cNvPicPr>
          <p:nvPr/>
        </p:nvPicPr>
        <p:blipFill rotWithShape="1">
          <a:blip r:embed="rId12">
            <a:extLst>
              <a:ext uri="{BEBA8EAE-BF5A-486C-A8C5-ECC9F3942E4B}">
                <a14:imgProps xmlns:a14="http://schemas.microsoft.com/office/drawing/2010/main">
                  <a14:imgLayer r:embed="rId13">
                    <a14:imgEffect>
                      <a14:colorTemperature colorTemp="11200"/>
                    </a14:imgEffect>
                  </a14:imgLayer>
                </a14:imgProps>
              </a:ext>
              <a:ext uri="{28A0092B-C50C-407E-A947-70E740481C1C}">
                <a14:useLocalDpi xmlns:a14="http://schemas.microsoft.com/office/drawing/2010/main" val="0"/>
              </a:ext>
            </a:extLst>
          </a:blip>
          <a:srcRect t="4528" b="12115"/>
          <a:stretch/>
        </p:blipFill>
        <p:spPr bwMode="auto">
          <a:xfrm>
            <a:off x="1383242" y="4417384"/>
            <a:ext cx="4231698" cy="2294954"/>
          </a:xfrm>
          <a:prstGeom prst="rect">
            <a:avLst/>
          </a:prstGeom>
          <a:noFill/>
          <a:scene3d>
            <a:camera prst="orthographicFront"/>
            <a:lightRig rig="threePt" dir="t"/>
          </a:scene3d>
          <a:sp3d>
            <a:bevelT w="38100" h="38100"/>
          </a:sp3d>
          <a:extLst>
            <a:ext uri="{909E8E84-426E-40DD-AFC4-6F175D3DCCD1}">
              <a14:hiddenFill xmlns:a14="http://schemas.microsoft.com/office/drawing/2010/main">
                <a:solidFill>
                  <a:srgbClr val="FFFFFF"/>
                </a:solidFill>
              </a14:hiddenFill>
            </a:ext>
          </a:extLst>
        </p:spPr>
      </p:pic>
      <p:sp>
        <p:nvSpPr>
          <p:cNvPr id="77" name="Google Shape;112;p3">
            <a:extLst>
              <a:ext uri="{FF2B5EF4-FFF2-40B4-BE49-F238E27FC236}">
                <a16:creationId xmlns:a16="http://schemas.microsoft.com/office/drawing/2014/main" id="{AC43835E-1B97-49E8-84FA-93C757C5129E}"/>
              </a:ext>
            </a:extLst>
          </p:cNvPr>
          <p:cNvSpPr txBox="1"/>
          <p:nvPr/>
        </p:nvSpPr>
        <p:spPr>
          <a:xfrm>
            <a:off x="6467606" y="3949200"/>
            <a:ext cx="4677719" cy="472705"/>
          </a:xfrm>
          <a:prstGeom prst="rect">
            <a:avLst/>
          </a:prstGeom>
          <a:noFill/>
          <a:ln>
            <a:noFill/>
          </a:ln>
        </p:spPr>
        <p:txBody>
          <a:bodyPr spcFirstLastPara="1" wrap="square" lIns="91425" tIns="45700" rIns="91425" bIns="45700" anchor="ctr" anchorCtr="0">
            <a:noAutofit/>
          </a:bodyPr>
          <a:lstStyle/>
          <a:p>
            <a:pPr algn="ctr"/>
            <a:r>
              <a:rPr lang="es-ES" sz="2200" dirty="0">
                <a:solidFill>
                  <a:srgbClr val="131D3F"/>
                </a:solidFill>
                <a:latin typeface="Montserrat" panose="00000500000000000000" pitchFamily="2" charset="0"/>
              </a:rPr>
              <a:t>Contabilidad y Auditoría:</a:t>
            </a:r>
          </a:p>
        </p:txBody>
      </p:sp>
      <p:pic>
        <p:nvPicPr>
          <p:cNvPr id="2076" name="Picture 28" descr="La importancia de la contabilidad en un negocio - Despacho Contable Fiscal  DF AS Consultores">
            <a:extLst>
              <a:ext uri="{FF2B5EF4-FFF2-40B4-BE49-F238E27FC236}">
                <a16:creationId xmlns:a16="http://schemas.microsoft.com/office/drawing/2014/main" id="{E016673D-7836-473F-8F2E-A4B4CED6D4D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25889" y="4749388"/>
            <a:ext cx="2663927" cy="1497719"/>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GVJ Asesores SC - Auditorias Contables">
            <a:extLst>
              <a:ext uri="{FF2B5EF4-FFF2-40B4-BE49-F238E27FC236}">
                <a16:creationId xmlns:a16="http://schemas.microsoft.com/office/drawing/2014/main" id="{C6D73367-96FB-4CFC-AEED-0269370895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31965" y="4749388"/>
            <a:ext cx="2695896" cy="1497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85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76F0E5D-E0FD-A932-96D3-FB14B0798A58}"/>
              </a:ext>
            </a:extLst>
          </p:cNvPr>
          <p:cNvSpPr>
            <a:spLocks noGrp="1"/>
          </p:cNvSpPr>
          <p:nvPr>
            <p:ph type="title"/>
          </p:nvPr>
        </p:nvSpPr>
        <p:spPr>
          <a:xfrm>
            <a:off x="817880" y="310530"/>
            <a:ext cx="4079240" cy="823595"/>
          </a:xfrm>
        </p:spPr>
        <p:txBody>
          <a:bodyPr>
            <a:normAutofit/>
          </a:bodyPr>
          <a:lstStyle/>
          <a:p>
            <a:r>
              <a:rPr lang="es-ES" sz="3600" b="1" dirty="0">
                <a:solidFill>
                  <a:srgbClr val="131D3F"/>
                </a:solidFill>
                <a:latin typeface="Montserrat SemiBold" panose="00000700000000000000" pitchFamily="2" charset="0"/>
              </a:rPr>
              <a:t>1.2 Contabilidad</a:t>
            </a:r>
            <a:endParaRPr lang="es-MX" sz="3600" b="1" dirty="0">
              <a:solidFill>
                <a:srgbClr val="131D3F"/>
              </a:solidFill>
              <a:latin typeface="Montserrat SemiBold" panose="00000700000000000000" pitchFamily="2" charset="0"/>
            </a:endParaRPr>
          </a:p>
        </p:txBody>
      </p:sp>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7</a:t>
            </a:fld>
            <a:endParaRPr lang="es-MX" sz="2400" b="1" dirty="0">
              <a:solidFill>
                <a:srgbClr val="BA955B"/>
              </a:solidFill>
              <a:latin typeface="Montserrat SemiBold" panose="00000700000000000000" pitchFamily="2" charset="0"/>
            </a:endParaRPr>
          </a:p>
        </p:txBody>
      </p:sp>
      <p:sp>
        <p:nvSpPr>
          <p:cNvPr id="9" name="Google Shape;112;p3">
            <a:extLst>
              <a:ext uri="{FF2B5EF4-FFF2-40B4-BE49-F238E27FC236}">
                <a16:creationId xmlns:a16="http://schemas.microsoft.com/office/drawing/2014/main" id="{53A8940B-73C9-4CFB-AB34-1DB03CCCBED6}"/>
              </a:ext>
            </a:extLst>
          </p:cNvPr>
          <p:cNvSpPr txBox="1"/>
          <p:nvPr/>
        </p:nvSpPr>
        <p:spPr>
          <a:xfrm>
            <a:off x="569302" y="1426981"/>
            <a:ext cx="3953538" cy="4482206"/>
          </a:xfrm>
          <a:prstGeom prst="rect">
            <a:avLst/>
          </a:prstGeom>
          <a:noFill/>
          <a:ln>
            <a:noFill/>
          </a:ln>
        </p:spPr>
        <p:txBody>
          <a:bodyPr spcFirstLastPara="1" wrap="square" lIns="91425" tIns="45700" rIns="91425" bIns="45700" anchor="t" anchorCtr="0">
            <a:noAutofit/>
          </a:bodyPr>
          <a:lstStyle/>
          <a:p>
            <a:pPr algn="just"/>
            <a:r>
              <a:rPr lang="es-ES" sz="2200" dirty="0">
                <a:solidFill>
                  <a:srgbClr val="131D3F"/>
                </a:solidFill>
                <a:latin typeface="Montserrat" panose="00000500000000000000" pitchFamily="2" charset="0"/>
              </a:rPr>
              <a:t>Disciplina que se ocupa del </a:t>
            </a:r>
            <a:r>
              <a:rPr lang="es-ES" sz="2200" b="1" dirty="0">
                <a:solidFill>
                  <a:srgbClr val="131D3F"/>
                </a:solidFill>
                <a:latin typeface="Montserrat" panose="00000500000000000000" pitchFamily="2" charset="0"/>
              </a:rPr>
              <a:t>registro</a:t>
            </a:r>
            <a:r>
              <a:rPr lang="es-ES" sz="2200" dirty="0">
                <a:solidFill>
                  <a:srgbClr val="131D3F"/>
                </a:solidFill>
                <a:latin typeface="Montserrat" panose="00000500000000000000" pitchFamily="2" charset="0"/>
              </a:rPr>
              <a:t>, </a:t>
            </a:r>
            <a:r>
              <a:rPr lang="es-ES" sz="2200" b="1" dirty="0">
                <a:solidFill>
                  <a:srgbClr val="131D3F"/>
                </a:solidFill>
                <a:latin typeface="Montserrat" panose="00000500000000000000" pitchFamily="2" charset="0"/>
              </a:rPr>
              <a:t>medición</a:t>
            </a:r>
            <a:r>
              <a:rPr lang="es-ES" sz="2200" dirty="0">
                <a:solidFill>
                  <a:srgbClr val="131D3F"/>
                </a:solidFill>
                <a:latin typeface="Montserrat" panose="00000500000000000000" pitchFamily="2" charset="0"/>
              </a:rPr>
              <a:t>,</a:t>
            </a:r>
            <a:r>
              <a:rPr lang="es-ES" sz="2200" b="1" dirty="0">
                <a:solidFill>
                  <a:srgbClr val="131D3F"/>
                </a:solidFill>
                <a:latin typeface="Montserrat" panose="00000500000000000000" pitchFamily="2" charset="0"/>
              </a:rPr>
              <a:t> análisis de las transacciones financieras </a:t>
            </a:r>
            <a:r>
              <a:rPr lang="es-ES" sz="2200" dirty="0">
                <a:solidFill>
                  <a:srgbClr val="131D3F"/>
                </a:solidFill>
                <a:latin typeface="Montserrat" panose="00000500000000000000" pitchFamily="2" charset="0"/>
              </a:rPr>
              <a:t>y </a:t>
            </a:r>
            <a:r>
              <a:rPr lang="es-ES" sz="2200" b="1" dirty="0">
                <a:solidFill>
                  <a:srgbClr val="131D3F"/>
                </a:solidFill>
                <a:latin typeface="Montserrat" panose="00000500000000000000" pitchFamily="2" charset="0"/>
              </a:rPr>
              <a:t>comunicación</a:t>
            </a:r>
            <a:r>
              <a:rPr lang="es-ES" sz="2200" dirty="0">
                <a:solidFill>
                  <a:srgbClr val="131D3F"/>
                </a:solidFill>
                <a:latin typeface="Montserrat" panose="00000500000000000000" pitchFamily="2" charset="0"/>
              </a:rPr>
              <a:t> de la información financiera y económica de una entidad. Su objetivo principal es proporcionar información precisa y relevante para la </a:t>
            </a:r>
            <a:r>
              <a:rPr lang="es-ES" sz="2200" b="1" dirty="0">
                <a:solidFill>
                  <a:srgbClr val="131D3F"/>
                </a:solidFill>
                <a:latin typeface="Montserrat" panose="00000500000000000000" pitchFamily="2" charset="0"/>
              </a:rPr>
              <a:t>toma de decisiones</a:t>
            </a:r>
            <a:r>
              <a:rPr lang="es-ES" sz="2200" dirty="0">
                <a:solidFill>
                  <a:srgbClr val="131D3F"/>
                </a:solidFill>
                <a:latin typeface="Montserrat" panose="00000500000000000000" pitchFamily="2" charset="0"/>
              </a:rPr>
              <a:t> y el </a:t>
            </a:r>
            <a:r>
              <a:rPr lang="es-ES" sz="2200" b="1" dirty="0">
                <a:solidFill>
                  <a:srgbClr val="131D3F"/>
                </a:solidFill>
                <a:latin typeface="Montserrat" panose="00000500000000000000" pitchFamily="2" charset="0"/>
              </a:rPr>
              <a:t>cumplimiento de obligaciones</a:t>
            </a:r>
            <a:r>
              <a:rPr lang="es-ES" sz="2200" dirty="0">
                <a:solidFill>
                  <a:srgbClr val="131D3F"/>
                </a:solidFill>
                <a:latin typeface="Montserrat" panose="00000500000000000000" pitchFamily="2" charset="0"/>
              </a:rPr>
              <a:t> legales y </a:t>
            </a:r>
            <a:r>
              <a:rPr lang="es-ES" sz="2200" b="1" dirty="0">
                <a:solidFill>
                  <a:srgbClr val="131D3F"/>
                </a:solidFill>
                <a:latin typeface="Montserrat" panose="00000500000000000000" pitchFamily="2" charset="0"/>
              </a:rPr>
              <a:t>fiscales</a:t>
            </a:r>
            <a:r>
              <a:rPr lang="es-ES" sz="2200" dirty="0">
                <a:solidFill>
                  <a:srgbClr val="131D3F"/>
                </a:solidFill>
                <a:latin typeface="Montserrat" panose="00000500000000000000" pitchFamily="2" charset="0"/>
              </a:rPr>
              <a:t>.</a:t>
            </a:r>
          </a:p>
        </p:txBody>
      </p:sp>
      <p:graphicFrame>
        <p:nvGraphicFramePr>
          <p:cNvPr id="13" name="Diagrama 12">
            <a:extLst>
              <a:ext uri="{FF2B5EF4-FFF2-40B4-BE49-F238E27FC236}">
                <a16:creationId xmlns:a16="http://schemas.microsoft.com/office/drawing/2014/main" id="{32657C9C-DD44-44F1-933B-73A2EB4A0E88}"/>
              </a:ext>
            </a:extLst>
          </p:cNvPr>
          <p:cNvGraphicFramePr/>
          <p:nvPr/>
        </p:nvGraphicFramePr>
        <p:xfrm>
          <a:off x="4752258" y="722327"/>
          <a:ext cx="7439742"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6" name="CuadroTexto 15">
            <a:extLst>
              <a:ext uri="{FF2B5EF4-FFF2-40B4-BE49-F238E27FC236}">
                <a16:creationId xmlns:a16="http://schemas.microsoft.com/office/drawing/2014/main" id="{F03E15F6-072D-4B95-A5A7-46CB9D218516}"/>
              </a:ext>
            </a:extLst>
          </p:cNvPr>
          <p:cNvSpPr txBox="1"/>
          <p:nvPr/>
        </p:nvSpPr>
        <p:spPr>
          <a:xfrm>
            <a:off x="9511173" y="668892"/>
            <a:ext cx="2243948" cy="1200329"/>
          </a:xfrm>
          <a:prstGeom prst="rect">
            <a:avLst/>
          </a:prstGeom>
          <a:noFill/>
        </p:spPr>
        <p:txBody>
          <a:bodyPr wrap="square" rtlCol="0">
            <a:spAutoFit/>
          </a:bodyPr>
          <a:lstStyle/>
          <a:p>
            <a:pPr algn="just"/>
            <a:r>
              <a:rPr lang="es-ES" sz="1200" dirty="0">
                <a:solidFill>
                  <a:srgbClr val="131D3F"/>
                </a:solidFill>
                <a:latin typeface="Montserrat" panose="00000500000000000000" pitchFamily="2" charset="0"/>
              </a:rPr>
              <a:t>Prepara la información financiera (</a:t>
            </a:r>
            <a:r>
              <a:rPr lang="es-ES" sz="1200" b="1" dirty="0">
                <a:solidFill>
                  <a:srgbClr val="131D3F"/>
                </a:solidFill>
                <a:latin typeface="Montserrat" panose="00000500000000000000" pitchFamily="2" charset="0"/>
              </a:rPr>
              <a:t>Estados Financieros</a:t>
            </a:r>
            <a:r>
              <a:rPr lang="es-ES" sz="1200" dirty="0">
                <a:solidFill>
                  <a:srgbClr val="131D3F"/>
                </a:solidFill>
                <a:latin typeface="Montserrat" panose="00000500000000000000" pitchFamily="2" charset="0"/>
              </a:rPr>
              <a:t>). Da una visión de la situación financiera y resultados operativos periódicos.</a:t>
            </a:r>
            <a:endParaRPr lang="es-MX" sz="1200" dirty="0">
              <a:solidFill>
                <a:srgbClr val="131D3F"/>
              </a:solidFill>
              <a:latin typeface="Montserrat" panose="00000500000000000000" pitchFamily="2" charset="0"/>
            </a:endParaRPr>
          </a:p>
        </p:txBody>
      </p:sp>
      <p:sp>
        <p:nvSpPr>
          <p:cNvPr id="42" name="CuadroTexto 41">
            <a:extLst>
              <a:ext uri="{FF2B5EF4-FFF2-40B4-BE49-F238E27FC236}">
                <a16:creationId xmlns:a16="http://schemas.microsoft.com/office/drawing/2014/main" id="{CC2CEDED-C9E0-4D5F-A769-82235CD6449E}"/>
              </a:ext>
            </a:extLst>
          </p:cNvPr>
          <p:cNvSpPr txBox="1"/>
          <p:nvPr/>
        </p:nvSpPr>
        <p:spPr>
          <a:xfrm>
            <a:off x="9874051" y="4406280"/>
            <a:ext cx="2243948" cy="1015663"/>
          </a:xfrm>
          <a:prstGeom prst="rect">
            <a:avLst/>
          </a:prstGeom>
          <a:noFill/>
        </p:spPr>
        <p:txBody>
          <a:bodyPr wrap="square" rtlCol="0">
            <a:spAutoFit/>
          </a:bodyPr>
          <a:lstStyle/>
          <a:p>
            <a:pPr algn="just"/>
            <a:r>
              <a:rPr lang="es-ES" sz="1200" dirty="0">
                <a:solidFill>
                  <a:srgbClr val="131D3F"/>
                </a:solidFill>
                <a:latin typeface="Montserrat" panose="00000500000000000000" pitchFamily="2" charset="0"/>
              </a:rPr>
              <a:t>Cumplimiento de obligaciones fiscales y planificación tributaria. </a:t>
            </a:r>
            <a:r>
              <a:rPr lang="es-ES" sz="1200" b="1" dirty="0">
                <a:solidFill>
                  <a:srgbClr val="131D3F"/>
                </a:solidFill>
                <a:latin typeface="Montserrat" panose="00000500000000000000" pitchFamily="2" charset="0"/>
              </a:rPr>
              <a:t>Declaraciones, gestión de impuestos.</a:t>
            </a:r>
            <a:endParaRPr lang="es-MX" sz="1200" b="1" dirty="0">
              <a:solidFill>
                <a:srgbClr val="131D3F"/>
              </a:solidFill>
              <a:latin typeface="Montserrat" panose="00000500000000000000" pitchFamily="2" charset="0"/>
            </a:endParaRPr>
          </a:p>
        </p:txBody>
      </p:sp>
      <p:sp>
        <p:nvSpPr>
          <p:cNvPr id="43" name="CuadroTexto 42">
            <a:extLst>
              <a:ext uri="{FF2B5EF4-FFF2-40B4-BE49-F238E27FC236}">
                <a16:creationId xmlns:a16="http://schemas.microsoft.com/office/drawing/2014/main" id="{DB01CD8D-BB43-4E76-869E-898B7D841B7B}"/>
              </a:ext>
            </a:extLst>
          </p:cNvPr>
          <p:cNvSpPr txBox="1"/>
          <p:nvPr/>
        </p:nvSpPr>
        <p:spPr>
          <a:xfrm>
            <a:off x="5267326" y="4958819"/>
            <a:ext cx="2243948" cy="1384995"/>
          </a:xfrm>
          <a:prstGeom prst="rect">
            <a:avLst/>
          </a:prstGeom>
          <a:noFill/>
        </p:spPr>
        <p:txBody>
          <a:bodyPr wrap="square" rtlCol="0">
            <a:spAutoFit/>
          </a:bodyPr>
          <a:lstStyle/>
          <a:p>
            <a:pPr algn="just"/>
            <a:r>
              <a:rPr lang="es-ES" sz="1200" dirty="0">
                <a:solidFill>
                  <a:srgbClr val="131D3F"/>
                </a:solidFill>
                <a:latin typeface="Montserrat" panose="00000500000000000000" pitchFamily="2" charset="0"/>
              </a:rPr>
              <a:t>Análisis y control de costos asociados a la producción de bienes y prestación de servicios. Calcula </a:t>
            </a:r>
            <a:r>
              <a:rPr lang="es-ES" sz="1200" b="1" dirty="0">
                <a:solidFill>
                  <a:srgbClr val="131D3F"/>
                </a:solidFill>
                <a:latin typeface="Montserrat" panose="00000500000000000000" pitchFamily="2" charset="0"/>
              </a:rPr>
              <a:t>costos de producción, evalúa las variaciones, determina precios.</a:t>
            </a:r>
            <a:endParaRPr lang="es-MX" sz="1200" b="1" dirty="0">
              <a:solidFill>
                <a:srgbClr val="131D3F"/>
              </a:solidFill>
              <a:latin typeface="Montserrat" panose="00000500000000000000" pitchFamily="2" charset="0"/>
            </a:endParaRPr>
          </a:p>
        </p:txBody>
      </p:sp>
      <p:sp>
        <p:nvSpPr>
          <p:cNvPr id="45" name="CuadroTexto 44">
            <a:extLst>
              <a:ext uri="{FF2B5EF4-FFF2-40B4-BE49-F238E27FC236}">
                <a16:creationId xmlns:a16="http://schemas.microsoft.com/office/drawing/2014/main" id="{8609B23E-2C5B-4545-A52F-359901DCA87C}"/>
              </a:ext>
            </a:extLst>
          </p:cNvPr>
          <p:cNvSpPr txBox="1"/>
          <p:nvPr/>
        </p:nvSpPr>
        <p:spPr>
          <a:xfrm>
            <a:off x="4785916" y="1337786"/>
            <a:ext cx="2243948" cy="1384995"/>
          </a:xfrm>
          <a:prstGeom prst="rect">
            <a:avLst/>
          </a:prstGeom>
          <a:noFill/>
        </p:spPr>
        <p:txBody>
          <a:bodyPr wrap="square" rtlCol="0">
            <a:spAutoFit/>
          </a:bodyPr>
          <a:lstStyle/>
          <a:p>
            <a:pPr algn="just"/>
            <a:r>
              <a:rPr lang="es-ES" sz="1200" dirty="0">
                <a:solidFill>
                  <a:srgbClr val="131D3F"/>
                </a:solidFill>
                <a:latin typeface="Montserrat" panose="00000500000000000000" pitchFamily="2" charset="0"/>
              </a:rPr>
              <a:t>Colabora en la </a:t>
            </a:r>
            <a:r>
              <a:rPr lang="es-ES" sz="1200" b="1" dirty="0">
                <a:solidFill>
                  <a:srgbClr val="131D3F"/>
                </a:solidFill>
                <a:latin typeface="Montserrat" panose="00000500000000000000" pitchFamily="2" charset="0"/>
              </a:rPr>
              <a:t>planificación, control y toma de decisiones estratégicas </a:t>
            </a:r>
            <a:r>
              <a:rPr lang="es-ES" sz="1200" dirty="0">
                <a:solidFill>
                  <a:srgbClr val="131D3F"/>
                </a:solidFill>
                <a:latin typeface="Montserrat" panose="00000500000000000000" pitchFamily="2" charset="0"/>
              </a:rPr>
              <a:t>mediante presupuestos, análisis de costos y evaluación de rentabilidad.</a:t>
            </a:r>
            <a:endParaRPr lang="es-MX" sz="1200" dirty="0">
              <a:solidFill>
                <a:srgbClr val="131D3F"/>
              </a:solidFill>
              <a:latin typeface="Montserrat" panose="00000500000000000000" pitchFamily="2" charset="0"/>
            </a:endParaRPr>
          </a:p>
        </p:txBody>
      </p:sp>
      <p:sp>
        <p:nvSpPr>
          <p:cNvPr id="11" name="CuadroTexto 10">
            <a:extLst>
              <a:ext uri="{FF2B5EF4-FFF2-40B4-BE49-F238E27FC236}">
                <a16:creationId xmlns:a16="http://schemas.microsoft.com/office/drawing/2014/main" id="{DB6248C1-A463-4125-9660-07144DBE03ED}"/>
              </a:ext>
            </a:extLst>
          </p:cNvPr>
          <p:cNvSpPr txBox="1"/>
          <p:nvPr/>
        </p:nvSpPr>
        <p:spPr>
          <a:xfrm>
            <a:off x="7585789" y="6488668"/>
            <a:ext cx="4606212" cy="369332"/>
          </a:xfrm>
          <a:prstGeom prst="rect">
            <a:avLst/>
          </a:prstGeom>
          <a:noFill/>
        </p:spPr>
        <p:txBody>
          <a:bodyPr wrap="square">
            <a:spAutoFit/>
          </a:bodyPr>
          <a:lstStyle/>
          <a:p>
            <a:r>
              <a:rPr lang="es-ES" b="1" dirty="0">
                <a:solidFill>
                  <a:srgbClr val="131D3F"/>
                </a:solidFill>
                <a:latin typeface="Montserrat" panose="00000500000000000000" pitchFamily="2" charset="0"/>
              </a:rPr>
              <a:t>Fotografía de la situación financiera</a:t>
            </a:r>
            <a:r>
              <a:rPr lang="es-ES" sz="1800" b="1" dirty="0">
                <a:solidFill>
                  <a:srgbClr val="131D3F"/>
                </a:solidFill>
                <a:latin typeface="Montserrat" panose="00000500000000000000" pitchFamily="2" charset="0"/>
              </a:rPr>
              <a:t>.</a:t>
            </a:r>
            <a:endParaRPr lang="es-MX" dirty="0"/>
          </a:p>
        </p:txBody>
      </p:sp>
    </p:spTree>
    <p:extLst>
      <p:ext uri="{BB962C8B-B14F-4D97-AF65-F5344CB8AC3E}">
        <p14:creationId xmlns:p14="http://schemas.microsoft.com/office/powerpoint/2010/main" val="1320331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8</a:t>
            </a:fld>
            <a:endParaRPr lang="es-MX" sz="2400" b="1" dirty="0">
              <a:solidFill>
                <a:srgbClr val="BA955B"/>
              </a:solidFill>
              <a:latin typeface="Montserrat SemiBold" panose="00000700000000000000" pitchFamily="2" charset="0"/>
            </a:endParaRPr>
          </a:p>
        </p:txBody>
      </p:sp>
      <p:graphicFrame>
        <p:nvGraphicFramePr>
          <p:cNvPr id="25" name="Diagrama 24">
            <a:extLst>
              <a:ext uri="{FF2B5EF4-FFF2-40B4-BE49-F238E27FC236}">
                <a16:creationId xmlns:a16="http://schemas.microsoft.com/office/drawing/2014/main" id="{2E096DD2-0F04-4504-B7FD-0C3907CAC176}"/>
              </a:ext>
            </a:extLst>
          </p:cNvPr>
          <p:cNvGraphicFramePr/>
          <p:nvPr>
            <p:extLst>
              <p:ext uri="{D42A27DB-BD31-4B8C-83A1-F6EECF244321}">
                <p14:modId xmlns:p14="http://schemas.microsoft.com/office/powerpoint/2010/main" val="3238385814"/>
              </p:ext>
            </p:extLst>
          </p:nvPr>
        </p:nvGraphicFramePr>
        <p:xfrm>
          <a:off x="304323" y="713490"/>
          <a:ext cx="11583349" cy="54310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9" name="Elipse 18">
            <a:hlinkClick r:id="rId10" action="ppaction://hlinksldjump"/>
            <a:extLst>
              <a:ext uri="{FF2B5EF4-FFF2-40B4-BE49-F238E27FC236}">
                <a16:creationId xmlns:a16="http://schemas.microsoft.com/office/drawing/2014/main" id="{DC6AD0CA-6FAB-40AB-AD72-7D8CA2AD9FEF}"/>
              </a:ext>
            </a:extLst>
          </p:cNvPr>
          <p:cNvSpPr/>
          <p:nvPr/>
        </p:nvSpPr>
        <p:spPr>
          <a:xfrm>
            <a:off x="6222126" y="1337786"/>
            <a:ext cx="1209675" cy="1175986"/>
          </a:xfrm>
          <a:prstGeom prst="ellipse">
            <a:avLst/>
          </a:prstGeom>
          <a:solidFill>
            <a:srgbClr val="598379"/>
          </a:solidFill>
          <a:ln>
            <a:solidFill>
              <a:srgbClr val="598379"/>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s-ES" sz="1200" b="1" dirty="0">
                <a:solidFill>
                  <a:schemeClr val="bg1"/>
                </a:solidFill>
                <a:latin typeface="Montserrat" panose="00000500000000000000" pitchFamily="2" charset="0"/>
              </a:rPr>
              <a:t>Estados </a:t>
            </a:r>
          </a:p>
          <a:p>
            <a:pPr algn="ctr"/>
            <a:r>
              <a:rPr lang="es-ES" sz="1200" b="1" dirty="0">
                <a:solidFill>
                  <a:schemeClr val="bg1"/>
                </a:solidFill>
                <a:latin typeface="Montserrat" panose="00000500000000000000" pitchFamily="2" charset="0"/>
              </a:rPr>
              <a:t>Financieros</a:t>
            </a:r>
            <a:endParaRPr lang="es-MX" sz="1200" b="1" dirty="0">
              <a:solidFill>
                <a:schemeClr val="bg1"/>
              </a:solidFill>
            </a:endParaRPr>
          </a:p>
        </p:txBody>
      </p:sp>
      <p:sp>
        <p:nvSpPr>
          <p:cNvPr id="10" name="CuadroTexto 9">
            <a:extLst>
              <a:ext uri="{FF2B5EF4-FFF2-40B4-BE49-F238E27FC236}">
                <a16:creationId xmlns:a16="http://schemas.microsoft.com/office/drawing/2014/main" id="{8B374A93-8495-4F81-94D6-99E4783C4BA1}"/>
              </a:ext>
            </a:extLst>
          </p:cNvPr>
          <p:cNvSpPr txBox="1"/>
          <p:nvPr/>
        </p:nvSpPr>
        <p:spPr>
          <a:xfrm>
            <a:off x="7724971" y="6488668"/>
            <a:ext cx="4467029" cy="369332"/>
          </a:xfrm>
          <a:prstGeom prst="rect">
            <a:avLst/>
          </a:prstGeom>
          <a:noFill/>
        </p:spPr>
        <p:txBody>
          <a:bodyPr wrap="square">
            <a:spAutoFit/>
          </a:bodyPr>
          <a:lstStyle/>
          <a:p>
            <a:r>
              <a:rPr lang="es-ES" b="1" dirty="0">
                <a:solidFill>
                  <a:srgbClr val="131D3F"/>
                </a:solidFill>
                <a:latin typeface="Montserrat" panose="00000500000000000000" pitchFamily="2" charset="0"/>
              </a:rPr>
              <a:t>Estados Financieros.</a:t>
            </a:r>
            <a:endParaRPr lang="es-MX" dirty="0"/>
          </a:p>
        </p:txBody>
      </p:sp>
      <p:sp>
        <p:nvSpPr>
          <p:cNvPr id="4" name="Título 3">
            <a:extLst>
              <a:ext uri="{FF2B5EF4-FFF2-40B4-BE49-F238E27FC236}">
                <a16:creationId xmlns:a16="http://schemas.microsoft.com/office/drawing/2014/main" id="{376F0E5D-E0FD-A932-96D3-FB14B0798A58}"/>
              </a:ext>
            </a:extLst>
          </p:cNvPr>
          <p:cNvSpPr>
            <a:spLocks noGrp="1"/>
          </p:cNvSpPr>
          <p:nvPr>
            <p:ph type="title"/>
          </p:nvPr>
        </p:nvSpPr>
        <p:spPr>
          <a:xfrm>
            <a:off x="817880" y="322106"/>
            <a:ext cx="5620242" cy="1116450"/>
          </a:xfrm>
        </p:spPr>
        <p:txBody>
          <a:bodyPr>
            <a:normAutofit/>
          </a:bodyPr>
          <a:lstStyle/>
          <a:p>
            <a:r>
              <a:rPr lang="es-ES" sz="3600" b="1" dirty="0">
                <a:solidFill>
                  <a:srgbClr val="131D3F"/>
                </a:solidFill>
                <a:latin typeface="Montserrat SemiBold" panose="00000700000000000000" pitchFamily="2" charset="0"/>
              </a:rPr>
              <a:t>1.2 Contabilidad</a:t>
            </a:r>
            <a:br>
              <a:rPr lang="es-ES" sz="3600" b="1" dirty="0">
                <a:solidFill>
                  <a:srgbClr val="131D3F"/>
                </a:solidFill>
                <a:latin typeface="Montserrat SemiBold" panose="00000700000000000000" pitchFamily="2" charset="0"/>
              </a:rPr>
            </a:br>
            <a:r>
              <a:rPr lang="es-ES" sz="2400" b="1" dirty="0">
                <a:solidFill>
                  <a:srgbClr val="131D3F"/>
                </a:solidFill>
                <a:latin typeface="Montserrat SemiBold" panose="00000700000000000000" pitchFamily="2" charset="0"/>
              </a:rPr>
              <a:t>Procesos Contables</a:t>
            </a:r>
            <a:endParaRPr lang="es-MX" sz="36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2624759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35774" y="-2"/>
            <a:ext cx="393264"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9</a:t>
            </a:fld>
            <a:endParaRPr lang="es-MX" sz="2400" b="1" dirty="0">
              <a:solidFill>
                <a:srgbClr val="BA955B"/>
              </a:solidFill>
              <a:latin typeface="Montserrat SemiBold" panose="00000700000000000000" pitchFamily="2" charset="0"/>
            </a:endParaRPr>
          </a:p>
        </p:txBody>
      </p:sp>
      <p:sp>
        <p:nvSpPr>
          <p:cNvPr id="5" name="Google Shape;112;p3">
            <a:extLst>
              <a:ext uri="{FF2B5EF4-FFF2-40B4-BE49-F238E27FC236}">
                <a16:creationId xmlns:a16="http://schemas.microsoft.com/office/drawing/2014/main" id="{6D2A898C-D236-48FE-AA82-191CD185A905}"/>
              </a:ext>
            </a:extLst>
          </p:cNvPr>
          <p:cNvSpPr txBox="1"/>
          <p:nvPr/>
        </p:nvSpPr>
        <p:spPr>
          <a:xfrm>
            <a:off x="1257721" y="1337786"/>
            <a:ext cx="9676557" cy="2267339"/>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El control es esencial para </a:t>
            </a:r>
            <a:r>
              <a:rPr lang="es-ES" sz="2200" b="1" dirty="0">
                <a:solidFill>
                  <a:srgbClr val="131D3F"/>
                </a:solidFill>
                <a:latin typeface="Montserrat" panose="00000500000000000000" pitchFamily="2" charset="0"/>
              </a:rPr>
              <a:t>asegurar que los recursos se utilicen de manera eficiente</a:t>
            </a:r>
            <a:r>
              <a:rPr lang="es-ES" sz="2200" dirty="0">
                <a:solidFill>
                  <a:srgbClr val="131D3F"/>
                </a:solidFill>
                <a:latin typeface="Montserrat" panose="00000500000000000000" pitchFamily="2" charset="0"/>
              </a:rPr>
              <a:t> y que las operaciones cumplan con los objetivos y regulaciones establecidas. </a:t>
            </a:r>
          </a:p>
          <a:p>
            <a:pPr algn="just"/>
            <a:r>
              <a:rPr lang="es-ES" sz="2200" dirty="0">
                <a:solidFill>
                  <a:srgbClr val="131D3F"/>
                </a:solidFill>
                <a:latin typeface="Montserrat" panose="00000500000000000000" pitchFamily="2" charset="0"/>
              </a:rPr>
              <a:t>Existen varios tipos de control en finanzas que se implementan para </a:t>
            </a:r>
            <a:r>
              <a:rPr lang="es-ES" sz="2200" b="1" dirty="0">
                <a:solidFill>
                  <a:srgbClr val="131D3F"/>
                </a:solidFill>
                <a:latin typeface="Montserrat" panose="00000500000000000000" pitchFamily="2" charset="0"/>
              </a:rPr>
              <a:t>monitorear, evaluar y mejorar el desempeño financiero </a:t>
            </a:r>
            <a:r>
              <a:rPr lang="es-ES" sz="2200" dirty="0">
                <a:solidFill>
                  <a:srgbClr val="131D3F"/>
                </a:solidFill>
                <a:latin typeface="Montserrat" panose="00000500000000000000" pitchFamily="2" charset="0"/>
              </a:rPr>
              <a:t>de una entidad, mismos que se presentan a continuación:</a:t>
            </a:r>
          </a:p>
        </p:txBody>
      </p:sp>
      <p:sp>
        <p:nvSpPr>
          <p:cNvPr id="9" name="CuadroTexto 8">
            <a:extLst>
              <a:ext uri="{FF2B5EF4-FFF2-40B4-BE49-F238E27FC236}">
                <a16:creationId xmlns:a16="http://schemas.microsoft.com/office/drawing/2014/main" id="{E9962FD4-0648-4B75-B640-B7D7910201F8}"/>
              </a:ext>
            </a:extLst>
          </p:cNvPr>
          <p:cNvSpPr txBox="1"/>
          <p:nvPr/>
        </p:nvSpPr>
        <p:spPr>
          <a:xfrm>
            <a:off x="7724971" y="6488668"/>
            <a:ext cx="4467029" cy="369332"/>
          </a:xfrm>
          <a:prstGeom prst="rect">
            <a:avLst/>
          </a:prstGeom>
          <a:noFill/>
        </p:spPr>
        <p:txBody>
          <a:bodyPr wrap="square">
            <a:spAutoFit/>
          </a:bodyPr>
          <a:lstStyle/>
          <a:p>
            <a:r>
              <a:rPr lang="es-ES" b="1" dirty="0">
                <a:solidFill>
                  <a:srgbClr val="131D3F"/>
                </a:solidFill>
                <a:latin typeface="Montserrat" panose="00000500000000000000" pitchFamily="2" charset="0"/>
              </a:rPr>
              <a:t>T</a:t>
            </a:r>
            <a:r>
              <a:rPr lang="es-ES" sz="1800" b="1" dirty="0">
                <a:solidFill>
                  <a:srgbClr val="131D3F"/>
                </a:solidFill>
                <a:latin typeface="Montserrat" panose="00000500000000000000" pitchFamily="2" charset="0"/>
              </a:rPr>
              <a:t>omar acciones (corregir) a tiempo.</a:t>
            </a:r>
            <a:endParaRPr lang="es-MX" dirty="0"/>
          </a:p>
        </p:txBody>
      </p:sp>
      <p:sp>
        <p:nvSpPr>
          <p:cNvPr id="6" name="Rectángulo: esquinas diagonales redondeadas 5">
            <a:extLst>
              <a:ext uri="{FF2B5EF4-FFF2-40B4-BE49-F238E27FC236}">
                <a16:creationId xmlns:a16="http://schemas.microsoft.com/office/drawing/2014/main" id="{C1CBFF1A-E5CB-4423-898F-C4E8DAEECCFF}"/>
              </a:ext>
            </a:extLst>
          </p:cNvPr>
          <p:cNvSpPr/>
          <p:nvPr/>
        </p:nvSpPr>
        <p:spPr>
          <a:xfrm>
            <a:off x="2092210" y="3808786"/>
            <a:ext cx="1992441" cy="709126"/>
          </a:xfrm>
          <a:prstGeom prst="round2DiagRect">
            <a:avLst/>
          </a:prstGeom>
          <a:solidFill>
            <a:srgbClr val="CAD2C5"/>
          </a:solidFill>
          <a:ln>
            <a:solidFill>
              <a:srgbClr val="CAD2C5"/>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2F3E46"/>
                </a:solidFill>
              </a:rPr>
              <a:t>Control Presupuestario</a:t>
            </a:r>
            <a:endParaRPr lang="es-MX" b="1" dirty="0">
              <a:solidFill>
                <a:srgbClr val="2F3E46"/>
              </a:solidFill>
            </a:endParaRPr>
          </a:p>
        </p:txBody>
      </p:sp>
      <p:sp>
        <p:nvSpPr>
          <p:cNvPr id="23" name="Rectángulo: esquinas diagonales redondeadas 22">
            <a:extLst>
              <a:ext uri="{FF2B5EF4-FFF2-40B4-BE49-F238E27FC236}">
                <a16:creationId xmlns:a16="http://schemas.microsoft.com/office/drawing/2014/main" id="{88DC9313-B9DC-45F4-84AF-88D09E7F6FC3}"/>
              </a:ext>
            </a:extLst>
          </p:cNvPr>
          <p:cNvSpPr/>
          <p:nvPr/>
        </p:nvSpPr>
        <p:spPr>
          <a:xfrm>
            <a:off x="2092210" y="4692333"/>
            <a:ext cx="1992441" cy="709126"/>
          </a:xfrm>
          <a:prstGeom prst="round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2F3E46"/>
                </a:solidFill>
              </a:rPr>
              <a:t>Control de Costos</a:t>
            </a:r>
            <a:endParaRPr lang="es-MX" b="1" dirty="0">
              <a:solidFill>
                <a:srgbClr val="2F3E46"/>
              </a:solidFill>
            </a:endParaRPr>
          </a:p>
        </p:txBody>
      </p:sp>
      <p:sp>
        <p:nvSpPr>
          <p:cNvPr id="24" name="Rectángulo: esquinas diagonales redondeadas 23">
            <a:extLst>
              <a:ext uri="{FF2B5EF4-FFF2-40B4-BE49-F238E27FC236}">
                <a16:creationId xmlns:a16="http://schemas.microsoft.com/office/drawing/2014/main" id="{9810C34C-253D-40C6-B0F2-6697C27B0F01}"/>
              </a:ext>
            </a:extLst>
          </p:cNvPr>
          <p:cNvSpPr/>
          <p:nvPr/>
        </p:nvSpPr>
        <p:spPr>
          <a:xfrm>
            <a:off x="2092210" y="5575880"/>
            <a:ext cx="1992441" cy="709126"/>
          </a:xfrm>
          <a:prstGeom prst="round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Control de  Tesorería</a:t>
            </a:r>
            <a:endParaRPr lang="es-MX" b="1" dirty="0"/>
          </a:p>
        </p:txBody>
      </p:sp>
      <p:sp>
        <p:nvSpPr>
          <p:cNvPr id="25" name="Rectángulo: esquinas diagonales redondeadas 24">
            <a:extLst>
              <a:ext uri="{FF2B5EF4-FFF2-40B4-BE49-F238E27FC236}">
                <a16:creationId xmlns:a16="http://schemas.microsoft.com/office/drawing/2014/main" id="{B437E186-1778-4C74-A44E-03492693B436}"/>
              </a:ext>
            </a:extLst>
          </p:cNvPr>
          <p:cNvSpPr/>
          <p:nvPr/>
        </p:nvSpPr>
        <p:spPr>
          <a:xfrm>
            <a:off x="5112220" y="3784301"/>
            <a:ext cx="1992441" cy="709126"/>
          </a:xfrm>
          <a:prstGeom prst="round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2F3E46"/>
                </a:solidFill>
              </a:rPr>
              <a:t>Control de Inversiones</a:t>
            </a:r>
            <a:endParaRPr lang="es-MX" b="1" dirty="0">
              <a:solidFill>
                <a:srgbClr val="2F3E46"/>
              </a:solidFill>
            </a:endParaRPr>
          </a:p>
        </p:txBody>
      </p:sp>
      <p:sp>
        <p:nvSpPr>
          <p:cNvPr id="26" name="Rectángulo: esquinas diagonales redondeadas 25">
            <a:extLst>
              <a:ext uri="{FF2B5EF4-FFF2-40B4-BE49-F238E27FC236}">
                <a16:creationId xmlns:a16="http://schemas.microsoft.com/office/drawing/2014/main" id="{38668F70-07ED-4C73-8FE3-1784D84DBC7F}"/>
              </a:ext>
            </a:extLst>
          </p:cNvPr>
          <p:cNvSpPr/>
          <p:nvPr/>
        </p:nvSpPr>
        <p:spPr>
          <a:xfrm>
            <a:off x="5112220" y="4667848"/>
            <a:ext cx="1992441" cy="709126"/>
          </a:xfrm>
          <a:prstGeom prst="round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Control Riesgos Financieros</a:t>
            </a:r>
            <a:endParaRPr lang="es-MX" b="1" dirty="0"/>
          </a:p>
        </p:txBody>
      </p:sp>
      <p:sp>
        <p:nvSpPr>
          <p:cNvPr id="27" name="Rectángulo: esquinas diagonales redondeadas 26">
            <a:extLst>
              <a:ext uri="{FF2B5EF4-FFF2-40B4-BE49-F238E27FC236}">
                <a16:creationId xmlns:a16="http://schemas.microsoft.com/office/drawing/2014/main" id="{C555D9F6-09F4-4E95-AB09-BBE3029B53D3}"/>
              </a:ext>
            </a:extLst>
          </p:cNvPr>
          <p:cNvSpPr/>
          <p:nvPr/>
        </p:nvSpPr>
        <p:spPr>
          <a:xfrm>
            <a:off x="5112220" y="5551395"/>
            <a:ext cx="1992441" cy="709126"/>
          </a:xfrm>
          <a:prstGeom prst="round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Control Interno</a:t>
            </a:r>
            <a:endParaRPr lang="es-MX" b="1" dirty="0"/>
          </a:p>
        </p:txBody>
      </p:sp>
      <p:sp>
        <p:nvSpPr>
          <p:cNvPr id="28" name="Rectángulo: esquinas diagonales redondeadas 27">
            <a:extLst>
              <a:ext uri="{FF2B5EF4-FFF2-40B4-BE49-F238E27FC236}">
                <a16:creationId xmlns:a16="http://schemas.microsoft.com/office/drawing/2014/main" id="{310E848E-2F9D-4C0D-9107-3724E0E816B9}"/>
              </a:ext>
            </a:extLst>
          </p:cNvPr>
          <p:cNvSpPr/>
          <p:nvPr/>
        </p:nvSpPr>
        <p:spPr>
          <a:xfrm>
            <a:off x="8137497" y="3808786"/>
            <a:ext cx="1992441" cy="709126"/>
          </a:xfrm>
          <a:prstGeom prst="round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Control de Rentabilidad</a:t>
            </a:r>
            <a:endParaRPr lang="es-MX" b="1" dirty="0"/>
          </a:p>
        </p:txBody>
      </p:sp>
      <p:sp>
        <p:nvSpPr>
          <p:cNvPr id="29" name="Rectángulo: esquinas diagonales redondeadas 28">
            <a:extLst>
              <a:ext uri="{FF2B5EF4-FFF2-40B4-BE49-F238E27FC236}">
                <a16:creationId xmlns:a16="http://schemas.microsoft.com/office/drawing/2014/main" id="{C5785DA9-1D4F-4486-A84E-2868AAF0131B}"/>
              </a:ext>
            </a:extLst>
          </p:cNvPr>
          <p:cNvSpPr/>
          <p:nvPr/>
        </p:nvSpPr>
        <p:spPr>
          <a:xfrm>
            <a:off x="8137497" y="4692333"/>
            <a:ext cx="1992441" cy="709126"/>
          </a:xfrm>
          <a:prstGeom prst="round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Control Financiero Estratégico</a:t>
            </a:r>
            <a:endParaRPr lang="es-MX" b="1" dirty="0"/>
          </a:p>
        </p:txBody>
      </p:sp>
      <p:sp>
        <p:nvSpPr>
          <p:cNvPr id="30" name="Rectángulo: esquinas diagonales redondeadas 29">
            <a:extLst>
              <a:ext uri="{FF2B5EF4-FFF2-40B4-BE49-F238E27FC236}">
                <a16:creationId xmlns:a16="http://schemas.microsoft.com/office/drawing/2014/main" id="{4D260261-DC1A-4447-A4E5-7F14B55C3DEE}"/>
              </a:ext>
            </a:extLst>
          </p:cNvPr>
          <p:cNvSpPr/>
          <p:nvPr/>
        </p:nvSpPr>
        <p:spPr>
          <a:xfrm>
            <a:off x="8137497" y="5575880"/>
            <a:ext cx="1992441" cy="709126"/>
          </a:xfrm>
          <a:prstGeom prst="round2DiagRect">
            <a:avLst/>
          </a:prstGeom>
          <a:solidFill>
            <a:srgbClr val="2F3E46"/>
          </a:solidFill>
          <a:ln>
            <a:solidFill>
              <a:srgbClr val="2F3E46"/>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Control de Cumplimiento</a:t>
            </a:r>
            <a:endParaRPr lang="es-MX" b="1" dirty="0"/>
          </a:p>
        </p:txBody>
      </p:sp>
      <p:sp>
        <p:nvSpPr>
          <p:cNvPr id="18" name="Título 3">
            <a:extLst>
              <a:ext uri="{FF2B5EF4-FFF2-40B4-BE49-F238E27FC236}">
                <a16:creationId xmlns:a16="http://schemas.microsoft.com/office/drawing/2014/main" id="{A2FAE8A1-1B3C-4BB7-B548-D42F16175B1A}"/>
              </a:ext>
            </a:extLst>
          </p:cNvPr>
          <p:cNvSpPr>
            <a:spLocks noGrp="1"/>
          </p:cNvSpPr>
          <p:nvPr>
            <p:ph type="title"/>
          </p:nvPr>
        </p:nvSpPr>
        <p:spPr>
          <a:xfrm>
            <a:off x="817879" y="310530"/>
            <a:ext cx="8524083" cy="823595"/>
          </a:xfrm>
        </p:spPr>
        <p:txBody>
          <a:bodyPr>
            <a:normAutofit/>
          </a:bodyPr>
          <a:lstStyle/>
          <a:p>
            <a:r>
              <a:rPr lang="es-ES" sz="3600" b="1" dirty="0">
                <a:solidFill>
                  <a:srgbClr val="131D3F"/>
                </a:solidFill>
                <a:latin typeface="Montserrat SemiBold" panose="00000700000000000000" pitchFamily="2" charset="0"/>
              </a:rPr>
              <a:t>1.3 Tipos de Control en las Finanzas</a:t>
            </a:r>
            <a:endParaRPr lang="es-MX" sz="36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584068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84844" y="0"/>
            <a:ext cx="595822"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a:t>
            </a:fld>
            <a:endParaRPr lang="es-MX" sz="2400" b="1" dirty="0">
              <a:solidFill>
                <a:srgbClr val="BA955B"/>
              </a:solidFill>
              <a:latin typeface="Montserrat SemiBold" panose="00000700000000000000" pitchFamily="2" charset="0"/>
            </a:endParaRPr>
          </a:p>
        </p:txBody>
      </p:sp>
      <p:sp>
        <p:nvSpPr>
          <p:cNvPr id="24" name="Título 3">
            <a:extLst>
              <a:ext uri="{FF2B5EF4-FFF2-40B4-BE49-F238E27FC236}">
                <a16:creationId xmlns:a16="http://schemas.microsoft.com/office/drawing/2014/main" id="{7B617ECA-A706-4C77-BD0F-9F59E2F69CAE}"/>
              </a:ext>
            </a:extLst>
          </p:cNvPr>
          <p:cNvSpPr>
            <a:spLocks noGrp="1"/>
          </p:cNvSpPr>
          <p:nvPr>
            <p:ph type="title"/>
          </p:nvPr>
        </p:nvSpPr>
        <p:spPr>
          <a:xfrm>
            <a:off x="817879" y="310530"/>
            <a:ext cx="8524083" cy="823595"/>
          </a:xfrm>
        </p:spPr>
        <p:txBody>
          <a:bodyPr>
            <a:normAutofit/>
          </a:bodyPr>
          <a:lstStyle/>
          <a:p>
            <a:r>
              <a:rPr lang="es-ES" sz="3600" b="1" dirty="0">
                <a:solidFill>
                  <a:srgbClr val="131D3F"/>
                </a:solidFill>
                <a:latin typeface="Montserrat SemiBold" panose="00000700000000000000" pitchFamily="2" charset="0"/>
              </a:rPr>
              <a:t>1.3 Tipos de Control en las Finanzas</a:t>
            </a:r>
            <a:endParaRPr lang="es-MX" sz="3600" b="1" dirty="0">
              <a:solidFill>
                <a:srgbClr val="131D3F"/>
              </a:solidFill>
              <a:latin typeface="Montserrat SemiBold" panose="00000700000000000000" pitchFamily="2" charset="0"/>
            </a:endParaRPr>
          </a:p>
        </p:txBody>
      </p:sp>
      <p:sp>
        <p:nvSpPr>
          <p:cNvPr id="43" name="Rectángulo: esquinas diagonales redondeadas 42">
            <a:extLst>
              <a:ext uri="{FF2B5EF4-FFF2-40B4-BE49-F238E27FC236}">
                <a16:creationId xmlns:a16="http://schemas.microsoft.com/office/drawing/2014/main" id="{971EAB03-9FA7-4657-8A91-28D17232D40A}"/>
              </a:ext>
            </a:extLst>
          </p:cNvPr>
          <p:cNvSpPr/>
          <p:nvPr/>
        </p:nvSpPr>
        <p:spPr>
          <a:xfrm>
            <a:off x="1064382" y="2339473"/>
            <a:ext cx="1738713" cy="806400"/>
          </a:xfrm>
          <a:prstGeom prst="round2DiagRect">
            <a:avLst/>
          </a:prstGeom>
          <a:solidFill>
            <a:srgbClr val="2F3E46"/>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solidFill>
                  <a:schemeClr val="bg1"/>
                </a:solidFill>
                <a:latin typeface="Montserrat" panose="00000500000000000000" pitchFamily="2" charset="0"/>
              </a:rPr>
              <a:t>Costos</a:t>
            </a:r>
            <a:endParaRPr lang="es-MX" sz="1500" b="1" dirty="0">
              <a:solidFill>
                <a:schemeClr val="bg1"/>
              </a:solidFill>
              <a:latin typeface="Montserrat" panose="00000500000000000000" pitchFamily="2" charset="0"/>
            </a:endParaRPr>
          </a:p>
        </p:txBody>
      </p:sp>
      <p:sp>
        <p:nvSpPr>
          <p:cNvPr id="44" name="Rectángulo: esquinas diagonales redondeadas 43">
            <a:extLst>
              <a:ext uri="{FF2B5EF4-FFF2-40B4-BE49-F238E27FC236}">
                <a16:creationId xmlns:a16="http://schemas.microsoft.com/office/drawing/2014/main" id="{EB5CB787-FDF8-4248-AB5E-A0D0F3F5B708}"/>
              </a:ext>
            </a:extLst>
          </p:cNvPr>
          <p:cNvSpPr/>
          <p:nvPr/>
        </p:nvSpPr>
        <p:spPr>
          <a:xfrm>
            <a:off x="1064382" y="3379260"/>
            <a:ext cx="1738713" cy="806400"/>
          </a:xfrm>
          <a:prstGeom prst="round2DiagRect">
            <a:avLst/>
          </a:prstGeom>
          <a:solidFill>
            <a:srgbClr val="2F3E46"/>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latin typeface="Montserrat" panose="00000500000000000000" pitchFamily="2" charset="0"/>
              </a:rPr>
              <a:t>Tesorería</a:t>
            </a:r>
            <a:endParaRPr lang="es-MX" sz="1500" b="1" dirty="0">
              <a:latin typeface="Montserrat" panose="00000500000000000000" pitchFamily="2" charset="0"/>
            </a:endParaRPr>
          </a:p>
        </p:txBody>
      </p:sp>
      <p:sp>
        <p:nvSpPr>
          <p:cNvPr id="45" name="Rectángulo: esquinas diagonales redondeadas 44">
            <a:extLst>
              <a:ext uri="{FF2B5EF4-FFF2-40B4-BE49-F238E27FC236}">
                <a16:creationId xmlns:a16="http://schemas.microsoft.com/office/drawing/2014/main" id="{49F0C0F0-DBFE-4A04-AF44-12874EC442B3}"/>
              </a:ext>
            </a:extLst>
          </p:cNvPr>
          <p:cNvSpPr/>
          <p:nvPr/>
        </p:nvSpPr>
        <p:spPr>
          <a:xfrm>
            <a:off x="1064382" y="4419047"/>
            <a:ext cx="1738713" cy="806400"/>
          </a:xfrm>
          <a:prstGeom prst="round2DiagRect">
            <a:avLst/>
          </a:prstGeom>
          <a:solidFill>
            <a:srgbClr val="2F3E46"/>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solidFill>
                  <a:schemeClr val="bg1"/>
                </a:solidFill>
                <a:latin typeface="Montserrat" panose="00000500000000000000" pitchFamily="2" charset="0"/>
              </a:rPr>
              <a:t>Inversiones</a:t>
            </a:r>
            <a:endParaRPr lang="es-MX" sz="1500" b="1" dirty="0">
              <a:solidFill>
                <a:schemeClr val="bg1"/>
              </a:solidFill>
              <a:latin typeface="Montserrat" panose="00000500000000000000" pitchFamily="2" charset="0"/>
            </a:endParaRPr>
          </a:p>
        </p:txBody>
      </p:sp>
      <p:sp>
        <p:nvSpPr>
          <p:cNvPr id="46" name="Rectángulo: esquinas diagonales redondeadas 45">
            <a:extLst>
              <a:ext uri="{FF2B5EF4-FFF2-40B4-BE49-F238E27FC236}">
                <a16:creationId xmlns:a16="http://schemas.microsoft.com/office/drawing/2014/main" id="{86FCD27F-B190-487D-8E9C-35360B40F706}"/>
              </a:ext>
            </a:extLst>
          </p:cNvPr>
          <p:cNvSpPr/>
          <p:nvPr/>
        </p:nvSpPr>
        <p:spPr>
          <a:xfrm>
            <a:off x="6575728" y="1784148"/>
            <a:ext cx="1738713" cy="806400"/>
          </a:xfrm>
          <a:prstGeom prst="round2DiagRect">
            <a:avLst/>
          </a:prstGeom>
          <a:solidFill>
            <a:srgbClr val="2F3E46"/>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latin typeface="Montserrat" panose="00000500000000000000" pitchFamily="2" charset="0"/>
              </a:rPr>
              <a:t>Riesgos Financieros</a:t>
            </a:r>
            <a:endParaRPr lang="es-MX" sz="1500" b="1" dirty="0">
              <a:latin typeface="Montserrat" panose="00000500000000000000" pitchFamily="2" charset="0"/>
            </a:endParaRPr>
          </a:p>
        </p:txBody>
      </p:sp>
      <p:sp>
        <p:nvSpPr>
          <p:cNvPr id="47" name="Rectángulo: esquinas diagonales redondeadas 46">
            <a:extLst>
              <a:ext uri="{FF2B5EF4-FFF2-40B4-BE49-F238E27FC236}">
                <a16:creationId xmlns:a16="http://schemas.microsoft.com/office/drawing/2014/main" id="{64EA90A0-62E7-4A1F-8181-3C02FB216DA6}"/>
              </a:ext>
            </a:extLst>
          </p:cNvPr>
          <p:cNvSpPr/>
          <p:nvPr/>
        </p:nvSpPr>
        <p:spPr>
          <a:xfrm>
            <a:off x="1064382" y="5458834"/>
            <a:ext cx="1738713" cy="806400"/>
          </a:xfrm>
          <a:prstGeom prst="round2DiagRect">
            <a:avLst/>
          </a:prstGeom>
          <a:solidFill>
            <a:srgbClr val="2F3E46"/>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latin typeface="Montserrat" panose="00000500000000000000" pitchFamily="2" charset="0"/>
              </a:rPr>
              <a:t>Interno</a:t>
            </a:r>
            <a:endParaRPr lang="es-MX" sz="1500" b="1" dirty="0">
              <a:latin typeface="Montserrat" panose="00000500000000000000" pitchFamily="2" charset="0"/>
            </a:endParaRPr>
          </a:p>
        </p:txBody>
      </p:sp>
      <p:sp>
        <p:nvSpPr>
          <p:cNvPr id="48" name="Rectángulo: esquinas diagonales redondeadas 47">
            <a:extLst>
              <a:ext uri="{FF2B5EF4-FFF2-40B4-BE49-F238E27FC236}">
                <a16:creationId xmlns:a16="http://schemas.microsoft.com/office/drawing/2014/main" id="{5D6F5E0A-A287-42D0-8B1C-EF5EDD891F7A}"/>
              </a:ext>
            </a:extLst>
          </p:cNvPr>
          <p:cNvSpPr/>
          <p:nvPr/>
        </p:nvSpPr>
        <p:spPr>
          <a:xfrm>
            <a:off x="6575728" y="2850148"/>
            <a:ext cx="1738713" cy="806400"/>
          </a:xfrm>
          <a:prstGeom prst="round2DiagRect">
            <a:avLst/>
          </a:prstGeom>
          <a:solidFill>
            <a:srgbClr val="2F3E46"/>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latin typeface="Montserrat" panose="00000500000000000000" pitchFamily="2" charset="0"/>
              </a:rPr>
              <a:t>Rentabilidad</a:t>
            </a:r>
            <a:endParaRPr lang="es-MX" sz="1500" b="1" dirty="0">
              <a:latin typeface="Montserrat" panose="00000500000000000000" pitchFamily="2" charset="0"/>
            </a:endParaRPr>
          </a:p>
        </p:txBody>
      </p:sp>
      <p:sp>
        <p:nvSpPr>
          <p:cNvPr id="49" name="Rectángulo: esquinas diagonales redondeadas 48">
            <a:extLst>
              <a:ext uri="{FF2B5EF4-FFF2-40B4-BE49-F238E27FC236}">
                <a16:creationId xmlns:a16="http://schemas.microsoft.com/office/drawing/2014/main" id="{507E2CDA-B520-4D13-98D6-96E5AF2C65A3}"/>
              </a:ext>
            </a:extLst>
          </p:cNvPr>
          <p:cNvSpPr/>
          <p:nvPr/>
        </p:nvSpPr>
        <p:spPr>
          <a:xfrm>
            <a:off x="6575727" y="3900987"/>
            <a:ext cx="1738713" cy="806400"/>
          </a:xfrm>
          <a:prstGeom prst="round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latin typeface="Montserrat" panose="00000500000000000000" pitchFamily="2" charset="0"/>
              </a:rPr>
              <a:t>Financiero Estratégico</a:t>
            </a:r>
            <a:endParaRPr lang="es-MX" sz="1500" b="1" dirty="0">
              <a:latin typeface="Montserrat" panose="00000500000000000000" pitchFamily="2" charset="0"/>
            </a:endParaRPr>
          </a:p>
        </p:txBody>
      </p:sp>
      <p:sp>
        <p:nvSpPr>
          <p:cNvPr id="56" name="Rectángulo: esquinas diagonales redondeadas 55">
            <a:extLst>
              <a:ext uri="{FF2B5EF4-FFF2-40B4-BE49-F238E27FC236}">
                <a16:creationId xmlns:a16="http://schemas.microsoft.com/office/drawing/2014/main" id="{7371BF6F-366D-4972-B13D-D6E5A1BE4FE2}"/>
              </a:ext>
            </a:extLst>
          </p:cNvPr>
          <p:cNvSpPr/>
          <p:nvPr/>
        </p:nvSpPr>
        <p:spPr>
          <a:xfrm>
            <a:off x="1064382" y="1284133"/>
            <a:ext cx="1738713" cy="806792"/>
          </a:xfrm>
          <a:prstGeom prst="round2DiagRect">
            <a:avLst/>
          </a:prstGeom>
          <a:solidFill>
            <a:srgbClr val="2F3E46"/>
          </a:solidFill>
          <a:ln>
            <a:solidFill>
              <a:srgbClr val="CAD2C5"/>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s-ES" sz="1500" b="1" dirty="0">
                <a:solidFill>
                  <a:schemeClr val="bg1"/>
                </a:solidFill>
                <a:latin typeface="Montserrat" panose="00000500000000000000" pitchFamily="2" charset="0"/>
              </a:rPr>
              <a:t>Presupuestario</a:t>
            </a:r>
            <a:endParaRPr lang="es-MX" sz="1500" b="1" dirty="0">
              <a:solidFill>
                <a:schemeClr val="bg1"/>
              </a:solidFill>
              <a:latin typeface="Montserrat" panose="00000500000000000000" pitchFamily="2" charset="0"/>
            </a:endParaRPr>
          </a:p>
        </p:txBody>
      </p:sp>
      <p:sp>
        <p:nvSpPr>
          <p:cNvPr id="57" name="Rectángulo: esquinas redondeadas 56">
            <a:extLst>
              <a:ext uri="{FF2B5EF4-FFF2-40B4-BE49-F238E27FC236}">
                <a16:creationId xmlns:a16="http://schemas.microsoft.com/office/drawing/2014/main" id="{43FDE584-D480-447B-BE56-D6A74C0B606D}"/>
              </a:ext>
            </a:extLst>
          </p:cNvPr>
          <p:cNvSpPr/>
          <p:nvPr/>
        </p:nvSpPr>
        <p:spPr>
          <a:xfrm>
            <a:off x="3092343" y="1269364"/>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dirty="0">
                <a:solidFill>
                  <a:srgbClr val="36454E"/>
                </a:solidFill>
                <a:latin typeface="Montserrat" panose="00000500000000000000" pitchFamily="2" charset="0"/>
              </a:rPr>
              <a:t>Asegurar que los gastos y las inversiones se mantengan </a:t>
            </a:r>
            <a:r>
              <a:rPr lang="es-ES" sz="1400" b="1" dirty="0">
                <a:solidFill>
                  <a:srgbClr val="36454E"/>
                </a:solidFill>
                <a:latin typeface="Montserrat" panose="00000500000000000000" pitchFamily="2" charset="0"/>
              </a:rPr>
              <a:t>dentro de los límites</a:t>
            </a:r>
            <a:r>
              <a:rPr lang="es-ES" sz="1400" dirty="0">
                <a:solidFill>
                  <a:srgbClr val="36454E"/>
                </a:solidFill>
                <a:latin typeface="Montserrat" panose="00000500000000000000" pitchFamily="2" charset="0"/>
              </a:rPr>
              <a:t>.</a:t>
            </a:r>
            <a:endParaRPr lang="es-MX" sz="1400" dirty="0">
              <a:solidFill>
                <a:srgbClr val="36454E"/>
              </a:solidFill>
              <a:latin typeface="Montserrat" panose="00000500000000000000" pitchFamily="2" charset="0"/>
            </a:endParaRPr>
          </a:p>
        </p:txBody>
      </p:sp>
      <p:sp>
        <p:nvSpPr>
          <p:cNvPr id="59" name="Rectángulo: esquinas redondeadas 58">
            <a:extLst>
              <a:ext uri="{FF2B5EF4-FFF2-40B4-BE49-F238E27FC236}">
                <a16:creationId xmlns:a16="http://schemas.microsoft.com/office/drawing/2014/main" id="{147A2549-0985-4A1E-AAE3-968F13B48F08}"/>
              </a:ext>
            </a:extLst>
          </p:cNvPr>
          <p:cNvSpPr/>
          <p:nvPr/>
        </p:nvSpPr>
        <p:spPr>
          <a:xfrm>
            <a:off x="3160392" y="2324312"/>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b="1" dirty="0">
                <a:solidFill>
                  <a:srgbClr val="36454E"/>
                </a:solidFill>
                <a:latin typeface="Montserrat" panose="00000500000000000000" pitchFamily="2" charset="0"/>
              </a:rPr>
              <a:t>Control de costos</a:t>
            </a:r>
            <a:r>
              <a:rPr lang="es-ES" sz="1400" dirty="0">
                <a:solidFill>
                  <a:srgbClr val="36454E"/>
                </a:solidFill>
                <a:latin typeface="Montserrat" panose="00000500000000000000" pitchFamily="2" charset="0"/>
              </a:rPr>
              <a:t> para mejorar la rentabilidad y eficiencia. </a:t>
            </a:r>
            <a:r>
              <a:rPr lang="es-ES" sz="1400" u="sng" dirty="0">
                <a:solidFill>
                  <a:srgbClr val="36454E"/>
                </a:solidFill>
                <a:latin typeface="Montserrat" panose="00000500000000000000" pitchFamily="2" charset="0"/>
              </a:rPr>
              <a:t>Más con menos.</a:t>
            </a:r>
            <a:endParaRPr lang="es-MX" sz="1400" u="sng" dirty="0">
              <a:solidFill>
                <a:srgbClr val="36454E"/>
              </a:solidFill>
              <a:latin typeface="Montserrat" panose="00000500000000000000" pitchFamily="2" charset="0"/>
            </a:endParaRPr>
          </a:p>
        </p:txBody>
      </p:sp>
      <p:sp>
        <p:nvSpPr>
          <p:cNvPr id="60" name="Rectángulo: esquinas redondeadas 59">
            <a:extLst>
              <a:ext uri="{FF2B5EF4-FFF2-40B4-BE49-F238E27FC236}">
                <a16:creationId xmlns:a16="http://schemas.microsoft.com/office/drawing/2014/main" id="{FFA793B1-ABB4-48C2-8251-47C345A9AE6B}"/>
              </a:ext>
            </a:extLst>
          </p:cNvPr>
          <p:cNvSpPr/>
          <p:nvPr/>
        </p:nvSpPr>
        <p:spPr>
          <a:xfrm>
            <a:off x="3160392" y="3364099"/>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dirty="0">
                <a:solidFill>
                  <a:srgbClr val="36454E"/>
                </a:solidFill>
                <a:latin typeface="Montserrat" panose="00000500000000000000" pitchFamily="2" charset="0"/>
              </a:rPr>
              <a:t>Manejo del efectivo y asegurar la </a:t>
            </a:r>
            <a:r>
              <a:rPr lang="es-ES" sz="1400" b="1" dirty="0">
                <a:solidFill>
                  <a:srgbClr val="36454E"/>
                </a:solidFill>
                <a:latin typeface="Montserrat" panose="00000500000000000000" pitchFamily="2" charset="0"/>
              </a:rPr>
              <a:t>disponibilidad de fondos</a:t>
            </a:r>
            <a:r>
              <a:rPr lang="es-ES" sz="1400" dirty="0">
                <a:solidFill>
                  <a:srgbClr val="36454E"/>
                </a:solidFill>
                <a:latin typeface="Montserrat" panose="00000500000000000000" pitchFamily="2" charset="0"/>
              </a:rPr>
              <a:t>.</a:t>
            </a:r>
            <a:endParaRPr lang="es-MX" sz="1400" u="sng" dirty="0">
              <a:solidFill>
                <a:srgbClr val="36454E"/>
              </a:solidFill>
              <a:latin typeface="Montserrat" panose="00000500000000000000" pitchFamily="2" charset="0"/>
            </a:endParaRPr>
          </a:p>
        </p:txBody>
      </p:sp>
      <p:sp>
        <p:nvSpPr>
          <p:cNvPr id="61" name="Rectángulo: esquinas redondeadas 60">
            <a:extLst>
              <a:ext uri="{FF2B5EF4-FFF2-40B4-BE49-F238E27FC236}">
                <a16:creationId xmlns:a16="http://schemas.microsoft.com/office/drawing/2014/main" id="{A3543BA5-4877-46E9-9DD8-31092BA4919E}"/>
              </a:ext>
            </a:extLst>
          </p:cNvPr>
          <p:cNvSpPr/>
          <p:nvPr/>
        </p:nvSpPr>
        <p:spPr>
          <a:xfrm>
            <a:off x="3160392" y="4403886"/>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b="1" dirty="0">
                <a:solidFill>
                  <a:srgbClr val="36454E"/>
                </a:solidFill>
                <a:latin typeface="Montserrat" panose="00000500000000000000" pitchFamily="2" charset="0"/>
              </a:rPr>
              <a:t>Maximizar el retorno</a:t>
            </a:r>
            <a:r>
              <a:rPr lang="es-ES" sz="1400" dirty="0">
                <a:solidFill>
                  <a:srgbClr val="36454E"/>
                </a:solidFill>
                <a:latin typeface="Montserrat" panose="00000500000000000000" pitchFamily="2" charset="0"/>
              </a:rPr>
              <a:t> </a:t>
            </a:r>
            <a:r>
              <a:rPr lang="es-ES" sz="1400" b="1" dirty="0">
                <a:solidFill>
                  <a:srgbClr val="36454E"/>
                </a:solidFill>
                <a:latin typeface="Montserrat" panose="00000500000000000000" pitchFamily="2" charset="0"/>
              </a:rPr>
              <a:t>de inversiones </a:t>
            </a:r>
            <a:r>
              <a:rPr lang="es-ES" sz="1400" dirty="0">
                <a:solidFill>
                  <a:srgbClr val="36454E"/>
                </a:solidFill>
                <a:latin typeface="Montserrat" panose="00000500000000000000" pitchFamily="2" charset="0"/>
              </a:rPr>
              <a:t>y minimizar el riesgo.</a:t>
            </a:r>
            <a:endParaRPr lang="es-MX" sz="1400" u="sng" dirty="0">
              <a:solidFill>
                <a:srgbClr val="36454E"/>
              </a:solidFill>
              <a:latin typeface="Montserrat" panose="00000500000000000000" pitchFamily="2" charset="0"/>
            </a:endParaRPr>
          </a:p>
        </p:txBody>
      </p:sp>
      <p:sp>
        <p:nvSpPr>
          <p:cNvPr id="62" name="Rectángulo: esquinas redondeadas 61">
            <a:extLst>
              <a:ext uri="{FF2B5EF4-FFF2-40B4-BE49-F238E27FC236}">
                <a16:creationId xmlns:a16="http://schemas.microsoft.com/office/drawing/2014/main" id="{B4B4B7CD-6292-4C01-8ACF-B04A481F81D0}"/>
              </a:ext>
            </a:extLst>
          </p:cNvPr>
          <p:cNvSpPr/>
          <p:nvPr/>
        </p:nvSpPr>
        <p:spPr>
          <a:xfrm>
            <a:off x="8669041" y="1768987"/>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b="1" dirty="0">
                <a:solidFill>
                  <a:srgbClr val="36454E"/>
                </a:solidFill>
                <a:latin typeface="Montserrat" panose="00000500000000000000" pitchFamily="2" charset="0"/>
              </a:rPr>
              <a:t>Mitigar riesgos, </a:t>
            </a:r>
            <a:r>
              <a:rPr lang="es-ES" sz="1400" dirty="0">
                <a:solidFill>
                  <a:srgbClr val="36454E"/>
                </a:solidFill>
                <a:latin typeface="Montserrat" panose="00000500000000000000" pitchFamily="2" charset="0"/>
              </a:rPr>
              <a:t>(de crédito, de mercado, de liquidez, de tipo de cambio).</a:t>
            </a:r>
            <a:endParaRPr lang="es-MX" sz="1400" u="sng" dirty="0">
              <a:solidFill>
                <a:srgbClr val="36454E"/>
              </a:solidFill>
              <a:latin typeface="Montserrat" panose="00000500000000000000" pitchFamily="2" charset="0"/>
            </a:endParaRPr>
          </a:p>
        </p:txBody>
      </p:sp>
      <p:sp>
        <p:nvSpPr>
          <p:cNvPr id="63" name="Rectángulo: esquinas redondeadas 62">
            <a:extLst>
              <a:ext uri="{FF2B5EF4-FFF2-40B4-BE49-F238E27FC236}">
                <a16:creationId xmlns:a16="http://schemas.microsoft.com/office/drawing/2014/main" id="{14E8CEBB-0D90-4831-9A35-E697FCCC4283}"/>
              </a:ext>
            </a:extLst>
          </p:cNvPr>
          <p:cNvSpPr/>
          <p:nvPr/>
        </p:nvSpPr>
        <p:spPr>
          <a:xfrm>
            <a:off x="3160392" y="5443673"/>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b="1" dirty="0">
                <a:solidFill>
                  <a:srgbClr val="36454E"/>
                </a:solidFill>
                <a:latin typeface="Montserrat" panose="00000500000000000000" pitchFamily="2" charset="0"/>
              </a:rPr>
              <a:t>Procedimientos y políticas internas. </a:t>
            </a:r>
            <a:r>
              <a:rPr lang="es-ES" sz="1400" dirty="0">
                <a:solidFill>
                  <a:srgbClr val="36454E"/>
                </a:solidFill>
                <a:latin typeface="Montserrat" panose="00000500000000000000" pitchFamily="2" charset="0"/>
              </a:rPr>
              <a:t>Prevenir fraudes, errores, información integra.</a:t>
            </a:r>
            <a:endParaRPr lang="es-MX" sz="1400" u="sng" dirty="0">
              <a:solidFill>
                <a:srgbClr val="36454E"/>
              </a:solidFill>
              <a:latin typeface="Montserrat" panose="00000500000000000000" pitchFamily="2" charset="0"/>
            </a:endParaRPr>
          </a:p>
        </p:txBody>
      </p:sp>
      <p:sp>
        <p:nvSpPr>
          <p:cNvPr id="64" name="Rectángulo: esquinas redondeadas 63">
            <a:extLst>
              <a:ext uri="{FF2B5EF4-FFF2-40B4-BE49-F238E27FC236}">
                <a16:creationId xmlns:a16="http://schemas.microsoft.com/office/drawing/2014/main" id="{9E5D0393-7736-4095-BC0D-D4071FFE2074}"/>
              </a:ext>
            </a:extLst>
          </p:cNvPr>
          <p:cNvSpPr/>
          <p:nvPr/>
        </p:nvSpPr>
        <p:spPr>
          <a:xfrm>
            <a:off x="8669041" y="2834987"/>
            <a:ext cx="2823452" cy="821561"/>
          </a:xfrm>
          <a:prstGeom prst="roundRect">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400" b="1" dirty="0">
                <a:solidFill>
                  <a:srgbClr val="36454E"/>
                </a:solidFill>
                <a:latin typeface="Montserrat" panose="00000500000000000000" pitchFamily="2" charset="0"/>
              </a:rPr>
              <a:t>Garantizar operaciones rentables. </a:t>
            </a:r>
            <a:r>
              <a:rPr lang="es-ES" sz="1400" dirty="0">
                <a:solidFill>
                  <a:srgbClr val="36454E"/>
                </a:solidFill>
                <a:latin typeface="Montserrat" panose="00000500000000000000" pitchFamily="2" charset="0"/>
              </a:rPr>
              <a:t>Mejora continua de la rentabilidad general</a:t>
            </a:r>
            <a:r>
              <a:rPr lang="es-ES" sz="1400" b="1" dirty="0">
                <a:solidFill>
                  <a:srgbClr val="36454E"/>
                </a:solidFill>
                <a:latin typeface="Montserrat" panose="00000500000000000000" pitchFamily="2" charset="0"/>
              </a:rPr>
              <a:t>.</a:t>
            </a:r>
            <a:endParaRPr lang="es-MX" sz="1400" u="sng" dirty="0">
              <a:solidFill>
                <a:srgbClr val="36454E"/>
              </a:solidFill>
              <a:latin typeface="Montserrat" panose="00000500000000000000" pitchFamily="2" charset="0"/>
            </a:endParaRPr>
          </a:p>
        </p:txBody>
      </p:sp>
      <p:sp>
        <p:nvSpPr>
          <p:cNvPr id="65" name="Rectángulo: esquinas redondeadas 64">
            <a:extLst>
              <a:ext uri="{FF2B5EF4-FFF2-40B4-BE49-F238E27FC236}">
                <a16:creationId xmlns:a16="http://schemas.microsoft.com/office/drawing/2014/main" id="{9405A4C1-C4F7-445F-BD47-4F8587A98C38}"/>
              </a:ext>
            </a:extLst>
          </p:cNvPr>
          <p:cNvSpPr/>
          <p:nvPr/>
        </p:nvSpPr>
        <p:spPr>
          <a:xfrm>
            <a:off x="8669041" y="3900986"/>
            <a:ext cx="2823452" cy="806401"/>
          </a:xfrm>
          <a:prstGeom prst="roundRect">
            <a:avLst>
              <a:gd name="adj" fmla="val 8484"/>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just"/>
            <a:r>
              <a:rPr lang="es-ES" sz="1400" dirty="0">
                <a:solidFill>
                  <a:srgbClr val="36454E"/>
                </a:solidFill>
                <a:latin typeface="Montserrat" panose="00000500000000000000" pitchFamily="2" charset="0"/>
              </a:rPr>
              <a:t>Asegurar decisiones financieras </a:t>
            </a:r>
            <a:r>
              <a:rPr lang="es-ES" sz="1400" b="1" dirty="0">
                <a:solidFill>
                  <a:srgbClr val="36454E"/>
                </a:solidFill>
                <a:latin typeface="Montserrat" panose="00000500000000000000" pitchFamily="2" charset="0"/>
              </a:rPr>
              <a:t>apegadas a  objetivos</a:t>
            </a:r>
            <a:r>
              <a:rPr lang="es-ES" sz="1400" dirty="0">
                <a:solidFill>
                  <a:srgbClr val="36454E"/>
                </a:solidFill>
                <a:latin typeface="Montserrat" panose="00000500000000000000" pitchFamily="2" charset="0"/>
              </a:rPr>
              <a:t> de la organización.</a:t>
            </a:r>
            <a:endParaRPr lang="es-MX" sz="1400" u="sng" dirty="0">
              <a:solidFill>
                <a:srgbClr val="36454E"/>
              </a:solidFill>
              <a:latin typeface="Montserrat" panose="00000500000000000000" pitchFamily="2" charset="0"/>
            </a:endParaRPr>
          </a:p>
        </p:txBody>
      </p:sp>
      <p:sp>
        <p:nvSpPr>
          <p:cNvPr id="66" name="Rectángulo: esquinas diagonales redondeadas 65">
            <a:extLst>
              <a:ext uri="{FF2B5EF4-FFF2-40B4-BE49-F238E27FC236}">
                <a16:creationId xmlns:a16="http://schemas.microsoft.com/office/drawing/2014/main" id="{95D154AE-93E5-4ED7-AC0D-EC5B238A1F3B}"/>
              </a:ext>
            </a:extLst>
          </p:cNvPr>
          <p:cNvSpPr/>
          <p:nvPr/>
        </p:nvSpPr>
        <p:spPr>
          <a:xfrm>
            <a:off x="6575727" y="4915687"/>
            <a:ext cx="1738713" cy="806400"/>
          </a:xfrm>
          <a:prstGeom prst="round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a:latin typeface="Montserrat" panose="00000500000000000000" pitchFamily="2" charset="0"/>
              </a:rPr>
              <a:t>Cumplimiento</a:t>
            </a:r>
            <a:endParaRPr lang="es-MX" sz="1500" b="1" dirty="0">
              <a:latin typeface="Montserrat" panose="00000500000000000000" pitchFamily="2" charset="0"/>
            </a:endParaRPr>
          </a:p>
        </p:txBody>
      </p:sp>
      <p:sp>
        <p:nvSpPr>
          <p:cNvPr id="67" name="Rectángulo: esquinas redondeadas 66">
            <a:extLst>
              <a:ext uri="{FF2B5EF4-FFF2-40B4-BE49-F238E27FC236}">
                <a16:creationId xmlns:a16="http://schemas.microsoft.com/office/drawing/2014/main" id="{E2E888C9-5D5D-49C6-9CD4-D5D1EEDB9789}"/>
              </a:ext>
            </a:extLst>
          </p:cNvPr>
          <p:cNvSpPr/>
          <p:nvPr/>
        </p:nvSpPr>
        <p:spPr>
          <a:xfrm>
            <a:off x="8669041" y="4915686"/>
            <a:ext cx="2823452" cy="806401"/>
          </a:xfrm>
          <a:prstGeom prst="roundRect">
            <a:avLst>
              <a:gd name="adj" fmla="val 8484"/>
            </a:avLst>
          </a:prstGeom>
          <a:solidFill>
            <a:srgbClr val="84A98C">
              <a:alpha val="30000"/>
            </a:srgbClr>
          </a:solidFill>
          <a:ln>
            <a:noFill/>
          </a:ln>
          <a:scene3d>
            <a:camera prst="orthographicFront"/>
            <a:lightRig rig="threePt" dir="t"/>
          </a:scene3d>
          <a:sp3d>
            <a:bevelT w="25400" h="254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just"/>
            <a:r>
              <a:rPr lang="es-ES" sz="1400" dirty="0">
                <a:solidFill>
                  <a:srgbClr val="36454E"/>
                </a:solidFill>
                <a:latin typeface="Montserrat" panose="00000500000000000000" pitchFamily="2" charset="0"/>
              </a:rPr>
              <a:t>Cumplimiento de </a:t>
            </a:r>
            <a:r>
              <a:rPr lang="es-ES" sz="1400" b="1" dirty="0">
                <a:solidFill>
                  <a:srgbClr val="36454E"/>
                </a:solidFill>
                <a:latin typeface="Montserrat" panose="00000500000000000000" pitchFamily="2" charset="0"/>
              </a:rPr>
              <a:t>leyes, regulaciones y normas </a:t>
            </a:r>
            <a:r>
              <a:rPr lang="es-ES" sz="1400" dirty="0">
                <a:solidFill>
                  <a:srgbClr val="36454E"/>
                </a:solidFill>
                <a:latin typeface="Montserrat" panose="00000500000000000000" pitchFamily="2" charset="0"/>
              </a:rPr>
              <a:t>aplicables.</a:t>
            </a:r>
            <a:endParaRPr lang="es-MX" sz="1400" u="sng" dirty="0">
              <a:solidFill>
                <a:srgbClr val="36454E"/>
              </a:solidFill>
              <a:latin typeface="Montserrat" panose="00000500000000000000" pitchFamily="2" charset="0"/>
            </a:endParaRPr>
          </a:p>
        </p:txBody>
      </p:sp>
    </p:spTree>
    <p:extLst>
      <p:ext uri="{BB962C8B-B14F-4D97-AF65-F5344CB8AC3E}">
        <p14:creationId xmlns:p14="http://schemas.microsoft.com/office/powerpoint/2010/main" val="3458287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84844" y="0"/>
            <a:ext cx="595822"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a:t>
            </a:fld>
            <a:endParaRPr lang="es-MX" sz="2400" b="1" dirty="0">
              <a:solidFill>
                <a:srgbClr val="BA955B"/>
              </a:solidFill>
              <a:latin typeface="Montserrat SemiBold" panose="00000700000000000000" pitchFamily="2" charset="0"/>
            </a:endParaRPr>
          </a:p>
        </p:txBody>
      </p:sp>
      <p:sp>
        <p:nvSpPr>
          <p:cNvPr id="24" name="Título 3">
            <a:extLst>
              <a:ext uri="{FF2B5EF4-FFF2-40B4-BE49-F238E27FC236}">
                <a16:creationId xmlns:a16="http://schemas.microsoft.com/office/drawing/2014/main" id="{7B617ECA-A706-4C77-BD0F-9F59E2F69CAE}"/>
              </a:ext>
            </a:extLst>
          </p:cNvPr>
          <p:cNvSpPr>
            <a:spLocks noGrp="1"/>
          </p:cNvSpPr>
          <p:nvPr>
            <p:ph type="title"/>
          </p:nvPr>
        </p:nvSpPr>
        <p:spPr>
          <a:xfrm>
            <a:off x="817880" y="310530"/>
            <a:ext cx="4928164" cy="823595"/>
          </a:xfrm>
        </p:spPr>
        <p:txBody>
          <a:bodyPr>
            <a:normAutofit/>
          </a:bodyPr>
          <a:lstStyle/>
          <a:p>
            <a:r>
              <a:rPr lang="es-ES" sz="3600" b="1" dirty="0">
                <a:solidFill>
                  <a:srgbClr val="131D3F"/>
                </a:solidFill>
                <a:latin typeface="Montserrat SemiBold" panose="00000700000000000000" pitchFamily="2" charset="0"/>
              </a:rPr>
              <a:t>1.4 Flujo de Efectivo</a:t>
            </a:r>
            <a:endParaRPr lang="es-MX" sz="3600" b="1" dirty="0">
              <a:solidFill>
                <a:srgbClr val="131D3F"/>
              </a:solidFill>
              <a:latin typeface="Montserrat SemiBold" panose="00000700000000000000" pitchFamily="2" charset="0"/>
            </a:endParaRPr>
          </a:p>
        </p:txBody>
      </p:sp>
      <p:sp>
        <p:nvSpPr>
          <p:cNvPr id="5" name="Google Shape;112;p3">
            <a:extLst>
              <a:ext uri="{FF2B5EF4-FFF2-40B4-BE49-F238E27FC236}">
                <a16:creationId xmlns:a16="http://schemas.microsoft.com/office/drawing/2014/main" id="{9A5A9BD5-7C0E-4C8D-B6A5-772A097256D7}"/>
              </a:ext>
            </a:extLst>
          </p:cNvPr>
          <p:cNvSpPr txBox="1"/>
          <p:nvPr/>
        </p:nvSpPr>
        <p:spPr>
          <a:xfrm>
            <a:off x="782227" y="2325654"/>
            <a:ext cx="10550845" cy="220669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Se define como la representación detallada de los </a:t>
            </a:r>
            <a:r>
              <a:rPr lang="es-ES" sz="2200" b="1" dirty="0">
                <a:solidFill>
                  <a:srgbClr val="131D3F"/>
                </a:solidFill>
                <a:latin typeface="Montserrat" panose="00000500000000000000" pitchFamily="2" charset="0"/>
              </a:rPr>
              <a:t>movimientos de recursos económicos</a:t>
            </a:r>
            <a:r>
              <a:rPr lang="es-ES" sz="2200" dirty="0">
                <a:solidFill>
                  <a:srgbClr val="131D3F"/>
                </a:solidFill>
                <a:latin typeface="Montserrat" panose="00000500000000000000" pitchFamily="2" charset="0"/>
              </a:rPr>
              <a:t> que ingresan y sales de una entidad en un periodo específico. </a:t>
            </a:r>
          </a:p>
          <a:p>
            <a:pPr algn="just">
              <a:spcAft>
                <a:spcPts val="600"/>
              </a:spcAft>
            </a:pPr>
            <a:r>
              <a:rPr lang="es-ES" sz="2200" dirty="0">
                <a:solidFill>
                  <a:srgbClr val="131D3F"/>
                </a:solidFill>
                <a:latin typeface="Montserrat" panose="00000500000000000000" pitchFamily="2" charset="0"/>
              </a:rPr>
              <a:t>También se considera como </a:t>
            </a:r>
            <a:r>
              <a:rPr lang="es-ES" sz="2200" b="1" dirty="0">
                <a:solidFill>
                  <a:srgbClr val="131D3F"/>
                </a:solidFill>
                <a:latin typeface="Montserrat" panose="00000500000000000000" pitchFamily="2" charset="0"/>
              </a:rPr>
              <a:t>indicador</a:t>
            </a:r>
            <a:r>
              <a:rPr lang="es-ES" sz="2200" dirty="0">
                <a:solidFill>
                  <a:srgbClr val="131D3F"/>
                </a:solidFill>
                <a:latin typeface="Montserrat" panose="00000500000000000000" pitchFamily="2" charset="0"/>
              </a:rPr>
              <a:t> clave de la </a:t>
            </a:r>
            <a:r>
              <a:rPr lang="es-ES" sz="2200" b="1" dirty="0">
                <a:solidFill>
                  <a:srgbClr val="131D3F"/>
                </a:solidFill>
                <a:latin typeface="Montserrat" panose="00000500000000000000" pitchFamily="2" charset="0"/>
              </a:rPr>
              <a:t>liquidez y la salud financiera</a:t>
            </a:r>
            <a:r>
              <a:rPr lang="es-ES" sz="2200" dirty="0">
                <a:solidFill>
                  <a:srgbClr val="131D3F"/>
                </a:solidFill>
                <a:latin typeface="Montserrat" panose="00000500000000000000" pitchFamily="2" charset="0"/>
              </a:rPr>
              <a:t>, mostrando cómo se </a:t>
            </a:r>
            <a:r>
              <a:rPr lang="es-ES" sz="2200" u="sng" dirty="0">
                <a:solidFill>
                  <a:srgbClr val="131D3F"/>
                </a:solidFill>
                <a:latin typeface="Montserrat" panose="00000500000000000000" pitchFamily="2" charset="0"/>
              </a:rPr>
              <a:t>generan y utilizan</a:t>
            </a:r>
            <a:r>
              <a:rPr lang="es-ES" sz="2200" dirty="0">
                <a:solidFill>
                  <a:srgbClr val="131D3F"/>
                </a:solidFill>
                <a:latin typeface="Montserrat" panose="00000500000000000000" pitchFamily="2" charset="0"/>
              </a:rPr>
              <a:t> los recursos de efectivo en las operaciones diarias, inversiones y actividades de financiación.</a:t>
            </a:r>
          </a:p>
        </p:txBody>
      </p:sp>
    </p:spTree>
    <p:extLst>
      <p:ext uri="{BB962C8B-B14F-4D97-AF65-F5344CB8AC3E}">
        <p14:creationId xmlns:p14="http://schemas.microsoft.com/office/powerpoint/2010/main" val="1803346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a:t>
            </a:fld>
            <a:endParaRPr lang="es-MX" sz="2400" b="1" dirty="0">
              <a:solidFill>
                <a:srgbClr val="BA955B"/>
              </a:solidFill>
              <a:latin typeface="Montserrat SemiBold" panose="00000700000000000000" pitchFamily="2" charset="0"/>
            </a:endParaRPr>
          </a:p>
        </p:txBody>
      </p:sp>
      <p:graphicFrame>
        <p:nvGraphicFramePr>
          <p:cNvPr id="3" name="Diagrama 2">
            <a:extLst>
              <a:ext uri="{FF2B5EF4-FFF2-40B4-BE49-F238E27FC236}">
                <a16:creationId xmlns:a16="http://schemas.microsoft.com/office/drawing/2014/main" id="{548C5C61-0A7F-47AA-88C3-73299735681D}"/>
              </a:ext>
            </a:extLst>
          </p:cNvPr>
          <p:cNvGraphicFramePr/>
          <p:nvPr>
            <p:extLst>
              <p:ext uri="{D42A27DB-BD31-4B8C-83A1-F6EECF244321}">
                <p14:modId xmlns:p14="http://schemas.microsoft.com/office/powerpoint/2010/main" val="1940108661"/>
              </p:ext>
            </p:extLst>
          </p:nvPr>
        </p:nvGraphicFramePr>
        <p:xfrm>
          <a:off x="930634" y="1676400"/>
          <a:ext cx="10325336" cy="445887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4928164" cy="823595"/>
          </a:xfrm>
        </p:spPr>
        <p:txBody>
          <a:bodyPr>
            <a:normAutofit/>
          </a:bodyPr>
          <a:lstStyle/>
          <a:p>
            <a:r>
              <a:rPr lang="es-ES" sz="3600" b="1" dirty="0">
                <a:solidFill>
                  <a:srgbClr val="131D3F"/>
                </a:solidFill>
                <a:latin typeface="Montserrat SemiBold" panose="00000700000000000000" pitchFamily="2" charset="0"/>
              </a:rPr>
              <a:t>1.4 Flujo de Efectivo</a:t>
            </a:r>
            <a:endParaRPr lang="es-MX" sz="3600" b="1" dirty="0">
              <a:solidFill>
                <a:srgbClr val="131D3F"/>
              </a:solidFill>
              <a:latin typeface="Montserrat SemiBold" panose="00000700000000000000" pitchFamily="2" charset="0"/>
            </a:endParaRPr>
          </a:p>
        </p:txBody>
      </p:sp>
      <p:sp>
        <p:nvSpPr>
          <p:cNvPr id="10" name="Google Shape;112;p3">
            <a:extLst>
              <a:ext uri="{FF2B5EF4-FFF2-40B4-BE49-F238E27FC236}">
                <a16:creationId xmlns:a16="http://schemas.microsoft.com/office/drawing/2014/main" id="{8D54F412-C37D-4DB6-B5A9-474B7AFE848D}"/>
              </a:ext>
            </a:extLst>
          </p:cNvPr>
          <p:cNvSpPr txBox="1"/>
          <p:nvPr/>
        </p:nvSpPr>
        <p:spPr>
          <a:xfrm>
            <a:off x="817880" y="1134125"/>
            <a:ext cx="10550845" cy="54227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Se divide en tres secciones principales:</a:t>
            </a:r>
          </a:p>
        </p:txBody>
      </p:sp>
    </p:spTree>
    <p:extLst>
      <p:ext uri="{BB962C8B-B14F-4D97-AF65-F5344CB8AC3E}">
        <p14:creationId xmlns:p14="http://schemas.microsoft.com/office/powerpoint/2010/main" val="516457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1.5 Procesos para la toma de decisiones</a:t>
            </a:r>
            <a:endParaRPr lang="es-MX" sz="3600" b="1" dirty="0">
              <a:solidFill>
                <a:srgbClr val="131D3F"/>
              </a:solidFill>
              <a:latin typeface="Montserrat SemiBold" panose="00000700000000000000" pitchFamily="2" charset="0"/>
            </a:endParaRPr>
          </a:p>
        </p:txBody>
      </p:sp>
      <p:sp>
        <p:nvSpPr>
          <p:cNvPr id="10" name="Google Shape;112;p3">
            <a:extLst>
              <a:ext uri="{FF2B5EF4-FFF2-40B4-BE49-F238E27FC236}">
                <a16:creationId xmlns:a16="http://schemas.microsoft.com/office/drawing/2014/main" id="{8D54F412-C37D-4DB6-B5A9-474B7AFE848D}"/>
              </a:ext>
            </a:extLst>
          </p:cNvPr>
          <p:cNvSpPr txBox="1"/>
          <p:nvPr/>
        </p:nvSpPr>
        <p:spPr>
          <a:xfrm>
            <a:off x="820577" y="1605465"/>
            <a:ext cx="10550845" cy="2155829"/>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La toma de decisiones es un proceso crucial en cualquier organización, ya que </a:t>
            </a:r>
            <a:r>
              <a:rPr lang="es-ES" sz="2200" b="1" dirty="0">
                <a:solidFill>
                  <a:srgbClr val="131D3F"/>
                </a:solidFill>
                <a:latin typeface="Montserrat" panose="00000500000000000000" pitchFamily="2" charset="0"/>
              </a:rPr>
              <a:t>determina la dirección y el éxito</a:t>
            </a:r>
            <a:r>
              <a:rPr lang="es-ES" sz="2200" dirty="0">
                <a:solidFill>
                  <a:srgbClr val="131D3F"/>
                </a:solidFill>
                <a:latin typeface="Montserrat" panose="00000500000000000000" pitchFamily="2" charset="0"/>
              </a:rPr>
              <a:t> de la entidad, que consiste en reunir la información y evaluar alternativas . </a:t>
            </a:r>
          </a:p>
          <a:p>
            <a:pPr algn="just">
              <a:spcAft>
                <a:spcPts val="600"/>
              </a:spcAft>
            </a:pPr>
            <a:r>
              <a:rPr lang="es-ES" sz="2200" dirty="0">
                <a:solidFill>
                  <a:srgbClr val="131D3F"/>
                </a:solidFill>
                <a:latin typeface="Montserrat" panose="00000500000000000000" pitchFamily="2" charset="0"/>
              </a:rPr>
              <a:t>Un proceso de toma de decisiones eficaz generalmente sigue una serie de pasos estructurados para asegurar que las </a:t>
            </a:r>
            <a:r>
              <a:rPr lang="es-ES" sz="2200" b="1" dirty="0">
                <a:solidFill>
                  <a:srgbClr val="131D3F"/>
                </a:solidFill>
                <a:latin typeface="Montserrat" panose="00000500000000000000" pitchFamily="2" charset="0"/>
              </a:rPr>
              <a:t>decisiones</a:t>
            </a:r>
            <a:r>
              <a:rPr lang="es-ES" sz="2200" dirty="0">
                <a:solidFill>
                  <a:srgbClr val="131D3F"/>
                </a:solidFill>
                <a:latin typeface="Montserrat" panose="00000500000000000000" pitchFamily="2" charset="0"/>
              </a:rPr>
              <a:t> sean bien </a:t>
            </a:r>
            <a:r>
              <a:rPr lang="es-ES" sz="2200" b="1" dirty="0">
                <a:solidFill>
                  <a:srgbClr val="131D3F"/>
                </a:solidFill>
                <a:latin typeface="Montserrat" panose="00000500000000000000" pitchFamily="2" charset="0"/>
              </a:rPr>
              <a:t>fundamentadas</a:t>
            </a:r>
            <a:r>
              <a:rPr lang="es-ES" sz="2200" dirty="0">
                <a:solidFill>
                  <a:srgbClr val="131D3F"/>
                </a:solidFill>
                <a:latin typeface="Montserrat" panose="00000500000000000000" pitchFamily="2" charset="0"/>
              </a:rPr>
              <a:t> y se </a:t>
            </a:r>
            <a:r>
              <a:rPr lang="es-ES" sz="2200" b="1" dirty="0">
                <a:solidFill>
                  <a:srgbClr val="131D3F"/>
                </a:solidFill>
                <a:latin typeface="Montserrat" panose="00000500000000000000" pitchFamily="2" charset="0"/>
              </a:rPr>
              <a:t>alineen con los objetivos organizacionales</a:t>
            </a:r>
            <a:r>
              <a:rPr lang="es-ES" sz="2200" dirty="0">
                <a:solidFill>
                  <a:srgbClr val="131D3F"/>
                </a:solidFill>
                <a:latin typeface="Montserrat" panose="00000500000000000000" pitchFamily="2" charset="0"/>
              </a:rPr>
              <a:t>.</a:t>
            </a:r>
          </a:p>
        </p:txBody>
      </p:sp>
      <p:pic>
        <p:nvPicPr>
          <p:cNvPr id="1026" name="Picture 2" descr="Cómo Tomar Decisiones Importantes Con Seguridad? 4 Modelos">
            <a:extLst>
              <a:ext uri="{FF2B5EF4-FFF2-40B4-BE49-F238E27FC236}">
                <a16:creationId xmlns:a16="http://schemas.microsoft.com/office/drawing/2014/main" id="{CC782B03-78FB-4ACF-9A04-7293C5BD98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000" y="4202615"/>
            <a:ext cx="3919490" cy="2194914"/>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112;p3">
            <a:extLst>
              <a:ext uri="{FF2B5EF4-FFF2-40B4-BE49-F238E27FC236}">
                <a16:creationId xmlns:a16="http://schemas.microsoft.com/office/drawing/2014/main" id="{D4DEBC4A-72E5-472B-A85E-432725E3ACFD}"/>
              </a:ext>
            </a:extLst>
          </p:cNvPr>
          <p:cNvSpPr txBox="1"/>
          <p:nvPr/>
        </p:nvSpPr>
        <p:spPr>
          <a:xfrm>
            <a:off x="6677510" y="4881782"/>
            <a:ext cx="3919490" cy="836579"/>
          </a:xfrm>
          <a:prstGeom prst="rect">
            <a:avLst/>
          </a:prstGeom>
          <a:noFill/>
          <a:ln>
            <a:noFill/>
          </a:ln>
        </p:spPr>
        <p:txBody>
          <a:bodyPr spcFirstLastPara="1" wrap="square" lIns="91425" tIns="45700" rIns="91425" bIns="45700" anchor="t" anchorCtr="0">
            <a:noAutofit/>
          </a:bodyPr>
          <a:lstStyle/>
          <a:p>
            <a:pPr algn="ctr">
              <a:spcAft>
                <a:spcPts val="600"/>
              </a:spcAft>
            </a:pPr>
            <a:r>
              <a:rPr lang="es-ES" sz="2400" u="sng" dirty="0">
                <a:solidFill>
                  <a:srgbClr val="131D3F"/>
                </a:solidFill>
                <a:latin typeface="Montserrat" panose="00000500000000000000" pitchFamily="2" charset="0"/>
              </a:rPr>
              <a:t>¿Cuántas decisiones tomamos al día?</a:t>
            </a:r>
          </a:p>
        </p:txBody>
      </p:sp>
    </p:spTree>
    <p:extLst>
      <p:ext uri="{BB962C8B-B14F-4D97-AF65-F5344CB8AC3E}">
        <p14:creationId xmlns:p14="http://schemas.microsoft.com/office/powerpoint/2010/main" val="4078446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1.5 Procesos para la toma de decisiones</a:t>
            </a:r>
            <a:endParaRPr lang="es-MX" sz="3600" b="1" dirty="0">
              <a:solidFill>
                <a:srgbClr val="131D3F"/>
              </a:solidFill>
              <a:latin typeface="Montserrat SemiBold" panose="00000700000000000000" pitchFamily="2" charset="0"/>
            </a:endParaRPr>
          </a:p>
        </p:txBody>
      </p:sp>
      <p:graphicFrame>
        <p:nvGraphicFramePr>
          <p:cNvPr id="2" name="Diagrama 1">
            <a:extLst>
              <a:ext uri="{FF2B5EF4-FFF2-40B4-BE49-F238E27FC236}">
                <a16:creationId xmlns:a16="http://schemas.microsoft.com/office/drawing/2014/main" id="{2E36D722-07EC-4620-BBAA-9C97CDC2C632}"/>
              </a:ext>
            </a:extLst>
          </p:cNvPr>
          <p:cNvGraphicFramePr/>
          <p:nvPr>
            <p:extLst>
              <p:ext uri="{D42A27DB-BD31-4B8C-83A1-F6EECF244321}">
                <p14:modId xmlns:p14="http://schemas.microsoft.com/office/powerpoint/2010/main" val="4133567873"/>
              </p:ext>
            </p:extLst>
          </p:nvPr>
        </p:nvGraphicFramePr>
        <p:xfrm>
          <a:off x="255323" y="1191444"/>
          <a:ext cx="11681353" cy="60845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CuadroTexto 2">
            <a:extLst>
              <a:ext uri="{FF2B5EF4-FFF2-40B4-BE49-F238E27FC236}">
                <a16:creationId xmlns:a16="http://schemas.microsoft.com/office/drawing/2014/main" id="{FB89F031-2D40-4D02-B840-1847DD1FDF15}"/>
              </a:ext>
            </a:extLst>
          </p:cNvPr>
          <p:cNvSpPr txBox="1"/>
          <p:nvPr/>
        </p:nvSpPr>
        <p:spPr>
          <a:xfrm>
            <a:off x="2037080" y="1977181"/>
            <a:ext cx="1442720" cy="830997"/>
          </a:xfrm>
          <a:prstGeom prst="rect">
            <a:avLst/>
          </a:prstGeom>
          <a:noFill/>
        </p:spPr>
        <p:txBody>
          <a:bodyPr wrap="square" lIns="0" rIns="0" rtlCol="0">
            <a:spAutoFit/>
          </a:bodyPr>
          <a:lstStyle/>
          <a:p>
            <a:pPr algn="ctr"/>
            <a:r>
              <a:rPr lang="es-ES" sz="1600" dirty="0">
                <a:solidFill>
                  <a:schemeClr val="bg1"/>
                </a:solidFill>
                <a:latin typeface="Montserrat" panose="00000500000000000000" pitchFamily="2" charset="0"/>
              </a:rPr>
              <a:t>Recolección y análisis de información</a:t>
            </a:r>
            <a:endParaRPr lang="es-MX" sz="1600" dirty="0">
              <a:solidFill>
                <a:schemeClr val="bg1"/>
              </a:solidFill>
              <a:latin typeface="Montserrat" panose="00000500000000000000" pitchFamily="2" charset="0"/>
            </a:endParaRPr>
          </a:p>
        </p:txBody>
      </p:sp>
      <p:sp>
        <p:nvSpPr>
          <p:cNvPr id="10" name="CuadroTexto 9">
            <a:extLst>
              <a:ext uri="{FF2B5EF4-FFF2-40B4-BE49-F238E27FC236}">
                <a16:creationId xmlns:a16="http://schemas.microsoft.com/office/drawing/2014/main" id="{6033CA6B-DF3F-4C97-8241-F96889D00AF3}"/>
              </a:ext>
            </a:extLst>
          </p:cNvPr>
          <p:cNvSpPr txBox="1"/>
          <p:nvPr/>
        </p:nvSpPr>
        <p:spPr>
          <a:xfrm>
            <a:off x="3700834" y="2451026"/>
            <a:ext cx="1442720" cy="584775"/>
          </a:xfrm>
          <a:prstGeom prst="rect">
            <a:avLst/>
          </a:prstGeom>
          <a:noFill/>
        </p:spPr>
        <p:txBody>
          <a:bodyPr wrap="square" lIns="0" rIns="0" rtlCol="0">
            <a:spAutoFit/>
          </a:bodyPr>
          <a:lstStyle/>
          <a:p>
            <a:pPr algn="ctr"/>
            <a:r>
              <a:rPr lang="es-ES" sz="1600" dirty="0">
                <a:solidFill>
                  <a:schemeClr val="bg1"/>
                </a:solidFill>
                <a:latin typeface="Montserrat" panose="00000500000000000000" pitchFamily="2" charset="0"/>
              </a:rPr>
              <a:t>Generar alternativas</a:t>
            </a:r>
            <a:endParaRPr lang="es-MX" sz="1600" dirty="0">
              <a:solidFill>
                <a:schemeClr val="bg1"/>
              </a:solidFill>
              <a:latin typeface="Montserrat" panose="00000500000000000000" pitchFamily="2" charset="0"/>
            </a:endParaRPr>
          </a:p>
        </p:txBody>
      </p:sp>
      <p:sp>
        <p:nvSpPr>
          <p:cNvPr id="12" name="CuadroTexto 11">
            <a:extLst>
              <a:ext uri="{FF2B5EF4-FFF2-40B4-BE49-F238E27FC236}">
                <a16:creationId xmlns:a16="http://schemas.microsoft.com/office/drawing/2014/main" id="{63B82189-70C4-4566-8073-4084BFF066A1}"/>
              </a:ext>
            </a:extLst>
          </p:cNvPr>
          <p:cNvSpPr txBox="1"/>
          <p:nvPr/>
        </p:nvSpPr>
        <p:spPr>
          <a:xfrm>
            <a:off x="5376018" y="2812381"/>
            <a:ext cx="1442720" cy="584775"/>
          </a:xfrm>
          <a:prstGeom prst="rect">
            <a:avLst/>
          </a:prstGeom>
          <a:noFill/>
        </p:spPr>
        <p:txBody>
          <a:bodyPr wrap="square" lIns="0" rIns="0" rtlCol="0">
            <a:spAutoFit/>
          </a:bodyPr>
          <a:lstStyle/>
          <a:p>
            <a:pPr algn="ctr"/>
            <a:r>
              <a:rPr lang="es-ES" sz="1600" dirty="0">
                <a:solidFill>
                  <a:schemeClr val="bg1"/>
                </a:solidFill>
                <a:latin typeface="Montserrat" panose="00000500000000000000" pitchFamily="2" charset="0"/>
              </a:rPr>
              <a:t>Evaluar alternativas</a:t>
            </a:r>
            <a:endParaRPr lang="es-MX" sz="1600" dirty="0">
              <a:solidFill>
                <a:schemeClr val="bg1"/>
              </a:solidFill>
              <a:latin typeface="Montserrat" panose="00000500000000000000" pitchFamily="2" charset="0"/>
            </a:endParaRPr>
          </a:p>
        </p:txBody>
      </p:sp>
      <p:sp>
        <p:nvSpPr>
          <p:cNvPr id="13" name="CuadroTexto 12">
            <a:extLst>
              <a:ext uri="{FF2B5EF4-FFF2-40B4-BE49-F238E27FC236}">
                <a16:creationId xmlns:a16="http://schemas.microsoft.com/office/drawing/2014/main" id="{BE2F4D9F-373C-432B-8BF1-D54AA7EC8209}"/>
              </a:ext>
            </a:extLst>
          </p:cNvPr>
          <p:cNvSpPr txBox="1"/>
          <p:nvPr/>
        </p:nvSpPr>
        <p:spPr>
          <a:xfrm>
            <a:off x="7044798" y="3172381"/>
            <a:ext cx="1442720" cy="584775"/>
          </a:xfrm>
          <a:prstGeom prst="rect">
            <a:avLst/>
          </a:prstGeom>
          <a:noFill/>
        </p:spPr>
        <p:txBody>
          <a:bodyPr wrap="square" lIns="0" rIns="0" rtlCol="0">
            <a:spAutoFit/>
          </a:bodyPr>
          <a:lstStyle/>
          <a:p>
            <a:pPr algn="ctr"/>
            <a:r>
              <a:rPr lang="es-ES" sz="1600" dirty="0">
                <a:solidFill>
                  <a:schemeClr val="bg1"/>
                </a:solidFill>
                <a:latin typeface="Montserrat" panose="00000500000000000000" pitchFamily="2" charset="0"/>
              </a:rPr>
              <a:t>Seleccionar alternativas</a:t>
            </a:r>
            <a:endParaRPr lang="es-MX" sz="1600" dirty="0">
              <a:solidFill>
                <a:schemeClr val="bg1"/>
              </a:solidFill>
              <a:latin typeface="Montserrat" panose="00000500000000000000" pitchFamily="2" charset="0"/>
            </a:endParaRPr>
          </a:p>
        </p:txBody>
      </p:sp>
      <p:sp>
        <p:nvSpPr>
          <p:cNvPr id="14" name="CuadroTexto 13">
            <a:extLst>
              <a:ext uri="{FF2B5EF4-FFF2-40B4-BE49-F238E27FC236}">
                <a16:creationId xmlns:a16="http://schemas.microsoft.com/office/drawing/2014/main" id="{D08AC1F9-F0B0-4831-919E-A822912D940B}"/>
              </a:ext>
            </a:extLst>
          </p:cNvPr>
          <p:cNvSpPr txBox="1"/>
          <p:nvPr/>
        </p:nvSpPr>
        <p:spPr>
          <a:xfrm>
            <a:off x="8713578" y="3532381"/>
            <a:ext cx="1442720" cy="584775"/>
          </a:xfrm>
          <a:prstGeom prst="rect">
            <a:avLst/>
          </a:prstGeom>
          <a:noFill/>
        </p:spPr>
        <p:txBody>
          <a:bodyPr wrap="square" lIns="0" rIns="0" rtlCol="0">
            <a:spAutoFit/>
          </a:bodyPr>
          <a:lstStyle/>
          <a:p>
            <a:pPr algn="ctr"/>
            <a:r>
              <a:rPr lang="es-ES" sz="1600" dirty="0">
                <a:solidFill>
                  <a:schemeClr val="bg1"/>
                </a:solidFill>
                <a:latin typeface="Montserrat" panose="00000500000000000000" pitchFamily="2" charset="0"/>
              </a:rPr>
              <a:t>Implementar la decisión</a:t>
            </a:r>
            <a:endParaRPr lang="es-MX" sz="1600" dirty="0">
              <a:solidFill>
                <a:schemeClr val="bg1"/>
              </a:solidFill>
              <a:latin typeface="Montserrat" panose="00000500000000000000" pitchFamily="2" charset="0"/>
            </a:endParaRPr>
          </a:p>
        </p:txBody>
      </p:sp>
      <p:sp>
        <p:nvSpPr>
          <p:cNvPr id="15" name="CuadroTexto 14">
            <a:extLst>
              <a:ext uri="{FF2B5EF4-FFF2-40B4-BE49-F238E27FC236}">
                <a16:creationId xmlns:a16="http://schemas.microsoft.com/office/drawing/2014/main" id="{86D34636-E85B-428C-BE0F-58F7E75B2A29}"/>
              </a:ext>
            </a:extLst>
          </p:cNvPr>
          <p:cNvSpPr txBox="1"/>
          <p:nvPr/>
        </p:nvSpPr>
        <p:spPr>
          <a:xfrm>
            <a:off x="429038" y="3240000"/>
            <a:ext cx="1333084" cy="1600438"/>
          </a:xfrm>
          <a:prstGeom prst="rect">
            <a:avLst/>
          </a:prstGeom>
          <a:noFill/>
        </p:spPr>
        <p:txBody>
          <a:bodyPr wrap="square" lIns="36000" rIns="36000">
            <a:spAutoFit/>
          </a:bodyPr>
          <a:lstStyle/>
          <a:p>
            <a:pPr algn="just" fontAlgn="auto"/>
            <a:r>
              <a:rPr lang="es-ES" sz="1400" b="0" i="0" dirty="0">
                <a:solidFill>
                  <a:srgbClr val="131D3F"/>
                </a:solidFill>
                <a:effectLst/>
                <a:latin typeface="Montserrat" panose="00000500000000000000" pitchFamily="2" charset="0"/>
              </a:rPr>
              <a:t>¿</a:t>
            </a:r>
            <a:r>
              <a:rPr lang="es-ES" sz="1400" dirty="0">
                <a:solidFill>
                  <a:srgbClr val="131D3F"/>
                </a:solidFill>
                <a:latin typeface="Montserrat" panose="00000500000000000000" pitchFamily="2" charset="0"/>
              </a:rPr>
              <a:t>Cuál es el</a:t>
            </a:r>
            <a:r>
              <a:rPr lang="es-ES" sz="1400" b="0" i="0" dirty="0">
                <a:solidFill>
                  <a:srgbClr val="131D3F"/>
                </a:solidFill>
                <a:effectLst/>
                <a:latin typeface="Montserrat" panose="00000500000000000000" pitchFamily="2" charset="0"/>
              </a:rPr>
              <a:t> problema?</a:t>
            </a:r>
          </a:p>
          <a:p>
            <a:pPr algn="just" fontAlgn="auto"/>
            <a:r>
              <a:rPr lang="es-ES" sz="1400" b="0" i="0" dirty="0">
                <a:solidFill>
                  <a:srgbClr val="131D3F"/>
                </a:solidFill>
                <a:effectLst/>
                <a:latin typeface="Montserrat" panose="00000500000000000000" pitchFamily="2" charset="0"/>
              </a:rPr>
              <a:t>¿Cuál es el objetivo de mi decisión?</a:t>
            </a:r>
          </a:p>
          <a:p>
            <a:pPr algn="just" fontAlgn="auto"/>
            <a:r>
              <a:rPr lang="es-ES" sz="1400" b="0" i="0" dirty="0">
                <a:solidFill>
                  <a:srgbClr val="131D3F"/>
                </a:solidFill>
                <a:effectLst/>
                <a:latin typeface="Montserrat" panose="00000500000000000000" pitchFamily="2" charset="0"/>
              </a:rPr>
              <a:t>¿Cómo mido el éxito?</a:t>
            </a:r>
          </a:p>
        </p:txBody>
      </p:sp>
      <p:sp>
        <p:nvSpPr>
          <p:cNvPr id="16" name="CuadroTexto 15">
            <a:extLst>
              <a:ext uri="{FF2B5EF4-FFF2-40B4-BE49-F238E27FC236}">
                <a16:creationId xmlns:a16="http://schemas.microsoft.com/office/drawing/2014/main" id="{D446F675-B5BD-4227-8B62-BE79C66C9577}"/>
              </a:ext>
            </a:extLst>
          </p:cNvPr>
          <p:cNvSpPr txBox="1"/>
          <p:nvPr/>
        </p:nvSpPr>
        <p:spPr>
          <a:xfrm>
            <a:off x="2094175" y="3600000"/>
            <a:ext cx="1332000" cy="1384995"/>
          </a:xfrm>
          <a:prstGeom prst="rect">
            <a:avLst/>
          </a:prstGeom>
          <a:noFill/>
        </p:spPr>
        <p:txBody>
          <a:bodyPr wrap="square" lIns="36000" rIns="36000">
            <a:spAutoFit/>
          </a:bodyPr>
          <a:lstStyle/>
          <a:p>
            <a:pPr algn="just" fontAlgn="auto"/>
            <a:r>
              <a:rPr lang="es-ES" sz="1400" b="0" i="0" dirty="0">
                <a:solidFill>
                  <a:srgbClr val="131D3F"/>
                </a:solidFill>
                <a:effectLst/>
                <a:latin typeface="Montserrat" panose="00000500000000000000" pitchFamily="2" charset="0"/>
              </a:rPr>
              <a:t>Información histórica</a:t>
            </a:r>
          </a:p>
          <a:p>
            <a:pPr algn="just" fontAlgn="auto"/>
            <a:r>
              <a:rPr lang="es-ES" sz="1400" dirty="0">
                <a:solidFill>
                  <a:srgbClr val="131D3F"/>
                </a:solidFill>
                <a:latin typeface="Montserrat" panose="00000500000000000000" pitchFamily="2" charset="0"/>
              </a:rPr>
              <a:t>Datos relevantes</a:t>
            </a:r>
          </a:p>
          <a:p>
            <a:pPr algn="just" fontAlgn="auto"/>
            <a:r>
              <a:rPr lang="es-ES" sz="1400" b="0" i="0" dirty="0">
                <a:solidFill>
                  <a:srgbClr val="131D3F"/>
                </a:solidFill>
                <a:effectLst/>
                <a:latin typeface="Montserrat" panose="00000500000000000000" pitchFamily="2" charset="0"/>
              </a:rPr>
              <a:t>Estudio del contexto.</a:t>
            </a:r>
          </a:p>
        </p:txBody>
      </p:sp>
      <p:sp>
        <p:nvSpPr>
          <p:cNvPr id="17" name="CuadroTexto 16">
            <a:extLst>
              <a:ext uri="{FF2B5EF4-FFF2-40B4-BE49-F238E27FC236}">
                <a16:creationId xmlns:a16="http://schemas.microsoft.com/office/drawing/2014/main" id="{352637F5-C4C0-4FE2-BB40-AC710681AEA0}"/>
              </a:ext>
            </a:extLst>
          </p:cNvPr>
          <p:cNvSpPr txBox="1"/>
          <p:nvPr/>
        </p:nvSpPr>
        <p:spPr>
          <a:xfrm>
            <a:off x="3756194" y="3960000"/>
            <a:ext cx="1332000" cy="1169551"/>
          </a:xfrm>
          <a:prstGeom prst="rect">
            <a:avLst/>
          </a:prstGeom>
          <a:noFill/>
        </p:spPr>
        <p:txBody>
          <a:bodyPr wrap="square" lIns="36000" rIns="36000">
            <a:spAutoFit/>
          </a:bodyPr>
          <a:lstStyle/>
          <a:p>
            <a:pPr algn="just" fontAlgn="auto"/>
            <a:r>
              <a:rPr lang="es-ES" sz="1400" b="0" i="0" dirty="0">
                <a:solidFill>
                  <a:srgbClr val="131D3F"/>
                </a:solidFill>
                <a:effectLst/>
                <a:latin typeface="Montserrat" panose="00000500000000000000" pitchFamily="2" charset="0"/>
              </a:rPr>
              <a:t>Desarrollar opciones de </a:t>
            </a:r>
            <a:r>
              <a:rPr lang="es-ES" sz="1400" dirty="0">
                <a:solidFill>
                  <a:srgbClr val="131D3F"/>
                </a:solidFill>
                <a:latin typeface="Montserrat" panose="00000500000000000000" pitchFamily="2" charset="0"/>
              </a:rPr>
              <a:t>aten</a:t>
            </a:r>
            <a:r>
              <a:rPr lang="es-ES" sz="1400" b="0" i="0" dirty="0">
                <a:solidFill>
                  <a:srgbClr val="131D3F"/>
                </a:solidFill>
                <a:effectLst/>
                <a:latin typeface="Montserrat" panose="00000500000000000000" pitchFamily="2" charset="0"/>
              </a:rPr>
              <a:t>ción</a:t>
            </a:r>
            <a:r>
              <a:rPr lang="es-ES" sz="1400" dirty="0">
                <a:solidFill>
                  <a:srgbClr val="131D3F"/>
                </a:solidFill>
                <a:latin typeface="Montserrat" panose="00000500000000000000" pitchFamily="2" charset="0"/>
              </a:rPr>
              <a:t> al problema u oportunidad.</a:t>
            </a:r>
            <a:endParaRPr lang="es-ES" sz="1400" b="0" i="0" dirty="0">
              <a:solidFill>
                <a:srgbClr val="131D3F"/>
              </a:solidFill>
              <a:effectLst/>
              <a:latin typeface="Montserrat" panose="00000500000000000000" pitchFamily="2" charset="0"/>
            </a:endParaRPr>
          </a:p>
        </p:txBody>
      </p:sp>
      <p:sp>
        <p:nvSpPr>
          <p:cNvPr id="21" name="CuadroTexto 20">
            <a:extLst>
              <a:ext uri="{FF2B5EF4-FFF2-40B4-BE49-F238E27FC236}">
                <a16:creationId xmlns:a16="http://schemas.microsoft.com/office/drawing/2014/main" id="{C2EEDE47-90B4-4026-818B-03CEED2892DE}"/>
              </a:ext>
            </a:extLst>
          </p:cNvPr>
          <p:cNvSpPr txBox="1"/>
          <p:nvPr/>
        </p:nvSpPr>
        <p:spPr>
          <a:xfrm>
            <a:off x="5429999" y="4320000"/>
            <a:ext cx="1332000" cy="1384995"/>
          </a:xfrm>
          <a:prstGeom prst="rect">
            <a:avLst/>
          </a:prstGeom>
          <a:noFill/>
        </p:spPr>
        <p:txBody>
          <a:bodyPr wrap="square" lIns="36000" rIns="36000">
            <a:spAutoFit/>
          </a:bodyPr>
          <a:lstStyle/>
          <a:p>
            <a:pPr algn="just" fontAlgn="auto"/>
            <a:r>
              <a:rPr lang="es-ES" sz="1400" b="0" i="0" dirty="0">
                <a:solidFill>
                  <a:srgbClr val="131D3F"/>
                </a:solidFill>
                <a:effectLst/>
                <a:latin typeface="Montserrat" panose="00000500000000000000" pitchFamily="2" charset="0"/>
              </a:rPr>
              <a:t>Lista de ventajas y desventajas</a:t>
            </a:r>
          </a:p>
          <a:p>
            <a:pPr algn="just" fontAlgn="auto"/>
            <a:r>
              <a:rPr lang="es-ES" sz="1400" u="sng" dirty="0">
                <a:solidFill>
                  <a:srgbClr val="131D3F"/>
                </a:solidFill>
                <a:effectLst>
                  <a:outerShdw blurRad="38100" dist="38100" dir="2700000" algn="tl">
                    <a:srgbClr val="000000">
                      <a:alpha val="43137"/>
                    </a:srgbClr>
                  </a:outerShdw>
                </a:effectLst>
                <a:latin typeface="Montserrat" panose="00000500000000000000" pitchFamily="2" charset="0"/>
              </a:rPr>
              <a:t>Análisis FODA</a:t>
            </a:r>
          </a:p>
          <a:p>
            <a:pPr algn="just" fontAlgn="auto"/>
            <a:r>
              <a:rPr lang="es-ES" sz="1400" b="0" i="0" dirty="0">
                <a:solidFill>
                  <a:srgbClr val="131D3F"/>
                </a:solidFill>
                <a:effectLst/>
                <a:latin typeface="Montserrat" panose="00000500000000000000" pitchFamily="2" charset="0"/>
              </a:rPr>
              <a:t>Matriz de decisión.</a:t>
            </a:r>
          </a:p>
        </p:txBody>
      </p:sp>
      <p:sp>
        <p:nvSpPr>
          <p:cNvPr id="22" name="CuadroTexto 21">
            <a:extLst>
              <a:ext uri="{FF2B5EF4-FFF2-40B4-BE49-F238E27FC236}">
                <a16:creationId xmlns:a16="http://schemas.microsoft.com/office/drawing/2014/main" id="{B8DA0C3C-AC28-4F38-8F81-BE9B97A57CB5}"/>
              </a:ext>
            </a:extLst>
          </p:cNvPr>
          <p:cNvSpPr txBox="1"/>
          <p:nvPr/>
        </p:nvSpPr>
        <p:spPr>
          <a:xfrm>
            <a:off x="7100158" y="4680000"/>
            <a:ext cx="1332000" cy="1169551"/>
          </a:xfrm>
          <a:prstGeom prst="rect">
            <a:avLst/>
          </a:prstGeom>
          <a:noFill/>
        </p:spPr>
        <p:txBody>
          <a:bodyPr wrap="square" lIns="36000" rIns="36000">
            <a:spAutoFit/>
          </a:bodyPr>
          <a:lstStyle/>
          <a:p>
            <a:pPr algn="just" fontAlgn="auto"/>
            <a:r>
              <a:rPr lang="es-ES" sz="1400" b="0" i="0" dirty="0">
                <a:solidFill>
                  <a:srgbClr val="131D3F"/>
                </a:solidFill>
                <a:effectLst/>
                <a:latin typeface="Montserrat" panose="00000500000000000000" pitchFamily="2" charset="0"/>
              </a:rPr>
              <a:t>Elegir la alternativa que mejor se alinee con los objetivos. </a:t>
            </a:r>
          </a:p>
        </p:txBody>
      </p:sp>
      <p:sp>
        <p:nvSpPr>
          <p:cNvPr id="24" name="CuadroTexto 23">
            <a:extLst>
              <a:ext uri="{FF2B5EF4-FFF2-40B4-BE49-F238E27FC236}">
                <a16:creationId xmlns:a16="http://schemas.microsoft.com/office/drawing/2014/main" id="{CDE641C4-C7E6-4EF0-92CC-F5C1DC49CA3B}"/>
              </a:ext>
            </a:extLst>
          </p:cNvPr>
          <p:cNvSpPr txBox="1"/>
          <p:nvPr/>
        </p:nvSpPr>
        <p:spPr>
          <a:xfrm>
            <a:off x="8770967" y="5040000"/>
            <a:ext cx="1332000" cy="523220"/>
          </a:xfrm>
          <a:prstGeom prst="rect">
            <a:avLst/>
          </a:prstGeom>
          <a:noFill/>
        </p:spPr>
        <p:txBody>
          <a:bodyPr wrap="square" lIns="36000" rIns="36000">
            <a:spAutoFit/>
          </a:bodyPr>
          <a:lstStyle/>
          <a:p>
            <a:pPr algn="just" fontAlgn="auto"/>
            <a:r>
              <a:rPr lang="es-ES" sz="1400" b="1" i="0" dirty="0">
                <a:solidFill>
                  <a:srgbClr val="131D3F"/>
                </a:solidFill>
                <a:effectLst/>
                <a:latin typeface="Montserrat" panose="00000500000000000000" pitchFamily="2" charset="0"/>
              </a:rPr>
              <a:t>Ejecutar la decisión.</a:t>
            </a:r>
          </a:p>
        </p:txBody>
      </p:sp>
      <p:sp>
        <p:nvSpPr>
          <p:cNvPr id="25" name="CuadroTexto 24">
            <a:extLst>
              <a:ext uri="{FF2B5EF4-FFF2-40B4-BE49-F238E27FC236}">
                <a16:creationId xmlns:a16="http://schemas.microsoft.com/office/drawing/2014/main" id="{85807046-7FAF-48DA-999B-DA39740191FB}"/>
              </a:ext>
            </a:extLst>
          </p:cNvPr>
          <p:cNvSpPr txBox="1"/>
          <p:nvPr/>
        </p:nvSpPr>
        <p:spPr>
          <a:xfrm>
            <a:off x="10435472" y="5400000"/>
            <a:ext cx="1332000" cy="954107"/>
          </a:xfrm>
          <a:prstGeom prst="rect">
            <a:avLst/>
          </a:prstGeom>
          <a:noFill/>
        </p:spPr>
        <p:txBody>
          <a:bodyPr wrap="square" lIns="36000" rIns="36000">
            <a:spAutoFit/>
          </a:bodyPr>
          <a:lstStyle/>
          <a:p>
            <a:pPr algn="just" fontAlgn="auto"/>
            <a:r>
              <a:rPr lang="es-ES" sz="1400" i="0" dirty="0">
                <a:solidFill>
                  <a:srgbClr val="131D3F"/>
                </a:solidFill>
                <a:effectLst/>
                <a:latin typeface="Montserrat" panose="00000500000000000000" pitchFamily="2" charset="0"/>
              </a:rPr>
              <a:t>Seguimiento a resultados., </a:t>
            </a:r>
            <a:r>
              <a:rPr lang="es-ES" sz="1400" b="1" i="0" dirty="0">
                <a:solidFill>
                  <a:srgbClr val="131D3F"/>
                </a:solidFill>
                <a:effectLst/>
                <a:latin typeface="Montserrat" panose="00000500000000000000" pitchFamily="2" charset="0"/>
              </a:rPr>
              <a:t>(calibrar y/o corregir).</a:t>
            </a:r>
          </a:p>
        </p:txBody>
      </p:sp>
      <p:sp>
        <p:nvSpPr>
          <p:cNvPr id="5" name="Elipse 4">
            <a:hlinkClick r:id="rId10" action="ppaction://hlinksldjump"/>
            <a:extLst>
              <a:ext uri="{FF2B5EF4-FFF2-40B4-BE49-F238E27FC236}">
                <a16:creationId xmlns:a16="http://schemas.microsoft.com/office/drawing/2014/main" id="{BFB6B168-86B2-46CC-B380-8FF612FA4846}"/>
              </a:ext>
            </a:extLst>
          </p:cNvPr>
          <p:cNvSpPr/>
          <p:nvPr/>
        </p:nvSpPr>
        <p:spPr>
          <a:xfrm>
            <a:off x="11252676" y="995786"/>
            <a:ext cx="684000" cy="684000"/>
          </a:xfrm>
          <a:prstGeom prst="ellipse">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s-ES" b="1" dirty="0">
                <a:solidFill>
                  <a:schemeClr val="bg1"/>
                </a:solidFill>
                <a:hlinkClick r:id="rId10" action="ppaction://hlinksldjump">
                  <a:extLst>
                    <a:ext uri="{A12FA001-AC4F-418D-AE19-62706E023703}">
                      <ahyp:hlinkClr xmlns:ahyp="http://schemas.microsoft.com/office/drawing/2018/hyperlinkcolor" val="tx"/>
                    </a:ext>
                  </a:extLst>
                </a:hlinkClick>
              </a:rPr>
              <a:t>FODA</a:t>
            </a:r>
            <a:endParaRPr lang="es-MX" b="1" dirty="0">
              <a:solidFill>
                <a:schemeClr val="bg1"/>
              </a:solidFill>
            </a:endParaRPr>
          </a:p>
        </p:txBody>
      </p:sp>
      <p:sp>
        <p:nvSpPr>
          <p:cNvPr id="27" name="CuadroTexto 26">
            <a:extLst>
              <a:ext uri="{FF2B5EF4-FFF2-40B4-BE49-F238E27FC236}">
                <a16:creationId xmlns:a16="http://schemas.microsoft.com/office/drawing/2014/main" id="{E19DF910-C836-46C6-889E-0F0AB5EDA95E}"/>
              </a:ext>
            </a:extLst>
          </p:cNvPr>
          <p:cNvSpPr txBox="1"/>
          <p:nvPr/>
        </p:nvSpPr>
        <p:spPr>
          <a:xfrm>
            <a:off x="255323" y="5908065"/>
            <a:ext cx="9491172" cy="584775"/>
          </a:xfrm>
          <a:prstGeom prst="rect">
            <a:avLst/>
          </a:prstGeom>
          <a:noFill/>
        </p:spPr>
        <p:txBody>
          <a:bodyPr wrap="square">
            <a:spAutoFit/>
          </a:bodyPr>
          <a:lstStyle/>
          <a:p>
            <a:pPr algn="just"/>
            <a:r>
              <a:rPr lang="es-ES" sz="1600" dirty="0">
                <a:solidFill>
                  <a:srgbClr val="131D3F"/>
                </a:solidFill>
                <a:latin typeface="Montserrat" panose="00000500000000000000" pitchFamily="2" charset="0"/>
              </a:rPr>
              <a:t>Asegurar que las </a:t>
            </a:r>
            <a:r>
              <a:rPr lang="es-ES" sz="1600" b="1" dirty="0">
                <a:solidFill>
                  <a:srgbClr val="131D3F"/>
                </a:solidFill>
                <a:latin typeface="Montserrat" panose="00000500000000000000" pitchFamily="2" charset="0"/>
              </a:rPr>
              <a:t>decisiones sean bien fundamentadas</a:t>
            </a:r>
            <a:r>
              <a:rPr lang="es-ES" sz="1600" dirty="0">
                <a:solidFill>
                  <a:srgbClr val="131D3F"/>
                </a:solidFill>
                <a:latin typeface="Montserrat" panose="00000500000000000000" pitchFamily="2" charset="0"/>
              </a:rPr>
              <a:t>, </a:t>
            </a:r>
            <a:r>
              <a:rPr lang="es-ES" sz="1600" b="1" dirty="0">
                <a:solidFill>
                  <a:srgbClr val="131D3F"/>
                </a:solidFill>
                <a:latin typeface="Montserrat" panose="00000500000000000000" pitchFamily="2" charset="0"/>
              </a:rPr>
              <a:t>considerando todas las variables relevantes y alineadas con los objetivos organizacionales</a:t>
            </a:r>
            <a:r>
              <a:rPr lang="es-ES" sz="1600" dirty="0">
                <a:solidFill>
                  <a:srgbClr val="131D3F"/>
                </a:solidFill>
                <a:latin typeface="Montserrat" panose="00000500000000000000" pitchFamily="2" charset="0"/>
              </a:rPr>
              <a:t>.</a:t>
            </a:r>
            <a:endParaRPr lang="es-MX" sz="16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156699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1.6 Valuación</a:t>
            </a:r>
            <a:endParaRPr lang="es-MX" sz="3600" b="1" dirty="0">
              <a:solidFill>
                <a:srgbClr val="131D3F"/>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20577" y="1011574"/>
            <a:ext cx="10550845" cy="240773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Proceso mediante el cual se </a:t>
            </a:r>
            <a:r>
              <a:rPr lang="es-ES" sz="2200" b="1" dirty="0">
                <a:solidFill>
                  <a:srgbClr val="131D3F"/>
                </a:solidFill>
                <a:latin typeface="Montserrat" panose="00000500000000000000" pitchFamily="2" charset="0"/>
              </a:rPr>
              <a:t>determina el valor actual o estimado </a:t>
            </a:r>
            <a:r>
              <a:rPr lang="es-ES" sz="2200" dirty="0">
                <a:solidFill>
                  <a:srgbClr val="131D3F"/>
                </a:solidFill>
                <a:latin typeface="Montserrat" panose="00000500000000000000" pitchFamily="2" charset="0"/>
              </a:rPr>
              <a:t>de un activo, empresa, proyecto, o cualquier otro objeto de interés financiero. Es </a:t>
            </a:r>
            <a:r>
              <a:rPr lang="es-ES" sz="2200" b="1" dirty="0">
                <a:solidFill>
                  <a:srgbClr val="131D3F"/>
                </a:solidFill>
                <a:latin typeface="Montserrat" panose="00000500000000000000" pitchFamily="2" charset="0"/>
              </a:rPr>
              <a:t>fundamental para la toma de decisiones </a:t>
            </a:r>
            <a:r>
              <a:rPr lang="es-ES" sz="2200" dirty="0">
                <a:solidFill>
                  <a:srgbClr val="131D3F"/>
                </a:solidFill>
                <a:latin typeface="Montserrat" panose="00000500000000000000" pitchFamily="2" charset="0"/>
              </a:rPr>
              <a:t>empresariales y financieras, incluyendo adquisiciones, inversiones, financiamiento, y ventas. La valuación puede ser tanto </a:t>
            </a:r>
            <a:r>
              <a:rPr lang="es-ES" sz="2200" u="sng" dirty="0">
                <a:solidFill>
                  <a:srgbClr val="131D3F"/>
                </a:solidFill>
                <a:effectLst>
                  <a:outerShdw blurRad="38100" dist="38100" dir="2700000" algn="tl">
                    <a:srgbClr val="000000">
                      <a:alpha val="43137"/>
                    </a:srgbClr>
                  </a:outerShdw>
                </a:effectLst>
                <a:latin typeface="Montserrat" panose="00000500000000000000" pitchFamily="2" charset="0"/>
              </a:rPr>
              <a:t>objetiva</a:t>
            </a:r>
            <a:r>
              <a:rPr lang="es-ES" sz="2200" dirty="0">
                <a:solidFill>
                  <a:srgbClr val="131D3F"/>
                </a:solidFill>
                <a:latin typeface="Montserrat" panose="00000500000000000000" pitchFamily="2" charset="0"/>
              </a:rPr>
              <a:t>, basada en datos y métodos cuantitativos, como </a:t>
            </a:r>
            <a:r>
              <a:rPr lang="es-ES" sz="2200" u="sng" dirty="0">
                <a:solidFill>
                  <a:srgbClr val="131D3F"/>
                </a:solidFill>
                <a:effectLst>
                  <a:outerShdw blurRad="38100" dist="38100" dir="2700000" algn="tl">
                    <a:srgbClr val="000000">
                      <a:alpha val="43137"/>
                    </a:srgbClr>
                  </a:outerShdw>
                </a:effectLst>
                <a:latin typeface="Montserrat" panose="00000500000000000000" pitchFamily="2" charset="0"/>
              </a:rPr>
              <a:t>subjetiva</a:t>
            </a:r>
            <a:r>
              <a:rPr lang="es-ES" sz="2200" dirty="0">
                <a:solidFill>
                  <a:srgbClr val="131D3F"/>
                </a:solidFill>
                <a:latin typeface="Montserrat" panose="00000500000000000000" pitchFamily="2" charset="0"/>
              </a:rPr>
              <a:t>, considerando factores cualitativos y escenarios futuros.</a:t>
            </a:r>
          </a:p>
        </p:txBody>
      </p:sp>
      <p:graphicFrame>
        <p:nvGraphicFramePr>
          <p:cNvPr id="18" name="Diagrama 17">
            <a:extLst>
              <a:ext uri="{FF2B5EF4-FFF2-40B4-BE49-F238E27FC236}">
                <a16:creationId xmlns:a16="http://schemas.microsoft.com/office/drawing/2014/main" id="{7699CDD0-E5CA-4134-8ABE-4A0304FF5466}"/>
              </a:ext>
            </a:extLst>
          </p:cNvPr>
          <p:cNvGraphicFramePr/>
          <p:nvPr>
            <p:extLst>
              <p:ext uri="{D42A27DB-BD31-4B8C-83A1-F6EECF244321}">
                <p14:modId xmlns:p14="http://schemas.microsoft.com/office/powerpoint/2010/main" val="3956128130"/>
              </p:ext>
            </p:extLst>
          </p:nvPr>
        </p:nvGraphicFramePr>
        <p:xfrm>
          <a:off x="817880" y="4120353"/>
          <a:ext cx="10550844" cy="22876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9" name="Título 3">
            <a:extLst>
              <a:ext uri="{FF2B5EF4-FFF2-40B4-BE49-F238E27FC236}">
                <a16:creationId xmlns:a16="http://schemas.microsoft.com/office/drawing/2014/main" id="{4C2D6CF4-3533-459D-9BA8-D7F5C2196640}"/>
              </a:ext>
            </a:extLst>
          </p:cNvPr>
          <p:cNvSpPr txBox="1">
            <a:spLocks/>
          </p:cNvSpPr>
          <p:nvPr/>
        </p:nvSpPr>
        <p:spPr>
          <a:xfrm>
            <a:off x="817880" y="3312365"/>
            <a:ext cx="9617592" cy="8235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SemiBold" panose="00000700000000000000" pitchFamily="2" charset="0"/>
              </a:rPr>
              <a:t>Tipos de valuación</a:t>
            </a:r>
            <a:endParaRPr lang="es-MX" sz="24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2960103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a:t>
            </a:fld>
            <a:endParaRPr lang="es-MX" sz="2400" b="1" dirty="0">
              <a:solidFill>
                <a:srgbClr val="BA955B"/>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134125"/>
            <a:ext cx="10550845" cy="166471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El valor presente (VP) determina el </a:t>
            </a:r>
            <a:r>
              <a:rPr lang="es-ES" sz="2200" b="1" dirty="0">
                <a:solidFill>
                  <a:srgbClr val="131D3F"/>
                </a:solidFill>
                <a:latin typeface="Montserrat" panose="00000500000000000000" pitchFamily="2" charset="0"/>
              </a:rPr>
              <a:t>valor actual del dinero</a:t>
            </a:r>
            <a:r>
              <a:rPr lang="es-ES" sz="2200" dirty="0">
                <a:solidFill>
                  <a:srgbClr val="131D3F"/>
                </a:solidFill>
                <a:latin typeface="Montserrat" panose="00000500000000000000" pitchFamily="2" charset="0"/>
              </a:rPr>
              <a:t> o flujo de efectivo que se recibirá o pagará </a:t>
            </a:r>
            <a:r>
              <a:rPr lang="es-ES" sz="2200" b="1" dirty="0">
                <a:solidFill>
                  <a:srgbClr val="131D3F"/>
                </a:solidFill>
                <a:latin typeface="Montserrat" panose="00000500000000000000" pitchFamily="2" charset="0"/>
              </a:rPr>
              <a:t>en el futuro</a:t>
            </a:r>
            <a:r>
              <a:rPr lang="es-ES" sz="2200" dirty="0">
                <a:solidFill>
                  <a:srgbClr val="131D3F"/>
                </a:solidFill>
                <a:latin typeface="Montserrat" panose="00000500000000000000" pitchFamily="2" charset="0"/>
              </a:rPr>
              <a:t>, descontando los flujos futuros a una </a:t>
            </a:r>
            <a:r>
              <a:rPr lang="es-ES" sz="2200" u="sng" dirty="0">
                <a:solidFill>
                  <a:srgbClr val="131D3F"/>
                </a:solidFill>
                <a:latin typeface="Montserrat" panose="00000500000000000000" pitchFamily="2" charset="0"/>
              </a:rPr>
              <a:t>tasa de interés o tasa de descuento </a:t>
            </a:r>
            <a:r>
              <a:rPr lang="es-ES" sz="2200" dirty="0">
                <a:solidFill>
                  <a:srgbClr val="131D3F"/>
                </a:solidFill>
                <a:latin typeface="Montserrat" panose="00000500000000000000" pitchFamily="2" charset="0"/>
              </a:rPr>
              <a:t>específica. Complementa la valoración de inversiones, la </a:t>
            </a:r>
            <a:r>
              <a:rPr lang="es-ES" sz="2200" u="sng" dirty="0">
                <a:solidFill>
                  <a:srgbClr val="131D3F"/>
                </a:solidFill>
                <a:latin typeface="Montserrat" panose="00000500000000000000" pitchFamily="2" charset="0"/>
              </a:rPr>
              <a:t>evaluación de proyectos</a:t>
            </a:r>
            <a:r>
              <a:rPr lang="es-ES" sz="2200" dirty="0">
                <a:solidFill>
                  <a:srgbClr val="131D3F"/>
                </a:solidFill>
                <a:latin typeface="Montserrat" panose="00000500000000000000" pitchFamily="2" charset="0"/>
              </a:rPr>
              <a:t> y en la toma de decisiones financieras.</a:t>
            </a:r>
          </a:p>
        </p:txBody>
      </p:sp>
      <p:sp>
        <p:nvSpPr>
          <p:cNvPr id="29" name="Título 3">
            <a:extLst>
              <a:ext uri="{FF2B5EF4-FFF2-40B4-BE49-F238E27FC236}">
                <a16:creationId xmlns:a16="http://schemas.microsoft.com/office/drawing/2014/main" id="{4C2D6CF4-3533-459D-9BA8-D7F5C2196640}"/>
              </a:ext>
            </a:extLst>
          </p:cNvPr>
          <p:cNvSpPr txBox="1">
            <a:spLocks/>
          </p:cNvSpPr>
          <p:nvPr/>
        </p:nvSpPr>
        <p:spPr>
          <a:xfrm>
            <a:off x="817880" y="2980255"/>
            <a:ext cx="9617592" cy="34863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panose="00000500000000000000" pitchFamily="2" charset="0"/>
              </a:rPr>
              <a:t>Fórmulas</a:t>
            </a:r>
            <a:endParaRPr lang="es-MX" sz="24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54E2905-A00B-4524-9C54-D8D50B79671B}"/>
                  </a:ext>
                </a:extLst>
              </p:cNvPr>
              <p:cNvSpPr txBox="1"/>
              <p:nvPr/>
            </p:nvSpPr>
            <p:spPr>
              <a:xfrm>
                <a:off x="2574090" y="4021693"/>
                <a:ext cx="1641603" cy="630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𝐹𝑉</m:t>
                          </m:r>
                        </m:num>
                        <m:den>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𝑛</m:t>
                              </m:r>
                            </m:sup>
                          </m:sSup>
                        </m:den>
                      </m:f>
                    </m:oMath>
                  </m:oMathPara>
                </a14:m>
                <a:endParaRPr lang="es-MX" sz="2000" dirty="0">
                  <a:solidFill>
                    <a:srgbClr val="00B050"/>
                  </a:solidFill>
                </a:endParaRPr>
              </a:p>
            </p:txBody>
          </p:sp>
        </mc:Choice>
        <mc:Fallback xmlns="">
          <p:sp>
            <p:nvSpPr>
              <p:cNvPr id="2" name="CuadroTexto 1">
                <a:extLst>
                  <a:ext uri="{FF2B5EF4-FFF2-40B4-BE49-F238E27FC236}">
                    <a16:creationId xmlns:a16="http://schemas.microsoft.com/office/drawing/2014/main" id="{054E2905-A00B-4524-9C54-D8D50B79671B}"/>
                  </a:ext>
                </a:extLst>
              </p:cNvPr>
              <p:cNvSpPr txBox="1">
                <a:spLocks noRot="1" noChangeAspect="1" noMove="1" noResize="1" noEditPoints="1" noAdjustHandles="1" noChangeArrowheads="1" noChangeShapeType="1" noTextEdit="1"/>
              </p:cNvSpPr>
              <p:nvPr/>
            </p:nvSpPr>
            <p:spPr>
              <a:xfrm>
                <a:off x="2574090" y="4021693"/>
                <a:ext cx="1641603" cy="630814"/>
              </a:xfrm>
              <a:prstGeom prst="rect">
                <a:avLst/>
              </a:prstGeom>
              <a:blipFill>
                <a:blip r:embed="rId5"/>
                <a:stretch>
                  <a:fillRect/>
                </a:stretch>
              </a:blipFill>
            </p:spPr>
            <p:txBody>
              <a:bodyPr/>
              <a:lstStyle/>
              <a:p>
                <a:r>
                  <a:rPr lang="es-MX">
                    <a:noFill/>
                  </a:rPr>
                  <a:t> </a:t>
                </a:r>
              </a:p>
            </p:txBody>
          </p:sp>
        </mc:Fallback>
      </mc:AlternateContent>
      <p:sp>
        <p:nvSpPr>
          <p:cNvPr id="10" name="Google Shape;112;p3">
            <a:extLst>
              <a:ext uri="{FF2B5EF4-FFF2-40B4-BE49-F238E27FC236}">
                <a16:creationId xmlns:a16="http://schemas.microsoft.com/office/drawing/2014/main" id="{28B6C677-8CA7-41A2-BA2E-8A765E7C977E}"/>
              </a:ext>
            </a:extLst>
          </p:cNvPr>
          <p:cNvSpPr txBox="1"/>
          <p:nvPr/>
        </p:nvSpPr>
        <p:spPr>
          <a:xfrm>
            <a:off x="6477534" y="3429000"/>
            <a:ext cx="4619880" cy="2344698"/>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Donde: </a:t>
            </a:r>
          </a:p>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Valor Presente</a:t>
            </a:r>
          </a:p>
          <a:p>
            <a:pPr algn="just">
              <a:spcAft>
                <a:spcPts val="600"/>
              </a:spcAft>
            </a:pPr>
            <a:r>
              <a:rPr lang="es-ES" b="1" dirty="0">
                <a:solidFill>
                  <a:srgbClr val="131D3F"/>
                </a:solidFill>
                <a:latin typeface="Montserrat" panose="00000500000000000000" pitchFamily="2" charset="0"/>
              </a:rPr>
              <a:t>PMT =</a:t>
            </a:r>
            <a:r>
              <a:rPr lang="es-ES" dirty="0">
                <a:solidFill>
                  <a:srgbClr val="131D3F"/>
                </a:solidFill>
                <a:latin typeface="Montserrat" panose="00000500000000000000" pitchFamily="2" charset="0"/>
              </a:rPr>
              <a:t> Pago periódico</a:t>
            </a:r>
          </a:p>
          <a:p>
            <a:pPr algn="just">
              <a:spcAft>
                <a:spcPts val="600"/>
              </a:spcAft>
            </a:pPr>
            <a:r>
              <a:rPr lang="es-ES" b="1" dirty="0">
                <a:solidFill>
                  <a:srgbClr val="131D3F"/>
                </a:solidFill>
                <a:latin typeface="Montserrat" panose="00000500000000000000" pitchFamily="2" charset="0"/>
              </a:rPr>
              <a:t>FV = </a:t>
            </a:r>
            <a:r>
              <a:rPr lang="es-ES" dirty="0">
                <a:solidFill>
                  <a:srgbClr val="131D3F"/>
                </a:solidFill>
                <a:latin typeface="Montserrat" panose="00000500000000000000" pitchFamily="2" charset="0"/>
              </a:rPr>
              <a:t>Valor Futuro</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Tasa de descuento (Tasa de interés)</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Número de Períodos</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570F308-5B0A-4DBC-9A1B-429743FD897E}"/>
                  </a:ext>
                </a:extLst>
              </p:cNvPr>
              <p:cNvSpPr txBox="1"/>
              <p:nvPr/>
            </p:nvSpPr>
            <p:spPr>
              <a:xfrm>
                <a:off x="2574090" y="5346418"/>
                <a:ext cx="3004412" cy="5905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𝑃𝑀𝑇</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𝑥</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𝑛</m:t>
                              </m:r>
                            </m:sup>
                          </m:sSup>
                        </m:num>
                        <m:den>
                          <m:r>
                            <a:rPr lang="es-ES" sz="2000" b="0" i="1" smtClean="0">
                              <a:solidFill>
                                <a:srgbClr val="00B050"/>
                              </a:solidFill>
                              <a:latin typeface="Cambria Math" panose="02040503050406030204" pitchFamily="18" charset="0"/>
                            </a:rPr>
                            <m:t>𝑟</m:t>
                          </m:r>
                        </m:den>
                      </m:f>
                    </m:oMath>
                  </m:oMathPara>
                </a14:m>
                <a:endParaRPr lang="es-MX" sz="2000" dirty="0">
                  <a:solidFill>
                    <a:srgbClr val="00B050"/>
                  </a:solidFill>
                </a:endParaRPr>
              </a:p>
            </p:txBody>
          </p:sp>
        </mc:Choice>
        <mc:Fallback xmlns="">
          <p:sp>
            <p:nvSpPr>
              <p:cNvPr id="11" name="CuadroTexto 10">
                <a:extLst>
                  <a:ext uri="{FF2B5EF4-FFF2-40B4-BE49-F238E27FC236}">
                    <a16:creationId xmlns:a16="http://schemas.microsoft.com/office/drawing/2014/main" id="{3570F308-5B0A-4DBC-9A1B-429743FD897E}"/>
                  </a:ext>
                </a:extLst>
              </p:cNvPr>
              <p:cNvSpPr txBox="1">
                <a:spLocks noRot="1" noChangeAspect="1" noMove="1" noResize="1" noEditPoints="1" noAdjustHandles="1" noChangeArrowheads="1" noChangeShapeType="1" noTextEdit="1"/>
              </p:cNvSpPr>
              <p:nvPr/>
            </p:nvSpPr>
            <p:spPr>
              <a:xfrm>
                <a:off x="2574090" y="5346418"/>
                <a:ext cx="3004412" cy="590546"/>
              </a:xfrm>
              <a:prstGeom prst="rect">
                <a:avLst/>
              </a:prstGeom>
              <a:blipFill>
                <a:blip r:embed="rId6"/>
                <a:stretch>
                  <a:fillRect/>
                </a:stretch>
              </a:blipFill>
            </p:spPr>
            <p:txBody>
              <a:bodyPr/>
              <a:lstStyle/>
              <a:p>
                <a:r>
                  <a:rPr lang="es-MX">
                    <a:noFill/>
                  </a:rPr>
                  <a:t> </a:t>
                </a:r>
              </a:p>
            </p:txBody>
          </p:sp>
        </mc:Fallback>
      </mc:AlternateContent>
      <p:sp>
        <p:nvSpPr>
          <p:cNvPr id="14" name="Título 3">
            <a:extLst>
              <a:ext uri="{FF2B5EF4-FFF2-40B4-BE49-F238E27FC236}">
                <a16:creationId xmlns:a16="http://schemas.microsoft.com/office/drawing/2014/main" id="{AB0982B1-DFB5-4D67-A08D-71A49AF85921}"/>
              </a:ext>
            </a:extLst>
          </p:cNvPr>
          <p:cNvSpPr txBox="1">
            <a:spLocks/>
          </p:cNvSpPr>
          <p:nvPr/>
        </p:nvSpPr>
        <p:spPr>
          <a:xfrm>
            <a:off x="2149360" y="3533833"/>
            <a:ext cx="3293075" cy="3486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000" u="sng" dirty="0">
                <a:solidFill>
                  <a:srgbClr val="131D3F"/>
                </a:solidFill>
                <a:latin typeface="Montserrat" panose="00000500000000000000" pitchFamily="2" charset="0"/>
              </a:rPr>
              <a:t>VP Pago Único</a:t>
            </a:r>
            <a:endParaRPr lang="es-MX" sz="2000" u="sng" dirty="0">
              <a:solidFill>
                <a:srgbClr val="131D3F"/>
              </a:solidFill>
              <a:latin typeface="Montserrat" panose="00000500000000000000" pitchFamily="2" charset="0"/>
            </a:endParaRPr>
          </a:p>
        </p:txBody>
      </p:sp>
      <p:sp>
        <p:nvSpPr>
          <p:cNvPr id="15" name="Título 3">
            <a:extLst>
              <a:ext uri="{FF2B5EF4-FFF2-40B4-BE49-F238E27FC236}">
                <a16:creationId xmlns:a16="http://schemas.microsoft.com/office/drawing/2014/main" id="{2A9DF452-C595-4228-8D87-16C0FC603D5F}"/>
              </a:ext>
            </a:extLst>
          </p:cNvPr>
          <p:cNvSpPr txBox="1">
            <a:spLocks/>
          </p:cNvSpPr>
          <p:nvPr/>
        </p:nvSpPr>
        <p:spPr>
          <a:xfrm>
            <a:off x="2149360" y="4858558"/>
            <a:ext cx="3293075" cy="3486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000" u="sng" dirty="0">
                <a:solidFill>
                  <a:srgbClr val="131D3F"/>
                </a:solidFill>
                <a:latin typeface="Montserrat" panose="00000500000000000000" pitchFamily="2" charset="0"/>
              </a:rPr>
              <a:t>VP de Flujo de Efectivo</a:t>
            </a:r>
            <a:endParaRPr lang="es-MX" sz="2000" u="sng" dirty="0">
              <a:solidFill>
                <a:srgbClr val="131D3F"/>
              </a:solidFill>
              <a:latin typeface="Montserrat" panose="00000500000000000000" pitchFamily="2" charset="0"/>
            </a:endParaRPr>
          </a:p>
        </p:txBody>
      </p:sp>
      <p:sp>
        <p:nvSpPr>
          <p:cNvPr id="16" name="Título 3">
            <a:extLst>
              <a:ext uri="{FF2B5EF4-FFF2-40B4-BE49-F238E27FC236}">
                <a16:creationId xmlns:a16="http://schemas.microsoft.com/office/drawing/2014/main" id="{47ECB2BA-7973-4D98-84E2-62965410D2F3}"/>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1.6.1 Valor Presente</a:t>
            </a:r>
            <a:endParaRPr lang="es-MX" sz="3600" b="1" dirty="0">
              <a:solidFill>
                <a:srgbClr val="131D3F"/>
              </a:solidFill>
              <a:latin typeface="Montserrat SemiBold" panose="00000700000000000000" pitchFamily="2" charset="0"/>
            </a:endParaRPr>
          </a:p>
        </p:txBody>
      </p:sp>
      <p:sp>
        <p:nvSpPr>
          <p:cNvPr id="17" name="Flecha: en U 16">
            <a:hlinkClick r:id="rId7" action="ppaction://hlinksldjump"/>
            <a:extLst>
              <a:ext uri="{FF2B5EF4-FFF2-40B4-BE49-F238E27FC236}">
                <a16:creationId xmlns:a16="http://schemas.microsoft.com/office/drawing/2014/main" id="{25E7DCFF-25F8-44F4-AFA9-9F91717F280C}"/>
              </a:ext>
            </a:extLst>
          </p:cNvPr>
          <p:cNvSpPr/>
          <p:nvPr/>
        </p:nvSpPr>
        <p:spPr>
          <a:xfrm rot="5400000">
            <a:off x="548134" y="5941129"/>
            <a:ext cx="668595" cy="754816"/>
          </a:xfrm>
          <a:prstGeom prst="uturnArrow">
            <a:avLst/>
          </a:prstGeom>
          <a:solidFill>
            <a:srgbClr val="2F3E46"/>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2694599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a:t>
            </a:fld>
            <a:endParaRPr lang="es-MX" sz="2400" b="1" dirty="0">
              <a:solidFill>
                <a:srgbClr val="BA955B"/>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134125"/>
            <a:ext cx="10550845" cy="69355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Supongamos que se espera recibir $10,000.00 dentro de 3 años, y la tasa de descuento es del 5%. (Pago único).</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54E2905-A00B-4524-9C54-D8D50B79671B}"/>
                  </a:ext>
                </a:extLst>
              </p:cNvPr>
              <p:cNvSpPr txBox="1"/>
              <p:nvPr/>
            </p:nvSpPr>
            <p:spPr>
              <a:xfrm>
                <a:off x="5845261" y="2006468"/>
                <a:ext cx="1979003" cy="651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$10,000.00</m:t>
                          </m:r>
                        </m:num>
                        <m:den>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1+0.05)</m:t>
                              </m:r>
                            </m:e>
                            <m:sup>
                              <m:r>
                                <a:rPr lang="es-ES" sz="2000" b="0" i="1" smtClean="0">
                                  <a:solidFill>
                                    <a:srgbClr val="00B050"/>
                                  </a:solidFill>
                                  <a:latin typeface="Cambria Math" panose="02040503050406030204" pitchFamily="18" charset="0"/>
                                </a:rPr>
                                <m:t>3</m:t>
                              </m:r>
                            </m:sup>
                          </m:sSup>
                        </m:den>
                      </m:f>
                    </m:oMath>
                  </m:oMathPara>
                </a14:m>
                <a:endParaRPr lang="es-MX" sz="2000" dirty="0">
                  <a:solidFill>
                    <a:srgbClr val="00B050"/>
                  </a:solidFill>
                </a:endParaRPr>
              </a:p>
            </p:txBody>
          </p:sp>
        </mc:Choice>
        <mc:Fallback xmlns="">
          <p:sp>
            <p:nvSpPr>
              <p:cNvPr id="2" name="CuadroTexto 1">
                <a:extLst>
                  <a:ext uri="{FF2B5EF4-FFF2-40B4-BE49-F238E27FC236}">
                    <a16:creationId xmlns:a16="http://schemas.microsoft.com/office/drawing/2014/main" id="{054E2905-A00B-4524-9C54-D8D50B79671B}"/>
                  </a:ext>
                </a:extLst>
              </p:cNvPr>
              <p:cNvSpPr txBox="1">
                <a:spLocks noRot="1" noChangeAspect="1" noMove="1" noResize="1" noEditPoints="1" noAdjustHandles="1" noChangeArrowheads="1" noChangeShapeType="1" noTextEdit="1"/>
              </p:cNvSpPr>
              <p:nvPr/>
            </p:nvSpPr>
            <p:spPr>
              <a:xfrm>
                <a:off x="5845261" y="2006468"/>
                <a:ext cx="1979003" cy="651332"/>
              </a:xfrm>
              <a:prstGeom prst="rect">
                <a:avLst/>
              </a:prstGeom>
              <a:blipFill>
                <a:blip r:embed="rId5"/>
                <a:stretch>
                  <a:fillRect/>
                </a:stretch>
              </a:blipFill>
            </p:spPr>
            <p:txBody>
              <a:bodyPr/>
              <a:lstStyle/>
              <a:p>
                <a:r>
                  <a:rPr lang="es-MX">
                    <a:noFill/>
                  </a:rPr>
                  <a:t> </a:t>
                </a:r>
              </a:p>
            </p:txBody>
          </p:sp>
        </mc:Fallback>
      </mc:AlternateContent>
      <p:sp>
        <p:nvSpPr>
          <p:cNvPr id="14" name="Google Shape;112;p3">
            <a:extLst>
              <a:ext uri="{FF2B5EF4-FFF2-40B4-BE49-F238E27FC236}">
                <a16:creationId xmlns:a16="http://schemas.microsoft.com/office/drawing/2014/main" id="{2EDE6F44-8418-439E-B509-2C2F70324FC7}"/>
              </a:ext>
            </a:extLst>
          </p:cNvPr>
          <p:cNvSpPr txBox="1"/>
          <p:nvPr/>
        </p:nvSpPr>
        <p:spPr>
          <a:xfrm>
            <a:off x="2453210" y="1988786"/>
            <a:ext cx="2514405" cy="1440214"/>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 ?</a:t>
            </a:r>
          </a:p>
          <a:p>
            <a:pPr algn="just">
              <a:spcAft>
                <a:spcPts val="600"/>
              </a:spcAft>
            </a:pPr>
            <a:r>
              <a:rPr lang="es-ES" b="1" dirty="0">
                <a:solidFill>
                  <a:srgbClr val="131D3F"/>
                </a:solidFill>
                <a:latin typeface="Montserrat" panose="00000500000000000000" pitchFamily="2" charset="0"/>
              </a:rPr>
              <a:t>FV = 	</a:t>
            </a:r>
            <a:r>
              <a:rPr lang="es-ES" dirty="0">
                <a:solidFill>
                  <a:srgbClr val="131D3F"/>
                </a:solidFill>
                <a:latin typeface="Montserrat" panose="00000500000000000000" pitchFamily="2" charset="0"/>
              </a:rPr>
              <a:t>$10,000.00</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5.0%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3 (años)</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B6F8442-7D48-48EF-A602-77F3BECFDA3C}"/>
                  </a:ext>
                </a:extLst>
              </p:cNvPr>
              <p:cNvSpPr txBox="1"/>
              <p:nvPr/>
            </p:nvSpPr>
            <p:spPr>
              <a:xfrm>
                <a:off x="5845261" y="2832234"/>
                <a:ext cx="3531480" cy="596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$10,000.00</m:t>
                          </m:r>
                        </m:num>
                        <m:den>
                          <m:r>
                            <a:rPr lang="es-ES" sz="2000" b="0" i="1" smtClean="0">
                              <a:solidFill>
                                <a:srgbClr val="00B050"/>
                              </a:solidFill>
                              <a:latin typeface="Cambria Math" panose="02040503050406030204" pitchFamily="18" charset="0"/>
                            </a:rPr>
                            <m:t>1.157625</m:t>
                          </m:r>
                        </m:den>
                      </m:f>
                      <m:r>
                        <a:rPr lang="es-ES" sz="2000" b="0"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𝟖</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𝟔𝟑𝟖</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𝟑𝟖</m:t>
                      </m:r>
                    </m:oMath>
                  </m:oMathPara>
                </a14:m>
                <a:endParaRPr lang="es-MX" sz="2000" b="1" dirty="0">
                  <a:solidFill>
                    <a:srgbClr val="00B050"/>
                  </a:solidFill>
                </a:endParaRPr>
              </a:p>
            </p:txBody>
          </p:sp>
        </mc:Choice>
        <mc:Fallback xmlns="">
          <p:sp>
            <p:nvSpPr>
              <p:cNvPr id="15" name="CuadroTexto 14">
                <a:extLst>
                  <a:ext uri="{FF2B5EF4-FFF2-40B4-BE49-F238E27FC236}">
                    <a16:creationId xmlns:a16="http://schemas.microsoft.com/office/drawing/2014/main" id="{CB6F8442-7D48-48EF-A602-77F3BECFDA3C}"/>
                  </a:ext>
                </a:extLst>
              </p:cNvPr>
              <p:cNvSpPr txBox="1">
                <a:spLocks noRot="1" noChangeAspect="1" noMove="1" noResize="1" noEditPoints="1" noAdjustHandles="1" noChangeArrowheads="1" noChangeShapeType="1" noTextEdit="1"/>
              </p:cNvSpPr>
              <p:nvPr/>
            </p:nvSpPr>
            <p:spPr>
              <a:xfrm>
                <a:off x="5845261" y="2832234"/>
                <a:ext cx="3531480" cy="596766"/>
              </a:xfrm>
              <a:prstGeom prst="rect">
                <a:avLst/>
              </a:prstGeom>
              <a:blipFill>
                <a:blip r:embed="rId6"/>
                <a:stretch>
                  <a:fillRect/>
                </a:stretch>
              </a:blipFill>
            </p:spPr>
            <p:txBody>
              <a:bodyPr/>
              <a:lstStyle/>
              <a:p>
                <a:r>
                  <a:rPr lang="es-MX">
                    <a:noFill/>
                  </a:rPr>
                  <a:t> </a:t>
                </a:r>
              </a:p>
            </p:txBody>
          </p:sp>
        </mc:Fallback>
      </mc:AlternateContent>
      <p:sp>
        <p:nvSpPr>
          <p:cNvPr id="16" name="Google Shape;112;p3">
            <a:extLst>
              <a:ext uri="{FF2B5EF4-FFF2-40B4-BE49-F238E27FC236}">
                <a16:creationId xmlns:a16="http://schemas.microsoft.com/office/drawing/2014/main" id="{01985B50-3684-4F58-9FBB-0A3A7891C037}"/>
              </a:ext>
            </a:extLst>
          </p:cNvPr>
          <p:cNvSpPr txBox="1"/>
          <p:nvPr/>
        </p:nvSpPr>
        <p:spPr>
          <a:xfrm>
            <a:off x="817880" y="3968179"/>
            <a:ext cx="10550845" cy="69355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Se recibirán pagos anuales de $2,000 durante 5 años, con una tasa de descuento del 4%. (Flujos anuales).</a:t>
            </a:r>
          </a:p>
        </p:txBody>
      </p:sp>
      <p:sp>
        <p:nvSpPr>
          <p:cNvPr id="17" name="Google Shape;112;p3">
            <a:extLst>
              <a:ext uri="{FF2B5EF4-FFF2-40B4-BE49-F238E27FC236}">
                <a16:creationId xmlns:a16="http://schemas.microsoft.com/office/drawing/2014/main" id="{7879C198-2629-4EE3-9503-90EE4407D713}"/>
              </a:ext>
            </a:extLst>
          </p:cNvPr>
          <p:cNvSpPr txBox="1"/>
          <p:nvPr/>
        </p:nvSpPr>
        <p:spPr>
          <a:xfrm>
            <a:off x="2453209" y="4831812"/>
            <a:ext cx="2514405" cy="1440214"/>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 ?</a:t>
            </a:r>
          </a:p>
          <a:p>
            <a:pPr algn="just">
              <a:spcAft>
                <a:spcPts val="600"/>
              </a:spcAft>
            </a:pPr>
            <a:r>
              <a:rPr lang="es-ES" b="1" dirty="0">
                <a:solidFill>
                  <a:srgbClr val="131D3F"/>
                </a:solidFill>
                <a:latin typeface="Montserrat" panose="00000500000000000000" pitchFamily="2" charset="0"/>
              </a:rPr>
              <a:t>PMT = 	</a:t>
            </a:r>
            <a:r>
              <a:rPr lang="es-ES" dirty="0">
                <a:solidFill>
                  <a:srgbClr val="131D3F"/>
                </a:solidFill>
                <a:latin typeface="Montserrat" panose="00000500000000000000" pitchFamily="2" charset="0"/>
              </a:rPr>
              <a:t>$2,000.00</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4.0%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5 (años)</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8396478C-6393-45DD-B927-E8310DEC0158}"/>
                  </a:ext>
                </a:extLst>
              </p:cNvPr>
              <p:cNvSpPr txBox="1"/>
              <p:nvPr/>
            </p:nvSpPr>
            <p:spPr>
              <a:xfrm>
                <a:off x="5845261" y="4831812"/>
                <a:ext cx="3898824" cy="6220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$2,000.00 </m:t>
                      </m:r>
                      <m:r>
                        <a:rPr lang="es-ES" sz="2000" b="0" i="1" smtClean="0">
                          <a:solidFill>
                            <a:srgbClr val="00B050"/>
                          </a:solidFill>
                          <a:latin typeface="Cambria Math" panose="02040503050406030204" pitchFamily="18" charset="0"/>
                        </a:rPr>
                        <m:t>𝑥</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(1+0.04)</m:t>
                              </m:r>
                            </m:e>
                            <m:sup>
                              <m:r>
                                <a:rPr lang="es-ES" sz="2000" b="0" i="1" smtClean="0">
                                  <a:solidFill>
                                    <a:srgbClr val="00B050"/>
                                  </a:solidFill>
                                  <a:latin typeface="Cambria Math" panose="02040503050406030204" pitchFamily="18" charset="0"/>
                                </a:rPr>
                                <m:t>−5</m:t>
                              </m:r>
                            </m:sup>
                          </m:sSup>
                        </m:num>
                        <m:den>
                          <m:r>
                            <a:rPr lang="es-ES" sz="2000" b="0" i="1" smtClean="0">
                              <a:solidFill>
                                <a:srgbClr val="00B050"/>
                              </a:solidFill>
                              <a:latin typeface="Cambria Math" panose="02040503050406030204" pitchFamily="18" charset="0"/>
                            </a:rPr>
                            <m:t>0.04</m:t>
                          </m:r>
                        </m:den>
                      </m:f>
                    </m:oMath>
                  </m:oMathPara>
                </a14:m>
                <a:endParaRPr lang="es-MX" sz="2000" dirty="0">
                  <a:solidFill>
                    <a:srgbClr val="00B050"/>
                  </a:solidFill>
                </a:endParaRPr>
              </a:p>
            </p:txBody>
          </p:sp>
        </mc:Choice>
        <mc:Fallback xmlns="">
          <p:sp>
            <p:nvSpPr>
              <p:cNvPr id="18" name="CuadroTexto 17">
                <a:extLst>
                  <a:ext uri="{FF2B5EF4-FFF2-40B4-BE49-F238E27FC236}">
                    <a16:creationId xmlns:a16="http://schemas.microsoft.com/office/drawing/2014/main" id="{8396478C-6393-45DD-B927-E8310DEC0158}"/>
                  </a:ext>
                </a:extLst>
              </p:cNvPr>
              <p:cNvSpPr txBox="1">
                <a:spLocks noRot="1" noChangeAspect="1" noMove="1" noResize="1" noEditPoints="1" noAdjustHandles="1" noChangeArrowheads="1" noChangeShapeType="1" noTextEdit="1"/>
              </p:cNvSpPr>
              <p:nvPr/>
            </p:nvSpPr>
            <p:spPr>
              <a:xfrm>
                <a:off x="5845261" y="4831812"/>
                <a:ext cx="3898824" cy="622030"/>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5B6057F-B731-4D61-A489-7A4F1F18FA6D}"/>
                  </a:ext>
                </a:extLst>
              </p:cNvPr>
              <p:cNvSpPr txBox="1"/>
              <p:nvPr/>
            </p:nvSpPr>
            <p:spPr>
              <a:xfrm>
                <a:off x="5845261" y="5638051"/>
                <a:ext cx="5286191" cy="5782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$2,000.00 </m:t>
                      </m:r>
                      <m:r>
                        <a:rPr lang="es-ES" sz="2000" b="0" i="1" smtClean="0">
                          <a:solidFill>
                            <a:srgbClr val="00B050"/>
                          </a:solidFill>
                          <a:latin typeface="Cambria Math" panose="02040503050406030204" pitchFamily="18" charset="0"/>
                        </a:rPr>
                        <m:t>𝑥</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1−0.821927</m:t>
                          </m:r>
                        </m:num>
                        <m:den>
                          <m:r>
                            <a:rPr lang="es-ES" sz="2000" b="0" i="1" smtClean="0">
                              <a:solidFill>
                                <a:srgbClr val="00B050"/>
                              </a:solidFill>
                              <a:latin typeface="Cambria Math" panose="02040503050406030204" pitchFamily="18" charset="0"/>
                            </a:rPr>
                            <m:t>0.04</m:t>
                          </m:r>
                        </m:den>
                      </m:f>
                      <m:r>
                        <a:rPr lang="es-ES" sz="2000" b="0"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𝟖</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𝟗𝟎𝟎𝟒</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𝟎𝟎</m:t>
                      </m:r>
                    </m:oMath>
                  </m:oMathPara>
                </a14:m>
                <a:endParaRPr lang="es-MX" sz="2000" b="1" dirty="0">
                  <a:solidFill>
                    <a:srgbClr val="00B050"/>
                  </a:solidFill>
                </a:endParaRPr>
              </a:p>
            </p:txBody>
          </p:sp>
        </mc:Choice>
        <mc:Fallback xmlns="">
          <p:sp>
            <p:nvSpPr>
              <p:cNvPr id="19" name="CuadroTexto 18">
                <a:extLst>
                  <a:ext uri="{FF2B5EF4-FFF2-40B4-BE49-F238E27FC236}">
                    <a16:creationId xmlns:a16="http://schemas.microsoft.com/office/drawing/2014/main" id="{A5B6057F-B731-4D61-A489-7A4F1F18FA6D}"/>
                  </a:ext>
                </a:extLst>
              </p:cNvPr>
              <p:cNvSpPr txBox="1">
                <a:spLocks noRot="1" noChangeAspect="1" noMove="1" noResize="1" noEditPoints="1" noAdjustHandles="1" noChangeArrowheads="1" noChangeShapeType="1" noTextEdit="1"/>
              </p:cNvSpPr>
              <p:nvPr/>
            </p:nvSpPr>
            <p:spPr>
              <a:xfrm>
                <a:off x="5845261" y="5638051"/>
                <a:ext cx="5286191" cy="578235"/>
              </a:xfrm>
              <a:prstGeom prst="rect">
                <a:avLst/>
              </a:prstGeom>
              <a:blipFill>
                <a:blip r:embed="rId8"/>
                <a:stretch>
                  <a:fillRect/>
                </a:stretch>
              </a:blipFill>
            </p:spPr>
            <p:txBody>
              <a:bodyPr/>
              <a:lstStyle/>
              <a:p>
                <a:r>
                  <a:rPr lang="es-MX">
                    <a:noFill/>
                  </a:rPr>
                  <a:t> </a:t>
                </a:r>
              </a:p>
            </p:txBody>
          </p:sp>
        </mc:Fallback>
      </mc:AlternateContent>
      <p:sp>
        <p:nvSpPr>
          <p:cNvPr id="20" name="Título 3">
            <a:extLst>
              <a:ext uri="{FF2B5EF4-FFF2-40B4-BE49-F238E27FC236}">
                <a16:creationId xmlns:a16="http://schemas.microsoft.com/office/drawing/2014/main" id="{C431DADD-3656-4286-87F7-6C4EB0EE464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1.6.1 Valor Presente</a:t>
            </a:r>
            <a:endParaRPr lang="es-MX" sz="36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2981358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1.6.1 Valor Presente</a:t>
            </a:r>
            <a:endParaRPr lang="es-MX" sz="3600" b="1" dirty="0">
              <a:solidFill>
                <a:srgbClr val="131D3F"/>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134125"/>
            <a:ext cx="10550845" cy="1078909"/>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Cuando se tienen diferentes tasas de descuento para distintos períodos, la fórmula del Valor Presente (VP) se ajusta para cada tasa específica en su período correspondiente. </a:t>
            </a:r>
          </a:p>
        </p:txBody>
      </p:sp>
      <p:sp>
        <p:nvSpPr>
          <p:cNvPr id="29" name="Título 3">
            <a:extLst>
              <a:ext uri="{FF2B5EF4-FFF2-40B4-BE49-F238E27FC236}">
                <a16:creationId xmlns:a16="http://schemas.microsoft.com/office/drawing/2014/main" id="{4C2D6CF4-3533-459D-9BA8-D7F5C2196640}"/>
              </a:ext>
            </a:extLst>
          </p:cNvPr>
          <p:cNvSpPr txBox="1">
            <a:spLocks/>
          </p:cNvSpPr>
          <p:nvPr/>
        </p:nvSpPr>
        <p:spPr>
          <a:xfrm>
            <a:off x="817880" y="2425517"/>
            <a:ext cx="9617592" cy="34863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panose="00000500000000000000" pitchFamily="2" charset="0"/>
              </a:rPr>
              <a:t>Fórmula</a:t>
            </a:r>
            <a:endParaRPr lang="es-MX" sz="2400" b="1" dirty="0">
              <a:solidFill>
                <a:srgbClr val="131D3F"/>
              </a:solidFill>
              <a:latin typeface="Montserrat" panose="00000500000000000000" pitchFamily="2" charset="0"/>
            </a:endParaRPr>
          </a:p>
        </p:txBody>
      </p:sp>
      <p:sp>
        <p:nvSpPr>
          <p:cNvPr id="10" name="Google Shape;112;p3">
            <a:extLst>
              <a:ext uri="{FF2B5EF4-FFF2-40B4-BE49-F238E27FC236}">
                <a16:creationId xmlns:a16="http://schemas.microsoft.com/office/drawing/2014/main" id="{28B6C677-8CA7-41A2-BA2E-8A765E7C977E}"/>
              </a:ext>
            </a:extLst>
          </p:cNvPr>
          <p:cNvSpPr txBox="1"/>
          <p:nvPr/>
        </p:nvSpPr>
        <p:spPr>
          <a:xfrm>
            <a:off x="7025054" y="1957720"/>
            <a:ext cx="4528039" cy="2029489"/>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Donde: </a:t>
            </a:r>
          </a:p>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Valor Presente</a:t>
            </a:r>
          </a:p>
          <a:p>
            <a:pPr algn="just">
              <a:spcAft>
                <a:spcPts val="600"/>
              </a:spcAft>
            </a:pPr>
            <a:r>
              <a:rPr lang="es-ES" b="1" dirty="0" err="1">
                <a:solidFill>
                  <a:srgbClr val="131D3F"/>
                </a:solidFill>
                <a:latin typeface="Montserrat" panose="00000500000000000000" pitchFamily="2" charset="0"/>
              </a:rPr>
              <a:t>FV</a:t>
            </a:r>
            <a:r>
              <a:rPr lang="es-ES" b="1" i="1" baseline="-25000" dirty="0" err="1">
                <a:solidFill>
                  <a:srgbClr val="131D3F"/>
                </a:solidFill>
                <a:latin typeface="Montserrat" panose="00000500000000000000" pitchFamily="2" charset="0"/>
              </a:rPr>
              <a:t>i</a:t>
            </a:r>
            <a:r>
              <a:rPr lang="es-ES" b="1" dirty="0">
                <a:solidFill>
                  <a:srgbClr val="131D3F"/>
                </a:solidFill>
                <a:latin typeface="Montserrat" panose="00000500000000000000" pitchFamily="2" charset="0"/>
              </a:rPr>
              <a:t> = </a:t>
            </a:r>
            <a:r>
              <a:rPr lang="es-ES" dirty="0">
                <a:solidFill>
                  <a:srgbClr val="131D3F"/>
                </a:solidFill>
                <a:latin typeface="Montserrat" panose="00000500000000000000" pitchFamily="2" charset="0"/>
              </a:rPr>
              <a:t>Valor Futuro en el periodo </a:t>
            </a:r>
            <a:r>
              <a:rPr lang="es-ES" i="1" dirty="0">
                <a:solidFill>
                  <a:srgbClr val="131D3F"/>
                </a:solidFill>
                <a:latin typeface="Montserrat" panose="00000500000000000000" pitchFamily="2" charset="0"/>
              </a:rPr>
              <a:t>i</a:t>
            </a:r>
          </a:p>
          <a:p>
            <a:pPr algn="just">
              <a:spcAft>
                <a:spcPts val="600"/>
              </a:spcAft>
            </a:pPr>
            <a:r>
              <a:rPr lang="es-ES" b="1" dirty="0" err="1">
                <a:solidFill>
                  <a:srgbClr val="131D3F"/>
                </a:solidFill>
                <a:latin typeface="Montserrat" panose="00000500000000000000" pitchFamily="2" charset="0"/>
              </a:rPr>
              <a:t>r</a:t>
            </a:r>
            <a:r>
              <a:rPr lang="es-ES" b="1" i="1" baseline="-25000" dirty="0" err="1">
                <a:solidFill>
                  <a:srgbClr val="131D3F"/>
                </a:solidFill>
                <a:latin typeface="Montserrat" panose="00000500000000000000" pitchFamily="2" charset="0"/>
              </a:rPr>
              <a:t>i</a:t>
            </a:r>
            <a:r>
              <a:rPr lang="es-ES" b="1" dirty="0">
                <a:solidFill>
                  <a:srgbClr val="131D3F"/>
                </a:solidFill>
                <a:latin typeface="Montserrat" panose="00000500000000000000" pitchFamily="2" charset="0"/>
              </a:rPr>
              <a:t> = </a:t>
            </a:r>
            <a:r>
              <a:rPr lang="es-ES" dirty="0">
                <a:solidFill>
                  <a:srgbClr val="131D3F"/>
                </a:solidFill>
                <a:latin typeface="Montserrat" panose="00000500000000000000" pitchFamily="2" charset="0"/>
              </a:rPr>
              <a:t>Tasa de descuento en el periodo </a:t>
            </a:r>
            <a:r>
              <a:rPr lang="es-ES" i="1" dirty="0">
                <a:solidFill>
                  <a:srgbClr val="131D3F"/>
                </a:solidFill>
                <a:latin typeface="Montserrat" panose="00000500000000000000" pitchFamily="2" charset="0"/>
              </a:rPr>
              <a:t>i</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Número de Períodos</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570F308-5B0A-4DBC-9A1B-429743FD897E}"/>
                  </a:ext>
                </a:extLst>
              </p:cNvPr>
              <p:cNvSpPr txBox="1"/>
              <p:nvPr/>
            </p:nvSpPr>
            <p:spPr>
              <a:xfrm>
                <a:off x="817880" y="3050531"/>
                <a:ext cx="4858125" cy="630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sSub>
                            <m:sSubPr>
                              <m:ctrlPr>
                                <a:rPr lang="es-MX" sz="2000" i="1" smtClean="0">
                                  <a:solidFill>
                                    <a:srgbClr val="00B050"/>
                                  </a:solidFill>
                                  <a:latin typeface="Cambria Math" panose="02040503050406030204" pitchFamily="18" charset="0"/>
                                </a:rPr>
                              </m:ctrlPr>
                            </m:sSubPr>
                            <m:e>
                              <m:r>
                                <a:rPr lang="es-ES" sz="2000" b="0" i="1" smtClean="0">
                                  <a:solidFill>
                                    <a:srgbClr val="00B050"/>
                                  </a:solidFill>
                                  <a:latin typeface="Cambria Math" panose="02040503050406030204" pitchFamily="18" charset="0"/>
                                </a:rPr>
                                <m:t>𝐹𝑉</m:t>
                              </m:r>
                            </m:e>
                            <m:sub>
                              <m:r>
                                <a:rPr lang="es-ES" sz="2000" b="0" i="1" smtClean="0">
                                  <a:solidFill>
                                    <a:srgbClr val="00B050"/>
                                  </a:solidFill>
                                  <a:latin typeface="Cambria Math" panose="02040503050406030204" pitchFamily="18" charset="0"/>
                                </a:rPr>
                                <m:t>1</m:t>
                              </m:r>
                            </m:sub>
                          </m:sSub>
                        </m:num>
                        <m:den>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m:t>
                              </m:r>
                              <m:sSub>
                                <m:sSubPr>
                                  <m:ctrlPr>
                                    <a:rPr lang="es-ES" sz="2000" b="0" i="1" smtClean="0">
                                      <a:solidFill>
                                        <a:srgbClr val="00B050"/>
                                      </a:solidFill>
                                      <a:latin typeface="Cambria Math" panose="02040503050406030204" pitchFamily="18" charset="0"/>
                                    </a:rPr>
                                  </m:ctrlPr>
                                </m:sSubPr>
                                <m:e>
                                  <m:r>
                                    <a:rPr lang="es-ES" sz="2000" b="0" i="1" smtClean="0">
                                      <a:solidFill>
                                        <a:srgbClr val="00B050"/>
                                      </a:solidFill>
                                      <a:latin typeface="Cambria Math" panose="02040503050406030204" pitchFamily="18" charset="0"/>
                                    </a:rPr>
                                    <m:t>𝑟</m:t>
                                  </m:r>
                                </m:e>
                                <m:sub>
                                  <m:r>
                                    <a:rPr lang="es-ES" sz="2000" b="0" i="1" smtClean="0">
                                      <a:solidFill>
                                        <a:srgbClr val="00B050"/>
                                      </a:solidFill>
                                      <a:latin typeface="Cambria Math" panose="02040503050406030204" pitchFamily="18" charset="0"/>
                                    </a:rPr>
                                    <m:t>1</m:t>
                                  </m:r>
                                </m:sub>
                              </m:sSub>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1</m:t>
                              </m:r>
                            </m:sup>
                          </m:sSup>
                        </m:den>
                      </m:f>
                      <m:r>
                        <a:rPr lang="es-ES" sz="2000" b="0" i="1" smtClean="0">
                          <a:solidFill>
                            <a:srgbClr val="00B050"/>
                          </a:solidFill>
                          <a:latin typeface="Cambria Math" panose="02040503050406030204" pitchFamily="18" charset="0"/>
                        </a:rPr>
                        <m:t>+</m:t>
                      </m:r>
                      <m:f>
                        <m:fPr>
                          <m:ctrlPr>
                            <a:rPr lang="es-MX" sz="2000" i="1">
                              <a:solidFill>
                                <a:srgbClr val="00B050"/>
                              </a:solidFill>
                              <a:latin typeface="Cambria Math" panose="02040503050406030204" pitchFamily="18" charset="0"/>
                            </a:rPr>
                          </m:ctrlPr>
                        </m:fPr>
                        <m:num>
                          <m:sSub>
                            <m:sSubPr>
                              <m:ctrlPr>
                                <a:rPr lang="es-MX" sz="2000" i="1">
                                  <a:solidFill>
                                    <a:srgbClr val="00B050"/>
                                  </a:solidFill>
                                  <a:latin typeface="Cambria Math" panose="02040503050406030204" pitchFamily="18" charset="0"/>
                                </a:rPr>
                              </m:ctrlPr>
                            </m:sSubPr>
                            <m:e>
                              <m:r>
                                <a:rPr lang="es-ES" sz="2000" i="1">
                                  <a:solidFill>
                                    <a:srgbClr val="00B050"/>
                                  </a:solidFill>
                                  <a:latin typeface="Cambria Math" panose="02040503050406030204" pitchFamily="18" charset="0"/>
                                </a:rPr>
                                <m:t>𝐹𝑉</m:t>
                              </m:r>
                            </m:e>
                            <m:sub>
                              <m:r>
                                <a:rPr lang="es-ES" sz="2000" b="0" i="1" smtClean="0">
                                  <a:solidFill>
                                    <a:srgbClr val="00B050"/>
                                  </a:solidFill>
                                  <a:latin typeface="Cambria Math" panose="02040503050406030204" pitchFamily="18" charset="0"/>
                                </a:rPr>
                                <m:t>2</m:t>
                              </m:r>
                            </m:sub>
                          </m:sSub>
                        </m:num>
                        <m:den>
                          <m:r>
                            <a:rPr lang="es-ES" sz="2000" i="1">
                              <a:solidFill>
                                <a:srgbClr val="00B050"/>
                              </a:solidFill>
                              <a:latin typeface="Cambria Math" panose="02040503050406030204" pitchFamily="18" charset="0"/>
                            </a:rPr>
                            <m:t>(</m:t>
                          </m:r>
                          <m:sSup>
                            <m:sSupPr>
                              <m:ctrlPr>
                                <a:rPr lang="es-ES" sz="2000" i="1">
                                  <a:solidFill>
                                    <a:srgbClr val="00B050"/>
                                  </a:solidFill>
                                  <a:latin typeface="Cambria Math" panose="02040503050406030204" pitchFamily="18" charset="0"/>
                                </a:rPr>
                              </m:ctrlPr>
                            </m:sSupPr>
                            <m:e>
                              <m:r>
                                <a:rPr lang="es-ES" sz="2000" i="1">
                                  <a:solidFill>
                                    <a:srgbClr val="00B050"/>
                                  </a:solidFill>
                                  <a:latin typeface="Cambria Math" panose="02040503050406030204" pitchFamily="18" charset="0"/>
                                </a:rPr>
                                <m:t>1+</m:t>
                              </m:r>
                              <m:sSub>
                                <m:sSubPr>
                                  <m:ctrlPr>
                                    <a:rPr lang="es-ES" sz="2000" i="1">
                                      <a:solidFill>
                                        <a:srgbClr val="00B050"/>
                                      </a:solidFill>
                                      <a:latin typeface="Cambria Math" panose="02040503050406030204" pitchFamily="18" charset="0"/>
                                    </a:rPr>
                                  </m:ctrlPr>
                                </m:sSubPr>
                                <m:e>
                                  <m:r>
                                    <a:rPr lang="es-ES" sz="2000" i="1">
                                      <a:solidFill>
                                        <a:srgbClr val="00B050"/>
                                      </a:solidFill>
                                      <a:latin typeface="Cambria Math" panose="02040503050406030204" pitchFamily="18" charset="0"/>
                                    </a:rPr>
                                    <m:t>𝑟</m:t>
                                  </m:r>
                                </m:e>
                                <m:sub>
                                  <m:r>
                                    <a:rPr lang="es-ES" sz="2000" b="0" i="1" smtClean="0">
                                      <a:solidFill>
                                        <a:srgbClr val="00B050"/>
                                      </a:solidFill>
                                      <a:latin typeface="Cambria Math" panose="02040503050406030204" pitchFamily="18" charset="0"/>
                                    </a:rPr>
                                    <m:t>2</m:t>
                                  </m:r>
                                </m:sub>
                              </m:sSub>
                              <m:r>
                                <a:rPr lang="es-ES" sz="2000" i="1">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2</m:t>
                              </m:r>
                            </m:sup>
                          </m:sSup>
                        </m:den>
                      </m:f>
                      <m:r>
                        <a:rPr lang="es-ES" sz="2000" b="0" i="1" smtClean="0">
                          <a:solidFill>
                            <a:srgbClr val="00B050"/>
                          </a:solidFill>
                          <a:latin typeface="Cambria Math" panose="02040503050406030204" pitchFamily="18" charset="0"/>
                        </a:rPr>
                        <m:t>+ …+</m:t>
                      </m:r>
                      <m:f>
                        <m:fPr>
                          <m:ctrlPr>
                            <a:rPr lang="es-MX" sz="2000" i="1">
                              <a:solidFill>
                                <a:srgbClr val="00B050"/>
                              </a:solidFill>
                              <a:latin typeface="Cambria Math" panose="02040503050406030204" pitchFamily="18" charset="0"/>
                            </a:rPr>
                          </m:ctrlPr>
                        </m:fPr>
                        <m:num>
                          <m:sSub>
                            <m:sSubPr>
                              <m:ctrlPr>
                                <a:rPr lang="es-MX" sz="2000" i="1" smtClean="0">
                                  <a:solidFill>
                                    <a:srgbClr val="00B050"/>
                                  </a:solidFill>
                                  <a:latin typeface="Cambria Math" panose="02040503050406030204" pitchFamily="18" charset="0"/>
                                </a:rPr>
                              </m:ctrlPr>
                            </m:sSubPr>
                            <m:e>
                              <m:r>
                                <a:rPr lang="es-ES" sz="2000" i="1">
                                  <a:solidFill>
                                    <a:srgbClr val="00B050"/>
                                  </a:solidFill>
                                  <a:latin typeface="Cambria Math" panose="02040503050406030204" pitchFamily="18" charset="0"/>
                                </a:rPr>
                                <m:t>𝐹𝑉</m:t>
                              </m:r>
                            </m:e>
                            <m:sub>
                              <m:r>
                                <a:rPr lang="es-ES" sz="2000" b="0" i="1" smtClean="0">
                                  <a:solidFill>
                                    <a:srgbClr val="00B050"/>
                                  </a:solidFill>
                                  <a:latin typeface="Cambria Math" panose="02040503050406030204" pitchFamily="18" charset="0"/>
                                </a:rPr>
                                <m:t>𝑛</m:t>
                              </m:r>
                            </m:sub>
                          </m:sSub>
                        </m:num>
                        <m:den>
                          <m:r>
                            <a:rPr lang="es-ES" sz="2000" i="1">
                              <a:solidFill>
                                <a:srgbClr val="00B050"/>
                              </a:solidFill>
                              <a:latin typeface="Cambria Math" panose="02040503050406030204" pitchFamily="18" charset="0"/>
                            </a:rPr>
                            <m:t>(</m:t>
                          </m:r>
                          <m:sSup>
                            <m:sSupPr>
                              <m:ctrlPr>
                                <a:rPr lang="es-ES" sz="2000" i="1">
                                  <a:solidFill>
                                    <a:srgbClr val="00B050"/>
                                  </a:solidFill>
                                  <a:latin typeface="Cambria Math" panose="02040503050406030204" pitchFamily="18" charset="0"/>
                                </a:rPr>
                              </m:ctrlPr>
                            </m:sSupPr>
                            <m:e>
                              <m:r>
                                <a:rPr lang="es-ES" sz="2000" i="1">
                                  <a:solidFill>
                                    <a:srgbClr val="00B050"/>
                                  </a:solidFill>
                                  <a:latin typeface="Cambria Math" panose="02040503050406030204" pitchFamily="18" charset="0"/>
                                </a:rPr>
                                <m:t>1+</m:t>
                              </m:r>
                              <m:sSub>
                                <m:sSubPr>
                                  <m:ctrlPr>
                                    <a:rPr lang="es-ES" sz="2000" i="1">
                                      <a:solidFill>
                                        <a:srgbClr val="00B050"/>
                                      </a:solidFill>
                                      <a:latin typeface="Cambria Math" panose="02040503050406030204" pitchFamily="18" charset="0"/>
                                    </a:rPr>
                                  </m:ctrlPr>
                                </m:sSubPr>
                                <m:e>
                                  <m:r>
                                    <a:rPr lang="es-ES" sz="2000" i="1">
                                      <a:solidFill>
                                        <a:srgbClr val="00B050"/>
                                      </a:solidFill>
                                      <a:latin typeface="Cambria Math" panose="02040503050406030204" pitchFamily="18" charset="0"/>
                                    </a:rPr>
                                    <m:t>𝑟</m:t>
                                  </m:r>
                                </m:e>
                                <m:sub>
                                  <m:r>
                                    <a:rPr lang="es-ES" sz="2000" b="0" i="1" smtClean="0">
                                      <a:solidFill>
                                        <a:srgbClr val="00B050"/>
                                      </a:solidFill>
                                      <a:latin typeface="Cambria Math" panose="02040503050406030204" pitchFamily="18" charset="0"/>
                                    </a:rPr>
                                    <m:t>𝑛</m:t>
                                  </m:r>
                                </m:sub>
                              </m:sSub>
                              <m:r>
                                <a:rPr lang="es-ES" sz="2000" i="1">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𝑛</m:t>
                              </m:r>
                            </m:sup>
                          </m:sSup>
                        </m:den>
                      </m:f>
                    </m:oMath>
                  </m:oMathPara>
                </a14:m>
                <a:endParaRPr lang="es-MX" sz="2000" dirty="0">
                  <a:solidFill>
                    <a:srgbClr val="00B050"/>
                  </a:solidFill>
                </a:endParaRPr>
              </a:p>
            </p:txBody>
          </p:sp>
        </mc:Choice>
        <mc:Fallback xmlns="">
          <p:sp>
            <p:nvSpPr>
              <p:cNvPr id="11" name="CuadroTexto 10">
                <a:extLst>
                  <a:ext uri="{FF2B5EF4-FFF2-40B4-BE49-F238E27FC236}">
                    <a16:creationId xmlns:a16="http://schemas.microsoft.com/office/drawing/2014/main" id="{3570F308-5B0A-4DBC-9A1B-429743FD897E}"/>
                  </a:ext>
                </a:extLst>
              </p:cNvPr>
              <p:cNvSpPr txBox="1">
                <a:spLocks noRot="1" noChangeAspect="1" noMove="1" noResize="1" noEditPoints="1" noAdjustHandles="1" noChangeArrowheads="1" noChangeShapeType="1" noTextEdit="1"/>
              </p:cNvSpPr>
              <p:nvPr/>
            </p:nvSpPr>
            <p:spPr>
              <a:xfrm>
                <a:off x="817880" y="3050531"/>
                <a:ext cx="4858125" cy="630814"/>
              </a:xfrm>
              <a:prstGeom prst="rect">
                <a:avLst/>
              </a:prstGeom>
              <a:blipFill>
                <a:blip r:embed="rId5"/>
                <a:stretch>
                  <a:fillRect/>
                </a:stretch>
              </a:blipFill>
            </p:spPr>
            <p:txBody>
              <a:bodyPr/>
              <a:lstStyle/>
              <a:p>
                <a:r>
                  <a:rPr lang="es-MX">
                    <a:noFill/>
                  </a:rPr>
                  <a:t> </a:t>
                </a:r>
              </a:p>
            </p:txBody>
          </p:sp>
        </mc:Fallback>
      </mc:AlternateContent>
      <p:sp>
        <p:nvSpPr>
          <p:cNvPr id="15" name="Google Shape;112;p3">
            <a:extLst>
              <a:ext uri="{FF2B5EF4-FFF2-40B4-BE49-F238E27FC236}">
                <a16:creationId xmlns:a16="http://schemas.microsoft.com/office/drawing/2014/main" id="{8C9D9C05-EBD8-4AF0-86F1-DDE7851C3449}"/>
              </a:ext>
            </a:extLst>
          </p:cNvPr>
          <p:cNvSpPr txBox="1"/>
          <p:nvPr/>
        </p:nvSpPr>
        <p:spPr>
          <a:xfrm>
            <a:off x="817880" y="3903312"/>
            <a:ext cx="10550845" cy="69355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Se recibirán pagos anuales de $2,000 durante 5 años, con una tasa de descuento del 4%. (Flujos anuales).</a:t>
            </a:r>
          </a:p>
        </p:txBody>
      </p:sp>
      <p:sp>
        <p:nvSpPr>
          <p:cNvPr id="3" name="Rectangle 1">
            <a:extLst>
              <a:ext uri="{FF2B5EF4-FFF2-40B4-BE49-F238E27FC236}">
                <a16:creationId xmlns:a16="http://schemas.microsoft.com/office/drawing/2014/main" id="{5523492D-AC0A-458D-ADDE-471D74E3DECE}"/>
              </a:ext>
            </a:extLst>
          </p:cNvPr>
          <p:cNvSpPr>
            <a:spLocks noChangeArrowheads="1"/>
          </p:cNvSpPr>
          <p:nvPr/>
        </p:nvSpPr>
        <p:spPr bwMode="auto">
          <a:xfrm>
            <a:off x="747346" y="5024735"/>
            <a:ext cx="288252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MX" altLang="es-MX" dirty="0">
                <a:solidFill>
                  <a:srgbClr val="131D3F"/>
                </a:solidFill>
                <a:latin typeface="Montserrat" panose="00000500000000000000" pitchFamily="2" charset="0"/>
              </a:rPr>
              <a:t>Año 1 =	$1,000 	r</a:t>
            </a:r>
            <a:r>
              <a:rPr lang="es-MX" altLang="es-MX" baseline="-25000" dirty="0">
                <a:solidFill>
                  <a:srgbClr val="131D3F"/>
                </a:solidFill>
                <a:latin typeface="Montserrat" panose="00000500000000000000" pitchFamily="2" charset="0"/>
              </a:rPr>
              <a:t>1</a:t>
            </a:r>
            <a:r>
              <a:rPr lang="es-MX" altLang="es-MX" dirty="0">
                <a:solidFill>
                  <a:srgbClr val="131D3F"/>
                </a:solidFill>
                <a:latin typeface="Montserrat" panose="00000500000000000000" pitchFamily="2" charset="0"/>
              </a:rPr>
              <a:t> = 4%</a:t>
            </a:r>
          </a:p>
          <a:p>
            <a:pPr marL="0" marR="0" lvl="0" indent="0" algn="l" defTabSz="914400" rtl="0" eaLnBrk="0" fontAlgn="base" latinLnBrk="0" hangingPunct="0">
              <a:lnSpc>
                <a:spcPct val="100000"/>
              </a:lnSpc>
              <a:spcBef>
                <a:spcPct val="0"/>
              </a:spcBef>
              <a:spcAft>
                <a:spcPct val="0"/>
              </a:spcAft>
              <a:buClrTx/>
              <a:buSzTx/>
              <a:tabLst/>
            </a:pPr>
            <a:r>
              <a:rPr lang="es-MX" altLang="es-MX" dirty="0">
                <a:solidFill>
                  <a:srgbClr val="131D3F"/>
                </a:solidFill>
                <a:latin typeface="Montserrat" panose="00000500000000000000" pitchFamily="2" charset="0"/>
              </a:rPr>
              <a:t>Año 2 =	$1,500 	r</a:t>
            </a:r>
            <a:r>
              <a:rPr lang="es-MX" altLang="es-MX" baseline="-25000" dirty="0">
                <a:solidFill>
                  <a:srgbClr val="131D3F"/>
                </a:solidFill>
                <a:latin typeface="Montserrat" panose="00000500000000000000" pitchFamily="2" charset="0"/>
              </a:rPr>
              <a:t>2</a:t>
            </a:r>
            <a:r>
              <a:rPr lang="es-MX" altLang="es-MX" dirty="0">
                <a:solidFill>
                  <a:srgbClr val="131D3F"/>
                </a:solidFill>
                <a:latin typeface="Montserrat" panose="00000500000000000000" pitchFamily="2" charset="0"/>
              </a:rPr>
              <a:t> = 5%</a:t>
            </a:r>
          </a:p>
          <a:p>
            <a:pPr marL="0" marR="0" lvl="0" indent="0" algn="l" defTabSz="914400" rtl="0" eaLnBrk="0" fontAlgn="base" latinLnBrk="0" hangingPunct="0">
              <a:lnSpc>
                <a:spcPct val="100000"/>
              </a:lnSpc>
              <a:spcBef>
                <a:spcPct val="0"/>
              </a:spcBef>
              <a:spcAft>
                <a:spcPct val="0"/>
              </a:spcAft>
              <a:buClrTx/>
              <a:buSzTx/>
              <a:tabLst/>
            </a:pPr>
            <a:r>
              <a:rPr lang="es-MX" altLang="es-MX" dirty="0">
                <a:solidFill>
                  <a:srgbClr val="131D3F"/>
                </a:solidFill>
                <a:latin typeface="Montserrat" panose="00000500000000000000" pitchFamily="2" charset="0"/>
              </a:rPr>
              <a:t>Año 3 = 	$2,000 	r</a:t>
            </a:r>
            <a:r>
              <a:rPr lang="es-MX" altLang="es-MX" baseline="-25000" dirty="0">
                <a:solidFill>
                  <a:srgbClr val="131D3F"/>
                </a:solidFill>
                <a:latin typeface="Montserrat" panose="00000500000000000000" pitchFamily="2" charset="0"/>
              </a:rPr>
              <a:t>3</a:t>
            </a:r>
            <a:r>
              <a:rPr lang="es-MX" altLang="es-MX" dirty="0">
                <a:solidFill>
                  <a:srgbClr val="131D3F"/>
                </a:solidFill>
                <a:latin typeface="Montserrat" panose="00000500000000000000" pitchFamily="2" charset="0"/>
              </a:rPr>
              <a:t> = 6% </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69E19-1A9B-48F3-B760-33092988AD0A}"/>
                  </a:ext>
                </a:extLst>
              </p:cNvPr>
              <p:cNvSpPr txBox="1"/>
              <p:nvPr/>
            </p:nvSpPr>
            <p:spPr>
              <a:xfrm>
                <a:off x="4583919" y="4709328"/>
                <a:ext cx="5108578" cy="651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$1,000</m:t>
                          </m:r>
                        </m:num>
                        <m:den>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1+0.04)</m:t>
                              </m:r>
                            </m:e>
                            <m:sup>
                              <m:r>
                                <a:rPr lang="es-ES" sz="2000" b="0" i="1" smtClean="0">
                                  <a:solidFill>
                                    <a:srgbClr val="00B050"/>
                                  </a:solidFill>
                                  <a:latin typeface="Cambria Math" panose="02040503050406030204" pitchFamily="18" charset="0"/>
                                </a:rPr>
                                <m:t>1</m:t>
                              </m:r>
                            </m:sup>
                          </m:sSup>
                        </m:den>
                      </m:f>
                      <m:r>
                        <a:rPr lang="es-ES" sz="2000" b="0" i="1" smtClean="0">
                          <a:solidFill>
                            <a:srgbClr val="00B050"/>
                          </a:solidFill>
                          <a:latin typeface="Cambria Math" panose="02040503050406030204" pitchFamily="18" charset="0"/>
                        </a:rPr>
                        <m:t>+</m:t>
                      </m:r>
                      <m:f>
                        <m:fPr>
                          <m:ctrlPr>
                            <a:rPr lang="es-MX" sz="2000" i="1">
                              <a:solidFill>
                                <a:srgbClr val="00B050"/>
                              </a:solidFill>
                              <a:latin typeface="Cambria Math" panose="02040503050406030204" pitchFamily="18" charset="0"/>
                            </a:rPr>
                          </m:ctrlPr>
                        </m:fPr>
                        <m:num>
                          <m:r>
                            <a:rPr lang="es-ES" sz="2000" i="1">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5</m:t>
                          </m:r>
                          <m:r>
                            <a:rPr lang="es-ES" sz="2000" i="1">
                              <a:solidFill>
                                <a:srgbClr val="00B050"/>
                              </a:solidFill>
                              <a:latin typeface="Cambria Math" panose="02040503050406030204" pitchFamily="18" charset="0"/>
                            </a:rPr>
                            <m:t>00</m:t>
                          </m:r>
                        </m:num>
                        <m:den>
                          <m:r>
                            <a:rPr lang="es-ES" sz="2000" i="1">
                              <a:solidFill>
                                <a:srgbClr val="00B050"/>
                              </a:solidFill>
                              <a:latin typeface="Cambria Math" panose="02040503050406030204" pitchFamily="18" charset="0"/>
                            </a:rPr>
                            <m:t>(</m:t>
                          </m:r>
                          <m:sSup>
                            <m:sSupPr>
                              <m:ctrlPr>
                                <a:rPr lang="es-ES" sz="2000" i="1">
                                  <a:solidFill>
                                    <a:srgbClr val="00B050"/>
                                  </a:solidFill>
                                  <a:latin typeface="Cambria Math" panose="02040503050406030204" pitchFamily="18" charset="0"/>
                                </a:rPr>
                              </m:ctrlPr>
                            </m:sSupPr>
                            <m:e>
                              <m:r>
                                <a:rPr lang="es-ES" sz="2000" i="1">
                                  <a:solidFill>
                                    <a:srgbClr val="00B050"/>
                                  </a:solidFill>
                                  <a:latin typeface="Cambria Math" panose="02040503050406030204" pitchFamily="18" charset="0"/>
                                </a:rPr>
                                <m:t>1+0.0</m:t>
                              </m:r>
                              <m:r>
                                <a:rPr lang="es-ES" sz="2000" b="0" i="1" smtClean="0">
                                  <a:solidFill>
                                    <a:srgbClr val="00B050"/>
                                  </a:solidFill>
                                  <a:latin typeface="Cambria Math" panose="02040503050406030204" pitchFamily="18" charset="0"/>
                                </a:rPr>
                                <m:t>5</m:t>
                              </m:r>
                              <m:r>
                                <a:rPr lang="es-ES" sz="2000" i="1">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2</m:t>
                              </m:r>
                            </m:sup>
                          </m:sSup>
                        </m:den>
                      </m:f>
                      <m:r>
                        <a:rPr lang="es-ES" sz="2000" i="1">
                          <a:solidFill>
                            <a:srgbClr val="00B050"/>
                          </a:solidFill>
                          <a:latin typeface="Cambria Math" panose="02040503050406030204" pitchFamily="18" charset="0"/>
                        </a:rPr>
                        <m:t>+</m:t>
                      </m:r>
                      <m:f>
                        <m:fPr>
                          <m:ctrlPr>
                            <a:rPr lang="es-MX" sz="2000" i="1">
                              <a:solidFill>
                                <a:srgbClr val="00B050"/>
                              </a:solidFill>
                              <a:latin typeface="Cambria Math" panose="02040503050406030204" pitchFamily="18" charset="0"/>
                            </a:rPr>
                          </m:ctrlPr>
                        </m:fPr>
                        <m:num>
                          <m:r>
                            <a:rPr lang="es-ES" sz="2000" i="1">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2</m:t>
                          </m:r>
                          <m:r>
                            <a:rPr lang="es-ES" sz="2000" i="1">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0</m:t>
                          </m:r>
                          <m:r>
                            <a:rPr lang="es-ES" sz="2000" i="1">
                              <a:solidFill>
                                <a:srgbClr val="00B050"/>
                              </a:solidFill>
                              <a:latin typeface="Cambria Math" panose="02040503050406030204" pitchFamily="18" charset="0"/>
                            </a:rPr>
                            <m:t>00</m:t>
                          </m:r>
                        </m:num>
                        <m:den>
                          <m:r>
                            <a:rPr lang="es-ES" sz="2000" i="1">
                              <a:solidFill>
                                <a:srgbClr val="00B050"/>
                              </a:solidFill>
                              <a:latin typeface="Cambria Math" panose="02040503050406030204" pitchFamily="18" charset="0"/>
                            </a:rPr>
                            <m:t>(</m:t>
                          </m:r>
                          <m:sSup>
                            <m:sSupPr>
                              <m:ctrlPr>
                                <a:rPr lang="es-ES" sz="2000" i="1">
                                  <a:solidFill>
                                    <a:srgbClr val="00B050"/>
                                  </a:solidFill>
                                  <a:latin typeface="Cambria Math" panose="02040503050406030204" pitchFamily="18" charset="0"/>
                                </a:rPr>
                              </m:ctrlPr>
                            </m:sSupPr>
                            <m:e>
                              <m:r>
                                <a:rPr lang="es-ES" sz="2000" i="1">
                                  <a:solidFill>
                                    <a:srgbClr val="00B050"/>
                                  </a:solidFill>
                                  <a:latin typeface="Cambria Math" panose="02040503050406030204" pitchFamily="18" charset="0"/>
                                </a:rPr>
                                <m:t>1+0.0</m:t>
                              </m:r>
                              <m:r>
                                <a:rPr lang="es-ES" sz="2000" b="0" i="1" smtClean="0">
                                  <a:solidFill>
                                    <a:srgbClr val="00B050"/>
                                  </a:solidFill>
                                  <a:latin typeface="Cambria Math" panose="02040503050406030204" pitchFamily="18" charset="0"/>
                                </a:rPr>
                                <m:t>6</m:t>
                              </m:r>
                              <m:r>
                                <a:rPr lang="es-ES" sz="2000" i="1">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3</m:t>
                              </m:r>
                            </m:sup>
                          </m:sSup>
                        </m:den>
                      </m:f>
                    </m:oMath>
                  </m:oMathPara>
                </a14:m>
                <a:endParaRPr lang="es-MX" sz="2000" dirty="0">
                  <a:solidFill>
                    <a:srgbClr val="00B050"/>
                  </a:solidFill>
                </a:endParaRPr>
              </a:p>
            </p:txBody>
          </p:sp>
        </mc:Choice>
        <mc:Fallback xmlns="">
          <p:sp>
            <p:nvSpPr>
              <p:cNvPr id="17" name="CuadroTexto 16">
                <a:extLst>
                  <a:ext uri="{FF2B5EF4-FFF2-40B4-BE49-F238E27FC236}">
                    <a16:creationId xmlns:a16="http://schemas.microsoft.com/office/drawing/2014/main" id="{2E669E19-1A9B-48F3-B760-33092988AD0A}"/>
                  </a:ext>
                </a:extLst>
              </p:cNvPr>
              <p:cNvSpPr txBox="1">
                <a:spLocks noRot="1" noChangeAspect="1" noMove="1" noResize="1" noEditPoints="1" noAdjustHandles="1" noChangeArrowheads="1" noChangeShapeType="1" noTextEdit="1"/>
              </p:cNvSpPr>
              <p:nvPr/>
            </p:nvSpPr>
            <p:spPr>
              <a:xfrm>
                <a:off x="4583919" y="4709328"/>
                <a:ext cx="5108578" cy="651332"/>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F0C12F0F-FE9D-4B3E-B352-099DF15F2A77}"/>
                  </a:ext>
                </a:extLst>
              </p:cNvPr>
              <p:cNvSpPr txBox="1"/>
              <p:nvPr/>
            </p:nvSpPr>
            <p:spPr>
              <a:xfrm>
                <a:off x="4583919" y="5635865"/>
                <a:ext cx="5481116" cy="596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$1,000</m:t>
                          </m:r>
                        </m:num>
                        <m:den>
                          <m:r>
                            <a:rPr lang="es-ES" sz="2000" b="0" i="1" smtClean="0">
                              <a:solidFill>
                                <a:srgbClr val="00B050"/>
                              </a:solidFill>
                              <a:latin typeface="Cambria Math" panose="02040503050406030204" pitchFamily="18" charset="0"/>
                            </a:rPr>
                            <m:t>1.04</m:t>
                          </m:r>
                        </m:den>
                      </m:f>
                      <m:r>
                        <a:rPr lang="es-ES" sz="2000" b="0" i="1" smtClean="0">
                          <a:solidFill>
                            <a:srgbClr val="00B050"/>
                          </a:solidFill>
                          <a:latin typeface="Cambria Math" panose="02040503050406030204" pitchFamily="18" charset="0"/>
                        </a:rPr>
                        <m:t>+</m:t>
                      </m:r>
                      <m:f>
                        <m:fPr>
                          <m:ctrlPr>
                            <a:rPr lang="es-MX" sz="2000" i="1">
                              <a:solidFill>
                                <a:srgbClr val="00B050"/>
                              </a:solidFill>
                              <a:latin typeface="Cambria Math" panose="02040503050406030204" pitchFamily="18" charset="0"/>
                            </a:rPr>
                          </m:ctrlPr>
                        </m:fPr>
                        <m:num>
                          <m:r>
                            <a:rPr lang="es-ES" sz="2000" i="1">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5</m:t>
                          </m:r>
                          <m:r>
                            <a:rPr lang="es-ES" sz="2000" i="1">
                              <a:solidFill>
                                <a:srgbClr val="00B050"/>
                              </a:solidFill>
                              <a:latin typeface="Cambria Math" panose="02040503050406030204" pitchFamily="18" charset="0"/>
                            </a:rPr>
                            <m:t>00</m:t>
                          </m:r>
                        </m:num>
                        <m:den>
                          <m:r>
                            <a:rPr lang="es-ES" sz="2000" b="0" i="1" smtClean="0">
                              <a:solidFill>
                                <a:srgbClr val="00B050"/>
                              </a:solidFill>
                              <a:latin typeface="Cambria Math" panose="02040503050406030204" pitchFamily="18" charset="0"/>
                            </a:rPr>
                            <m:t>1.1025</m:t>
                          </m:r>
                        </m:den>
                      </m:f>
                      <m:r>
                        <a:rPr lang="es-ES" sz="2000" i="1">
                          <a:solidFill>
                            <a:srgbClr val="00B050"/>
                          </a:solidFill>
                          <a:latin typeface="Cambria Math" panose="02040503050406030204" pitchFamily="18" charset="0"/>
                        </a:rPr>
                        <m:t>+</m:t>
                      </m:r>
                      <m:f>
                        <m:fPr>
                          <m:ctrlPr>
                            <a:rPr lang="es-MX" sz="2000" i="1">
                              <a:solidFill>
                                <a:srgbClr val="00B050"/>
                              </a:solidFill>
                              <a:latin typeface="Cambria Math" panose="02040503050406030204" pitchFamily="18" charset="0"/>
                            </a:rPr>
                          </m:ctrlPr>
                        </m:fPr>
                        <m:num>
                          <m:r>
                            <a:rPr lang="es-ES" sz="2000" i="1">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2</m:t>
                          </m:r>
                          <m:r>
                            <a:rPr lang="es-ES" sz="2000" i="1">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0</m:t>
                          </m:r>
                          <m:r>
                            <a:rPr lang="es-ES" sz="2000" i="1">
                              <a:solidFill>
                                <a:srgbClr val="00B050"/>
                              </a:solidFill>
                              <a:latin typeface="Cambria Math" panose="02040503050406030204" pitchFamily="18" charset="0"/>
                            </a:rPr>
                            <m:t>00</m:t>
                          </m:r>
                        </m:num>
                        <m:den>
                          <m:r>
                            <a:rPr lang="es-ES" sz="2000" b="0" i="1" smtClean="0">
                              <a:solidFill>
                                <a:srgbClr val="00B050"/>
                              </a:solidFill>
                              <a:latin typeface="Cambria Math" panose="02040503050406030204" pitchFamily="18" charset="0"/>
                            </a:rPr>
                            <m:t>1.191016</m:t>
                          </m:r>
                        </m:den>
                      </m:f>
                      <m:r>
                        <a:rPr lang="es-ES" sz="2000" b="0"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𝟒</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𝟎𝟎𝟎</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𝟕𝟖</m:t>
                      </m:r>
                    </m:oMath>
                  </m:oMathPara>
                </a14:m>
                <a:endParaRPr lang="es-MX" sz="2000" b="1" dirty="0">
                  <a:solidFill>
                    <a:srgbClr val="00B050"/>
                  </a:solidFill>
                </a:endParaRPr>
              </a:p>
            </p:txBody>
          </p:sp>
        </mc:Choice>
        <mc:Fallback xmlns="">
          <p:sp>
            <p:nvSpPr>
              <p:cNvPr id="18" name="CuadroTexto 17">
                <a:extLst>
                  <a:ext uri="{FF2B5EF4-FFF2-40B4-BE49-F238E27FC236}">
                    <a16:creationId xmlns:a16="http://schemas.microsoft.com/office/drawing/2014/main" id="{F0C12F0F-FE9D-4B3E-B352-099DF15F2A77}"/>
                  </a:ext>
                </a:extLst>
              </p:cNvPr>
              <p:cNvSpPr txBox="1">
                <a:spLocks noRot="1" noChangeAspect="1" noMove="1" noResize="1" noEditPoints="1" noAdjustHandles="1" noChangeArrowheads="1" noChangeShapeType="1" noTextEdit="1"/>
              </p:cNvSpPr>
              <p:nvPr/>
            </p:nvSpPr>
            <p:spPr>
              <a:xfrm>
                <a:off x="4583919" y="5635865"/>
                <a:ext cx="5481116" cy="596766"/>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273440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a:t>
            </a:fld>
            <a:endParaRPr lang="es-MX" sz="2400" b="1" dirty="0">
              <a:solidFill>
                <a:srgbClr val="BA955B"/>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134125"/>
            <a:ext cx="10550845" cy="2057483"/>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El valor futuro (VF) es el monto al que una suma de dinero o una serie de flujos de efectivo </a:t>
            </a:r>
            <a:r>
              <a:rPr lang="es-ES" sz="2200" b="1" dirty="0">
                <a:solidFill>
                  <a:srgbClr val="131D3F"/>
                </a:solidFill>
                <a:latin typeface="Montserrat" panose="00000500000000000000" pitchFamily="2" charset="0"/>
              </a:rPr>
              <a:t>crecerá en el futuro</a:t>
            </a:r>
            <a:r>
              <a:rPr lang="es-ES" sz="2200" dirty="0">
                <a:solidFill>
                  <a:srgbClr val="131D3F"/>
                </a:solidFill>
                <a:latin typeface="Montserrat" panose="00000500000000000000" pitchFamily="2" charset="0"/>
              </a:rPr>
              <a:t>, después de aplicar una tasa de interés o tasa de crecimiento durante un período específico. Es una herramienta clave en la </a:t>
            </a:r>
            <a:r>
              <a:rPr lang="es-ES" sz="2200" b="1" dirty="0">
                <a:solidFill>
                  <a:srgbClr val="131D3F"/>
                </a:solidFill>
                <a:latin typeface="Montserrat" panose="00000500000000000000" pitchFamily="2" charset="0"/>
              </a:rPr>
              <a:t>planificación financiera, inversiones y análisis de proyectos</a:t>
            </a:r>
            <a:r>
              <a:rPr lang="es-ES" sz="2200" dirty="0">
                <a:solidFill>
                  <a:srgbClr val="131D3F"/>
                </a:solidFill>
                <a:latin typeface="Montserrat" panose="00000500000000000000" pitchFamily="2" charset="0"/>
              </a:rPr>
              <a:t>, ya que permite estimar cuánto valdrá en el futuro una cantidad invertida o ahorrada hoy.</a:t>
            </a:r>
          </a:p>
        </p:txBody>
      </p:sp>
      <p:sp>
        <p:nvSpPr>
          <p:cNvPr id="13" name="Título 3">
            <a:extLst>
              <a:ext uri="{FF2B5EF4-FFF2-40B4-BE49-F238E27FC236}">
                <a16:creationId xmlns:a16="http://schemas.microsoft.com/office/drawing/2014/main" id="{2EF4AC00-50DA-4A29-B3F2-A227A843BF33}"/>
              </a:ext>
            </a:extLst>
          </p:cNvPr>
          <p:cNvSpPr txBox="1">
            <a:spLocks/>
          </p:cNvSpPr>
          <p:nvPr/>
        </p:nvSpPr>
        <p:spPr>
          <a:xfrm>
            <a:off x="817880" y="3429000"/>
            <a:ext cx="9617592" cy="34863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panose="00000500000000000000" pitchFamily="2" charset="0"/>
              </a:rPr>
              <a:t>Fórmulas</a:t>
            </a:r>
            <a:endParaRPr lang="es-MX" sz="24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790E138-4216-4DED-8E33-FAD07D41477D}"/>
                  </a:ext>
                </a:extLst>
              </p:cNvPr>
              <p:cNvSpPr txBox="1"/>
              <p:nvPr/>
            </p:nvSpPr>
            <p:spPr>
              <a:xfrm>
                <a:off x="2992285" y="4648282"/>
                <a:ext cx="2106731"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𝑉𝑃𝑥</m:t>
                    </m:r>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𝑛</m:t>
                        </m:r>
                      </m:sup>
                    </m:sSup>
                  </m:oMath>
                </a14:m>
                <a:r>
                  <a:rPr lang="es-MX" sz="2000" dirty="0">
                    <a:solidFill>
                      <a:srgbClr val="00B050"/>
                    </a:solidFill>
                  </a:rPr>
                  <a:t> </a:t>
                </a:r>
              </a:p>
            </p:txBody>
          </p:sp>
        </mc:Choice>
        <mc:Fallback xmlns="">
          <p:sp>
            <p:nvSpPr>
              <p:cNvPr id="14" name="CuadroTexto 13">
                <a:extLst>
                  <a:ext uri="{FF2B5EF4-FFF2-40B4-BE49-F238E27FC236}">
                    <a16:creationId xmlns:a16="http://schemas.microsoft.com/office/drawing/2014/main" id="{6790E138-4216-4DED-8E33-FAD07D41477D}"/>
                  </a:ext>
                </a:extLst>
              </p:cNvPr>
              <p:cNvSpPr txBox="1">
                <a:spLocks noRot="1" noChangeAspect="1" noMove="1" noResize="1" noEditPoints="1" noAdjustHandles="1" noChangeArrowheads="1" noChangeShapeType="1" noTextEdit="1"/>
              </p:cNvSpPr>
              <p:nvPr/>
            </p:nvSpPr>
            <p:spPr>
              <a:xfrm>
                <a:off x="2992285" y="4648282"/>
                <a:ext cx="2106731" cy="307777"/>
              </a:xfrm>
              <a:prstGeom prst="rect">
                <a:avLst/>
              </a:prstGeom>
              <a:blipFill>
                <a:blip r:embed="rId5"/>
                <a:stretch>
                  <a:fillRect l="-4348" t="-4000" b="-36000"/>
                </a:stretch>
              </a:blipFill>
            </p:spPr>
            <p:txBody>
              <a:bodyPr/>
              <a:lstStyle/>
              <a:p>
                <a:r>
                  <a:rPr lang="es-MX">
                    <a:noFill/>
                  </a:rPr>
                  <a:t> </a:t>
                </a:r>
              </a:p>
            </p:txBody>
          </p:sp>
        </mc:Fallback>
      </mc:AlternateContent>
      <p:sp>
        <p:nvSpPr>
          <p:cNvPr id="16" name="Google Shape;112;p3">
            <a:extLst>
              <a:ext uri="{FF2B5EF4-FFF2-40B4-BE49-F238E27FC236}">
                <a16:creationId xmlns:a16="http://schemas.microsoft.com/office/drawing/2014/main" id="{1F0D832E-2DFC-48A8-9A12-E28794F9CEA4}"/>
              </a:ext>
            </a:extLst>
          </p:cNvPr>
          <p:cNvSpPr txBox="1"/>
          <p:nvPr/>
        </p:nvSpPr>
        <p:spPr>
          <a:xfrm>
            <a:off x="6889775" y="4015022"/>
            <a:ext cx="4619880" cy="2130719"/>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Donde: </a:t>
            </a:r>
          </a:p>
          <a:p>
            <a:pPr algn="just">
              <a:spcAft>
                <a:spcPts val="600"/>
              </a:spcAft>
            </a:pPr>
            <a:r>
              <a:rPr lang="es-ES" b="1" dirty="0">
                <a:solidFill>
                  <a:srgbClr val="131D3F"/>
                </a:solidFill>
                <a:latin typeface="Montserrat" panose="00000500000000000000" pitchFamily="2" charset="0"/>
              </a:rPr>
              <a:t>VF = </a:t>
            </a:r>
            <a:r>
              <a:rPr lang="es-ES" dirty="0">
                <a:solidFill>
                  <a:srgbClr val="131D3F"/>
                </a:solidFill>
                <a:latin typeface="Montserrat" panose="00000500000000000000" pitchFamily="2" charset="0"/>
              </a:rPr>
              <a:t>Valor Futuro</a:t>
            </a:r>
          </a:p>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Valor Presente</a:t>
            </a:r>
          </a:p>
          <a:p>
            <a:pPr algn="just">
              <a:spcAft>
                <a:spcPts val="600"/>
              </a:spcAft>
            </a:pPr>
            <a:r>
              <a:rPr lang="es-ES" b="1" dirty="0">
                <a:solidFill>
                  <a:srgbClr val="131D3F"/>
                </a:solidFill>
                <a:latin typeface="Montserrat" panose="00000500000000000000" pitchFamily="2" charset="0"/>
              </a:rPr>
              <a:t>PMT = </a:t>
            </a:r>
            <a:r>
              <a:rPr lang="es-ES" dirty="0">
                <a:solidFill>
                  <a:srgbClr val="131D3F"/>
                </a:solidFill>
                <a:latin typeface="Montserrat" panose="00000500000000000000" pitchFamily="2" charset="0"/>
              </a:rPr>
              <a:t>Pago o depósito periódico</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Tasa de descuento (Tasa de interés)</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Número de Períodos</a:t>
            </a:r>
          </a:p>
        </p:txBody>
      </p:sp>
      <p:sp>
        <p:nvSpPr>
          <p:cNvPr id="20" name="Título 3">
            <a:extLst>
              <a:ext uri="{FF2B5EF4-FFF2-40B4-BE49-F238E27FC236}">
                <a16:creationId xmlns:a16="http://schemas.microsoft.com/office/drawing/2014/main" id="{CA6649A8-B6A5-41C4-8DAF-35E18C552C3E}"/>
              </a:ext>
            </a:extLst>
          </p:cNvPr>
          <p:cNvSpPr txBox="1">
            <a:spLocks/>
          </p:cNvSpPr>
          <p:nvPr/>
        </p:nvSpPr>
        <p:spPr>
          <a:xfrm>
            <a:off x="2426872" y="4231977"/>
            <a:ext cx="3293075" cy="3486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000" u="sng" dirty="0">
                <a:solidFill>
                  <a:srgbClr val="131D3F"/>
                </a:solidFill>
                <a:latin typeface="Montserrat" panose="00000500000000000000" pitchFamily="2" charset="0"/>
              </a:rPr>
              <a:t>VF Monto Único</a:t>
            </a:r>
            <a:endParaRPr lang="es-MX" sz="2000" u="sng" dirty="0">
              <a:solidFill>
                <a:srgbClr val="131D3F"/>
              </a:solidFill>
              <a:latin typeface="Montserrat" panose="00000500000000000000" pitchFamily="2" charset="0"/>
            </a:endParaRPr>
          </a:p>
        </p:txBody>
      </p:sp>
      <p:sp>
        <p:nvSpPr>
          <p:cNvPr id="21" name="Título 3">
            <a:extLst>
              <a:ext uri="{FF2B5EF4-FFF2-40B4-BE49-F238E27FC236}">
                <a16:creationId xmlns:a16="http://schemas.microsoft.com/office/drawing/2014/main" id="{97AF2BFF-261D-41BE-A9C4-4852D43AD401}"/>
              </a:ext>
            </a:extLst>
          </p:cNvPr>
          <p:cNvSpPr txBox="1">
            <a:spLocks/>
          </p:cNvSpPr>
          <p:nvPr/>
        </p:nvSpPr>
        <p:spPr>
          <a:xfrm>
            <a:off x="2426871" y="5143998"/>
            <a:ext cx="3429142" cy="3486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000" u="sng" dirty="0">
                <a:solidFill>
                  <a:srgbClr val="131D3F"/>
                </a:solidFill>
                <a:latin typeface="Montserrat" panose="00000500000000000000" pitchFamily="2" charset="0"/>
              </a:rPr>
              <a:t>VF de una Serie de Pagos</a:t>
            </a:r>
            <a:endParaRPr lang="es-MX" sz="2000" u="sng"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2F76C01-EBDC-4C11-8B31-CD6337231FFE}"/>
                  </a:ext>
                </a:extLst>
              </p:cNvPr>
              <p:cNvSpPr txBox="1"/>
              <p:nvPr/>
            </p:nvSpPr>
            <p:spPr>
              <a:xfrm>
                <a:off x="2992283" y="5491632"/>
                <a:ext cx="2302233" cy="464486"/>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𝑃𝑀𝑇𝑥</m:t>
                    </m:r>
                    <m:f>
                      <m:fPr>
                        <m:ctrlPr>
                          <a:rPr lang="es-ES" sz="2000" b="0" i="1" smtClean="0">
                            <a:solidFill>
                              <a:srgbClr val="00B050"/>
                            </a:solidFill>
                            <a:latin typeface="Cambria Math" panose="02040503050406030204" pitchFamily="18" charset="0"/>
                          </a:rPr>
                        </m:ctrlPr>
                      </m:fPr>
                      <m:num>
                        <m:r>
                          <a:rPr lang="es-ES" sz="2000" i="1">
                            <a:solidFill>
                              <a:srgbClr val="00B050"/>
                            </a:solidFill>
                            <a:latin typeface="Cambria Math" panose="02040503050406030204" pitchFamily="18" charset="0"/>
                          </a:rPr>
                          <m:t>(</m:t>
                        </m:r>
                        <m:sSup>
                          <m:sSupPr>
                            <m:ctrlPr>
                              <a:rPr lang="es-ES" sz="2000" i="1">
                                <a:solidFill>
                                  <a:srgbClr val="00B050"/>
                                </a:solidFill>
                                <a:latin typeface="Cambria Math" panose="02040503050406030204" pitchFamily="18" charset="0"/>
                              </a:rPr>
                            </m:ctrlPr>
                          </m:sSupPr>
                          <m:e>
                            <m:r>
                              <a:rPr lang="es-ES" sz="2000" i="1">
                                <a:solidFill>
                                  <a:srgbClr val="00B050"/>
                                </a:solidFill>
                                <a:latin typeface="Cambria Math" panose="02040503050406030204" pitchFamily="18" charset="0"/>
                              </a:rPr>
                              <m:t>1+</m:t>
                            </m:r>
                            <m:r>
                              <a:rPr lang="es-ES" sz="2000" i="1">
                                <a:solidFill>
                                  <a:srgbClr val="00B050"/>
                                </a:solidFill>
                                <a:latin typeface="Cambria Math" panose="02040503050406030204" pitchFamily="18" charset="0"/>
                              </a:rPr>
                              <m:t>𝑟</m:t>
                            </m:r>
                            <m:r>
                              <a:rPr lang="es-ES" sz="2000" i="1">
                                <a:solidFill>
                                  <a:srgbClr val="00B050"/>
                                </a:solidFill>
                                <a:latin typeface="Cambria Math" panose="02040503050406030204" pitchFamily="18" charset="0"/>
                              </a:rPr>
                              <m:t>)</m:t>
                            </m:r>
                          </m:e>
                          <m:sup>
                            <m:r>
                              <a:rPr lang="es-ES" sz="2000" i="1">
                                <a:solidFill>
                                  <a:srgbClr val="00B050"/>
                                </a:solidFill>
                                <a:latin typeface="Cambria Math" panose="02040503050406030204" pitchFamily="18" charset="0"/>
                              </a:rPr>
                              <m:t>𝑛</m:t>
                            </m:r>
                          </m:sup>
                        </m:sSup>
                        <m:r>
                          <a:rPr lang="es-ES" sz="2000" i="1">
                            <a:solidFill>
                              <a:srgbClr val="00B050"/>
                            </a:solidFill>
                            <a:latin typeface="Cambria Math" panose="02040503050406030204" pitchFamily="18" charset="0"/>
                          </a:rPr>
                          <m:t>−1</m:t>
                        </m:r>
                      </m:num>
                      <m:den>
                        <m:r>
                          <a:rPr lang="es-ES" sz="2000" b="0" i="1" smtClean="0">
                            <a:solidFill>
                              <a:srgbClr val="00B050"/>
                            </a:solidFill>
                            <a:latin typeface="Cambria Math" panose="02040503050406030204" pitchFamily="18" charset="0"/>
                          </a:rPr>
                          <m:t>𝑟</m:t>
                        </m:r>
                      </m:den>
                    </m:f>
                  </m:oMath>
                </a14:m>
                <a:r>
                  <a:rPr lang="es-MX" sz="2000" dirty="0">
                    <a:solidFill>
                      <a:srgbClr val="00B050"/>
                    </a:solidFill>
                  </a:rPr>
                  <a:t> </a:t>
                </a:r>
              </a:p>
            </p:txBody>
          </p:sp>
        </mc:Choice>
        <mc:Fallback xmlns="">
          <p:sp>
            <p:nvSpPr>
              <p:cNvPr id="22" name="CuadroTexto 21">
                <a:extLst>
                  <a:ext uri="{FF2B5EF4-FFF2-40B4-BE49-F238E27FC236}">
                    <a16:creationId xmlns:a16="http://schemas.microsoft.com/office/drawing/2014/main" id="{C2F76C01-EBDC-4C11-8B31-CD6337231FFE}"/>
                  </a:ext>
                </a:extLst>
              </p:cNvPr>
              <p:cNvSpPr txBox="1">
                <a:spLocks noRot="1" noChangeAspect="1" noMove="1" noResize="1" noEditPoints="1" noAdjustHandles="1" noChangeArrowheads="1" noChangeShapeType="1" noTextEdit="1"/>
              </p:cNvSpPr>
              <p:nvPr/>
            </p:nvSpPr>
            <p:spPr>
              <a:xfrm>
                <a:off x="2992283" y="5491632"/>
                <a:ext cx="2302233" cy="464486"/>
              </a:xfrm>
              <a:prstGeom prst="rect">
                <a:avLst/>
              </a:prstGeom>
              <a:blipFill>
                <a:blip r:embed="rId6"/>
                <a:stretch>
                  <a:fillRect/>
                </a:stretch>
              </a:blipFill>
            </p:spPr>
            <p:txBody>
              <a:bodyPr/>
              <a:lstStyle/>
              <a:p>
                <a:r>
                  <a:rPr lang="es-MX">
                    <a:noFill/>
                  </a:rPr>
                  <a:t> </a:t>
                </a:r>
              </a:p>
            </p:txBody>
          </p:sp>
        </mc:Fallback>
      </mc:AlternateContent>
      <p:sp>
        <p:nvSpPr>
          <p:cNvPr id="15" name="Título 3">
            <a:extLst>
              <a:ext uri="{FF2B5EF4-FFF2-40B4-BE49-F238E27FC236}">
                <a16:creationId xmlns:a16="http://schemas.microsoft.com/office/drawing/2014/main" id="{87220C0F-5ADE-46FD-92C2-47612F70F94D}"/>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1.6.2 Valor Futuro - Cálculo</a:t>
            </a:r>
            <a:endParaRPr lang="es-MX" sz="36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4192210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1.6.2 Valor Futuro - Cálculo</a:t>
            </a:r>
            <a:endParaRPr lang="es-MX" sz="3600" b="1" dirty="0">
              <a:solidFill>
                <a:srgbClr val="131D3F"/>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564947"/>
            <a:ext cx="10550845" cy="71519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Si se invierten $1,000 hoy a una tasa de interés del 5% anual durante 3 años, el valor futuro sería:</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790E138-4216-4DED-8E33-FAD07D41477D}"/>
                  </a:ext>
                </a:extLst>
              </p:cNvPr>
              <p:cNvSpPr txBox="1"/>
              <p:nvPr/>
            </p:nvSpPr>
            <p:spPr>
              <a:xfrm>
                <a:off x="6649884" y="2433986"/>
                <a:ext cx="2878545"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=$1,000</m:t>
                    </m:r>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1+0.05)</m:t>
                        </m:r>
                      </m:e>
                      <m:sup>
                        <m:r>
                          <a:rPr lang="es-ES" sz="2000" b="0" i="1" smtClean="0">
                            <a:solidFill>
                              <a:srgbClr val="00B050"/>
                            </a:solidFill>
                            <a:latin typeface="Cambria Math" panose="02040503050406030204" pitchFamily="18" charset="0"/>
                          </a:rPr>
                          <m:t>3</m:t>
                        </m:r>
                      </m:sup>
                    </m:sSup>
                  </m:oMath>
                </a14:m>
                <a:r>
                  <a:rPr lang="es-MX" sz="2000" dirty="0">
                    <a:solidFill>
                      <a:srgbClr val="00B050"/>
                    </a:solidFill>
                  </a:rPr>
                  <a:t> </a:t>
                </a:r>
              </a:p>
            </p:txBody>
          </p:sp>
        </mc:Choice>
        <mc:Fallback xmlns="">
          <p:sp>
            <p:nvSpPr>
              <p:cNvPr id="14" name="CuadroTexto 13">
                <a:extLst>
                  <a:ext uri="{FF2B5EF4-FFF2-40B4-BE49-F238E27FC236}">
                    <a16:creationId xmlns:a16="http://schemas.microsoft.com/office/drawing/2014/main" id="{6790E138-4216-4DED-8E33-FAD07D41477D}"/>
                  </a:ext>
                </a:extLst>
              </p:cNvPr>
              <p:cNvSpPr txBox="1">
                <a:spLocks noRot="1" noChangeAspect="1" noMove="1" noResize="1" noEditPoints="1" noAdjustHandles="1" noChangeArrowheads="1" noChangeShapeType="1" noTextEdit="1"/>
              </p:cNvSpPr>
              <p:nvPr/>
            </p:nvSpPr>
            <p:spPr>
              <a:xfrm>
                <a:off x="6649884" y="2433986"/>
                <a:ext cx="2878545" cy="307777"/>
              </a:xfrm>
              <a:prstGeom prst="rect">
                <a:avLst/>
              </a:prstGeom>
              <a:blipFill>
                <a:blip r:embed="rId5"/>
                <a:stretch>
                  <a:fillRect l="-3178" t="-3922" b="-33333"/>
                </a:stretch>
              </a:blipFill>
            </p:spPr>
            <p:txBody>
              <a:bodyPr/>
              <a:lstStyle/>
              <a:p>
                <a:r>
                  <a:rPr lang="es-MX">
                    <a:noFill/>
                  </a:rPr>
                  <a:t> </a:t>
                </a:r>
              </a:p>
            </p:txBody>
          </p:sp>
        </mc:Fallback>
      </mc:AlternateContent>
      <p:sp>
        <p:nvSpPr>
          <p:cNvPr id="16" name="Google Shape;112;p3">
            <a:extLst>
              <a:ext uri="{FF2B5EF4-FFF2-40B4-BE49-F238E27FC236}">
                <a16:creationId xmlns:a16="http://schemas.microsoft.com/office/drawing/2014/main" id="{1F0D832E-2DFC-48A8-9A12-E28794F9CEA4}"/>
              </a:ext>
            </a:extLst>
          </p:cNvPr>
          <p:cNvSpPr txBox="1"/>
          <p:nvPr/>
        </p:nvSpPr>
        <p:spPr>
          <a:xfrm>
            <a:off x="2184966" y="2321709"/>
            <a:ext cx="2685972" cy="1353475"/>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VF = 	</a:t>
            </a:r>
            <a:r>
              <a:rPr lang="es-ES" dirty="0">
                <a:solidFill>
                  <a:srgbClr val="131D3F"/>
                </a:solidFill>
                <a:latin typeface="Montserrat" panose="00000500000000000000" pitchFamily="2" charset="0"/>
              </a:rPr>
              <a:t>¿ ?</a:t>
            </a:r>
          </a:p>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$1,000.00</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5.0%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3 años</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2F76C01-EBDC-4C11-8B31-CD6337231FFE}"/>
                  </a:ext>
                </a:extLst>
              </p:cNvPr>
              <p:cNvSpPr txBox="1"/>
              <p:nvPr/>
            </p:nvSpPr>
            <p:spPr>
              <a:xfrm>
                <a:off x="6649884" y="4801222"/>
                <a:ext cx="2443746" cy="481863"/>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=200</m:t>
                    </m:r>
                    <m:r>
                      <a:rPr lang="es-ES" sz="2000" b="0" i="1" smtClean="0">
                        <a:solidFill>
                          <a:srgbClr val="00B050"/>
                        </a:solidFill>
                        <a:latin typeface="Cambria Math" panose="02040503050406030204" pitchFamily="18" charset="0"/>
                      </a:rPr>
                      <m:t>𝑥</m:t>
                    </m:r>
                    <m:f>
                      <m:fPr>
                        <m:ctrlPr>
                          <a:rPr lang="es-ES" sz="2000" b="0" i="1" smtClean="0">
                            <a:solidFill>
                              <a:srgbClr val="00B050"/>
                            </a:solidFill>
                            <a:latin typeface="Cambria Math" panose="02040503050406030204" pitchFamily="18" charset="0"/>
                          </a:rPr>
                        </m:ctrlPr>
                      </m:fPr>
                      <m:num>
                        <m:r>
                          <a:rPr lang="es-ES" sz="2000" i="1">
                            <a:solidFill>
                              <a:srgbClr val="00B050"/>
                            </a:solidFill>
                            <a:latin typeface="Cambria Math" panose="02040503050406030204" pitchFamily="18" charset="0"/>
                          </a:rPr>
                          <m:t>(</m:t>
                        </m:r>
                        <m:sSup>
                          <m:sSupPr>
                            <m:ctrlPr>
                              <a:rPr lang="es-ES" sz="2000" i="1" smtClean="0">
                                <a:solidFill>
                                  <a:srgbClr val="00B050"/>
                                </a:solidFill>
                                <a:latin typeface="Cambria Math" panose="02040503050406030204" pitchFamily="18" charset="0"/>
                              </a:rPr>
                            </m:ctrlPr>
                          </m:sSupPr>
                          <m:e>
                            <m:r>
                              <a:rPr lang="es-ES" sz="2000" i="1">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0.04</m:t>
                            </m:r>
                            <m:r>
                              <a:rPr lang="es-ES" sz="2000" i="1">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5</m:t>
                            </m:r>
                          </m:sup>
                        </m:sSup>
                        <m:r>
                          <a:rPr lang="es-ES" sz="2000" i="1">
                            <a:solidFill>
                              <a:srgbClr val="00B050"/>
                            </a:solidFill>
                            <a:latin typeface="Cambria Math" panose="02040503050406030204" pitchFamily="18" charset="0"/>
                          </a:rPr>
                          <m:t>−1</m:t>
                        </m:r>
                      </m:num>
                      <m:den>
                        <m:r>
                          <a:rPr lang="es-ES" sz="2000" b="0" i="1" smtClean="0">
                            <a:solidFill>
                              <a:srgbClr val="00B050"/>
                            </a:solidFill>
                            <a:latin typeface="Cambria Math" panose="02040503050406030204" pitchFamily="18" charset="0"/>
                          </a:rPr>
                          <m:t>0.04</m:t>
                        </m:r>
                      </m:den>
                    </m:f>
                  </m:oMath>
                </a14:m>
                <a:r>
                  <a:rPr lang="es-MX" sz="2000" dirty="0">
                    <a:solidFill>
                      <a:srgbClr val="00B050"/>
                    </a:solidFill>
                  </a:rPr>
                  <a:t> </a:t>
                </a:r>
              </a:p>
            </p:txBody>
          </p:sp>
        </mc:Choice>
        <mc:Fallback xmlns="">
          <p:sp>
            <p:nvSpPr>
              <p:cNvPr id="22" name="CuadroTexto 21">
                <a:extLst>
                  <a:ext uri="{FF2B5EF4-FFF2-40B4-BE49-F238E27FC236}">
                    <a16:creationId xmlns:a16="http://schemas.microsoft.com/office/drawing/2014/main" id="{C2F76C01-EBDC-4C11-8B31-CD6337231FFE}"/>
                  </a:ext>
                </a:extLst>
              </p:cNvPr>
              <p:cNvSpPr txBox="1">
                <a:spLocks noRot="1" noChangeAspect="1" noMove="1" noResize="1" noEditPoints="1" noAdjustHandles="1" noChangeArrowheads="1" noChangeShapeType="1" noTextEdit="1"/>
              </p:cNvSpPr>
              <p:nvPr/>
            </p:nvSpPr>
            <p:spPr>
              <a:xfrm>
                <a:off x="6649884" y="4801222"/>
                <a:ext cx="2443746" cy="481863"/>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147AF15C-1DE0-4882-8155-3518597C8B0E}"/>
                  </a:ext>
                </a:extLst>
              </p:cNvPr>
              <p:cNvSpPr txBox="1"/>
              <p:nvPr/>
            </p:nvSpPr>
            <p:spPr>
              <a:xfrm>
                <a:off x="6649884" y="3006875"/>
                <a:ext cx="4240520"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=$1,000</m:t>
                    </m:r>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1.157625=</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𝟏</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𝟏𝟓𝟕</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𝟔𝟑</m:t>
                    </m:r>
                  </m:oMath>
                </a14:m>
                <a:r>
                  <a:rPr lang="es-MX" sz="2000" b="1" dirty="0">
                    <a:solidFill>
                      <a:srgbClr val="00B050"/>
                    </a:solidFill>
                  </a:rPr>
                  <a:t> </a:t>
                </a:r>
              </a:p>
            </p:txBody>
          </p:sp>
        </mc:Choice>
        <mc:Fallback xmlns="">
          <p:sp>
            <p:nvSpPr>
              <p:cNvPr id="12" name="CuadroTexto 11">
                <a:extLst>
                  <a:ext uri="{FF2B5EF4-FFF2-40B4-BE49-F238E27FC236}">
                    <a16:creationId xmlns:a16="http://schemas.microsoft.com/office/drawing/2014/main" id="{147AF15C-1DE0-4882-8155-3518597C8B0E}"/>
                  </a:ext>
                </a:extLst>
              </p:cNvPr>
              <p:cNvSpPr txBox="1">
                <a:spLocks noRot="1" noChangeAspect="1" noMove="1" noResize="1" noEditPoints="1" noAdjustHandles="1" noChangeArrowheads="1" noChangeShapeType="1" noTextEdit="1"/>
              </p:cNvSpPr>
              <p:nvPr/>
            </p:nvSpPr>
            <p:spPr>
              <a:xfrm>
                <a:off x="6649884" y="3006875"/>
                <a:ext cx="4240520" cy="307777"/>
              </a:xfrm>
              <a:prstGeom prst="rect">
                <a:avLst/>
              </a:prstGeom>
              <a:blipFill>
                <a:blip r:embed="rId7"/>
                <a:stretch>
                  <a:fillRect l="-2158" t="-3922" b="-17647"/>
                </a:stretch>
              </a:blipFill>
            </p:spPr>
            <p:txBody>
              <a:bodyPr/>
              <a:lstStyle/>
              <a:p>
                <a:r>
                  <a:rPr lang="es-MX">
                    <a:noFill/>
                  </a:rPr>
                  <a:t> </a:t>
                </a:r>
              </a:p>
            </p:txBody>
          </p:sp>
        </mc:Fallback>
      </mc:AlternateContent>
      <p:sp>
        <p:nvSpPr>
          <p:cNvPr id="15" name="Google Shape;112;p3">
            <a:extLst>
              <a:ext uri="{FF2B5EF4-FFF2-40B4-BE49-F238E27FC236}">
                <a16:creationId xmlns:a16="http://schemas.microsoft.com/office/drawing/2014/main" id="{C12EE8B7-E4B3-45FB-B003-C6686CF6C9DE}"/>
              </a:ext>
            </a:extLst>
          </p:cNvPr>
          <p:cNvSpPr txBox="1"/>
          <p:nvPr/>
        </p:nvSpPr>
        <p:spPr>
          <a:xfrm>
            <a:off x="817880" y="3948905"/>
            <a:ext cx="10550845" cy="71519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Si se deposita $200 al final de cada año durante 5 años a una tasa de interés del 4% anual, el valor futuro sería:</a:t>
            </a:r>
          </a:p>
        </p:txBody>
      </p:sp>
      <p:sp>
        <p:nvSpPr>
          <p:cNvPr id="23" name="Google Shape;112;p3">
            <a:extLst>
              <a:ext uri="{FF2B5EF4-FFF2-40B4-BE49-F238E27FC236}">
                <a16:creationId xmlns:a16="http://schemas.microsoft.com/office/drawing/2014/main" id="{B7FC791D-685A-474A-8223-BC7884CE8FB6}"/>
              </a:ext>
            </a:extLst>
          </p:cNvPr>
          <p:cNvSpPr txBox="1"/>
          <p:nvPr/>
        </p:nvSpPr>
        <p:spPr>
          <a:xfrm>
            <a:off x="2184966" y="4801222"/>
            <a:ext cx="2685972" cy="1353475"/>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VF = 	</a:t>
            </a:r>
            <a:r>
              <a:rPr lang="es-ES" dirty="0">
                <a:solidFill>
                  <a:srgbClr val="131D3F"/>
                </a:solidFill>
                <a:latin typeface="Montserrat" panose="00000500000000000000" pitchFamily="2" charset="0"/>
              </a:rPr>
              <a:t>¿ ?</a:t>
            </a:r>
          </a:p>
          <a:p>
            <a:pPr algn="just">
              <a:spcAft>
                <a:spcPts val="600"/>
              </a:spcAft>
            </a:pPr>
            <a:r>
              <a:rPr lang="es-ES" b="1" dirty="0">
                <a:solidFill>
                  <a:srgbClr val="131D3F"/>
                </a:solidFill>
                <a:latin typeface="Montserrat" panose="00000500000000000000" pitchFamily="2" charset="0"/>
              </a:rPr>
              <a:t>PMT =</a:t>
            </a:r>
            <a:r>
              <a:rPr lang="es-ES" dirty="0">
                <a:solidFill>
                  <a:srgbClr val="131D3F"/>
                </a:solidFill>
                <a:latin typeface="Montserrat" panose="00000500000000000000" pitchFamily="2" charset="0"/>
              </a:rPr>
              <a:t> 	$200.00</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4.0%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5 años</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8ECC345-131A-486F-B87E-4F4C78080E10}"/>
                  </a:ext>
                </a:extLst>
              </p:cNvPr>
              <p:cNvSpPr txBox="1"/>
              <p:nvPr/>
            </p:nvSpPr>
            <p:spPr>
              <a:xfrm>
                <a:off x="6649884" y="5477959"/>
                <a:ext cx="3532442" cy="441596"/>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=200</m:t>
                    </m:r>
                    <m:r>
                      <a:rPr lang="es-ES" sz="2000" b="0" i="1" smtClean="0">
                        <a:solidFill>
                          <a:srgbClr val="00B050"/>
                        </a:solidFill>
                        <a:latin typeface="Cambria Math" panose="02040503050406030204" pitchFamily="18" charset="0"/>
                      </a:rPr>
                      <m:t>𝑥</m:t>
                    </m:r>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0.216652</m:t>
                        </m:r>
                      </m:num>
                      <m:den>
                        <m:r>
                          <a:rPr lang="es-ES" sz="2000" b="0" i="1" smtClean="0">
                            <a:solidFill>
                              <a:srgbClr val="00B050"/>
                            </a:solidFill>
                            <a:latin typeface="Cambria Math" panose="02040503050406030204" pitchFamily="18" charset="0"/>
                          </a:rPr>
                          <m:t>0.04</m:t>
                        </m:r>
                      </m:den>
                    </m:f>
                  </m:oMath>
                </a14:m>
                <a:r>
                  <a:rPr lang="es-MX" sz="2000" dirty="0">
                    <a:solidFill>
                      <a:srgbClr val="00B050"/>
                    </a:solidFill>
                  </a:rPr>
                  <a:t> </a:t>
                </a:r>
                <a:r>
                  <a:rPr lang="es-MX" sz="2000" i="1" dirty="0">
                    <a:solidFill>
                      <a:srgbClr val="00B050"/>
                    </a:solidFill>
                    <a:latin typeface="Cambria Math" panose="02040503050406030204" pitchFamily="18" charset="0"/>
                  </a:rPr>
                  <a:t>= </a:t>
                </a:r>
                <a:r>
                  <a:rPr lang="es-MX" sz="2000" b="1" dirty="0">
                    <a:solidFill>
                      <a:srgbClr val="00B050"/>
                    </a:solidFill>
                    <a:latin typeface="Cambria Math" panose="02040503050406030204" pitchFamily="18" charset="0"/>
                  </a:rPr>
                  <a:t>$1,083.26 </a:t>
                </a:r>
              </a:p>
            </p:txBody>
          </p:sp>
        </mc:Choice>
        <mc:Fallback xmlns="">
          <p:sp>
            <p:nvSpPr>
              <p:cNvPr id="24" name="CuadroTexto 23">
                <a:extLst>
                  <a:ext uri="{FF2B5EF4-FFF2-40B4-BE49-F238E27FC236}">
                    <a16:creationId xmlns:a16="http://schemas.microsoft.com/office/drawing/2014/main" id="{78ECC345-131A-486F-B87E-4F4C78080E10}"/>
                  </a:ext>
                </a:extLst>
              </p:cNvPr>
              <p:cNvSpPr txBox="1">
                <a:spLocks noRot="1" noChangeAspect="1" noMove="1" noResize="1" noEditPoints="1" noAdjustHandles="1" noChangeArrowheads="1" noChangeShapeType="1" noTextEdit="1"/>
              </p:cNvSpPr>
              <p:nvPr/>
            </p:nvSpPr>
            <p:spPr>
              <a:xfrm>
                <a:off x="6649884" y="5477959"/>
                <a:ext cx="3532442" cy="441596"/>
              </a:xfrm>
              <a:prstGeom prst="rect">
                <a:avLst/>
              </a:prstGeom>
              <a:blipFill>
                <a:blip r:embed="rId8"/>
                <a:stretch>
                  <a:fillRect t="-5556" r="-2763" b="-16667"/>
                </a:stretch>
              </a:blipFill>
            </p:spPr>
            <p:txBody>
              <a:bodyPr/>
              <a:lstStyle/>
              <a:p>
                <a:r>
                  <a:rPr lang="es-MX">
                    <a:noFill/>
                  </a:rPr>
                  <a:t> </a:t>
                </a:r>
              </a:p>
            </p:txBody>
          </p:sp>
        </mc:Fallback>
      </mc:AlternateContent>
    </p:spTree>
    <p:extLst>
      <p:ext uri="{BB962C8B-B14F-4D97-AF65-F5344CB8AC3E}">
        <p14:creationId xmlns:p14="http://schemas.microsoft.com/office/powerpoint/2010/main" val="215954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1.6.2 Valor Futuro – Tasas Variables</a:t>
            </a:r>
            <a:endParaRPr lang="es-MX" sz="3600" b="1" dirty="0">
              <a:solidFill>
                <a:srgbClr val="131D3F"/>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161594"/>
            <a:ext cx="10550845" cy="71519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Para calcular el valor futuro con tasas de interés variables, se deben aplicar las tasas específicas para cada período. No hay una fórmula única, ya que se debe aplicar la tasa variable a cada período según corresponda.</a:t>
            </a:r>
          </a:p>
          <a:p>
            <a:pPr algn="just">
              <a:spcAft>
                <a:spcPts val="600"/>
              </a:spcAft>
            </a:pPr>
            <a:endParaRPr lang="es-ES" sz="2200" dirty="0">
              <a:solidFill>
                <a:srgbClr val="131D3F"/>
              </a:solidFill>
              <a:latin typeface="Montserrat" panose="00000500000000000000" pitchFamily="2" charset="0"/>
            </a:endParaRPr>
          </a:p>
          <a:p>
            <a:pPr algn="just">
              <a:spcAft>
                <a:spcPts val="600"/>
              </a:spcAft>
            </a:pPr>
            <a:r>
              <a:rPr lang="es-ES" sz="2200" u="sng" dirty="0">
                <a:solidFill>
                  <a:srgbClr val="131D3F"/>
                </a:solidFill>
                <a:latin typeface="Montserrat" panose="00000500000000000000" pitchFamily="2" charset="0"/>
              </a:rPr>
              <a:t>Por ejemplo:</a:t>
            </a:r>
          </a:p>
          <a:p>
            <a:pPr algn="just">
              <a:spcAft>
                <a:spcPts val="600"/>
              </a:spcAft>
            </a:pPr>
            <a:r>
              <a:rPr lang="es-ES" sz="2200" dirty="0">
                <a:solidFill>
                  <a:srgbClr val="131D3F"/>
                </a:solidFill>
                <a:latin typeface="Montserrat" panose="00000500000000000000" pitchFamily="2" charset="0"/>
              </a:rPr>
              <a:t>Si se invierten $1,000 con una tasa de interés del 4% en el primer año, 5% en el segundo año y 6% en el tercer año, el cálculo sería:</a:t>
            </a:r>
          </a:p>
          <a:p>
            <a:pPr algn="just">
              <a:spcAft>
                <a:spcPts val="600"/>
              </a:spcAft>
            </a:pPr>
            <a:endParaRPr lang="es-ES" sz="2200"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790E138-4216-4DED-8E33-FAD07D41477D}"/>
                  </a:ext>
                </a:extLst>
              </p:cNvPr>
              <p:cNvSpPr txBox="1"/>
              <p:nvPr/>
            </p:nvSpPr>
            <p:spPr>
              <a:xfrm>
                <a:off x="6649884" y="4333124"/>
                <a:ext cx="4271234"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baseline="-25000"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=$1,000</m:t>
                    </m:r>
                    <m:r>
                      <a:rPr lang="es-ES" sz="2000" b="0" i="1" smtClean="0">
                        <a:solidFill>
                          <a:srgbClr val="00B050"/>
                        </a:solidFill>
                        <a:latin typeface="Cambria Math" panose="02040503050406030204" pitchFamily="18" charset="0"/>
                      </a:rPr>
                      <m:t>𝑥</m:t>
                    </m:r>
                    <m:d>
                      <m:dPr>
                        <m:ctrlPr>
                          <a:rPr lang="es-ES" sz="2000" b="0" i="1" smtClean="0">
                            <a:solidFill>
                              <a:srgbClr val="00B050"/>
                            </a:solidFill>
                            <a:latin typeface="Cambria Math" panose="02040503050406030204" pitchFamily="18" charset="0"/>
                          </a:rPr>
                        </m:ctrlPr>
                      </m:dPr>
                      <m:e>
                        <m:r>
                          <a:rPr lang="es-ES" sz="2000" b="0" i="0" smtClean="0">
                            <a:solidFill>
                              <a:srgbClr val="00B050"/>
                            </a:solidFill>
                            <a:latin typeface="Cambria Math" panose="02040503050406030204" pitchFamily="18" charset="0"/>
                          </a:rPr>
                          <m:t>1+0.04</m:t>
                        </m:r>
                      </m:e>
                    </m:d>
                    <m:r>
                      <a:rPr lang="es-ES" sz="2000" b="0" i="0" smtClean="0">
                        <a:solidFill>
                          <a:srgbClr val="00B050"/>
                        </a:solidFill>
                        <a:latin typeface="Cambria Math" panose="02040503050406030204" pitchFamily="18" charset="0"/>
                      </a:rPr>
                      <m:t>=$1,040.00</m:t>
                    </m:r>
                  </m:oMath>
                </a14:m>
                <a:r>
                  <a:rPr lang="es-MX" sz="2000" dirty="0">
                    <a:solidFill>
                      <a:srgbClr val="00B050"/>
                    </a:solidFill>
                  </a:rPr>
                  <a:t> </a:t>
                </a:r>
              </a:p>
            </p:txBody>
          </p:sp>
        </mc:Choice>
        <mc:Fallback xmlns="">
          <p:sp>
            <p:nvSpPr>
              <p:cNvPr id="14" name="CuadroTexto 13">
                <a:extLst>
                  <a:ext uri="{FF2B5EF4-FFF2-40B4-BE49-F238E27FC236}">
                    <a16:creationId xmlns:a16="http://schemas.microsoft.com/office/drawing/2014/main" id="{6790E138-4216-4DED-8E33-FAD07D41477D}"/>
                  </a:ext>
                </a:extLst>
              </p:cNvPr>
              <p:cNvSpPr txBox="1">
                <a:spLocks noRot="1" noChangeAspect="1" noMove="1" noResize="1" noEditPoints="1" noAdjustHandles="1" noChangeArrowheads="1" noChangeShapeType="1" noTextEdit="1"/>
              </p:cNvSpPr>
              <p:nvPr/>
            </p:nvSpPr>
            <p:spPr>
              <a:xfrm>
                <a:off x="6649884" y="4333124"/>
                <a:ext cx="4271234" cy="307777"/>
              </a:xfrm>
              <a:prstGeom prst="rect">
                <a:avLst/>
              </a:prstGeom>
              <a:blipFill>
                <a:blip r:embed="rId5"/>
                <a:stretch>
                  <a:fillRect l="-2140" t="-4000" b="-20000"/>
                </a:stretch>
              </a:blipFill>
            </p:spPr>
            <p:txBody>
              <a:bodyPr/>
              <a:lstStyle/>
              <a:p>
                <a:r>
                  <a:rPr lang="es-MX">
                    <a:noFill/>
                  </a:rPr>
                  <a:t> </a:t>
                </a:r>
              </a:p>
            </p:txBody>
          </p:sp>
        </mc:Fallback>
      </mc:AlternateContent>
      <p:sp>
        <p:nvSpPr>
          <p:cNvPr id="16" name="Google Shape;112;p3">
            <a:extLst>
              <a:ext uri="{FF2B5EF4-FFF2-40B4-BE49-F238E27FC236}">
                <a16:creationId xmlns:a16="http://schemas.microsoft.com/office/drawing/2014/main" id="{1F0D832E-2DFC-48A8-9A12-E28794F9CEA4}"/>
              </a:ext>
            </a:extLst>
          </p:cNvPr>
          <p:cNvSpPr txBox="1"/>
          <p:nvPr/>
        </p:nvSpPr>
        <p:spPr>
          <a:xfrm>
            <a:off x="1320585" y="4071378"/>
            <a:ext cx="2685972" cy="1353475"/>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VF = 	</a:t>
            </a:r>
            <a:r>
              <a:rPr lang="es-ES" dirty="0">
                <a:solidFill>
                  <a:srgbClr val="131D3F"/>
                </a:solidFill>
                <a:latin typeface="Montserrat" panose="00000500000000000000" pitchFamily="2" charset="0"/>
              </a:rPr>
              <a:t>¿ ?</a:t>
            </a:r>
          </a:p>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$1,000.00</a:t>
            </a:r>
          </a:p>
          <a:p>
            <a:pPr algn="just">
              <a:spcAft>
                <a:spcPts val="600"/>
              </a:spcAft>
            </a:pPr>
            <a:r>
              <a:rPr lang="es-ES" b="1" dirty="0">
                <a:solidFill>
                  <a:srgbClr val="131D3F"/>
                </a:solidFill>
                <a:latin typeface="Montserrat" panose="00000500000000000000" pitchFamily="2" charset="0"/>
              </a:rPr>
              <a:t>r</a:t>
            </a:r>
            <a:r>
              <a:rPr lang="es-ES" b="1" baseline="-25000" dirty="0">
                <a:solidFill>
                  <a:srgbClr val="131D3F"/>
                </a:solidFill>
                <a:latin typeface="Montserrat" panose="00000500000000000000" pitchFamily="2" charset="0"/>
              </a:rPr>
              <a:t>1</a:t>
            </a:r>
            <a:r>
              <a:rPr lang="es-ES" b="1" dirty="0">
                <a:solidFill>
                  <a:srgbClr val="131D3F"/>
                </a:solidFill>
                <a:latin typeface="Montserrat" panose="00000500000000000000" pitchFamily="2" charset="0"/>
              </a:rPr>
              <a:t> = 	</a:t>
            </a:r>
            <a:r>
              <a:rPr lang="es-ES" dirty="0">
                <a:solidFill>
                  <a:srgbClr val="131D3F"/>
                </a:solidFill>
                <a:latin typeface="Montserrat" panose="00000500000000000000" pitchFamily="2" charset="0"/>
              </a:rPr>
              <a:t>4.0% (anual)</a:t>
            </a:r>
          </a:p>
          <a:p>
            <a:pPr algn="just">
              <a:spcAft>
                <a:spcPts val="600"/>
              </a:spcAft>
            </a:pPr>
            <a:r>
              <a:rPr lang="es-ES" b="1" dirty="0">
                <a:solidFill>
                  <a:srgbClr val="131D3F"/>
                </a:solidFill>
                <a:latin typeface="Montserrat" panose="00000500000000000000" pitchFamily="2" charset="0"/>
              </a:rPr>
              <a:t>r</a:t>
            </a:r>
            <a:r>
              <a:rPr lang="es-ES" b="1" baseline="-25000" dirty="0">
                <a:solidFill>
                  <a:srgbClr val="131D3F"/>
                </a:solidFill>
                <a:latin typeface="Montserrat" panose="00000500000000000000" pitchFamily="2" charset="0"/>
              </a:rPr>
              <a:t>2</a:t>
            </a:r>
            <a:r>
              <a:rPr lang="es-ES" b="1" dirty="0">
                <a:solidFill>
                  <a:srgbClr val="131D3F"/>
                </a:solidFill>
                <a:latin typeface="Montserrat" panose="00000500000000000000" pitchFamily="2" charset="0"/>
              </a:rPr>
              <a:t> = 	</a:t>
            </a:r>
            <a:r>
              <a:rPr lang="es-ES" dirty="0">
                <a:solidFill>
                  <a:srgbClr val="131D3F"/>
                </a:solidFill>
                <a:latin typeface="Montserrat" panose="00000500000000000000" pitchFamily="2" charset="0"/>
              </a:rPr>
              <a:t>5.0% (anual)</a:t>
            </a:r>
          </a:p>
          <a:p>
            <a:pPr algn="just">
              <a:spcAft>
                <a:spcPts val="600"/>
              </a:spcAft>
            </a:pPr>
            <a:r>
              <a:rPr lang="es-ES" b="1" dirty="0">
                <a:solidFill>
                  <a:srgbClr val="131D3F"/>
                </a:solidFill>
                <a:latin typeface="Montserrat" panose="00000500000000000000" pitchFamily="2" charset="0"/>
              </a:rPr>
              <a:t>r</a:t>
            </a:r>
            <a:r>
              <a:rPr lang="es-ES" b="1" baseline="-25000" dirty="0">
                <a:solidFill>
                  <a:srgbClr val="131D3F"/>
                </a:solidFill>
                <a:latin typeface="Montserrat" panose="00000500000000000000" pitchFamily="2" charset="0"/>
              </a:rPr>
              <a:t>3</a:t>
            </a:r>
            <a:r>
              <a:rPr lang="es-ES" b="1" dirty="0">
                <a:solidFill>
                  <a:srgbClr val="131D3F"/>
                </a:solidFill>
                <a:latin typeface="Montserrat" panose="00000500000000000000" pitchFamily="2" charset="0"/>
              </a:rPr>
              <a:t> = 	</a:t>
            </a:r>
            <a:r>
              <a:rPr lang="es-ES" dirty="0">
                <a:solidFill>
                  <a:srgbClr val="131D3F"/>
                </a:solidFill>
                <a:latin typeface="Montserrat" panose="00000500000000000000" pitchFamily="2" charset="0"/>
              </a:rPr>
              <a:t>6.0%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3 años</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610241B3-AD52-4631-B4CF-C745557F26F9}"/>
                  </a:ext>
                </a:extLst>
              </p:cNvPr>
              <p:cNvSpPr txBox="1"/>
              <p:nvPr/>
            </p:nvSpPr>
            <p:spPr>
              <a:xfrm>
                <a:off x="6649884" y="4856914"/>
                <a:ext cx="4271234"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baseline="-25000"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=$1,040</m:t>
                    </m:r>
                    <m:r>
                      <a:rPr lang="es-ES" sz="2000" b="0" i="1" smtClean="0">
                        <a:solidFill>
                          <a:srgbClr val="00B050"/>
                        </a:solidFill>
                        <a:latin typeface="Cambria Math" panose="02040503050406030204" pitchFamily="18" charset="0"/>
                      </a:rPr>
                      <m:t>𝑥</m:t>
                    </m:r>
                    <m:d>
                      <m:dPr>
                        <m:ctrlPr>
                          <a:rPr lang="es-ES" sz="2000" b="0" i="1" smtClean="0">
                            <a:solidFill>
                              <a:srgbClr val="00B050"/>
                            </a:solidFill>
                            <a:latin typeface="Cambria Math" panose="02040503050406030204" pitchFamily="18" charset="0"/>
                          </a:rPr>
                        </m:ctrlPr>
                      </m:dPr>
                      <m:e>
                        <m:r>
                          <a:rPr lang="es-ES" sz="2000" b="0" i="0" smtClean="0">
                            <a:solidFill>
                              <a:srgbClr val="00B050"/>
                            </a:solidFill>
                            <a:latin typeface="Cambria Math" panose="02040503050406030204" pitchFamily="18" charset="0"/>
                          </a:rPr>
                          <m:t>1+0.05</m:t>
                        </m:r>
                      </m:e>
                    </m:d>
                    <m:r>
                      <a:rPr lang="es-ES" sz="2000" b="0" i="0" smtClean="0">
                        <a:solidFill>
                          <a:srgbClr val="00B050"/>
                        </a:solidFill>
                        <a:latin typeface="Cambria Math" panose="02040503050406030204" pitchFamily="18" charset="0"/>
                      </a:rPr>
                      <m:t>=$1,092.00</m:t>
                    </m:r>
                  </m:oMath>
                </a14:m>
                <a:r>
                  <a:rPr lang="es-MX" sz="2000" dirty="0">
                    <a:solidFill>
                      <a:srgbClr val="00B050"/>
                    </a:solidFill>
                  </a:rPr>
                  <a:t> </a:t>
                </a:r>
              </a:p>
            </p:txBody>
          </p:sp>
        </mc:Choice>
        <mc:Fallback xmlns="">
          <p:sp>
            <p:nvSpPr>
              <p:cNvPr id="13" name="CuadroTexto 12">
                <a:extLst>
                  <a:ext uri="{FF2B5EF4-FFF2-40B4-BE49-F238E27FC236}">
                    <a16:creationId xmlns:a16="http://schemas.microsoft.com/office/drawing/2014/main" id="{610241B3-AD52-4631-B4CF-C745557F26F9}"/>
                  </a:ext>
                </a:extLst>
              </p:cNvPr>
              <p:cNvSpPr txBox="1">
                <a:spLocks noRot="1" noChangeAspect="1" noMove="1" noResize="1" noEditPoints="1" noAdjustHandles="1" noChangeArrowheads="1" noChangeShapeType="1" noTextEdit="1"/>
              </p:cNvSpPr>
              <p:nvPr/>
            </p:nvSpPr>
            <p:spPr>
              <a:xfrm>
                <a:off x="6649884" y="4856914"/>
                <a:ext cx="4271234" cy="307777"/>
              </a:xfrm>
              <a:prstGeom prst="rect">
                <a:avLst/>
              </a:prstGeom>
              <a:blipFill>
                <a:blip r:embed="rId6"/>
                <a:stretch>
                  <a:fillRect l="-2140" t="-6000" b="-20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1C67347-22E1-44C2-87B0-8B51799C9D63}"/>
                  </a:ext>
                </a:extLst>
              </p:cNvPr>
              <p:cNvSpPr txBox="1"/>
              <p:nvPr/>
            </p:nvSpPr>
            <p:spPr>
              <a:xfrm>
                <a:off x="6649884" y="5380704"/>
                <a:ext cx="4424096"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baseline="-25000"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=$1,092</m:t>
                    </m:r>
                    <m:r>
                      <a:rPr lang="es-ES" sz="2000" b="0" i="1" smtClean="0">
                        <a:solidFill>
                          <a:srgbClr val="00B050"/>
                        </a:solidFill>
                        <a:latin typeface="Cambria Math" panose="02040503050406030204" pitchFamily="18" charset="0"/>
                      </a:rPr>
                      <m:t>𝑥</m:t>
                    </m:r>
                    <m:d>
                      <m:dPr>
                        <m:ctrlPr>
                          <a:rPr lang="es-ES" sz="2000" b="0" i="1" smtClean="0">
                            <a:solidFill>
                              <a:srgbClr val="00B050"/>
                            </a:solidFill>
                            <a:latin typeface="Cambria Math" panose="02040503050406030204" pitchFamily="18" charset="0"/>
                          </a:rPr>
                        </m:ctrlPr>
                      </m:dPr>
                      <m:e>
                        <m:r>
                          <a:rPr lang="es-ES" sz="2000" b="0" i="0" smtClean="0">
                            <a:solidFill>
                              <a:srgbClr val="00B050"/>
                            </a:solidFill>
                            <a:latin typeface="Cambria Math" panose="02040503050406030204" pitchFamily="18" charset="0"/>
                          </a:rPr>
                          <m:t>1+0.06</m:t>
                        </m:r>
                      </m:e>
                    </m:d>
                    <m:r>
                      <a:rPr lang="es-ES" sz="2000" b="0" i="0" smtClean="0">
                        <a:solidFill>
                          <a:srgbClr val="00B050"/>
                        </a:solidFill>
                        <a:latin typeface="Cambria Math" panose="02040503050406030204" pitchFamily="18" charset="0"/>
                      </a:rPr>
                      <m:t>=</m:t>
                    </m:r>
                    <m:r>
                      <a:rPr lang="es-ES" sz="2000" b="1" i="0" smtClean="0">
                        <a:solidFill>
                          <a:srgbClr val="00B050"/>
                        </a:solidFill>
                        <a:latin typeface="Cambria Math" panose="02040503050406030204" pitchFamily="18" charset="0"/>
                      </a:rPr>
                      <m:t>$</m:t>
                    </m:r>
                    <m:r>
                      <a:rPr lang="es-ES" sz="2000" b="1" i="0" smtClean="0">
                        <a:solidFill>
                          <a:srgbClr val="00B050"/>
                        </a:solidFill>
                        <a:latin typeface="Cambria Math" panose="02040503050406030204" pitchFamily="18" charset="0"/>
                      </a:rPr>
                      <m:t>𝟏</m:t>
                    </m:r>
                    <m:r>
                      <a:rPr lang="es-ES" sz="2000" b="1" i="0" smtClean="0">
                        <a:solidFill>
                          <a:srgbClr val="00B050"/>
                        </a:solidFill>
                        <a:latin typeface="Cambria Math" panose="02040503050406030204" pitchFamily="18" charset="0"/>
                      </a:rPr>
                      <m:t>,</m:t>
                    </m:r>
                    <m:r>
                      <a:rPr lang="es-ES" sz="2000" b="1" i="0" smtClean="0">
                        <a:solidFill>
                          <a:srgbClr val="00B050"/>
                        </a:solidFill>
                        <a:latin typeface="Cambria Math" panose="02040503050406030204" pitchFamily="18" charset="0"/>
                      </a:rPr>
                      <m:t>𝟏𝟓𝟖</m:t>
                    </m:r>
                    <m:r>
                      <a:rPr lang="es-ES" sz="2000" b="1" i="0" smtClean="0">
                        <a:solidFill>
                          <a:srgbClr val="00B050"/>
                        </a:solidFill>
                        <a:latin typeface="Cambria Math" panose="02040503050406030204" pitchFamily="18" charset="0"/>
                      </a:rPr>
                      <m:t>.</m:t>
                    </m:r>
                    <m:r>
                      <a:rPr lang="es-ES" sz="2000" b="1" i="0" smtClean="0">
                        <a:solidFill>
                          <a:srgbClr val="00B050"/>
                        </a:solidFill>
                        <a:latin typeface="Cambria Math" panose="02040503050406030204" pitchFamily="18" charset="0"/>
                      </a:rPr>
                      <m:t>𝟓𝟐</m:t>
                    </m:r>
                  </m:oMath>
                </a14:m>
                <a:r>
                  <a:rPr lang="es-MX" sz="2000" b="1" dirty="0">
                    <a:solidFill>
                      <a:srgbClr val="00B050"/>
                    </a:solidFill>
                  </a:rPr>
                  <a:t> </a:t>
                </a:r>
              </a:p>
            </p:txBody>
          </p:sp>
        </mc:Choice>
        <mc:Fallback xmlns="">
          <p:sp>
            <p:nvSpPr>
              <p:cNvPr id="17" name="CuadroTexto 16">
                <a:extLst>
                  <a:ext uri="{FF2B5EF4-FFF2-40B4-BE49-F238E27FC236}">
                    <a16:creationId xmlns:a16="http://schemas.microsoft.com/office/drawing/2014/main" id="{01C67347-22E1-44C2-87B0-8B51799C9D63}"/>
                  </a:ext>
                </a:extLst>
              </p:cNvPr>
              <p:cNvSpPr txBox="1">
                <a:spLocks noRot="1" noChangeAspect="1" noMove="1" noResize="1" noEditPoints="1" noAdjustHandles="1" noChangeArrowheads="1" noChangeShapeType="1" noTextEdit="1"/>
              </p:cNvSpPr>
              <p:nvPr/>
            </p:nvSpPr>
            <p:spPr>
              <a:xfrm>
                <a:off x="6649884" y="5380704"/>
                <a:ext cx="4424096" cy="307777"/>
              </a:xfrm>
              <a:prstGeom prst="rect">
                <a:avLst/>
              </a:prstGeom>
              <a:blipFill>
                <a:blip r:embed="rId7"/>
                <a:stretch>
                  <a:fillRect l="-2066" t="-6000" b="-20000"/>
                </a:stretch>
              </a:blipFill>
            </p:spPr>
            <p:txBody>
              <a:bodyPr/>
              <a:lstStyle/>
              <a:p>
                <a:r>
                  <a:rPr lang="es-MX">
                    <a:noFill/>
                  </a:rPr>
                  <a:t> </a:t>
                </a:r>
              </a:p>
            </p:txBody>
          </p:sp>
        </mc:Fallback>
      </mc:AlternateContent>
    </p:spTree>
    <p:extLst>
      <p:ext uri="{BB962C8B-B14F-4D97-AF65-F5344CB8AC3E}">
        <p14:creationId xmlns:p14="http://schemas.microsoft.com/office/powerpoint/2010/main" val="838009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22</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1.6.3 Anual Equivalente</a:t>
            </a:r>
            <a:endParaRPr lang="es-MX" sz="3600" b="1" dirty="0">
              <a:solidFill>
                <a:srgbClr val="131D3F"/>
              </a:solidFill>
              <a:latin typeface="Montserrat SemiBold" panose="00000700000000000000" pitchFamily="2" charset="0"/>
            </a:endParaRPr>
          </a:p>
        </p:txBody>
      </p:sp>
      <p:sp>
        <p:nvSpPr>
          <p:cNvPr id="26" name="Google Shape;112;p3">
            <a:extLst>
              <a:ext uri="{FF2B5EF4-FFF2-40B4-BE49-F238E27FC236}">
                <a16:creationId xmlns:a16="http://schemas.microsoft.com/office/drawing/2014/main" id="{C4DA2948-A0BB-4F9D-BA7E-F9D7CE76BD4B}"/>
              </a:ext>
            </a:extLst>
          </p:cNvPr>
          <p:cNvSpPr txBox="1"/>
          <p:nvPr/>
        </p:nvSpPr>
        <p:spPr>
          <a:xfrm>
            <a:off x="817880" y="1337785"/>
            <a:ext cx="10550845" cy="433715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El valor anual equivalente (VAE) es una medida que </a:t>
            </a:r>
            <a:r>
              <a:rPr lang="es-ES" sz="2200" b="1" dirty="0">
                <a:solidFill>
                  <a:srgbClr val="131D3F"/>
                </a:solidFill>
                <a:latin typeface="Montserrat" panose="00000500000000000000" pitchFamily="2" charset="0"/>
              </a:rPr>
              <a:t>convierte valores de una serie de pagos futuros en un valor equivalente</a:t>
            </a:r>
            <a:r>
              <a:rPr lang="es-ES" sz="2200" dirty="0">
                <a:solidFill>
                  <a:srgbClr val="131D3F"/>
                </a:solidFill>
                <a:latin typeface="Montserrat" panose="00000500000000000000" pitchFamily="2" charset="0"/>
              </a:rPr>
              <a:t> que refleja su valor presente en términos anuales. En otras palabras, el VAE convierte una serie de flujos de caja futuros en un único valor anual que se puede comparar fácilmente con otras inversiones o costos.</a:t>
            </a:r>
          </a:p>
          <a:p>
            <a:pPr algn="just">
              <a:spcAft>
                <a:spcPts val="600"/>
              </a:spcAft>
            </a:pPr>
            <a:endParaRPr lang="es-ES" sz="2200" dirty="0">
              <a:solidFill>
                <a:srgbClr val="131D3F"/>
              </a:solidFill>
              <a:latin typeface="Montserrat" panose="00000500000000000000" pitchFamily="2" charset="0"/>
            </a:endParaRPr>
          </a:p>
          <a:p>
            <a:pPr algn="just">
              <a:spcAft>
                <a:spcPts val="600"/>
              </a:spcAft>
            </a:pPr>
            <a:r>
              <a:rPr lang="es-ES" sz="2200" dirty="0">
                <a:solidFill>
                  <a:srgbClr val="131D3F"/>
                </a:solidFill>
                <a:latin typeface="Montserrat" panose="00000500000000000000" pitchFamily="2" charset="0"/>
              </a:rPr>
              <a:t>El VAE se puede calcular usando la fórmula de </a:t>
            </a:r>
            <a:r>
              <a:rPr lang="es-ES" sz="2200" dirty="0" err="1">
                <a:solidFill>
                  <a:srgbClr val="131D3F"/>
                </a:solidFill>
                <a:latin typeface="Montserrat" panose="00000500000000000000" pitchFamily="2" charset="0"/>
              </a:rPr>
              <a:t>anualización</a:t>
            </a:r>
            <a:r>
              <a:rPr lang="es-ES" sz="2200" dirty="0">
                <a:solidFill>
                  <a:srgbClr val="131D3F"/>
                </a:solidFill>
                <a:latin typeface="Montserrat" panose="00000500000000000000" pitchFamily="2" charset="0"/>
              </a:rPr>
              <a:t>, que se basa en el VP de los flujos de caja futuros mediante los siguientes pasos:</a:t>
            </a:r>
          </a:p>
          <a:p>
            <a:pPr lvl="1" algn="just">
              <a:spcAft>
                <a:spcPts val="600"/>
              </a:spcAft>
            </a:pPr>
            <a:r>
              <a:rPr lang="es-ES" sz="2200" b="1" dirty="0">
                <a:solidFill>
                  <a:srgbClr val="131D3F"/>
                </a:solidFill>
                <a:latin typeface="Montserrat" panose="00000500000000000000" pitchFamily="2" charset="0"/>
                <a:hlinkClick r:id="rId5" action="ppaction://hlinksldjump"/>
              </a:rPr>
              <a:t>Determinar el Valor Presente (VP):</a:t>
            </a:r>
            <a:r>
              <a:rPr lang="es-ES" sz="2200" dirty="0">
                <a:solidFill>
                  <a:srgbClr val="131D3F"/>
                </a:solidFill>
                <a:latin typeface="Montserrat" panose="00000500000000000000" pitchFamily="2" charset="0"/>
                <a:hlinkClick r:id="rId5" action="ppaction://hlinksldjump"/>
              </a:rPr>
              <a:t> </a:t>
            </a:r>
            <a:r>
              <a:rPr lang="es-ES" sz="2200" dirty="0">
                <a:solidFill>
                  <a:srgbClr val="131D3F"/>
                </a:solidFill>
                <a:latin typeface="Montserrat" panose="00000500000000000000" pitchFamily="2" charset="0"/>
              </a:rPr>
              <a:t>calcular el VP de todos los flujos de caja futuros usando una tasa de descuento adecuada.</a:t>
            </a:r>
          </a:p>
          <a:p>
            <a:pPr lvl="1" algn="just">
              <a:spcAft>
                <a:spcPts val="600"/>
              </a:spcAft>
            </a:pPr>
            <a:r>
              <a:rPr lang="es-ES" sz="2200" b="1" dirty="0">
                <a:solidFill>
                  <a:srgbClr val="131D3F"/>
                </a:solidFill>
                <a:latin typeface="Montserrat" panose="00000500000000000000" pitchFamily="2" charset="0"/>
              </a:rPr>
              <a:t>Anualizar el Valor Presente:</a:t>
            </a:r>
            <a:r>
              <a:rPr lang="es-ES" sz="2200" dirty="0">
                <a:solidFill>
                  <a:srgbClr val="131D3F"/>
                </a:solidFill>
                <a:latin typeface="Montserrat" panose="00000500000000000000" pitchFamily="2" charset="0"/>
              </a:rPr>
              <a:t> convertir este valor presente a una serie de pagos anuales iguales utilizando una fórmula de anualidad.</a:t>
            </a:r>
          </a:p>
          <a:p>
            <a:pPr algn="just">
              <a:spcAft>
                <a:spcPts val="600"/>
              </a:spcAft>
            </a:pPr>
            <a:endParaRPr lang="es-ES" sz="2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589003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23</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1.6 Valuación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1.6.3 Anual Equivalente</a:t>
            </a:r>
            <a:endParaRPr lang="es-MX" sz="3600" b="1" dirty="0">
              <a:solidFill>
                <a:srgbClr val="131D3F"/>
              </a:solidFill>
              <a:latin typeface="Montserrat SemiBold" panose="00000700000000000000" pitchFamily="2" charset="0"/>
            </a:endParaRPr>
          </a:p>
        </p:txBody>
      </p:sp>
      <p:sp>
        <p:nvSpPr>
          <p:cNvPr id="6" name="Título 3">
            <a:extLst>
              <a:ext uri="{FF2B5EF4-FFF2-40B4-BE49-F238E27FC236}">
                <a16:creationId xmlns:a16="http://schemas.microsoft.com/office/drawing/2014/main" id="{98464078-5967-497D-BA64-418E57E172BF}"/>
              </a:ext>
            </a:extLst>
          </p:cNvPr>
          <p:cNvSpPr txBox="1">
            <a:spLocks/>
          </p:cNvSpPr>
          <p:nvPr/>
        </p:nvSpPr>
        <p:spPr>
          <a:xfrm>
            <a:off x="817880" y="1373953"/>
            <a:ext cx="9617592" cy="34863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panose="00000500000000000000" pitchFamily="2" charset="0"/>
              </a:rPr>
              <a:t>Fórmulas</a:t>
            </a:r>
            <a:endParaRPr lang="es-MX" sz="24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0BD98E59-5583-4A77-B485-69DC3C82769E}"/>
                  </a:ext>
                </a:extLst>
              </p:cNvPr>
              <p:cNvSpPr txBox="1"/>
              <p:nvPr/>
            </p:nvSpPr>
            <p:spPr>
              <a:xfrm>
                <a:off x="2992285" y="2131317"/>
                <a:ext cx="2394117" cy="630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𝑉𝐴𝐸</m:t>
                      </m:r>
                      <m:r>
                        <a:rPr lang="es-ES" sz="2000" b="0" i="1" smtClean="0">
                          <a:solidFill>
                            <a:srgbClr val="00B050"/>
                          </a:solidFill>
                          <a:latin typeface="Cambria Math" panose="02040503050406030204" pitchFamily="18" charset="0"/>
                        </a:rPr>
                        <m:t>=</m:t>
                      </m:r>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𝑉𝑃</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𝑟</m:t>
                          </m:r>
                        </m:num>
                        <m:den>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1−(1+</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𝑛</m:t>
                              </m:r>
                            </m:sup>
                          </m:sSup>
                        </m:den>
                      </m:f>
                    </m:oMath>
                  </m:oMathPara>
                </a14:m>
                <a:endParaRPr lang="es-MX" sz="2000" dirty="0">
                  <a:solidFill>
                    <a:srgbClr val="00B050"/>
                  </a:solidFill>
                </a:endParaRPr>
              </a:p>
            </p:txBody>
          </p:sp>
        </mc:Choice>
        <mc:Fallback xmlns="">
          <p:sp>
            <p:nvSpPr>
              <p:cNvPr id="10" name="CuadroTexto 9">
                <a:extLst>
                  <a:ext uri="{FF2B5EF4-FFF2-40B4-BE49-F238E27FC236}">
                    <a16:creationId xmlns:a16="http://schemas.microsoft.com/office/drawing/2014/main" id="{0BD98E59-5583-4A77-B485-69DC3C82769E}"/>
                  </a:ext>
                </a:extLst>
              </p:cNvPr>
              <p:cNvSpPr txBox="1">
                <a:spLocks noRot="1" noChangeAspect="1" noMove="1" noResize="1" noEditPoints="1" noAdjustHandles="1" noChangeArrowheads="1" noChangeShapeType="1" noTextEdit="1"/>
              </p:cNvSpPr>
              <p:nvPr/>
            </p:nvSpPr>
            <p:spPr>
              <a:xfrm>
                <a:off x="2992285" y="2131317"/>
                <a:ext cx="2394117" cy="630814"/>
              </a:xfrm>
              <a:prstGeom prst="rect">
                <a:avLst/>
              </a:prstGeom>
              <a:blipFill>
                <a:blip r:embed="rId5"/>
                <a:stretch>
                  <a:fillRect/>
                </a:stretch>
              </a:blipFill>
            </p:spPr>
            <p:txBody>
              <a:bodyPr/>
              <a:lstStyle/>
              <a:p>
                <a:r>
                  <a:rPr lang="es-MX">
                    <a:noFill/>
                  </a:rPr>
                  <a:t> </a:t>
                </a:r>
              </a:p>
            </p:txBody>
          </p:sp>
        </mc:Fallback>
      </mc:AlternateContent>
      <p:sp>
        <p:nvSpPr>
          <p:cNvPr id="11" name="Google Shape;112;p3">
            <a:extLst>
              <a:ext uri="{FF2B5EF4-FFF2-40B4-BE49-F238E27FC236}">
                <a16:creationId xmlns:a16="http://schemas.microsoft.com/office/drawing/2014/main" id="{37F4C507-A107-402A-9E75-CE1E71083B3B}"/>
              </a:ext>
            </a:extLst>
          </p:cNvPr>
          <p:cNvSpPr txBox="1"/>
          <p:nvPr/>
        </p:nvSpPr>
        <p:spPr>
          <a:xfrm>
            <a:off x="6889775" y="1498057"/>
            <a:ext cx="4619880" cy="1377115"/>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Donde: </a:t>
            </a:r>
          </a:p>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Valor Presente</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Tasa de descuento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Número de Períodos</a:t>
            </a:r>
          </a:p>
        </p:txBody>
      </p:sp>
      <p:sp>
        <p:nvSpPr>
          <p:cNvPr id="12" name="Título 3">
            <a:extLst>
              <a:ext uri="{FF2B5EF4-FFF2-40B4-BE49-F238E27FC236}">
                <a16:creationId xmlns:a16="http://schemas.microsoft.com/office/drawing/2014/main" id="{8003B14B-8E57-4457-8DC8-1DCF08AF14AD}"/>
              </a:ext>
            </a:extLst>
          </p:cNvPr>
          <p:cNvSpPr txBox="1">
            <a:spLocks/>
          </p:cNvSpPr>
          <p:nvPr/>
        </p:nvSpPr>
        <p:spPr>
          <a:xfrm>
            <a:off x="1725105" y="1715012"/>
            <a:ext cx="3994842" cy="3486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000" u="sng" dirty="0">
                <a:solidFill>
                  <a:srgbClr val="131D3F"/>
                </a:solidFill>
                <a:latin typeface="Montserrat" panose="00000500000000000000" pitchFamily="2" charset="0"/>
              </a:rPr>
              <a:t>VAE Valor Anual Equivalente</a:t>
            </a:r>
            <a:endParaRPr lang="es-MX" sz="2000" u="sng" dirty="0">
              <a:solidFill>
                <a:srgbClr val="131D3F"/>
              </a:solidFill>
              <a:latin typeface="Montserrat" panose="000005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817880" y="3053450"/>
            <a:ext cx="10550845" cy="168063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u="sng" dirty="0">
                <a:solidFill>
                  <a:srgbClr val="131D3F"/>
                </a:solidFill>
                <a:latin typeface="Montserrat" panose="00000500000000000000" pitchFamily="2" charset="0"/>
              </a:rPr>
              <a:t>Por ejemplo:</a:t>
            </a:r>
          </a:p>
          <a:p>
            <a:pPr algn="just">
              <a:spcAft>
                <a:spcPts val="600"/>
              </a:spcAft>
            </a:pPr>
            <a:r>
              <a:rPr lang="es-ES" sz="2200" dirty="0">
                <a:solidFill>
                  <a:srgbClr val="131D3F"/>
                </a:solidFill>
                <a:latin typeface="Montserrat" panose="00000500000000000000" pitchFamily="2" charset="0"/>
              </a:rPr>
              <a:t>Supongamos que tienes un valor presente de $100,000 que deseas convertir en pagos anuales durante 10 años, con una tasa de descuento del 5% anual</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C97F4E2D-4EBD-4DAC-9926-FACC9B38A034}"/>
                  </a:ext>
                </a:extLst>
              </p:cNvPr>
              <p:cNvSpPr txBox="1"/>
              <p:nvPr/>
            </p:nvSpPr>
            <p:spPr>
              <a:xfrm>
                <a:off x="4309293" y="4596953"/>
                <a:ext cx="2999154" cy="651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𝑉𝐴𝐸</m:t>
                      </m:r>
                      <m:r>
                        <a:rPr lang="es-ES" sz="2000" b="0" i="1" smtClean="0">
                          <a:solidFill>
                            <a:srgbClr val="00B050"/>
                          </a:solidFill>
                          <a:latin typeface="Cambria Math" panose="02040503050406030204" pitchFamily="18" charset="0"/>
                        </a:rPr>
                        <m:t>=</m:t>
                      </m:r>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$100,000.00 </m:t>
                          </m:r>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 0.05</m:t>
                          </m:r>
                        </m:num>
                        <m:den>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1−(1+0.05)</m:t>
                              </m:r>
                            </m:e>
                            <m:sup>
                              <m:r>
                                <a:rPr lang="es-ES" sz="2000" b="0" i="1" smtClean="0">
                                  <a:solidFill>
                                    <a:srgbClr val="00B050"/>
                                  </a:solidFill>
                                  <a:latin typeface="Cambria Math" panose="02040503050406030204" pitchFamily="18" charset="0"/>
                                </a:rPr>
                                <m:t>−10</m:t>
                              </m:r>
                            </m:sup>
                          </m:sSup>
                        </m:den>
                      </m:f>
                    </m:oMath>
                  </m:oMathPara>
                </a14:m>
                <a:endParaRPr lang="es-MX" sz="2000" dirty="0">
                  <a:solidFill>
                    <a:srgbClr val="00B050"/>
                  </a:solidFill>
                </a:endParaRPr>
              </a:p>
            </p:txBody>
          </p:sp>
        </mc:Choice>
        <mc:Fallback xmlns="">
          <p:sp>
            <p:nvSpPr>
              <p:cNvPr id="16" name="CuadroTexto 15">
                <a:extLst>
                  <a:ext uri="{FF2B5EF4-FFF2-40B4-BE49-F238E27FC236}">
                    <a16:creationId xmlns:a16="http://schemas.microsoft.com/office/drawing/2014/main" id="{C97F4E2D-4EBD-4DAC-9926-FACC9B38A034}"/>
                  </a:ext>
                </a:extLst>
              </p:cNvPr>
              <p:cNvSpPr txBox="1">
                <a:spLocks noRot="1" noChangeAspect="1" noMove="1" noResize="1" noEditPoints="1" noAdjustHandles="1" noChangeArrowheads="1" noChangeShapeType="1" noTextEdit="1"/>
              </p:cNvSpPr>
              <p:nvPr/>
            </p:nvSpPr>
            <p:spPr>
              <a:xfrm>
                <a:off x="4309293" y="4596953"/>
                <a:ext cx="2999154" cy="651332"/>
              </a:xfrm>
              <a:prstGeom prst="rect">
                <a:avLst/>
              </a:prstGeom>
              <a:blipFill>
                <a:blip r:embed="rId6"/>
                <a:stretch>
                  <a:fillRect/>
                </a:stretch>
              </a:blipFill>
            </p:spPr>
            <p:txBody>
              <a:bodyPr/>
              <a:lstStyle/>
              <a:p>
                <a:r>
                  <a:rPr lang="es-MX">
                    <a:noFill/>
                  </a:rPr>
                  <a:t> </a:t>
                </a:r>
              </a:p>
            </p:txBody>
          </p:sp>
        </mc:Fallback>
      </mc:AlternateContent>
      <p:sp>
        <p:nvSpPr>
          <p:cNvPr id="17" name="Google Shape;112;p3">
            <a:extLst>
              <a:ext uri="{FF2B5EF4-FFF2-40B4-BE49-F238E27FC236}">
                <a16:creationId xmlns:a16="http://schemas.microsoft.com/office/drawing/2014/main" id="{11AB3C6D-47D5-4E9F-84E5-EEA90D262166}"/>
              </a:ext>
            </a:extLst>
          </p:cNvPr>
          <p:cNvSpPr txBox="1"/>
          <p:nvPr/>
        </p:nvSpPr>
        <p:spPr>
          <a:xfrm>
            <a:off x="886472" y="4734082"/>
            <a:ext cx="4619880" cy="1377115"/>
          </a:xfrm>
          <a:prstGeom prst="rect">
            <a:avLst/>
          </a:prstGeom>
          <a:noFill/>
          <a:ln>
            <a:noFill/>
          </a:ln>
        </p:spPr>
        <p:txBody>
          <a:bodyPr spcFirstLastPara="1" wrap="square" lIns="91425" tIns="45700" rIns="91425" bIns="45700" anchor="t" anchorCtr="0">
            <a:noAutofit/>
          </a:bodyPr>
          <a:lstStyle/>
          <a:p>
            <a:pPr algn="just">
              <a:spcAft>
                <a:spcPts val="600"/>
              </a:spcAft>
            </a:pPr>
            <a:r>
              <a:rPr lang="es-ES" b="1" dirty="0">
                <a:solidFill>
                  <a:srgbClr val="131D3F"/>
                </a:solidFill>
                <a:latin typeface="Montserrat" panose="00000500000000000000" pitchFamily="2" charset="0"/>
              </a:rPr>
              <a:t>VP =</a:t>
            </a:r>
            <a:r>
              <a:rPr lang="es-ES" dirty="0">
                <a:solidFill>
                  <a:srgbClr val="131D3F"/>
                </a:solidFill>
                <a:latin typeface="Montserrat" panose="00000500000000000000" pitchFamily="2" charset="0"/>
              </a:rPr>
              <a:t> 	$100,000.00</a:t>
            </a:r>
          </a:p>
          <a:p>
            <a:pPr algn="just">
              <a:spcAft>
                <a:spcPts val="600"/>
              </a:spcAft>
            </a:pPr>
            <a:r>
              <a:rPr lang="es-ES" b="1" dirty="0">
                <a:solidFill>
                  <a:srgbClr val="131D3F"/>
                </a:solidFill>
                <a:latin typeface="Montserrat" panose="00000500000000000000" pitchFamily="2" charset="0"/>
              </a:rPr>
              <a:t>r = 	</a:t>
            </a:r>
            <a:r>
              <a:rPr lang="es-ES" dirty="0">
                <a:solidFill>
                  <a:srgbClr val="131D3F"/>
                </a:solidFill>
                <a:latin typeface="Montserrat" panose="00000500000000000000" pitchFamily="2" charset="0"/>
              </a:rPr>
              <a:t>5.0% (anual)</a:t>
            </a:r>
          </a:p>
          <a:p>
            <a:pPr algn="just">
              <a:spcAft>
                <a:spcPts val="600"/>
              </a:spcAft>
            </a:pPr>
            <a:r>
              <a:rPr lang="es-ES" b="1" dirty="0">
                <a:solidFill>
                  <a:srgbClr val="131D3F"/>
                </a:solidFill>
                <a:latin typeface="Montserrat" panose="00000500000000000000" pitchFamily="2" charset="0"/>
              </a:rPr>
              <a:t>n = 	</a:t>
            </a:r>
            <a:r>
              <a:rPr lang="es-ES" dirty="0">
                <a:solidFill>
                  <a:srgbClr val="131D3F"/>
                </a:solidFill>
                <a:latin typeface="Montserrat" panose="00000500000000000000" pitchFamily="2" charset="0"/>
              </a:rPr>
              <a:t>10 años</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9EA5C91-36DF-44D0-8563-B35A24218DD0}"/>
                  </a:ext>
                </a:extLst>
              </p:cNvPr>
              <p:cNvSpPr txBox="1"/>
              <p:nvPr/>
            </p:nvSpPr>
            <p:spPr>
              <a:xfrm>
                <a:off x="4309293" y="5413617"/>
                <a:ext cx="3503138" cy="596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𝑉𝐴𝐸</m:t>
                      </m:r>
                      <m:r>
                        <a:rPr lang="es-ES" sz="2000" b="0" i="1" smtClean="0">
                          <a:solidFill>
                            <a:srgbClr val="00B050"/>
                          </a:solidFill>
                          <a:latin typeface="Cambria Math" panose="02040503050406030204" pitchFamily="18" charset="0"/>
                        </a:rPr>
                        <m:t>=</m:t>
                      </m:r>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$5000.00</m:t>
                          </m:r>
                        </m:num>
                        <m:den>
                          <m:r>
                            <a:rPr lang="es-ES" sz="2000" b="0" i="1" smtClean="0">
                              <a:solidFill>
                                <a:srgbClr val="00B050"/>
                              </a:solidFill>
                              <a:latin typeface="Cambria Math" panose="02040503050406030204" pitchFamily="18" charset="0"/>
                            </a:rPr>
                            <m:t>0.6139</m:t>
                          </m:r>
                        </m:den>
                      </m:f>
                      <m:r>
                        <a:rPr lang="es-ES" sz="2000" b="0"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𝟖</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𝟏𝟒𝟖</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𝟏𝟗</m:t>
                      </m:r>
                    </m:oMath>
                  </m:oMathPara>
                </a14:m>
                <a:endParaRPr lang="es-MX" sz="2000" b="1" dirty="0">
                  <a:solidFill>
                    <a:srgbClr val="00B050"/>
                  </a:solidFill>
                </a:endParaRPr>
              </a:p>
            </p:txBody>
          </p:sp>
        </mc:Choice>
        <mc:Fallback xmlns="">
          <p:sp>
            <p:nvSpPr>
              <p:cNvPr id="18" name="CuadroTexto 17">
                <a:extLst>
                  <a:ext uri="{FF2B5EF4-FFF2-40B4-BE49-F238E27FC236}">
                    <a16:creationId xmlns:a16="http://schemas.microsoft.com/office/drawing/2014/main" id="{39EA5C91-36DF-44D0-8563-B35A24218DD0}"/>
                  </a:ext>
                </a:extLst>
              </p:cNvPr>
              <p:cNvSpPr txBox="1">
                <a:spLocks noRot="1" noChangeAspect="1" noMove="1" noResize="1" noEditPoints="1" noAdjustHandles="1" noChangeArrowheads="1" noChangeShapeType="1" noTextEdit="1"/>
              </p:cNvSpPr>
              <p:nvPr/>
            </p:nvSpPr>
            <p:spPr>
              <a:xfrm>
                <a:off x="4309293" y="5413617"/>
                <a:ext cx="3503138" cy="596766"/>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981771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Gráfico 24">
            <a:extLst>
              <a:ext uri="{FF2B5EF4-FFF2-40B4-BE49-F238E27FC236}">
                <a16:creationId xmlns:a16="http://schemas.microsoft.com/office/drawing/2014/main" id="{D45BF182-9765-498B-54B0-F928887351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flipV="1">
            <a:off x="-454375" y="454373"/>
            <a:ext cx="1337787" cy="429038"/>
          </a:xfrm>
          <a:prstGeom prst="rect">
            <a:avLst/>
          </a:prstGeom>
        </p:spPr>
      </p:pic>
      <p:sp>
        <p:nvSpPr>
          <p:cNvPr id="26" name="Google Shape;86;p2">
            <a:extLst>
              <a:ext uri="{FF2B5EF4-FFF2-40B4-BE49-F238E27FC236}">
                <a16:creationId xmlns:a16="http://schemas.microsoft.com/office/drawing/2014/main" id="{17F1C0FB-BF4F-180F-E27D-051DEB983846}"/>
              </a:ext>
            </a:extLst>
          </p:cNvPr>
          <p:cNvSpPr txBox="1">
            <a:spLocks/>
          </p:cNvSpPr>
          <p:nvPr/>
        </p:nvSpPr>
        <p:spPr>
          <a:xfrm>
            <a:off x="-67924" y="-2"/>
            <a:ext cx="567541"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24</a:t>
            </a:fld>
            <a:endParaRPr lang="es-MX" sz="2400" b="1" dirty="0">
              <a:solidFill>
                <a:srgbClr val="BA955B"/>
              </a:solidFill>
              <a:latin typeface="Montserrat SemiBold" panose="00000700000000000000" pitchFamily="2" charset="0"/>
            </a:endParaRPr>
          </a:p>
        </p:txBody>
      </p:sp>
      <p:sp>
        <p:nvSpPr>
          <p:cNvPr id="2" name="Google Shape;118;p4">
            <a:extLst>
              <a:ext uri="{FF2B5EF4-FFF2-40B4-BE49-F238E27FC236}">
                <a16:creationId xmlns:a16="http://schemas.microsoft.com/office/drawing/2014/main" id="{0E982364-79BA-6D46-495F-E7C7AD4EC16F}"/>
              </a:ext>
            </a:extLst>
          </p:cNvPr>
          <p:cNvSpPr txBox="1">
            <a:spLocks/>
          </p:cNvSpPr>
          <p:nvPr/>
        </p:nvSpPr>
        <p:spPr>
          <a:xfrm>
            <a:off x="1004211" y="850267"/>
            <a:ext cx="10183576" cy="2503358"/>
          </a:xfrm>
          <a:prstGeom prst="rect">
            <a:avLst/>
          </a:prstGeom>
          <a:noFill/>
          <a:ln>
            <a:noFill/>
          </a:ln>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spcBef>
                <a:spcPts val="0"/>
              </a:spcBef>
              <a:buClr>
                <a:schemeClr val="accent2"/>
              </a:buClr>
              <a:buSzPts val="4400"/>
              <a:buFont typeface="Montserrat SemiBold"/>
              <a:buNone/>
            </a:pPr>
            <a:r>
              <a:rPr lang="es-ES" sz="4800" dirty="0">
                <a:solidFill>
                  <a:srgbClr val="131D3F"/>
                </a:solidFill>
                <a:latin typeface="Montserrat SemiBold" panose="00000700000000000000" pitchFamily="2" charset="0"/>
              </a:rPr>
              <a:t>“Durante la vida voy juntando piezas de un rompecabezas que todavía no vislumbro”</a:t>
            </a:r>
            <a:endParaRPr lang="es-MX" sz="4800" dirty="0">
              <a:solidFill>
                <a:srgbClr val="131D3F"/>
              </a:solidFill>
              <a:latin typeface="Montserrat SemiBold" panose="00000700000000000000" pitchFamily="2" charset="0"/>
            </a:endParaRPr>
          </a:p>
        </p:txBody>
      </p:sp>
      <p:sp>
        <p:nvSpPr>
          <p:cNvPr id="5" name="CuadroTexto 4">
            <a:extLst>
              <a:ext uri="{FF2B5EF4-FFF2-40B4-BE49-F238E27FC236}">
                <a16:creationId xmlns:a16="http://schemas.microsoft.com/office/drawing/2014/main" id="{EFB194A7-2F33-4955-BDC1-1040ABB86B98}"/>
              </a:ext>
            </a:extLst>
          </p:cNvPr>
          <p:cNvSpPr txBox="1"/>
          <p:nvPr/>
        </p:nvSpPr>
        <p:spPr>
          <a:xfrm>
            <a:off x="2105319" y="3834156"/>
            <a:ext cx="7981359" cy="1569660"/>
          </a:xfrm>
          <a:prstGeom prst="rect">
            <a:avLst/>
          </a:prstGeom>
          <a:noFill/>
        </p:spPr>
        <p:txBody>
          <a:bodyPr wrap="square">
            <a:spAutoFit/>
          </a:bodyPr>
          <a:lstStyle/>
          <a:p>
            <a:r>
              <a:rPr lang="es-MX" sz="3200" dirty="0">
                <a:solidFill>
                  <a:srgbClr val="131D3F"/>
                </a:solidFill>
                <a:latin typeface="Montserrat" panose="00000500000000000000" pitchFamily="2" charset="0"/>
              </a:rPr>
              <a:t>Tarea:</a:t>
            </a:r>
          </a:p>
          <a:p>
            <a:endParaRPr lang="es-MX" sz="3200" dirty="0">
              <a:solidFill>
                <a:srgbClr val="131D3F"/>
              </a:solidFill>
              <a:latin typeface="Montserrat" panose="00000500000000000000" pitchFamily="2" charset="0"/>
            </a:endParaRPr>
          </a:p>
          <a:p>
            <a:pPr marL="285750" indent="-285750" algn="ctr">
              <a:buFont typeface="Arial" panose="020B0604020202020204" pitchFamily="34" charset="0"/>
              <a:buChar char="•"/>
            </a:pPr>
            <a:r>
              <a:rPr lang="es-MX" sz="3200" dirty="0" err="1">
                <a:solidFill>
                  <a:srgbClr val="131D3F"/>
                </a:solidFill>
                <a:latin typeface="Montserrat" panose="00000500000000000000" pitchFamily="2" charset="0"/>
              </a:rPr>
              <a:t>The</a:t>
            </a:r>
            <a:r>
              <a:rPr lang="es-MX" sz="3200" dirty="0">
                <a:solidFill>
                  <a:srgbClr val="131D3F"/>
                </a:solidFill>
                <a:latin typeface="Montserrat" panose="00000500000000000000" pitchFamily="2" charset="0"/>
              </a:rPr>
              <a:t> Big Short (La gran apuesta)</a:t>
            </a:r>
            <a:endParaRPr lang="es-ES" sz="3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687323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25</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44257" y="259730"/>
            <a:ext cx="9617592" cy="823595"/>
          </a:xfrm>
        </p:spPr>
        <p:txBody>
          <a:bodyPr>
            <a:normAutofit/>
          </a:bodyPr>
          <a:lstStyle/>
          <a:p>
            <a:r>
              <a:rPr lang="es-ES" sz="3600" b="1" dirty="0">
                <a:solidFill>
                  <a:srgbClr val="131D3F"/>
                </a:solidFill>
                <a:latin typeface="Montserrat SemiBold" panose="00000700000000000000" pitchFamily="2" charset="0"/>
              </a:rPr>
              <a:t>1.7 Inflación</a:t>
            </a:r>
            <a:endParaRPr lang="es-MX" sz="36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429038" y="1538570"/>
            <a:ext cx="6911312" cy="4457783"/>
          </a:xfrm>
          <a:prstGeom prst="rect">
            <a:avLst/>
          </a:prstGeom>
          <a:noFill/>
          <a:ln>
            <a:noFill/>
          </a:ln>
        </p:spPr>
        <p:txBody>
          <a:bodyPr spcFirstLastPara="1" wrap="square" lIns="91425" tIns="45700" rIns="91425" bIns="45700" anchor="t" anchorCtr="0">
            <a:noAutofit/>
          </a:bodyPr>
          <a:lstStyle/>
          <a:p>
            <a:pPr algn="just">
              <a:spcAft>
                <a:spcPts val="1200"/>
              </a:spcAft>
            </a:pPr>
            <a:r>
              <a:rPr lang="es-ES" sz="2000" dirty="0">
                <a:solidFill>
                  <a:srgbClr val="131D3F"/>
                </a:solidFill>
                <a:latin typeface="Montserrat" panose="00000500000000000000" pitchFamily="2" charset="0"/>
              </a:rPr>
              <a:t>La inflación es el </a:t>
            </a:r>
            <a:r>
              <a:rPr lang="es-ES" sz="2000" b="1" dirty="0">
                <a:solidFill>
                  <a:srgbClr val="131D3F"/>
                </a:solidFill>
                <a:latin typeface="Montserrat" panose="00000500000000000000" pitchFamily="2" charset="0"/>
              </a:rPr>
              <a:t>aumento generalizado y sostenido de los precios </a:t>
            </a:r>
            <a:r>
              <a:rPr lang="es-ES" sz="2000" dirty="0">
                <a:solidFill>
                  <a:srgbClr val="131D3F"/>
                </a:solidFill>
                <a:latin typeface="Montserrat" panose="00000500000000000000" pitchFamily="2" charset="0"/>
              </a:rPr>
              <a:t>en una economía durante un período. </a:t>
            </a:r>
          </a:p>
          <a:p>
            <a:pPr algn="just">
              <a:spcAft>
                <a:spcPts val="1200"/>
              </a:spcAft>
            </a:pPr>
            <a:r>
              <a:rPr lang="es-ES" sz="2000" dirty="0">
                <a:solidFill>
                  <a:srgbClr val="131D3F"/>
                </a:solidFill>
                <a:latin typeface="Montserrat" panose="00000500000000000000" pitchFamily="2" charset="0"/>
              </a:rPr>
              <a:t>A medida que los precios suben, el poder adquisitivo disminuye, lo que significa que a través del tiempo, </a:t>
            </a:r>
            <a:r>
              <a:rPr lang="es-ES" sz="2000" b="1" dirty="0">
                <a:solidFill>
                  <a:srgbClr val="131D3F"/>
                </a:solidFill>
                <a:latin typeface="Montserrat" panose="00000500000000000000" pitchFamily="2" charset="0"/>
              </a:rPr>
              <a:t>con la misma cantidad de dinero se pueden comprar menos cosas. </a:t>
            </a:r>
          </a:p>
          <a:p>
            <a:pPr algn="just">
              <a:spcAft>
                <a:spcPts val="1200"/>
              </a:spcAft>
            </a:pPr>
            <a:r>
              <a:rPr lang="es-ES" sz="2000" dirty="0">
                <a:solidFill>
                  <a:srgbClr val="131D3F"/>
                </a:solidFill>
                <a:latin typeface="Montserrat" panose="00000500000000000000" pitchFamily="2" charset="0"/>
              </a:rPr>
              <a:t>La inflación puede ser medida utilizando índices de precios, como el Índice de Precios al Consumidor </a:t>
            </a:r>
            <a:r>
              <a:rPr lang="es-ES" sz="2000" b="1" dirty="0">
                <a:solidFill>
                  <a:srgbClr val="131D3F"/>
                </a:solidFill>
                <a:latin typeface="Montserrat" panose="00000500000000000000" pitchFamily="2" charset="0"/>
              </a:rPr>
              <a:t>(IPC)</a:t>
            </a:r>
            <a:r>
              <a:rPr lang="es-ES" sz="2000" dirty="0">
                <a:solidFill>
                  <a:srgbClr val="131D3F"/>
                </a:solidFill>
                <a:latin typeface="Montserrat" panose="00000500000000000000" pitchFamily="2" charset="0"/>
              </a:rPr>
              <a:t>.</a:t>
            </a:r>
          </a:p>
          <a:p>
            <a:pPr algn="just">
              <a:spcAft>
                <a:spcPts val="1200"/>
              </a:spcAft>
            </a:pPr>
            <a:r>
              <a:rPr lang="es-ES" sz="2000" dirty="0">
                <a:solidFill>
                  <a:srgbClr val="131D3F"/>
                </a:solidFill>
                <a:latin typeface="Montserrat" panose="00000500000000000000" pitchFamily="2" charset="0"/>
              </a:rPr>
              <a:t>La inflación (o deflación) puede(n) afectar tanto a los </a:t>
            </a:r>
            <a:r>
              <a:rPr lang="es-ES" sz="2000" b="1" dirty="0">
                <a:solidFill>
                  <a:srgbClr val="131D3F"/>
                </a:solidFill>
                <a:latin typeface="Montserrat" panose="00000500000000000000" pitchFamily="2" charset="0"/>
              </a:rPr>
              <a:t>flujos de efectivo</a:t>
            </a:r>
            <a:r>
              <a:rPr lang="es-ES" sz="2000" dirty="0">
                <a:solidFill>
                  <a:srgbClr val="131D3F"/>
                </a:solidFill>
                <a:latin typeface="Montserrat" panose="00000500000000000000" pitchFamily="2" charset="0"/>
              </a:rPr>
              <a:t> como a las </a:t>
            </a:r>
            <a:r>
              <a:rPr lang="es-ES" sz="2000" b="1" dirty="0">
                <a:solidFill>
                  <a:srgbClr val="131D3F"/>
                </a:solidFill>
                <a:latin typeface="Montserrat" panose="00000500000000000000" pitchFamily="2" charset="0"/>
              </a:rPr>
              <a:t>tasas de descuento</a:t>
            </a:r>
            <a:r>
              <a:rPr lang="es-ES" sz="2000" dirty="0">
                <a:solidFill>
                  <a:srgbClr val="131D3F"/>
                </a:solidFill>
                <a:latin typeface="Montserrat" panose="00000500000000000000" pitchFamily="2" charset="0"/>
              </a:rPr>
              <a:t> en la elaboración del presupuesto de capital.</a:t>
            </a:r>
          </a:p>
        </p:txBody>
      </p:sp>
      <p:pic>
        <p:nvPicPr>
          <p:cNvPr id="2050" name="Picture 2" descr="Cuándo la inflación alcanzará su pico en México? Esto pronostican expertos  – El Financiero">
            <a:extLst>
              <a:ext uri="{FF2B5EF4-FFF2-40B4-BE49-F238E27FC236}">
                <a16:creationId xmlns:a16="http://schemas.microsoft.com/office/drawing/2014/main" id="{DBD619BE-DE13-4669-B68D-D670DFFA40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206" y="2279553"/>
            <a:ext cx="4458150" cy="2975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642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26</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1337788"/>
          </a:xfrm>
        </p:spPr>
        <p:txBody>
          <a:bodyPr>
            <a:normAutofit/>
          </a:bodyPr>
          <a:lstStyle/>
          <a:p>
            <a:r>
              <a:rPr lang="es-ES" sz="3600" b="1" dirty="0">
                <a:solidFill>
                  <a:srgbClr val="131D3F"/>
                </a:solidFill>
                <a:latin typeface="Montserrat SemiBold" panose="00000700000000000000" pitchFamily="2" charset="0"/>
              </a:rPr>
              <a:t>1.7 Inflación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000" b="1" dirty="0">
                <a:solidFill>
                  <a:srgbClr val="131D3F"/>
                </a:solidFill>
                <a:latin typeface="Montserrat SemiBold" panose="00000700000000000000" pitchFamily="2" charset="0"/>
              </a:rPr>
              <a:t>Causas de la inflación</a:t>
            </a:r>
            <a:endParaRPr lang="es-MX" sz="20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429038" y="2027347"/>
            <a:ext cx="11121009" cy="3591897"/>
          </a:xfrm>
          <a:prstGeom prst="rect">
            <a:avLst/>
          </a:prstGeom>
          <a:noFill/>
          <a:ln>
            <a:noFill/>
          </a:ln>
        </p:spPr>
        <p:txBody>
          <a:bodyPr spcFirstLastPara="1" wrap="square" lIns="91425" tIns="45700" rIns="91425" bIns="45700" anchor="t" anchorCtr="0">
            <a:noAutofit/>
          </a:bodyPr>
          <a:lstStyle/>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Inflación de demanda: </a:t>
            </a:r>
            <a:r>
              <a:rPr lang="es-ES" sz="2000" dirty="0">
                <a:solidFill>
                  <a:srgbClr val="131D3F"/>
                </a:solidFill>
                <a:latin typeface="Montserrat" panose="00000500000000000000" pitchFamily="2" charset="0"/>
              </a:rPr>
              <a:t>Ocurre cuando la demanda supera la capacidad de producción.</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Inflación de costos: </a:t>
            </a:r>
            <a:r>
              <a:rPr lang="es-ES" sz="2000" dirty="0">
                <a:solidFill>
                  <a:srgbClr val="131D3F"/>
                </a:solidFill>
                <a:latin typeface="Montserrat" panose="00000500000000000000" pitchFamily="2" charset="0"/>
              </a:rPr>
              <a:t>Se produce cuando los costos de producción (como los salarios y los precios de las materias primas) aumentan.</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Inflación autoconstruida: </a:t>
            </a:r>
            <a:r>
              <a:rPr lang="es-ES" sz="2000" dirty="0">
                <a:solidFill>
                  <a:srgbClr val="131D3F"/>
                </a:solidFill>
                <a:latin typeface="Montserrat" panose="00000500000000000000" pitchFamily="2" charset="0"/>
              </a:rPr>
              <a:t>Sucede cuando las empresas esperan que los precios suban en el futuro, lo que lleva a aumentos salariales y de precios en el presente.</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Política monetaria expansiva: </a:t>
            </a:r>
            <a:r>
              <a:rPr lang="es-ES" sz="2000" dirty="0">
                <a:solidFill>
                  <a:srgbClr val="131D3F"/>
                </a:solidFill>
                <a:latin typeface="Montserrat" panose="00000500000000000000" pitchFamily="2" charset="0"/>
              </a:rPr>
              <a:t>Cuando los bancos aumentan la oferta monetaria, más dinero en circulación sin un correspondiente aumento en la producción.</a:t>
            </a:r>
          </a:p>
          <a:p>
            <a:pPr marL="342900" indent="-342900" algn="just">
              <a:spcAft>
                <a:spcPts val="600"/>
              </a:spcAft>
              <a:buFont typeface="Arial" panose="020B0604020202020204" pitchFamily="34" charset="0"/>
              <a:buChar char="•"/>
            </a:pPr>
            <a:endParaRPr lang="es-ES" sz="2000" dirty="0">
              <a:solidFill>
                <a:srgbClr val="131D3F"/>
              </a:solidFill>
              <a:latin typeface="Montserrat" panose="00000500000000000000" pitchFamily="2" charset="0"/>
            </a:endParaRPr>
          </a:p>
          <a:p>
            <a:pPr algn="ctr">
              <a:spcAft>
                <a:spcPts val="1200"/>
              </a:spcAft>
            </a:pPr>
            <a:r>
              <a:rPr lang="es-ES" sz="2000" u="sng" dirty="0">
                <a:solidFill>
                  <a:srgbClr val="131D3F"/>
                </a:solidFill>
                <a:effectLst>
                  <a:outerShdw blurRad="38100" dist="38100" dir="2700000" algn="tl">
                    <a:srgbClr val="000000">
                      <a:alpha val="43137"/>
                    </a:srgbClr>
                  </a:outerShdw>
                </a:effectLst>
                <a:latin typeface="Montserrat" panose="00000500000000000000" pitchFamily="2" charset="0"/>
              </a:rPr>
              <a:t>Factores que generan más dinero en circulación.</a:t>
            </a:r>
          </a:p>
        </p:txBody>
      </p:sp>
    </p:spTree>
    <p:extLst>
      <p:ext uri="{BB962C8B-B14F-4D97-AF65-F5344CB8AC3E}">
        <p14:creationId xmlns:p14="http://schemas.microsoft.com/office/powerpoint/2010/main" val="2263294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27</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95279"/>
          </a:xfrm>
        </p:spPr>
        <p:txBody>
          <a:bodyPr>
            <a:normAutofit/>
          </a:bodyPr>
          <a:lstStyle/>
          <a:p>
            <a:r>
              <a:rPr lang="es-ES" sz="3600" b="1" dirty="0">
                <a:solidFill>
                  <a:srgbClr val="131D3F"/>
                </a:solidFill>
                <a:latin typeface="Montserrat SemiBold" panose="00000700000000000000" pitchFamily="2" charset="0"/>
              </a:rPr>
              <a:t>1.7 Inflación</a:t>
            </a:r>
            <a:br>
              <a:rPr lang="es-ES" sz="3600" b="1" dirty="0">
                <a:solidFill>
                  <a:srgbClr val="131D3F"/>
                </a:solidFill>
                <a:latin typeface="Montserrat SemiBold" panose="00000700000000000000" pitchFamily="2" charset="0"/>
              </a:rPr>
            </a:br>
            <a:r>
              <a:rPr lang="es-ES" sz="2200" b="1" dirty="0">
                <a:solidFill>
                  <a:srgbClr val="131D3F"/>
                </a:solidFill>
                <a:latin typeface="Montserrat SemiBold" panose="00000700000000000000" pitchFamily="2" charset="0"/>
              </a:rPr>
              <a:t>	Deflación</a:t>
            </a:r>
            <a:endParaRPr lang="es-MX" sz="22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576828" y="1588322"/>
            <a:ext cx="11038343" cy="4680594"/>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Ocurre cuando el nivel general de precios en una economía disminuye durante un período prolongado. En otras palabras, los bienes y servicios se vuelven </a:t>
            </a:r>
            <a:r>
              <a:rPr lang="es-ES" sz="2000" b="1" dirty="0">
                <a:solidFill>
                  <a:srgbClr val="131D3F"/>
                </a:solidFill>
                <a:latin typeface="Montserrat" panose="00000500000000000000" pitchFamily="2" charset="0"/>
              </a:rPr>
              <a:t>más baratos con el tiempo</a:t>
            </a:r>
            <a:r>
              <a:rPr lang="es-ES" sz="2000" dirty="0">
                <a:solidFill>
                  <a:srgbClr val="131D3F"/>
                </a:solidFill>
                <a:latin typeface="Montserrat" panose="00000500000000000000" pitchFamily="2" charset="0"/>
              </a:rPr>
              <a:t>.</a:t>
            </a:r>
          </a:p>
          <a:p>
            <a:pPr algn="just">
              <a:spcAft>
                <a:spcPts val="600"/>
              </a:spcAft>
            </a:pPr>
            <a:endParaRPr lang="es-ES" sz="2000" dirty="0">
              <a:solidFill>
                <a:srgbClr val="131D3F"/>
              </a:solidFill>
              <a:latin typeface="Montserrat" panose="00000500000000000000" pitchFamily="2" charset="0"/>
            </a:endParaRPr>
          </a:p>
          <a:p>
            <a:pPr algn="just">
              <a:spcAft>
                <a:spcPts val="600"/>
              </a:spcAft>
            </a:pPr>
            <a:r>
              <a:rPr lang="es-ES" sz="2000" b="1" dirty="0">
                <a:solidFill>
                  <a:srgbClr val="131D3F"/>
                </a:solidFill>
                <a:latin typeface="Montserrat" panose="00000500000000000000" pitchFamily="2" charset="0"/>
              </a:rPr>
              <a:t>Causas de la deflación:</a:t>
            </a:r>
          </a:p>
          <a:p>
            <a:pPr algn="just">
              <a:spcAft>
                <a:spcPts val="600"/>
              </a:spcAft>
            </a:pPr>
            <a:endParaRPr lang="es-ES" sz="2000" b="1" dirty="0">
              <a:solidFill>
                <a:srgbClr val="131D3F"/>
              </a:solidFill>
              <a:latin typeface="Montserrat" panose="00000500000000000000" pitchFamily="2" charset="0"/>
            </a:endParaRP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Demanda insuficiente: </a:t>
            </a:r>
            <a:r>
              <a:rPr lang="es-ES" sz="2000" dirty="0">
                <a:solidFill>
                  <a:srgbClr val="131D3F"/>
                </a:solidFill>
                <a:latin typeface="Montserrat" panose="00000500000000000000" pitchFamily="2" charset="0"/>
              </a:rPr>
              <a:t>Demasiada oferta y poca demanda.</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Sobreproducción: </a:t>
            </a:r>
            <a:r>
              <a:rPr lang="es-ES" sz="2000" dirty="0">
                <a:solidFill>
                  <a:srgbClr val="131D3F"/>
                </a:solidFill>
                <a:latin typeface="Montserrat" panose="00000500000000000000" pitchFamily="2" charset="0"/>
              </a:rPr>
              <a:t>Si la producción supera la demanda.</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Reducción de costos: </a:t>
            </a:r>
            <a:r>
              <a:rPr lang="es-ES" sz="2000" dirty="0">
                <a:solidFill>
                  <a:srgbClr val="131D3F"/>
                </a:solidFill>
                <a:latin typeface="Montserrat" panose="00000500000000000000" pitchFamily="2" charset="0"/>
              </a:rPr>
              <a:t>Avances tecnológicos o mejoras en la eficiencia.</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Política monetaria restrictiva: </a:t>
            </a:r>
            <a:r>
              <a:rPr lang="es-ES" sz="2000" dirty="0">
                <a:solidFill>
                  <a:srgbClr val="131D3F"/>
                </a:solidFill>
                <a:latin typeface="Montserrat" panose="00000500000000000000" pitchFamily="2" charset="0"/>
              </a:rPr>
              <a:t>aumentar las tasas de interés o reducir la oferta de dinero.</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Expectativas deflacionarias: </a:t>
            </a:r>
            <a:r>
              <a:rPr lang="es-ES" sz="2000" dirty="0">
                <a:solidFill>
                  <a:srgbClr val="131D3F"/>
                </a:solidFill>
                <a:latin typeface="Montserrat" panose="00000500000000000000" pitchFamily="2" charset="0"/>
              </a:rPr>
              <a:t>Cuando los consumidores esperan que los precios continúen cayendo.</a:t>
            </a:r>
          </a:p>
        </p:txBody>
      </p:sp>
    </p:spTree>
    <p:extLst>
      <p:ext uri="{BB962C8B-B14F-4D97-AF65-F5344CB8AC3E}">
        <p14:creationId xmlns:p14="http://schemas.microsoft.com/office/powerpoint/2010/main" val="2876322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28</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95279"/>
          </a:xfrm>
        </p:spPr>
        <p:txBody>
          <a:bodyPr>
            <a:normAutofit/>
          </a:bodyPr>
          <a:lstStyle/>
          <a:p>
            <a:r>
              <a:rPr lang="es-ES" sz="3600" b="1" dirty="0">
                <a:solidFill>
                  <a:srgbClr val="131D3F"/>
                </a:solidFill>
                <a:latin typeface="Montserrat SemiBold" panose="00000700000000000000" pitchFamily="2" charset="0"/>
              </a:rPr>
              <a:t>1.7 Inflación</a:t>
            </a:r>
            <a:br>
              <a:rPr lang="es-ES" sz="3600" b="1" dirty="0">
                <a:solidFill>
                  <a:srgbClr val="131D3F"/>
                </a:solidFill>
                <a:latin typeface="Montserrat SemiBold" panose="00000700000000000000" pitchFamily="2" charset="0"/>
              </a:rPr>
            </a:br>
            <a:r>
              <a:rPr lang="es-ES" sz="2200" b="1" dirty="0">
                <a:solidFill>
                  <a:srgbClr val="131D3F"/>
                </a:solidFill>
                <a:latin typeface="Montserrat SemiBold" panose="00000700000000000000" pitchFamily="2" charset="0"/>
              </a:rPr>
              <a:t>	Deflación - Consecuencias</a:t>
            </a:r>
            <a:endParaRPr lang="es-MX" sz="22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429038" y="1748678"/>
            <a:ext cx="6540410" cy="4274053"/>
          </a:xfrm>
          <a:prstGeom prst="rect">
            <a:avLst/>
          </a:prstGeom>
          <a:noFill/>
          <a:ln>
            <a:noFill/>
          </a:ln>
        </p:spPr>
        <p:txBody>
          <a:bodyPr spcFirstLastPara="1" wrap="square" lIns="91425" tIns="45700" rIns="91425" bIns="45700" anchor="t" anchorCtr="0">
            <a:noAutofit/>
          </a:bodyPr>
          <a:lstStyle/>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Menor gasto e inversión: </a:t>
            </a:r>
            <a:r>
              <a:rPr lang="es-ES" sz="2000" dirty="0">
                <a:solidFill>
                  <a:srgbClr val="131D3F"/>
                </a:solidFill>
                <a:latin typeface="Montserrat" panose="00000500000000000000" pitchFamily="2" charset="0"/>
              </a:rPr>
              <a:t>Si anticipan que los precios seguirán bajando, pueden retrasar sus compras e inversiones.</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Aumento del valor real de la deuda: </a:t>
            </a:r>
            <a:r>
              <a:rPr lang="es-ES" sz="2000" dirty="0">
                <a:solidFill>
                  <a:srgbClr val="131D3F"/>
                </a:solidFill>
                <a:latin typeface="Montserrat" panose="00000500000000000000" pitchFamily="2" charset="0"/>
              </a:rPr>
              <a:t>Los acreditados deben pagar sus préstamos con dinero que tiene mayor poder adquisitivo.</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Desempleo: </a:t>
            </a:r>
            <a:r>
              <a:rPr lang="es-ES" sz="2000" dirty="0">
                <a:solidFill>
                  <a:srgbClr val="131D3F"/>
                </a:solidFill>
                <a:latin typeface="Montserrat" panose="00000500000000000000" pitchFamily="2" charset="0"/>
              </a:rPr>
              <a:t>La reducción en la demanda y la producción puede llevar a recortes de empleo y aumentos en las tasas de desempleo.</a:t>
            </a:r>
          </a:p>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Ciclo económico negativo: </a:t>
            </a:r>
            <a:r>
              <a:rPr lang="es-ES" sz="2000" dirty="0">
                <a:solidFill>
                  <a:srgbClr val="131D3F"/>
                </a:solidFill>
                <a:latin typeface="Montserrat" panose="00000500000000000000" pitchFamily="2" charset="0"/>
              </a:rPr>
              <a:t>La menor demanda lleva a precios más bajos, que a su vez lleva a menos inversión y empleo, y así sucesivamente.</a:t>
            </a:r>
          </a:p>
        </p:txBody>
      </p:sp>
      <p:pic>
        <p:nvPicPr>
          <p:cNvPr id="1026" name="Picture 2" descr="Inflación de la deuda El aumento de las tasas de interés aumenta la deuda  de los hogares Techo de interés flotante Globo aerostático atado a un  balancín Empresario que lleva una pesada">
            <a:extLst>
              <a:ext uri="{FF2B5EF4-FFF2-40B4-BE49-F238E27FC236}">
                <a16:creationId xmlns:a16="http://schemas.microsoft.com/office/drawing/2014/main" id="{5B621740-623E-4512-97E4-4F99251CE9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9034" y="2339708"/>
            <a:ext cx="4826900" cy="3091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020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29</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1.7 Inflación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Cálculos</a:t>
            </a:r>
            <a:endParaRPr lang="es-MX" sz="22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820575" y="1529779"/>
            <a:ext cx="10550845" cy="37671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La fórmula para calcular la tasa de inflación es: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5155F1F-303B-4EB1-A6BA-8B7C320C95AD}"/>
                  </a:ext>
                </a:extLst>
              </p:cNvPr>
              <p:cNvSpPr txBox="1"/>
              <p:nvPr/>
            </p:nvSpPr>
            <p:spPr>
              <a:xfrm>
                <a:off x="2706673" y="2489660"/>
                <a:ext cx="6778651"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𝐼𝑛𝑓𝑙𝑎𝑐𝑖</m:t>
                      </m:r>
                      <m:r>
                        <a:rPr lang="es-ES" sz="2000" b="0" i="1" smtClean="0">
                          <a:solidFill>
                            <a:srgbClr val="00B050"/>
                          </a:solidFill>
                          <a:latin typeface="Cambria Math" panose="02040503050406030204" pitchFamily="18" charset="0"/>
                        </a:rPr>
                        <m:t>ó</m:t>
                      </m:r>
                      <m:r>
                        <a:rPr lang="es-ES" sz="2000" b="0" i="1" smtClean="0">
                          <a:solidFill>
                            <a:srgbClr val="00B050"/>
                          </a:solidFill>
                          <a:latin typeface="Cambria Math" panose="02040503050406030204" pitchFamily="18" charset="0"/>
                        </a:rPr>
                        <m:t>𝑛</m:t>
                      </m:r>
                      <m:r>
                        <a:rPr lang="es-ES" sz="2000" b="0" i="1" smtClean="0">
                          <a:solidFill>
                            <a:srgbClr val="00B050"/>
                          </a:solidFill>
                          <a:latin typeface="Cambria Math" panose="02040503050406030204" pitchFamily="18" charset="0"/>
                        </a:rPr>
                        <m:t>=</m:t>
                      </m:r>
                      <m:d>
                        <m:dPr>
                          <m:ctrlPr>
                            <a:rPr lang="es-ES" sz="2000" b="0" i="1" smtClean="0">
                              <a:solidFill>
                                <a:srgbClr val="00B050"/>
                              </a:solidFill>
                              <a:latin typeface="Cambria Math" panose="02040503050406030204" pitchFamily="18" charset="0"/>
                            </a:rPr>
                          </m:ctrlPr>
                        </m:dPr>
                        <m:e>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𝐼𝑃𝐶</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𝑑𝑒𝑙</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𝑎</m:t>
                              </m:r>
                              <m:r>
                                <a:rPr lang="es-ES" sz="2000" b="0" i="1" smtClean="0">
                                  <a:solidFill>
                                    <a:srgbClr val="00B050"/>
                                  </a:solidFill>
                                  <a:latin typeface="Cambria Math" panose="02040503050406030204" pitchFamily="18" charset="0"/>
                                </a:rPr>
                                <m:t>ñ</m:t>
                              </m:r>
                              <m:r>
                                <a:rPr lang="es-ES" sz="2000" b="0" i="1" smtClean="0">
                                  <a:solidFill>
                                    <a:srgbClr val="00B050"/>
                                  </a:solidFill>
                                  <a:latin typeface="Cambria Math" panose="02040503050406030204" pitchFamily="18" charset="0"/>
                                </a:rPr>
                                <m:t>𝑜</m:t>
                              </m:r>
                              <m:r>
                                <a:rPr lang="es-ES" sz="2000" b="0" i="1" smtClean="0">
                                  <a:solidFill>
                                    <a:srgbClr val="00B050"/>
                                  </a:solidFill>
                                  <a:latin typeface="Cambria Math" panose="02040503050406030204" pitchFamily="18" charset="0"/>
                                </a:rPr>
                                <m:t> 2 −</m:t>
                              </m:r>
                              <m:r>
                                <a:rPr lang="es-ES" sz="2000" b="0" i="1" smtClean="0">
                                  <a:solidFill>
                                    <a:srgbClr val="00B050"/>
                                  </a:solidFill>
                                  <a:latin typeface="Cambria Math" panose="02040503050406030204" pitchFamily="18" charset="0"/>
                                </a:rPr>
                                <m:t>𝐼𝑃𝐶</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𝑑𝑒𝑙</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𝐴</m:t>
                              </m:r>
                              <m:r>
                                <a:rPr lang="es-ES" sz="2000" b="0" i="1" smtClean="0">
                                  <a:solidFill>
                                    <a:srgbClr val="00B050"/>
                                  </a:solidFill>
                                  <a:latin typeface="Cambria Math" panose="02040503050406030204" pitchFamily="18" charset="0"/>
                                </a:rPr>
                                <m:t>ñ</m:t>
                              </m:r>
                              <m:r>
                                <a:rPr lang="es-ES" sz="2000" b="0" i="1" smtClean="0">
                                  <a:solidFill>
                                    <a:srgbClr val="00B050"/>
                                  </a:solidFill>
                                  <a:latin typeface="Cambria Math" panose="02040503050406030204" pitchFamily="18" charset="0"/>
                                </a:rPr>
                                <m:t>𝑜</m:t>
                              </m:r>
                              <m:r>
                                <a:rPr lang="es-ES" sz="2000" b="0" i="1" smtClean="0">
                                  <a:solidFill>
                                    <a:srgbClr val="00B050"/>
                                  </a:solidFill>
                                  <a:latin typeface="Cambria Math" panose="02040503050406030204" pitchFamily="18" charset="0"/>
                                </a:rPr>
                                <m:t> 1</m:t>
                              </m:r>
                            </m:num>
                            <m:den>
                              <m:r>
                                <a:rPr lang="es-ES" sz="2000" b="0" i="1" smtClean="0">
                                  <a:solidFill>
                                    <a:srgbClr val="00B050"/>
                                  </a:solidFill>
                                  <a:latin typeface="Cambria Math" panose="02040503050406030204" pitchFamily="18" charset="0"/>
                                </a:rPr>
                                <m:t>𝐼𝑃𝐶</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𝑑𝑒𝑙</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𝐴</m:t>
                              </m:r>
                              <m:r>
                                <a:rPr lang="es-ES" sz="2000" b="0" i="1" smtClean="0">
                                  <a:solidFill>
                                    <a:srgbClr val="00B050"/>
                                  </a:solidFill>
                                  <a:latin typeface="Cambria Math" panose="02040503050406030204" pitchFamily="18" charset="0"/>
                                </a:rPr>
                                <m:t>ñ</m:t>
                              </m:r>
                              <m:r>
                                <a:rPr lang="es-ES" sz="2000" b="0" i="1" smtClean="0">
                                  <a:solidFill>
                                    <a:srgbClr val="00B050"/>
                                  </a:solidFill>
                                  <a:latin typeface="Cambria Math" panose="02040503050406030204" pitchFamily="18" charset="0"/>
                                </a:rPr>
                                <m:t>𝑜</m:t>
                              </m:r>
                              <m:r>
                                <a:rPr lang="es-ES" sz="2000" b="0" i="1" smtClean="0">
                                  <a:solidFill>
                                    <a:srgbClr val="00B050"/>
                                  </a:solidFill>
                                  <a:latin typeface="Cambria Math" panose="02040503050406030204" pitchFamily="18" charset="0"/>
                                </a:rPr>
                                <m:t> 1</m:t>
                              </m:r>
                            </m:den>
                          </m:f>
                        </m:e>
                      </m:d>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100</m:t>
                      </m:r>
                    </m:oMath>
                  </m:oMathPara>
                </a14:m>
                <a:endParaRPr lang="es-MX" sz="2000" dirty="0">
                  <a:solidFill>
                    <a:srgbClr val="00B050"/>
                  </a:solidFill>
                </a:endParaRPr>
              </a:p>
            </p:txBody>
          </p:sp>
        </mc:Choice>
        <mc:Fallback xmlns="">
          <p:sp>
            <p:nvSpPr>
              <p:cNvPr id="6" name="CuadroTexto 5">
                <a:extLst>
                  <a:ext uri="{FF2B5EF4-FFF2-40B4-BE49-F238E27FC236}">
                    <a16:creationId xmlns:a16="http://schemas.microsoft.com/office/drawing/2014/main" id="{F5155F1F-303B-4EB1-A6BA-8B7C320C95AD}"/>
                  </a:ext>
                </a:extLst>
              </p:cNvPr>
              <p:cNvSpPr txBox="1">
                <a:spLocks noRot="1" noChangeAspect="1" noMove="1" noResize="1" noEditPoints="1" noAdjustHandles="1" noChangeArrowheads="1" noChangeShapeType="1" noTextEdit="1"/>
              </p:cNvSpPr>
              <p:nvPr/>
            </p:nvSpPr>
            <p:spPr>
              <a:xfrm>
                <a:off x="2706673" y="2489660"/>
                <a:ext cx="6778651" cy="691536"/>
              </a:xfrm>
              <a:prstGeom prst="rect">
                <a:avLst/>
              </a:prstGeom>
              <a:blipFill>
                <a:blip r:embed="rId5"/>
                <a:stretch>
                  <a:fillRect/>
                </a:stretch>
              </a:blipFill>
            </p:spPr>
            <p:txBody>
              <a:bodyPr/>
              <a:lstStyle/>
              <a:p>
                <a:r>
                  <a:rPr lang="es-MX">
                    <a:noFill/>
                  </a:rPr>
                  <a:t> </a:t>
                </a:r>
              </a:p>
            </p:txBody>
          </p:sp>
        </mc:Fallback>
      </mc:AlternateContent>
      <p:sp>
        <p:nvSpPr>
          <p:cNvPr id="10" name="Google Shape;112;p3">
            <a:extLst>
              <a:ext uri="{FF2B5EF4-FFF2-40B4-BE49-F238E27FC236}">
                <a16:creationId xmlns:a16="http://schemas.microsoft.com/office/drawing/2014/main" id="{8FC682FE-7ED3-4BEB-9525-34D3895D353A}"/>
              </a:ext>
            </a:extLst>
          </p:cNvPr>
          <p:cNvSpPr txBox="1"/>
          <p:nvPr/>
        </p:nvSpPr>
        <p:spPr>
          <a:xfrm>
            <a:off x="817880" y="3576850"/>
            <a:ext cx="9803228" cy="183921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b="1" dirty="0">
                <a:solidFill>
                  <a:srgbClr val="131D3F"/>
                </a:solidFill>
                <a:latin typeface="Montserrat" panose="00000500000000000000" pitchFamily="2" charset="0"/>
              </a:rPr>
              <a:t>Donde: </a:t>
            </a:r>
          </a:p>
          <a:p>
            <a:pPr algn="just">
              <a:spcAft>
                <a:spcPts val="600"/>
              </a:spcAft>
            </a:pPr>
            <a:r>
              <a:rPr lang="es-ES" sz="2000" b="1" dirty="0">
                <a:solidFill>
                  <a:srgbClr val="131D3F"/>
                </a:solidFill>
                <a:latin typeface="Montserrat" panose="00000500000000000000" pitchFamily="2" charset="0"/>
              </a:rPr>
              <a:t>IPC (Índice de Precios al Consumidor) = </a:t>
            </a:r>
            <a:r>
              <a:rPr lang="es-ES" sz="2000" dirty="0">
                <a:solidFill>
                  <a:srgbClr val="131D3F"/>
                </a:solidFill>
                <a:latin typeface="Montserrat" panose="00000500000000000000" pitchFamily="2" charset="0"/>
              </a:rPr>
              <a:t>Es una medida que examina ponderadamente el promedio de los precios de una cesta de bienes y servicios de consumo, como el transporte, la alimentación y la atención médica. </a:t>
            </a:r>
          </a:p>
          <a:p>
            <a:pPr algn="just">
              <a:spcAft>
                <a:spcPts val="600"/>
              </a:spcAft>
            </a:pPr>
            <a:r>
              <a:rPr lang="es-ES" sz="2000" b="1" dirty="0">
                <a:solidFill>
                  <a:srgbClr val="131D3F"/>
                </a:solidFill>
                <a:latin typeface="Montserrat" panose="00000500000000000000" pitchFamily="2" charset="0"/>
              </a:rPr>
              <a:t>Tasa de Inflación = </a:t>
            </a:r>
            <a:r>
              <a:rPr lang="es-ES" sz="2000" dirty="0">
                <a:solidFill>
                  <a:srgbClr val="131D3F"/>
                </a:solidFill>
                <a:latin typeface="Montserrat" panose="00000500000000000000" pitchFamily="2" charset="0"/>
              </a:rPr>
              <a:t>el cambio porcentual en el IPC y mide la velocidad a la que aumentan los precios.</a:t>
            </a:r>
          </a:p>
        </p:txBody>
      </p:sp>
    </p:spTree>
    <p:extLst>
      <p:ext uri="{BB962C8B-B14F-4D97-AF65-F5344CB8AC3E}">
        <p14:creationId xmlns:p14="http://schemas.microsoft.com/office/powerpoint/2010/main" val="3888739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30</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1.7 Inflación</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Cálculos</a:t>
            </a:r>
            <a:endParaRPr lang="es-MX" sz="22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EDFD58AB-E448-4E24-8C9D-8288A6A90917}"/>
              </a:ext>
            </a:extLst>
          </p:cNvPr>
          <p:cNvSpPr txBox="1"/>
          <p:nvPr/>
        </p:nvSpPr>
        <p:spPr>
          <a:xfrm>
            <a:off x="817880" y="1220036"/>
            <a:ext cx="10550845" cy="37671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Calcula la tasa de inflación entre dos años utilizando los siguientes IPC:</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5155F1F-303B-4EB1-A6BA-8B7C320C95AD}"/>
                  </a:ext>
                </a:extLst>
              </p:cNvPr>
              <p:cNvSpPr txBox="1"/>
              <p:nvPr/>
            </p:nvSpPr>
            <p:spPr>
              <a:xfrm>
                <a:off x="5238858" y="1694936"/>
                <a:ext cx="4567661"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𝐼𝑛𝑓𝑙𝑎𝑐𝑖</m:t>
                      </m:r>
                      <m:r>
                        <a:rPr lang="es-ES" sz="2000" b="0" i="1" smtClean="0">
                          <a:solidFill>
                            <a:srgbClr val="00B050"/>
                          </a:solidFill>
                          <a:latin typeface="Cambria Math" panose="02040503050406030204" pitchFamily="18" charset="0"/>
                        </a:rPr>
                        <m:t>ó</m:t>
                      </m:r>
                      <m:r>
                        <a:rPr lang="es-ES" sz="2000" b="0" i="1" smtClean="0">
                          <a:solidFill>
                            <a:srgbClr val="00B050"/>
                          </a:solidFill>
                          <a:latin typeface="Cambria Math" panose="02040503050406030204" pitchFamily="18" charset="0"/>
                        </a:rPr>
                        <m:t>𝑛</m:t>
                      </m:r>
                      <m:r>
                        <a:rPr lang="es-ES" sz="2000" b="0" i="1" smtClean="0">
                          <a:solidFill>
                            <a:srgbClr val="00B050"/>
                          </a:solidFill>
                          <a:latin typeface="Cambria Math" panose="02040503050406030204" pitchFamily="18" charset="0"/>
                        </a:rPr>
                        <m:t>=</m:t>
                      </m:r>
                      <m:d>
                        <m:dPr>
                          <m:ctrlPr>
                            <a:rPr lang="es-ES" sz="2000" b="0" i="1" smtClean="0">
                              <a:solidFill>
                                <a:srgbClr val="00B050"/>
                              </a:solidFill>
                              <a:latin typeface="Cambria Math" panose="02040503050406030204" pitchFamily="18" charset="0"/>
                            </a:rPr>
                          </m:ctrlPr>
                        </m:dPr>
                        <m:e>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126 −120</m:t>
                              </m:r>
                            </m:num>
                            <m:den>
                              <m:r>
                                <a:rPr lang="es-ES" sz="2000" b="0" i="1" smtClean="0">
                                  <a:solidFill>
                                    <a:srgbClr val="00B050"/>
                                  </a:solidFill>
                                  <a:latin typeface="Cambria Math" panose="02040503050406030204" pitchFamily="18" charset="0"/>
                                </a:rPr>
                                <m:t>120</m:t>
                              </m:r>
                            </m:den>
                          </m:f>
                        </m:e>
                      </m:d>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100</m:t>
                      </m:r>
                    </m:oMath>
                  </m:oMathPara>
                </a14:m>
                <a:endParaRPr lang="es-MX" sz="2000" dirty="0">
                  <a:solidFill>
                    <a:srgbClr val="00B050"/>
                  </a:solidFill>
                </a:endParaRPr>
              </a:p>
            </p:txBody>
          </p:sp>
        </mc:Choice>
        <mc:Fallback xmlns="">
          <p:sp>
            <p:nvSpPr>
              <p:cNvPr id="6" name="CuadroTexto 5">
                <a:extLst>
                  <a:ext uri="{FF2B5EF4-FFF2-40B4-BE49-F238E27FC236}">
                    <a16:creationId xmlns:a16="http://schemas.microsoft.com/office/drawing/2014/main" id="{F5155F1F-303B-4EB1-A6BA-8B7C320C95AD}"/>
                  </a:ext>
                </a:extLst>
              </p:cNvPr>
              <p:cNvSpPr txBox="1">
                <a:spLocks noRot="1" noChangeAspect="1" noMove="1" noResize="1" noEditPoints="1" noAdjustHandles="1" noChangeArrowheads="1" noChangeShapeType="1" noTextEdit="1"/>
              </p:cNvSpPr>
              <p:nvPr/>
            </p:nvSpPr>
            <p:spPr>
              <a:xfrm>
                <a:off x="5238858" y="1694936"/>
                <a:ext cx="4567661" cy="691536"/>
              </a:xfrm>
              <a:prstGeom prst="rect">
                <a:avLst/>
              </a:prstGeom>
              <a:blipFill>
                <a:blip r:embed="rId5"/>
                <a:stretch>
                  <a:fillRect/>
                </a:stretch>
              </a:blipFill>
            </p:spPr>
            <p:txBody>
              <a:bodyPr/>
              <a:lstStyle/>
              <a:p>
                <a:r>
                  <a:rPr lang="es-MX">
                    <a:noFill/>
                  </a:rPr>
                  <a:t> </a:t>
                </a:r>
              </a:p>
            </p:txBody>
          </p:sp>
        </mc:Fallback>
      </mc:AlternateContent>
      <p:sp>
        <p:nvSpPr>
          <p:cNvPr id="10" name="Google Shape;112;p3">
            <a:extLst>
              <a:ext uri="{FF2B5EF4-FFF2-40B4-BE49-F238E27FC236}">
                <a16:creationId xmlns:a16="http://schemas.microsoft.com/office/drawing/2014/main" id="{8FC682FE-7ED3-4BEB-9525-34D3895D353A}"/>
              </a:ext>
            </a:extLst>
          </p:cNvPr>
          <p:cNvSpPr txBox="1"/>
          <p:nvPr/>
        </p:nvSpPr>
        <p:spPr>
          <a:xfrm>
            <a:off x="1647122" y="1702704"/>
            <a:ext cx="3357109" cy="183921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b="1" dirty="0">
                <a:solidFill>
                  <a:srgbClr val="131D3F"/>
                </a:solidFill>
                <a:latin typeface="Montserrat" panose="00000500000000000000" pitchFamily="2" charset="0"/>
              </a:rPr>
              <a:t>Datos: </a:t>
            </a:r>
          </a:p>
          <a:p>
            <a:pPr algn="just">
              <a:spcAft>
                <a:spcPts val="600"/>
              </a:spcAft>
            </a:pPr>
            <a:r>
              <a:rPr lang="es-ES" sz="2000" b="1" dirty="0">
                <a:solidFill>
                  <a:srgbClr val="131D3F"/>
                </a:solidFill>
                <a:latin typeface="Montserrat" panose="00000500000000000000" pitchFamily="2" charset="0"/>
              </a:rPr>
              <a:t>IPC Año 1</a:t>
            </a:r>
            <a:r>
              <a:rPr lang="es-ES" sz="2000" dirty="0">
                <a:solidFill>
                  <a:srgbClr val="131D3F"/>
                </a:solidFill>
                <a:latin typeface="Montserrat" panose="00000500000000000000" pitchFamily="2" charset="0"/>
              </a:rPr>
              <a:t> = 120</a:t>
            </a:r>
          </a:p>
          <a:p>
            <a:pPr algn="just">
              <a:spcAft>
                <a:spcPts val="600"/>
              </a:spcAft>
            </a:pPr>
            <a:r>
              <a:rPr lang="es-ES" sz="2000" b="1" dirty="0">
                <a:solidFill>
                  <a:srgbClr val="131D3F"/>
                </a:solidFill>
                <a:latin typeface="Montserrat" panose="00000500000000000000" pitchFamily="2" charset="0"/>
              </a:rPr>
              <a:t>IPC Año 2</a:t>
            </a:r>
            <a:r>
              <a:rPr lang="es-ES" sz="2000" dirty="0">
                <a:solidFill>
                  <a:srgbClr val="131D3F"/>
                </a:solidFill>
                <a:latin typeface="Montserrat" panose="00000500000000000000" pitchFamily="2" charset="0"/>
              </a:rPr>
              <a:t> = 126</a:t>
            </a:r>
          </a:p>
          <a:p>
            <a:pPr algn="just">
              <a:spcAft>
                <a:spcPts val="600"/>
              </a:spcAft>
            </a:pPr>
            <a:r>
              <a:rPr lang="es-ES" sz="2000" b="1" dirty="0">
                <a:solidFill>
                  <a:srgbClr val="131D3F"/>
                </a:solidFill>
                <a:latin typeface="Montserrat" panose="00000500000000000000" pitchFamily="2" charset="0"/>
              </a:rPr>
              <a:t>Tasa de Inflación = </a:t>
            </a:r>
            <a:r>
              <a:rPr lang="es-ES" sz="2000" dirty="0">
                <a:solidFill>
                  <a:srgbClr val="131D3F"/>
                </a:solidFill>
                <a:latin typeface="Montserrat" panose="00000500000000000000" pitchFamily="2" charset="0"/>
              </a:rPr>
              <a:t>¿ ?</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0068D0A-F01D-4947-AAB6-473CDD20B5E4}"/>
                  </a:ext>
                </a:extLst>
              </p:cNvPr>
              <p:cNvSpPr txBox="1"/>
              <p:nvPr/>
            </p:nvSpPr>
            <p:spPr>
              <a:xfrm>
                <a:off x="5238858" y="2850380"/>
                <a:ext cx="4743093"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𝐼𝑛𝑓𝑙𝑎𝑐𝑖</m:t>
                      </m:r>
                      <m:r>
                        <a:rPr lang="es-ES" sz="2000" b="0" i="1" smtClean="0">
                          <a:solidFill>
                            <a:srgbClr val="00B050"/>
                          </a:solidFill>
                          <a:latin typeface="Cambria Math" panose="02040503050406030204" pitchFamily="18" charset="0"/>
                        </a:rPr>
                        <m:t>ó</m:t>
                      </m:r>
                      <m:r>
                        <a:rPr lang="es-ES" sz="2000" b="0" i="1" smtClean="0">
                          <a:solidFill>
                            <a:srgbClr val="00B050"/>
                          </a:solidFill>
                          <a:latin typeface="Cambria Math" panose="02040503050406030204" pitchFamily="18" charset="0"/>
                        </a:rPr>
                        <m:t>𝑛</m:t>
                      </m:r>
                      <m:r>
                        <a:rPr lang="es-ES" sz="2000" b="0" i="1" smtClean="0">
                          <a:solidFill>
                            <a:srgbClr val="00B050"/>
                          </a:solidFill>
                          <a:latin typeface="Cambria Math" panose="02040503050406030204" pitchFamily="18" charset="0"/>
                        </a:rPr>
                        <m:t>=</m:t>
                      </m:r>
                      <m:d>
                        <m:dPr>
                          <m:ctrlPr>
                            <a:rPr lang="es-ES" sz="2000" b="0" i="1" smtClean="0">
                              <a:solidFill>
                                <a:srgbClr val="00B050"/>
                              </a:solidFill>
                              <a:latin typeface="Cambria Math" panose="02040503050406030204" pitchFamily="18" charset="0"/>
                            </a:rPr>
                          </m:ctrlPr>
                        </m:dPr>
                        <m:e>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6</m:t>
                              </m:r>
                            </m:num>
                            <m:den>
                              <m:r>
                                <a:rPr lang="es-ES" sz="2000" b="0" i="1" smtClean="0">
                                  <a:solidFill>
                                    <a:srgbClr val="00B050"/>
                                  </a:solidFill>
                                  <a:latin typeface="Cambria Math" panose="02040503050406030204" pitchFamily="18" charset="0"/>
                                </a:rPr>
                                <m:t>120</m:t>
                              </m:r>
                            </m:den>
                          </m:f>
                        </m:e>
                      </m:d>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100=</m:t>
                      </m:r>
                      <m:r>
                        <a:rPr lang="es-ES" sz="2000" b="1" i="1" smtClean="0">
                          <a:solidFill>
                            <a:srgbClr val="00B050"/>
                          </a:solidFill>
                          <a:latin typeface="Cambria Math" panose="02040503050406030204" pitchFamily="18" charset="0"/>
                        </a:rPr>
                        <m:t>𝟓</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𝟎</m:t>
                      </m:r>
                      <m:r>
                        <a:rPr lang="es-ES" sz="2000" b="1" i="1" smtClean="0">
                          <a:solidFill>
                            <a:srgbClr val="00B050"/>
                          </a:solidFill>
                          <a:latin typeface="Cambria Math" panose="02040503050406030204" pitchFamily="18" charset="0"/>
                        </a:rPr>
                        <m:t>%</m:t>
                      </m:r>
                    </m:oMath>
                  </m:oMathPara>
                </a14:m>
                <a:endParaRPr lang="es-MX" sz="2000" b="1" dirty="0">
                  <a:solidFill>
                    <a:srgbClr val="00B050"/>
                  </a:solidFill>
                </a:endParaRPr>
              </a:p>
            </p:txBody>
          </p:sp>
        </mc:Choice>
        <mc:Fallback xmlns="">
          <p:sp>
            <p:nvSpPr>
              <p:cNvPr id="11" name="CuadroTexto 10">
                <a:extLst>
                  <a:ext uri="{FF2B5EF4-FFF2-40B4-BE49-F238E27FC236}">
                    <a16:creationId xmlns:a16="http://schemas.microsoft.com/office/drawing/2014/main" id="{A0068D0A-F01D-4947-AAB6-473CDD20B5E4}"/>
                  </a:ext>
                </a:extLst>
              </p:cNvPr>
              <p:cNvSpPr txBox="1">
                <a:spLocks noRot="1" noChangeAspect="1" noMove="1" noResize="1" noEditPoints="1" noAdjustHandles="1" noChangeArrowheads="1" noChangeShapeType="1" noTextEdit="1"/>
              </p:cNvSpPr>
              <p:nvPr/>
            </p:nvSpPr>
            <p:spPr>
              <a:xfrm>
                <a:off x="5238858" y="2850380"/>
                <a:ext cx="4743093" cy="691536"/>
              </a:xfrm>
              <a:prstGeom prst="rect">
                <a:avLst/>
              </a:prstGeom>
              <a:blipFill>
                <a:blip r:embed="rId6"/>
                <a:stretch>
                  <a:fillRect/>
                </a:stretch>
              </a:blipFill>
            </p:spPr>
            <p:txBody>
              <a:bodyPr/>
              <a:lstStyle/>
              <a:p>
                <a:r>
                  <a:rPr lang="es-MX">
                    <a:noFill/>
                  </a:rPr>
                  <a:t> </a:t>
                </a:r>
              </a:p>
            </p:txBody>
          </p:sp>
        </mc:Fallback>
      </mc:AlternateContent>
      <p:sp>
        <p:nvSpPr>
          <p:cNvPr id="12" name="Google Shape;112;p3">
            <a:extLst>
              <a:ext uri="{FF2B5EF4-FFF2-40B4-BE49-F238E27FC236}">
                <a16:creationId xmlns:a16="http://schemas.microsoft.com/office/drawing/2014/main" id="{CFFB2E03-5073-4BFA-8FE7-170DBB3D34BE}"/>
              </a:ext>
            </a:extLst>
          </p:cNvPr>
          <p:cNvSpPr txBox="1"/>
          <p:nvPr/>
        </p:nvSpPr>
        <p:spPr>
          <a:xfrm>
            <a:off x="820577" y="3717011"/>
            <a:ext cx="10550845" cy="691536"/>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Supongamos que invertimos $1,000.00 a una tasa de rendimiento de 10% anual, ¿Cuál seria la Tasa de Interés Real si consideramos una tasa de inflación de 6%?</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BF67E6B-0003-46E2-9A54-80A21028FA82}"/>
                  </a:ext>
                </a:extLst>
              </p:cNvPr>
              <p:cNvSpPr txBox="1"/>
              <p:nvPr/>
            </p:nvSpPr>
            <p:spPr>
              <a:xfrm>
                <a:off x="5232993" y="4526687"/>
                <a:ext cx="6018764"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𝐼𝑛𝑡𝑒𝑟</m:t>
                      </m:r>
                      <m:r>
                        <a:rPr lang="es-ES" sz="2000" b="0" i="1" smtClean="0">
                          <a:solidFill>
                            <a:srgbClr val="00B050"/>
                          </a:solidFill>
                          <a:latin typeface="Cambria Math" panose="02040503050406030204" pitchFamily="18" charset="0"/>
                        </a:rPr>
                        <m:t>é</m:t>
                      </m:r>
                      <m:r>
                        <a:rPr lang="es-ES" sz="2000" b="0" i="1" smtClean="0">
                          <a:solidFill>
                            <a:srgbClr val="00B050"/>
                          </a:solidFill>
                          <a:latin typeface="Cambria Math" panose="02040503050406030204" pitchFamily="18" charset="0"/>
                        </a:rPr>
                        <m:t>𝑠</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𝑅𝑒𝑎𝑙</m:t>
                      </m:r>
                      <m:r>
                        <a:rPr lang="es-ES" sz="2000" b="0" i="1" smtClean="0">
                          <a:solidFill>
                            <a:srgbClr val="00B050"/>
                          </a:solidFill>
                          <a:latin typeface="Cambria Math" panose="02040503050406030204" pitchFamily="18" charset="0"/>
                        </a:rPr>
                        <m:t>=</m:t>
                      </m:r>
                      <m:d>
                        <m:dPr>
                          <m:ctrlPr>
                            <a:rPr lang="es-ES" sz="2000" b="0" i="1" smtClean="0">
                              <a:solidFill>
                                <a:srgbClr val="00B050"/>
                              </a:solidFill>
                              <a:latin typeface="Cambria Math" panose="02040503050406030204" pitchFamily="18" charset="0"/>
                            </a:rPr>
                          </m:ctrlPr>
                        </m:dPr>
                        <m:e>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𝐼𝑛𝑡𝑒𝑟</m:t>
                              </m:r>
                              <m:r>
                                <a:rPr lang="es-ES" sz="2000" b="0" i="1" smtClean="0">
                                  <a:solidFill>
                                    <a:srgbClr val="00B050"/>
                                  </a:solidFill>
                                  <a:latin typeface="Cambria Math" panose="02040503050406030204" pitchFamily="18" charset="0"/>
                                </a:rPr>
                                <m:t>é</m:t>
                              </m:r>
                              <m:r>
                                <a:rPr lang="es-ES" sz="2000" b="0" i="1" smtClean="0">
                                  <a:solidFill>
                                    <a:srgbClr val="00B050"/>
                                  </a:solidFill>
                                  <a:latin typeface="Cambria Math" panose="02040503050406030204" pitchFamily="18" charset="0"/>
                                </a:rPr>
                                <m:t>𝑠</m:t>
                              </m:r>
                            </m:num>
                            <m:den>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𝐼𝑛𝑓𝑙𝑎𝑐𝑖</m:t>
                              </m:r>
                              <m:r>
                                <a:rPr lang="es-ES" sz="2000" b="0" i="1" smtClean="0">
                                  <a:solidFill>
                                    <a:srgbClr val="00B050"/>
                                  </a:solidFill>
                                  <a:latin typeface="Cambria Math" panose="02040503050406030204" pitchFamily="18" charset="0"/>
                                </a:rPr>
                                <m:t>ó</m:t>
                              </m:r>
                              <m:r>
                                <a:rPr lang="es-ES" sz="2000" b="0" i="1" smtClean="0">
                                  <a:solidFill>
                                    <a:srgbClr val="00B050"/>
                                  </a:solidFill>
                                  <a:latin typeface="Cambria Math" panose="02040503050406030204" pitchFamily="18" charset="0"/>
                                </a:rPr>
                                <m:t>𝑛</m:t>
                              </m:r>
                            </m:den>
                          </m:f>
                        </m:e>
                      </m:d>
                      <m:r>
                        <a:rPr lang="es-ES" sz="2000" b="0" i="1" smtClean="0">
                          <a:solidFill>
                            <a:srgbClr val="00B050"/>
                          </a:solidFill>
                          <a:latin typeface="Cambria Math" panose="02040503050406030204" pitchFamily="18" charset="0"/>
                        </a:rPr>
                        <m:t>−1</m:t>
                      </m:r>
                    </m:oMath>
                  </m:oMathPara>
                </a14:m>
                <a:endParaRPr lang="es-MX" sz="2000" dirty="0">
                  <a:solidFill>
                    <a:srgbClr val="00B050"/>
                  </a:solidFill>
                </a:endParaRPr>
              </a:p>
            </p:txBody>
          </p:sp>
        </mc:Choice>
        <mc:Fallback xmlns="">
          <p:sp>
            <p:nvSpPr>
              <p:cNvPr id="13" name="CuadroTexto 12">
                <a:extLst>
                  <a:ext uri="{FF2B5EF4-FFF2-40B4-BE49-F238E27FC236}">
                    <a16:creationId xmlns:a16="http://schemas.microsoft.com/office/drawing/2014/main" id="{ABF67E6B-0003-46E2-9A54-80A21028FA82}"/>
                  </a:ext>
                </a:extLst>
              </p:cNvPr>
              <p:cNvSpPr txBox="1">
                <a:spLocks noRot="1" noChangeAspect="1" noMove="1" noResize="1" noEditPoints="1" noAdjustHandles="1" noChangeArrowheads="1" noChangeShapeType="1" noTextEdit="1"/>
              </p:cNvSpPr>
              <p:nvPr/>
            </p:nvSpPr>
            <p:spPr>
              <a:xfrm>
                <a:off x="5232993" y="4526687"/>
                <a:ext cx="6018764" cy="691536"/>
              </a:xfrm>
              <a:prstGeom prst="rect">
                <a:avLst/>
              </a:prstGeom>
              <a:blipFill>
                <a:blip r:embed="rId7"/>
                <a:stretch>
                  <a:fillRect/>
                </a:stretch>
              </a:blipFill>
            </p:spPr>
            <p:txBody>
              <a:bodyPr/>
              <a:lstStyle/>
              <a:p>
                <a:r>
                  <a:rPr lang="es-MX">
                    <a:noFill/>
                  </a:rPr>
                  <a:t> </a:t>
                </a:r>
              </a:p>
            </p:txBody>
          </p:sp>
        </mc:Fallback>
      </mc:AlternateContent>
      <p:sp>
        <p:nvSpPr>
          <p:cNvPr id="14" name="Google Shape;112;p3">
            <a:extLst>
              <a:ext uri="{FF2B5EF4-FFF2-40B4-BE49-F238E27FC236}">
                <a16:creationId xmlns:a16="http://schemas.microsoft.com/office/drawing/2014/main" id="{E15C1883-7059-49B4-8FE6-CB8E712FC4E0}"/>
              </a:ext>
            </a:extLst>
          </p:cNvPr>
          <p:cNvSpPr txBox="1"/>
          <p:nvPr/>
        </p:nvSpPr>
        <p:spPr>
          <a:xfrm>
            <a:off x="817880" y="4589101"/>
            <a:ext cx="3525520" cy="189408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b="1" dirty="0">
                <a:solidFill>
                  <a:srgbClr val="131D3F"/>
                </a:solidFill>
                <a:latin typeface="Montserrat" panose="00000500000000000000" pitchFamily="2" charset="0"/>
              </a:rPr>
              <a:t>Datos: </a:t>
            </a:r>
          </a:p>
          <a:p>
            <a:pPr algn="just">
              <a:spcAft>
                <a:spcPts val="600"/>
              </a:spcAft>
            </a:pPr>
            <a:r>
              <a:rPr lang="es-ES" sz="2000" b="1" dirty="0">
                <a:solidFill>
                  <a:srgbClr val="131D3F"/>
                </a:solidFill>
                <a:latin typeface="Montserrat" panose="00000500000000000000" pitchFamily="2" charset="0"/>
              </a:rPr>
              <a:t>Tasa de Interés Real = </a:t>
            </a:r>
            <a:r>
              <a:rPr lang="es-ES" sz="2000" dirty="0">
                <a:solidFill>
                  <a:srgbClr val="131D3F"/>
                </a:solidFill>
                <a:latin typeface="Montserrat" panose="00000500000000000000" pitchFamily="2" charset="0"/>
              </a:rPr>
              <a:t>¿ ?</a:t>
            </a:r>
          </a:p>
          <a:p>
            <a:pPr algn="just">
              <a:spcAft>
                <a:spcPts val="600"/>
              </a:spcAft>
            </a:pPr>
            <a:r>
              <a:rPr lang="es-ES" sz="2000" b="1" dirty="0">
                <a:solidFill>
                  <a:srgbClr val="131D3F"/>
                </a:solidFill>
                <a:latin typeface="Montserrat" panose="00000500000000000000" pitchFamily="2" charset="0"/>
              </a:rPr>
              <a:t>VP = </a:t>
            </a:r>
            <a:r>
              <a:rPr lang="es-ES" sz="2000" dirty="0">
                <a:solidFill>
                  <a:srgbClr val="131D3F"/>
                </a:solidFill>
                <a:latin typeface="Montserrat" panose="00000500000000000000" pitchFamily="2" charset="0"/>
              </a:rPr>
              <a:t>$1,000.00</a:t>
            </a:r>
          </a:p>
          <a:p>
            <a:pPr algn="just">
              <a:spcAft>
                <a:spcPts val="600"/>
              </a:spcAft>
            </a:pPr>
            <a:r>
              <a:rPr lang="es-ES" sz="2000" b="1" dirty="0">
                <a:solidFill>
                  <a:srgbClr val="131D3F"/>
                </a:solidFill>
                <a:latin typeface="Montserrat" panose="00000500000000000000" pitchFamily="2" charset="0"/>
              </a:rPr>
              <a:t>Tasa de interés = </a:t>
            </a:r>
            <a:r>
              <a:rPr lang="es-ES" sz="2000" dirty="0">
                <a:solidFill>
                  <a:srgbClr val="131D3F"/>
                </a:solidFill>
                <a:latin typeface="Montserrat" panose="00000500000000000000" pitchFamily="2" charset="0"/>
              </a:rPr>
              <a:t>10%</a:t>
            </a:r>
          </a:p>
          <a:p>
            <a:pPr algn="just">
              <a:spcAft>
                <a:spcPts val="600"/>
              </a:spcAft>
            </a:pPr>
            <a:r>
              <a:rPr lang="es-ES" sz="2000" b="1" dirty="0">
                <a:solidFill>
                  <a:srgbClr val="131D3F"/>
                </a:solidFill>
                <a:latin typeface="Montserrat" panose="00000500000000000000" pitchFamily="2" charset="0"/>
              </a:rPr>
              <a:t>Tasa de inflación = </a:t>
            </a:r>
            <a:r>
              <a:rPr lang="es-ES" sz="2000" dirty="0">
                <a:solidFill>
                  <a:srgbClr val="131D3F"/>
                </a:solidFill>
                <a:latin typeface="Montserrat" panose="00000500000000000000" pitchFamily="2" charset="0"/>
              </a:rPr>
              <a:t>6%</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F3CD112-DED9-4706-BE79-9FBA148699C7}"/>
                  </a:ext>
                </a:extLst>
              </p:cNvPr>
              <p:cNvSpPr txBox="1"/>
              <p:nvPr/>
            </p:nvSpPr>
            <p:spPr>
              <a:xfrm>
                <a:off x="5232993" y="5637964"/>
                <a:ext cx="6665223"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𝑇𝑎𝑠𝑎</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𝑑𝑒</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𝐼𝑛𝑡𝑒𝑟</m:t>
                      </m:r>
                      <m:r>
                        <a:rPr lang="es-ES" sz="2000" b="0" i="1" smtClean="0">
                          <a:solidFill>
                            <a:srgbClr val="00B050"/>
                          </a:solidFill>
                          <a:latin typeface="Cambria Math" panose="02040503050406030204" pitchFamily="18" charset="0"/>
                        </a:rPr>
                        <m:t>é</m:t>
                      </m:r>
                      <m:r>
                        <a:rPr lang="es-ES" sz="2000" b="0" i="1" smtClean="0">
                          <a:solidFill>
                            <a:srgbClr val="00B050"/>
                          </a:solidFill>
                          <a:latin typeface="Cambria Math" panose="02040503050406030204" pitchFamily="18" charset="0"/>
                        </a:rPr>
                        <m:t>𝑠</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𝑅𝑒𝑎𝑙</m:t>
                      </m:r>
                      <m:r>
                        <a:rPr lang="es-ES" sz="2000" b="0" i="1" smtClean="0">
                          <a:solidFill>
                            <a:srgbClr val="00B050"/>
                          </a:solidFill>
                          <a:latin typeface="Cambria Math" panose="02040503050406030204" pitchFamily="18" charset="0"/>
                        </a:rPr>
                        <m:t>=</m:t>
                      </m:r>
                      <m:d>
                        <m:dPr>
                          <m:ctrlPr>
                            <a:rPr lang="es-ES" sz="2000" b="0" i="1" smtClean="0">
                              <a:solidFill>
                                <a:srgbClr val="00B050"/>
                              </a:solidFill>
                              <a:latin typeface="Cambria Math" panose="02040503050406030204" pitchFamily="18" charset="0"/>
                            </a:rPr>
                          </m:ctrlPr>
                        </m:dPr>
                        <m:e>
                          <m:f>
                            <m:fPr>
                              <m:ctrlPr>
                                <a:rPr lang="es-ES" sz="2000" b="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1+0.10</m:t>
                              </m:r>
                            </m:num>
                            <m:den>
                              <m:r>
                                <a:rPr lang="es-ES" sz="2000" b="0" i="1" smtClean="0">
                                  <a:solidFill>
                                    <a:srgbClr val="00B050"/>
                                  </a:solidFill>
                                  <a:latin typeface="Cambria Math" panose="02040503050406030204" pitchFamily="18" charset="0"/>
                                </a:rPr>
                                <m:t>1+0.06</m:t>
                              </m:r>
                            </m:den>
                          </m:f>
                        </m:e>
                      </m:d>
                      <m:r>
                        <a:rPr lang="es-ES" sz="2000" b="0" i="1" smtClean="0">
                          <a:solidFill>
                            <a:srgbClr val="00B050"/>
                          </a:solidFill>
                          <a:latin typeface="Cambria Math" panose="02040503050406030204" pitchFamily="18" charset="0"/>
                        </a:rPr>
                        <m:t>−1=0.0377=</m:t>
                      </m:r>
                      <m:r>
                        <a:rPr lang="es-ES" sz="2000" b="1" i="1" smtClean="0">
                          <a:solidFill>
                            <a:srgbClr val="00B050"/>
                          </a:solidFill>
                          <a:latin typeface="Cambria Math" panose="02040503050406030204" pitchFamily="18" charset="0"/>
                        </a:rPr>
                        <m:t>𝟑</m:t>
                      </m:r>
                      <m:r>
                        <a:rPr lang="es-ES" sz="2000" b="1" i="1" smtClean="0">
                          <a:solidFill>
                            <a:srgbClr val="00B050"/>
                          </a:solidFill>
                          <a:latin typeface="Cambria Math" panose="02040503050406030204" pitchFamily="18" charset="0"/>
                        </a:rPr>
                        <m:t>.</m:t>
                      </m:r>
                      <m:r>
                        <a:rPr lang="es-ES" sz="2000" b="1" i="1" smtClean="0">
                          <a:solidFill>
                            <a:srgbClr val="00B050"/>
                          </a:solidFill>
                          <a:latin typeface="Cambria Math" panose="02040503050406030204" pitchFamily="18" charset="0"/>
                        </a:rPr>
                        <m:t>𝟕𝟕</m:t>
                      </m:r>
                      <m:r>
                        <a:rPr lang="es-ES" sz="2000" b="1" i="1" smtClean="0">
                          <a:solidFill>
                            <a:srgbClr val="00B050"/>
                          </a:solidFill>
                          <a:latin typeface="Cambria Math" panose="02040503050406030204" pitchFamily="18" charset="0"/>
                        </a:rPr>
                        <m:t>%</m:t>
                      </m:r>
                    </m:oMath>
                  </m:oMathPara>
                </a14:m>
                <a:endParaRPr lang="es-MX" sz="2000" b="1" dirty="0">
                  <a:solidFill>
                    <a:srgbClr val="00B050"/>
                  </a:solidFill>
                </a:endParaRPr>
              </a:p>
            </p:txBody>
          </p:sp>
        </mc:Choice>
        <mc:Fallback xmlns="">
          <p:sp>
            <p:nvSpPr>
              <p:cNvPr id="16" name="CuadroTexto 15">
                <a:extLst>
                  <a:ext uri="{FF2B5EF4-FFF2-40B4-BE49-F238E27FC236}">
                    <a16:creationId xmlns:a16="http://schemas.microsoft.com/office/drawing/2014/main" id="{1F3CD112-DED9-4706-BE79-9FBA148699C7}"/>
                  </a:ext>
                </a:extLst>
              </p:cNvPr>
              <p:cNvSpPr txBox="1">
                <a:spLocks noRot="1" noChangeAspect="1" noMove="1" noResize="1" noEditPoints="1" noAdjustHandles="1" noChangeArrowheads="1" noChangeShapeType="1" noTextEdit="1"/>
              </p:cNvSpPr>
              <p:nvPr/>
            </p:nvSpPr>
            <p:spPr>
              <a:xfrm>
                <a:off x="5232993" y="5637964"/>
                <a:ext cx="6665223" cy="691536"/>
              </a:xfrm>
              <a:prstGeom prst="rect">
                <a:avLst/>
              </a:prstGeom>
              <a:blipFill>
                <a:blip r:embed="rId8"/>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748944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31</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1.8 Depreciación</a:t>
            </a:r>
            <a:endParaRPr lang="es-MX" sz="2200" b="1" dirty="0">
              <a:solidFill>
                <a:srgbClr val="131D3F"/>
              </a:solidFill>
              <a:latin typeface="Montserrat SemiBold" panose="00000700000000000000" pitchFamily="2" charset="0"/>
            </a:endParaRPr>
          </a:p>
        </p:txBody>
      </p:sp>
      <p:sp>
        <p:nvSpPr>
          <p:cNvPr id="14" name="Google Shape;112;p3">
            <a:extLst>
              <a:ext uri="{FF2B5EF4-FFF2-40B4-BE49-F238E27FC236}">
                <a16:creationId xmlns:a16="http://schemas.microsoft.com/office/drawing/2014/main" id="{BE69033D-FC2D-4123-B35D-4ED82A69ED5D}"/>
              </a:ext>
            </a:extLst>
          </p:cNvPr>
          <p:cNvSpPr txBox="1"/>
          <p:nvPr/>
        </p:nvSpPr>
        <p:spPr>
          <a:xfrm>
            <a:off x="820577" y="1337786"/>
            <a:ext cx="10550845" cy="1502129"/>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La depreciación es el proceso contable que se utiliza para asignar el costo de un activo fijo a lo largo de su vida útil. En otras palabras, se trata de cómo se distribuye el gasto de un activo a lo largo del tiempo en que se utiliza, en lugar de registrar el gasto total en el momento de la compra.</a:t>
            </a:r>
          </a:p>
          <a:p>
            <a:pPr algn="just">
              <a:spcAft>
                <a:spcPts val="600"/>
              </a:spcAft>
            </a:pPr>
            <a:endParaRPr lang="es-ES" sz="2200" dirty="0">
              <a:solidFill>
                <a:srgbClr val="131D3F"/>
              </a:solidFill>
              <a:latin typeface="Montserrat" panose="00000500000000000000" pitchFamily="2" charset="0"/>
            </a:endParaRPr>
          </a:p>
        </p:txBody>
      </p:sp>
      <p:graphicFrame>
        <p:nvGraphicFramePr>
          <p:cNvPr id="16" name="Diagrama 15">
            <a:extLst>
              <a:ext uri="{FF2B5EF4-FFF2-40B4-BE49-F238E27FC236}">
                <a16:creationId xmlns:a16="http://schemas.microsoft.com/office/drawing/2014/main" id="{8700801D-2762-4A1E-9D03-C928047635D4}"/>
              </a:ext>
            </a:extLst>
          </p:cNvPr>
          <p:cNvGraphicFramePr/>
          <p:nvPr>
            <p:extLst>
              <p:ext uri="{D42A27DB-BD31-4B8C-83A1-F6EECF244321}">
                <p14:modId xmlns:p14="http://schemas.microsoft.com/office/powerpoint/2010/main" val="3695500735"/>
              </p:ext>
            </p:extLst>
          </p:nvPr>
        </p:nvGraphicFramePr>
        <p:xfrm>
          <a:off x="817879" y="3147462"/>
          <a:ext cx="10550844" cy="28972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30706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32</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1.9 Impuestos</a:t>
            </a:r>
            <a:endParaRPr lang="es-MX" sz="2200" b="1" dirty="0">
              <a:solidFill>
                <a:srgbClr val="131D3F"/>
              </a:solidFill>
              <a:latin typeface="Montserrat SemiBold" panose="00000700000000000000" pitchFamily="2" charset="0"/>
            </a:endParaRPr>
          </a:p>
        </p:txBody>
      </p:sp>
      <p:sp>
        <p:nvSpPr>
          <p:cNvPr id="14" name="Google Shape;112;p3">
            <a:extLst>
              <a:ext uri="{FF2B5EF4-FFF2-40B4-BE49-F238E27FC236}">
                <a16:creationId xmlns:a16="http://schemas.microsoft.com/office/drawing/2014/main" id="{BE69033D-FC2D-4123-B35D-4ED82A69ED5D}"/>
              </a:ext>
            </a:extLst>
          </p:cNvPr>
          <p:cNvSpPr txBox="1"/>
          <p:nvPr/>
        </p:nvSpPr>
        <p:spPr>
          <a:xfrm>
            <a:off x="289310" y="1134125"/>
            <a:ext cx="11613379" cy="2067259"/>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Un impuesto es una </a:t>
            </a:r>
            <a:r>
              <a:rPr lang="es-ES" sz="2200" b="1" dirty="0">
                <a:solidFill>
                  <a:srgbClr val="131D3F"/>
                </a:solidFill>
                <a:latin typeface="Montserrat" panose="00000500000000000000" pitchFamily="2" charset="0"/>
              </a:rPr>
              <a:t>contribución obligatoria</a:t>
            </a:r>
            <a:r>
              <a:rPr lang="es-ES" sz="2200" dirty="0">
                <a:solidFill>
                  <a:srgbClr val="131D3F"/>
                </a:solidFill>
                <a:latin typeface="Montserrat" panose="00000500000000000000" pitchFamily="2" charset="0"/>
              </a:rPr>
              <a:t> que los ciudadanos y empresas deben pagar al Estado para financiar los servicios públicos y el funcionamiento del gobierno. Los impuestos son una herramienta fundamental para la recaudación de fondos que permiten al gobierno proporcionar bienes y servicios que benefician a la sociedad en general, como </a:t>
            </a:r>
            <a:r>
              <a:rPr lang="es-ES" sz="2200" b="1" dirty="0">
                <a:solidFill>
                  <a:srgbClr val="131D3F"/>
                </a:solidFill>
                <a:latin typeface="Montserrat" panose="00000500000000000000" pitchFamily="2" charset="0"/>
              </a:rPr>
              <a:t>educación</a:t>
            </a:r>
            <a:r>
              <a:rPr lang="es-ES" sz="2200" dirty="0">
                <a:solidFill>
                  <a:srgbClr val="131D3F"/>
                </a:solidFill>
                <a:latin typeface="Montserrat" panose="00000500000000000000" pitchFamily="2" charset="0"/>
              </a:rPr>
              <a:t>, </a:t>
            </a:r>
            <a:r>
              <a:rPr lang="es-ES" sz="2200" b="1" dirty="0">
                <a:solidFill>
                  <a:srgbClr val="131D3F"/>
                </a:solidFill>
                <a:latin typeface="Montserrat" panose="00000500000000000000" pitchFamily="2" charset="0"/>
              </a:rPr>
              <a:t>salud</a:t>
            </a:r>
            <a:r>
              <a:rPr lang="es-ES" sz="2200" dirty="0">
                <a:solidFill>
                  <a:srgbClr val="131D3F"/>
                </a:solidFill>
                <a:latin typeface="Montserrat" panose="00000500000000000000" pitchFamily="2" charset="0"/>
              </a:rPr>
              <a:t>, </a:t>
            </a:r>
            <a:r>
              <a:rPr lang="es-ES" sz="2200" b="1" dirty="0">
                <a:solidFill>
                  <a:srgbClr val="131D3F"/>
                </a:solidFill>
                <a:latin typeface="Montserrat" panose="00000500000000000000" pitchFamily="2" charset="0"/>
              </a:rPr>
              <a:t>infraestructura</a:t>
            </a:r>
            <a:r>
              <a:rPr lang="es-ES" sz="2200" dirty="0">
                <a:solidFill>
                  <a:srgbClr val="131D3F"/>
                </a:solidFill>
                <a:latin typeface="Montserrat" panose="00000500000000000000" pitchFamily="2" charset="0"/>
              </a:rPr>
              <a:t>, </a:t>
            </a:r>
            <a:r>
              <a:rPr lang="es-ES" sz="2200" b="1" dirty="0">
                <a:solidFill>
                  <a:srgbClr val="131D3F"/>
                </a:solidFill>
                <a:latin typeface="Montserrat" panose="00000500000000000000" pitchFamily="2" charset="0"/>
              </a:rPr>
              <a:t>seguridad</a:t>
            </a:r>
            <a:r>
              <a:rPr lang="es-ES" sz="2200" dirty="0">
                <a:solidFill>
                  <a:srgbClr val="131D3F"/>
                </a:solidFill>
                <a:latin typeface="Montserrat" panose="00000500000000000000" pitchFamily="2" charset="0"/>
              </a:rPr>
              <a:t> y más.</a:t>
            </a:r>
          </a:p>
          <a:p>
            <a:pPr algn="just">
              <a:spcAft>
                <a:spcPts val="600"/>
              </a:spcAft>
            </a:pPr>
            <a:endParaRPr lang="es-ES" sz="2200" b="1" dirty="0">
              <a:solidFill>
                <a:srgbClr val="131D3F"/>
              </a:solidFill>
              <a:latin typeface="Montserrat" panose="00000500000000000000" pitchFamily="2" charset="0"/>
            </a:endParaRPr>
          </a:p>
        </p:txBody>
      </p:sp>
      <p:graphicFrame>
        <p:nvGraphicFramePr>
          <p:cNvPr id="6" name="Diagrama 5">
            <a:extLst>
              <a:ext uri="{FF2B5EF4-FFF2-40B4-BE49-F238E27FC236}">
                <a16:creationId xmlns:a16="http://schemas.microsoft.com/office/drawing/2014/main" id="{9840B1F0-9F9E-4A70-9FC9-95833FCD4C57}"/>
              </a:ext>
            </a:extLst>
          </p:cNvPr>
          <p:cNvGraphicFramePr/>
          <p:nvPr>
            <p:extLst>
              <p:ext uri="{D42A27DB-BD31-4B8C-83A1-F6EECF244321}">
                <p14:modId xmlns:p14="http://schemas.microsoft.com/office/powerpoint/2010/main" val="2814131001"/>
              </p:ext>
            </p:extLst>
          </p:nvPr>
        </p:nvGraphicFramePr>
        <p:xfrm>
          <a:off x="2874650" y="4065234"/>
          <a:ext cx="6442697" cy="177223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CuadroTexto 14">
            <a:extLst>
              <a:ext uri="{FF2B5EF4-FFF2-40B4-BE49-F238E27FC236}">
                <a16:creationId xmlns:a16="http://schemas.microsoft.com/office/drawing/2014/main" id="{710289B2-F453-4E9A-96BD-0782431C7484}"/>
              </a:ext>
            </a:extLst>
          </p:cNvPr>
          <p:cNvSpPr txBox="1"/>
          <p:nvPr/>
        </p:nvSpPr>
        <p:spPr>
          <a:xfrm>
            <a:off x="558800" y="3889524"/>
            <a:ext cx="2952842" cy="2123658"/>
          </a:xfrm>
          <a:prstGeom prst="rect">
            <a:avLst/>
          </a:prstGeom>
          <a:noFill/>
        </p:spPr>
        <p:txBody>
          <a:bodyPr wrap="square">
            <a:spAutoFit/>
          </a:bodyPr>
          <a:lstStyle/>
          <a:p>
            <a:pPr algn="just">
              <a:spcAft>
                <a:spcPts val="600"/>
              </a:spcAft>
            </a:pPr>
            <a:r>
              <a:rPr lang="es-ES" sz="2200" dirty="0">
                <a:solidFill>
                  <a:srgbClr val="131D3F"/>
                </a:solidFill>
                <a:latin typeface="Montserrat" panose="00000500000000000000" pitchFamily="2" charset="0"/>
              </a:rPr>
              <a:t>Se aplican directamente sobre los ingresos, como el </a:t>
            </a:r>
            <a:r>
              <a:rPr lang="es-ES" sz="2200" b="1" dirty="0">
                <a:solidFill>
                  <a:srgbClr val="131D3F"/>
                </a:solidFill>
                <a:latin typeface="Montserrat" panose="00000500000000000000" pitchFamily="2" charset="0"/>
              </a:rPr>
              <a:t>ISR</a:t>
            </a:r>
            <a:r>
              <a:rPr lang="es-ES" sz="2200" dirty="0">
                <a:solidFill>
                  <a:srgbClr val="131D3F"/>
                </a:solidFill>
                <a:latin typeface="Montserrat" panose="00000500000000000000" pitchFamily="2" charset="0"/>
              </a:rPr>
              <a:t> o el impuesto sobre bienes inmuebles.</a:t>
            </a:r>
            <a:endParaRPr lang="es-MX" sz="2200" dirty="0">
              <a:solidFill>
                <a:srgbClr val="131D3F"/>
              </a:solidFill>
              <a:latin typeface="Montserrat" panose="00000500000000000000" pitchFamily="2" charset="0"/>
            </a:endParaRPr>
          </a:p>
        </p:txBody>
      </p:sp>
      <p:sp>
        <p:nvSpPr>
          <p:cNvPr id="17" name="CuadroTexto 16">
            <a:extLst>
              <a:ext uri="{FF2B5EF4-FFF2-40B4-BE49-F238E27FC236}">
                <a16:creationId xmlns:a16="http://schemas.microsoft.com/office/drawing/2014/main" id="{599C4F61-8330-42F0-B51D-50CF92B0A729}"/>
              </a:ext>
            </a:extLst>
          </p:cNvPr>
          <p:cNvSpPr txBox="1"/>
          <p:nvPr/>
        </p:nvSpPr>
        <p:spPr>
          <a:xfrm>
            <a:off x="8680360" y="3835244"/>
            <a:ext cx="2952842" cy="2123658"/>
          </a:xfrm>
          <a:prstGeom prst="rect">
            <a:avLst/>
          </a:prstGeom>
          <a:noFill/>
        </p:spPr>
        <p:txBody>
          <a:bodyPr wrap="square">
            <a:spAutoFit/>
          </a:bodyPr>
          <a:lstStyle/>
          <a:p>
            <a:pPr algn="just"/>
            <a:r>
              <a:rPr lang="es-ES" sz="2200" dirty="0">
                <a:solidFill>
                  <a:srgbClr val="131D3F"/>
                </a:solidFill>
                <a:latin typeface="Montserrat" panose="00000500000000000000" pitchFamily="2" charset="0"/>
              </a:rPr>
              <a:t>Se aplican sobre el consumo de bienes y servicios, se recaudan en el punto de venta, como el </a:t>
            </a:r>
            <a:r>
              <a:rPr lang="es-ES" sz="2200" b="1" dirty="0">
                <a:solidFill>
                  <a:srgbClr val="131D3F"/>
                </a:solidFill>
                <a:latin typeface="Montserrat" panose="00000500000000000000" pitchFamily="2" charset="0"/>
              </a:rPr>
              <a:t>IVA</a:t>
            </a:r>
            <a:r>
              <a:rPr lang="es-ES" sz="2200" dirty="0">
                <a:solidFill>
                  <a:srgbClr val="131D3F"/>
                </a:solidFill>
                <a:latin typeface="Montserrat" panose="00000500000000000000" pitchFamily="2" charset="0"/>
              </a:rPr>
              <a:t>.</a:t>
            </a:r>
            <a:endParaRPr lang="es-MX" sz="2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338543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33</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1.9 Impuestos</a:t>
            </a:r>
            <a:endParaRPr lang="es-MX" sz="2200" b="1" dirty="0">
              <a:solidFill>
                <a:srgbClr val="131D3F"/>
              </a:solidFill>
              <a:latin typeface="Montserrat SemiBold" panose="00000700000000000000" pitchFamily="2" charset="0"/>
            </a:endParaRPr>
          </a:p>
        </p:txBody>
      </p:sp>
      <p:graphicFrame>
        <p:nvGraphicFramePr>
          <p:cNvPr id="2" name="Diagrama 1">
            <a:extLst>
              <a:ext uri="{FF2B5EF4-FFF2-40B4-BE49-F238E27FC236}">
                <a16:creationId xmlns:a16="http://schemas.microsoft.com/office/drawing/2014/main" id="{F6B6FEA8-DA5D-4292-8FE0-E8BF1E4DD298}"/>
              </a:ext>
            </a:extLst>
          </p:cNvPr>
          <p:cNvGraphicFramePr/>
          <p:nvPr>
            <p:extLst>
              <p:ext uri="{D42A27DB-BD31-4B8C-83A1-F6EECF244321}">
                <p14:modId xmlns:p14="http://schemas.microsoft.com/office/powerpoint/2010/main" val="3555347603"/>
              </p:ext>
            </p:extLst>
          </p:nvPr>
        </p:nvGraphicFramePr>
        <p:xfrm>
          <a:off x="1894264" y="835168"/>
          <a:ext cx="8541208" cy="571230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CuadroTexto 2">
            <a:extLst>
              <a:ext uri="{FF2B5EF4-FFF2-40B4-BE49-F238E27FC236}">
                <a16:creationId xmlns:a16="http://schemas.microsoft.com/office/drawing/2014/main" id="{655317C0-2BE1-42C9-8E81-7293E4ADFD7F}"/>
              </a:ext>
            </a:extLst>
          </p:cNvPr>
          <p:cNvSpPr txBox="1"/>
          <p:nvPr/>
        </p:nvSpPr>
        <p:spPr>
          <a:xfrm>
            <a:off x="3079596" y="3936733"/>
            <a:ext cx="2113943" cy="646331"/>
          </a:xfrm>
          <a:prstGeom prst="rect">
            <a:avLst/>
          </a:prstGeom>
          <a:noFill/>
        </p:spPr>
        <p:txBody>
          <a:bodyPr wrap="square" rtlCol="0">
            <a:spAutoFit/>
          </a:bodyPr>
          <a:lstStyle/>
          <a:p>
            <a:pPr algn="ctr"/>
            <a:r>
              <a:rPr lang="es-ES" b="1" dirty="0">
                <a:solidFill>
                  <a:schemeClr val="bg1"/>
                </a:solidFill>
                <a:latin typeface="Montserrat" panose="00000500000000000000" pitchFamily="2" charset="0"/>
              </a:rPr>
              <a:t>Especiales o Específicos</a:t>
            </a:r>
            <a:endParaRPr lang="es-MX" sz="2400" dirty="0"/>
          </a:p>
        </p:txBody>
      </p:sp>
      <p:sp>
        <p:nvSpPr>
          <p:cNvPr id="15" name="CuadroTexto 14">
            <a:extLst>
              <a:ext uri="{FF2B5EF4-FFF2-40B4-BE49-F238E27FC236}">
                <a16:creationId xmlns:a16="http://schemas.microsoft.com/office/drawing/2014/main" id="{3EACD78C-7B37-4A22-9648-057678DBB9D3}"/>
              </a:ext>
            </a:extLst>
          </p:cNvPr>
          <p:cNvSpPr txBox="1"/>
          <p:nvPr/>
        </p:nvSpPr>
        <p:spPr>
          <a:xfrm>
            <a:off x="7029961" y="549350"/>
            <a:ext cx="2540760" cy="954107"/>
          </a:xfrm>
          <a:prstGeom prst="rect">
            <a:avLst/>
          </a:prstGeom>
          <a:noFill/>
        </p:spPr>
        <p:txBody>
          <a:bodyPr wrap="square">
            <a:spAutoFit/>
          </a:bodyPr>
          <a:lstStyle/>
          <a:p>
            <a:pPr algn="just"/>
            <a:r>
              <a:rPr lang="es-ES" sz="1400" dirty="0">
                <a:latin typeface="Montserrat" panose="00000500000000000000" pitchFamily="2" charset="0"/>
              </a:rPr>
              <a:t>Se aplica a los </a:t>
            </a:r>
            <a:r>
              <a:rPr lang="es-ES" sz="1400" b="1" dirty="0">
                <a:latin typeface="Montserrat" panose="00000500000000000000" pitchFamily="2" charset="0"/>
              </a:rPr>
              <a:t>ingresos</a:t>
            </a:r>
            <a:r>
              <a:rPr lang="es-ES" sz="1400" dirty="0">
                <a:latin typeface="Montserrat" panose="00000500000000000000" pitchFamily="2" charset="0"/>
              </a:rPr>
              <a:t> de personas físicas y jurídicas. Se divide en tramos progresivos.</a:t>
            </a:r>
            <a:endParaRPr lang="es-MX" sz="1400" dirty="0">
              <a:latin typeface="Montserrat" panose="00000500000000000000" pitchFamily="2" charset="0"/>
            </a:endParaRPr>
          </a:p>
        </p:txBody>
      </p:sp>
      <p:sp>
        <p:nvSpPr>
          <p:cNvPr id="16" name="CuadroTexto 15">
            <a:extLst>
              <a:ext uri="{FF2B5EF4-FFF2-40B4-BE49-F238E27FC236}">
                <a16:creationId xmlns:a16="http://schemas.microsoft.com/office/drawing/2014/main" id="{3C9C56AF-9880-4396-9F3B-2754C92EE6AB}"/>
              </a:ext>
            </a:extLst>
          </p:cNvPr>
          <p:cNvSpPr txBox="1"/>
          <p:nvPr/>
        </p:nvSpPr>
        <p:spPr>
          <a:xfrm>
            <a:off x="6040363" y="5357251"/>
            <a:ext cx="2113943" cy="646331"/>
          </a:xfrm>
          <a:prstGeom prst="rect">
            <a:avLst/>
          </a:prstGeom>
          <a:noFill/>
        </p:spPr>
        <p:txBody>
          <a:bodyPr wrap="square" rtlCol="0">
            <a:spAutoFit/>
          </a:bodyPr>
          <a:lstStyle/>
          <a:p>
            <a:pPr algn="ctr"/>
            <a:r>
              <a:rPr lang="es-ES" b="1" dirty="0">
                <a:solidFill>
                  <a:schemeClr val="bg1"/>
                </a:solidFill>
                <a:latin typeface="Montserrat" panose="00000500000000000000" pitchFamily="2" charset="0"/>
              </a:rPr>
              <a:t>Bienes Inmuebles</a:t>
            </a:r>
            <a:endParaRPr lang="es-MX" sz="2400" dirty="0"/>
          </a:p>
        </p:txBody>
      </p:sp>
      <p:sp>
        <p:nvSpPr>
          <p:cNvPr id="18" name="CuadroTexto 17">
            <a:extLst>
              <a:ext uri="{FF2B5EF4-FFF2-40B4-BE49-F238E27FC236}">
                <a16:creationId xmlns:a16="http://schemas.microsoft.com/office/drawing/2014/main" id="{210C9EB5-00CF-4C56-823D-BFEDE9031BDE}"/>
              </a:ext>
            </a:extLst>
          </p:cNvPr>
          <p:cNvSpPr txBox="1"/>
          <p:nvPr/>
        </p:nvSpPr>
        <p:spPr>
          <a:xfrm>
            <a:off x="8711176" y="1895433"/>
            <a:ext cx="2540760" cy="954107"/>
          </a:xfrm>
          <a:prstGeom prst="rect">
            <a:avLst/>
          </a:prstGeom>
          <a:noFill/>
        </p:spPr>
        <p:txBody>
          <a:bodyPr wrap="square">
            <a:spAutoFit/>
          </a:bodyPr>
          <a:lstStyle/>
          <a:p>
            <a:pPr algn="just"/>
            <a:r>
              <a:rPr lang="es-ES" sz="1400" dirty="0">
                <a:latin typeface="Montserrat" panose="00000500000000000000" pitchFamily="2" charset="0"/>
              </a:rPr>
              <a:t>Impuesto indirecto que se aplica al valor añadido en la etapa de la </a:t>
            </a:r>
            <a:r>
              <a:rPr lang="es-ES" sz="1400" b="1" dirty="0">
                <a:latin typeface="Montserrat" panose="00000500000000000000" pitchFamily="2" charset="0"/>
              </a:rPr>
              <a:t>producción</a:t>
            </a:r>
            <a:r>
              <a:rPr lang="es-ES" sz="1400" dirty="0">
                <a:latin typeface="Montserrat" panose="00000500000000000000" pitchFamily="2" charset="0"/>
              </a:rPr>
              <a:t> y </a:t>
            </a:r>
            <a:r>
              <a:rPr lang="es-ES" sz="1400" b="1" dirty="0">
                <a:latin typeface="Montserrat" panose="00000500000000000000" pitchFamily="2" charset="0"/>
              </a:rPr>
              <a:t>comercialización</a:t>
            </a:r>
            <a:r>
              <a:rPr lang="es-ES" sz="1400" dirty="0">
                <a:latin typeface="Montserrat" panose="00000500000000000000" pitchFamily="2" charset="0"/>
              </a:rPr>
              <a:t>.</a:t>
            </a:r>
          </a:p>
        </p:txBody>
      </p:sp>
      <p:sp>
        <p:nvSpPr>
          <p:cNvPr id="19" name="CuadroTexto 18">
            <a:extLst>
              <a:ext uri="{FF2B5EF4-FFF2-40B4-BE49-F238E27FC236}">
                <a16:creationId xmlns:a16="http://schemas.microsoft.com/office/drawing/2014/main" id="{915D1DB9-C388-47F3-B18D-2CE439BEB51C}"/>
              </a:ext>
            </a:extLst>
          </p:cNvPr>
          <p:cNvSpPr txBox="1"/>
          <p:nvPr/>
        </p:nvSpPr>
        <p:spPr>
          <a:xfrm>
            <a:off x="9049588" y="3890566"/>
            <a:ext cx="2540760" cy="738664"/>
          </a:xfrm>
          <a:prstGeom prst="rect">
            <a:avLst/>
          </a:prstGeom>
          <a:noFill/>
        </p:spPr>
        <p:txBody>
          <a:bodyPr wrap="square">
            <a:spAutoFit/>
          </a:bodyPr>
          <a:lstStyle/>
          <a:p>
            <a:pPr algn="just"/>
            <a:r>
              <a:rPr lang="es-ES" sz="1400" dirty="0">
                <a:latin typeface="Montserrat" panose="00000500000000000000" pitchFamily="2" charset="0"/>
              </a:rPr>
              <a:t>Impuesto a la </a:t>
            </a:r>
            <a:r>
              <a:rPr lang="es-ES" sz="1400" b="1" dirty="0">
                <a:latin typeface="Montserrat" panose="00000500000000000000" pitchFamily="2" charset="0"/>
              </a:rPr>
              <a:t>utilidad</a:t>
            </a:r>
            <a:r>
              <a:rPr lang="es-ES" sz="1400" dirty="0">
                <a:latin typeface="Montserrat" panose="00000500000000000000" pitchFamily="2" charset="0"/>
              </a:rPr>
              <a:t> obtenida por empresas y entidades jurídicas.</a:t>
            </a:r>
          </a:p>
        </p:txBody>
      </p:sp>
      <p:sp>
        <p:nvSpPr>
          <p:cNvPr id="20" name="CuadroTexto 19">
            <a:extLst>
              <a:ext uri="{FF2B5EF4-FFF2-40B4-BE49-F238E27FC236}">
                <a16:creationId xmlns:a16="http://schemas.microsoft.com/office/drawing/2014/main" id="{E2E97C91-AB14-4AC2-926F-693BFB7FC284}"/>
              </a:ext>
            </a:extLst>
          </p:cNvPr>
          <p:cNvSpPr txBox="1"/>
          <p:nvPr/>
        </p:nvSpPr>
        <p:spPr>
          <a:xfrm>
            <a:off x="8233123" y="5357251"/>
            <a:ext cx="2540760" cy="738664"/>
          </a:xfrm>
          <a:prstGeom prst="rect">
            <a:avLst/>
          </a:prstGeom>
          <a:noFill/>
        </p:spPr>
        <p:txBody>
          <a:bodyPr wrap="square">
            <a:spAutoFit/>
          </a:bodyPr>
          <a:lstStyle/>
          <a:p>
            <a:pPr algn="just"/>
            <a:r>
              <a:rPr lang="es-ES" sz="1400" dirty="0">
                <a:latin typeface="Montserrat" panose="00000500000000000000" pitchFamily="2" charset="0"/>
              </a:rPr>
              <a:t>A la propiedad de bienes inmuebles, como casas y terrenos. </a:t>
            </a:r>
            <a:r>
              <a:rPr lang="es-ES" sz="1400" b="1" dirty="0">
                <a:latin typeface="Montserrat" panose="00000500000000000000" pitchFamily="2" charset="0"/>
              </a:rPr>
              <a:t>Predial</a:t>
            </a:r>
          </a:p>
        </p:txBody>
      </p:sp>
      <p:sp>
        <p:nvSpPr>
          <p:cNvPr id="21" name="CuadroTexto 20">
            <a:extLst>
              <a:ext uri="{FF2B5EF4-FFF2-40B4-BE49-F238E27FC236}">
                <a16:creationId xmlns:a16="http://schemas.microsoft.com/office/drawing/2014/main" id="{D503D7B6-BAFE-443F-A1CB-76BD2F6CDD31}"/>
              </a:ext>
            </a:extLst>
          </p:cNvPr>
          <p:cNvSpPr txBox="1"/>
          <p:nvPr/>
        </p:nvSpPr>
        <p:spPr>
          <a:xfrm>
            <a:off x="1756528" y="5420262"/>
            <a:ext cx="2540760" cy="523220"/>
          </a:xfrm>
          <a:prstGeom prst="rect">
            <a:avLst/>
          </a:prstGeom>
          <a:noFill/>
        </p:spPr>
        <p:txBody>
          <a:bodyPr wrap="square">
            <a:spAutoFit/>
          </a:bodyPr>
          <a:lstStyle/>
          <a:p>
            <a:pPr algn="just"/>
            <a:r>
              <a:rPr lang="es-ES" sz="1400" dirty="0">
                <a:latin typeface="Montserrat" panose="00000500000000000000" pitchFamily="2" charset="0"/>
              </a:rPr>
              <a:t>A la </a:t>
            </a:r>
            <a:r>
              <a:rPr lang="es-ES" sz="1400" b="1" dirty="0">
                <a:latin typeface="Montserrat" panose="00000500000000000000" pitchFamily="2" charset="0"/>
              </a:rPr>
              <a:t>sucesión, herencias y/o donaciones.</a:t>
            </a:r>
          </a:p>
        </p:txBody>
      </p:sp>
      <p:sp>
        <p:nvSpPr>
          <p:cNvPr id="22" name="CuadroTexto 21">
            <a:extLst>
              <a:ext uri="{FF2B5EF4-FFF2-40B4-BE49-F238E27FC236}">
                <a16:creationId xmlns:a16="http://schemas.microsoft.com/office/drawing/2014/main" id="{47192428-8A38-447A-904C-B35D8D2BCBB5}"/>
              </a:ext>
            </a:extLst>
          </p:cNvPr>
          <p:cNvSpPr txBox="1"/>
          <p:nvPr/>
        </p:nvSpPr>
        <p:spPr>
          <a:xfrm>
            <a:off x="679801" y="3782844"/>
            <a:ext cx="2540760" cy="954107"/>
          </a:xfrm>
          <a:prstGeom prst="rect">
            <a:avLst/>
          </a:prstGeom>
          <a:noFill/>
        </p:spPr>
        <p:txBody>
          <a:bodyPr wrap="square">
            <a:spAutoFit/>
          </a:bodyPr>
          <a:lstStyle/>
          <a:p>
            <a:pPr algn="just"/>
            <a:r>
              <a:rPr lang="es-ES" sz="1400" dirty="0">
                <a:latin typeface="Montserrat" panose="00000500000000000000" pitchFamily="2" charset="0"/>
              </a:rPr>
              <a:t>Se aplican a </a:t>
            </a:r>
            <a:r>
              <a:rPr lang="es-ES" sz="1400" b="1" dirty="0">
                <a:latin typeface="Montserrat" panose="00000500000000000000" pitchFamily="2" charset="0"/>
              </a:rPr>
              <a:t>productos específicos</a:t>
            </a:r>
            <a:r>
              <a:rPr lang="es-ES" sz="1400" dirty="0">
                <a:latin typeface="Montserrat" panose="00000500000000000000" pitchFamily="2" charset="0"/>
              </a:rPr>
              <a:t>, como el alcohol, el tabaco o los combustibles.</a:t>
            </a:r>
          </a:p>
        </p:txBody>
      </p:sp>
      <p:sp>
        <p:nvSpPr>
          <p:cNvPr id="23" name="CuadroTexto 22">
            <a:extLst>
              <a:ext uri="{FF2B5EF4-FFF2-40B4-BE49-F238E27FC236}">
                <a16:creationId xmlns:a16="http://schemas.microsoft.com/office/drawing/2014/main" id="{A5843BCA-86E5-422D-8877-4F05306EAF9E}"/>
              </a:ext>
            </a:extLst>
          </p:cNvPr>
          <p:cNvSpPr txBox="1"/>
          <p:nvPr/>
        </p:nvSpPr>
        <p:spPr>
          <a:xfrm>
            <a:off x="940064" y="1895433"/>
            <a:ext cx="2658424" cy="954107"/>
          </a:xfrm>
          <a:prstGeom prst="rect">
            <a:avLst/>
          </a:prstGeom>
          <a:noFill/>
        </p:spPr>
        <p:txBody>
          <a:bodyPr wrap="square">
            <a:spAutoFit/>
          </a:bodyPr>
          <a:lstStyle/>
          <a:p>
            <a:pPr algn="just"/>
            <a:r>
              <a:rPr lang="es-ES" sz="1400" dirty="0">
                <a:latin typeface="Montserrat" panose="00000500000000000000" pitchFamily="2" charset="0"/>
              </a:rPr>
              <a:t>Aportaciones destinadas a los sistemas de seguridad social (</a:t>
            </a:r>
            <a:r>
              <a:rPr lang="es-ES" sz="1400" b="1" dirty="0">
                <a:latin typeface="Montserrat" panose="00000500000000000000" pitchFamily="2" charset="0"/>
              </a:rPr>
              <a:t>pensiones, salud y desempleo</a:t>
            </a:r>
            <a:r>
              <a:rPr lang="es-ES" sz="1400" dirty="0">
                <a:latin typeface="Montserrat" panose="00000500000000000000" pitchFamily="2" charset="0"/>
              </a:rPr>
              <a:t>).</a:t>
            </a:r>
          </a:p>
        </p:txBody>
      </p:sp>
    </p:spTree>
    <p:extLst>
      <p:ext uri="{BB962C8B-B14F-4D97-AF65-F5344CB8AC3E}">
        <p14:creationId xmlns:p14="http://schemas.microsoft.com/office/powerpoint/2010/main" val="908781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34</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1.10 Valor del dinero en el tiempo</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4BC069A0-5898-494C-9684-E9E657A43E92}"/>
              </a:ext>
            </a:extLst>
          </p:cNvPr>
          <p:cNvSpPr txBox="1"/>
          <p:nvPr/>
        </p:nvSpPr>
        <p:spPr>
          <a:xfrm>
            <a:off x="289310" y="1134126"/>
            <a:ext cx="11613379" cy="1337788"/>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Se basa en la idea de que </a:t>
            </a:r>
            <a:r>
              <a:rPr lang="es-ES" sz="2200" b="1" dirty="0">
                <a:solidFill>
                  <a:srgbClr val="131D3F"/>
                </a:solidFill>
                <a:latin typeface="Montserrat" panose="00000500000000000000" pitchFamily="2" charset="0"/>
              </a:rPr>
              <a:t>el valor del dinero cambia con el tiempo</a:t>
            </a:r>
            <a:r>
              <a:rPr lang="es-ES" sz="2200" dirty="0">
                <a:solidFill>
                  <a:srgbClr val="131D3F"/>
                </a:solidFill>
                <a:latin typeface="Montserrat" panose="00000500000000000000" pitchFamily="2" charset="0"/>
              </a:rPr>
              <a:t> debido a factores como la </a:t>
            </a:r>
            <a:r>
              <a:rPr lang="es-ES" sz="2200" b="1" dirty="0">
                <a:solidFill>
                  <a:srgbClr val="131D3F"/>
                </a:solidFill>
                <a:latin typeface="Montserrat" panose="00000500000000000000" pitchFamily="2" charset="0"/>
              </a:rPr>
              <a:t>inflación</a:t>
            </a:r>
            <a:r>
              <a:rPr lang="es-ES" sz="2200" dirty="0">
                <a:solidFill>
                  <a:srgbClr val="131D3F"/>
                </a:solidFill>
                <a:latin typeface="Montserrat" panose="00000500000000000000" pitchFamily="2" charset="0"/>
              </a:rPr>
              <a:t>, las </a:t>
            </a:r>
            <a:r>
              <a:rPr lang="es-ES" sz="2200" b="1" dirty="0">
                <a:solidFill>
                  <a:srgbClr val="131D3F"/>
                </a:solidFill>
                <a:latin typeface="Montserrat" panose="00000500000000000000" pitchFamily="2" charset="0"/>
              </a:rPr>
              <a:t>tasas de interés</a:t>
            </a:r>
            <a:r>
              <a:rPr lang="es-ES" sz="2200" dirty="0">
                <a:solidFill>
                  <a:srgbClr val="131D3F"/>
                </a:solidFill>
                <a:latin typeface="Montserrat" panose="00000500000000000000" pitchFamily="2" charset="0"/>
              </a:rPr>
              <a:t> y las </a:t>
            </a:r>
            <a:r>
              <a:rPr lang="es-ES" sz="2200" b="1" dirty="0">
                <a:solidFill>
                  <a:srgbClr val="131D3F"/>
                </a:solidFill>
                <a:latin typeface="Montserrat" panose="00000500000000000000" pitchFamily="2" charset="0"/>
              </a:rPr>
              <a:t>oportunidades de inversión</a:t>
            </a:r>
            <a:r>
              <a:rPr lang="es-ES" sz="2200" dirty="0">
                <a:solidFill>
                  <a:srgbClr val="131D3F"/>
                </a:solidFill>
                <a:latin typeface="Montserrat" panose="00000500000000000000" pitchFamily="2" charset="0"/>
              </a:rPr>
              <a:t>. En términos simples, un monto de dinero hoy no tiene el mismo valor que el mismo monto en el futuro.</a:t>
            </a:r>
            <a:endParaRPr lang="es-ES" sz="2200" b="1" dirty="0">
              <a:solidFill>
                <a:srgbClr val="131D3F"/>
              </a:solidFill>
              <a:latin typeface="Montserrat" panose="00000500000000000000" pitchFamily="2" charset="0"/>
            </a:endParaRPr>
          </a:p>
        </p:txBody>
      </p:sp>
      <p:sp>
        <p:nvSpPr>
          <p:cNvPr id="24" name="CuadroTexto 23">
            <a:extLst>
              <a:ext uri="{FF2B5EF4-FFF2-40B4-BE49-F238E27FC236}">
                <a16:creationId xmlns:a16="http://schemas.microsoft.com/office/drawing/2014/main" id="{97C95C21-8268-4E08-A397-AF0300C81C86}"/>
              </a:ext>
            </a:extLst>
          </p:cNvPr>
          <p:cNvSpPr txBox="1"/>
          <p:nvPr/>
        </p:nvSpPr>
        <p:spPr>
          <a:xfrm>
            <a:off x="289312" y="3077779"/>
            <a:ext cx="5168214" cy="2323713"/>
          </a:xfrm>
          <a:prstGeom prst="rect">
            <a:avLst/>
          </a:prstGeom>
          <a:noFill/>
        </p:spPr>
        <p:txBody>
          <a:bodyPr wrap="square">
            <a:spAutoFit/>
          </a:bodyPr>
          <a:lstStyle/>
          <a:p>
            <a:pPr algn="just">
              <a:spcAft>
                <a:spcPts val="600"/>
              </a:spcAft>
            </a:pPr>
            <a:r>
              <a:rPr lang="es-ES" sz="2000" b="1" dirty="0">
                <a:solidFill>
                  <a:srgbClr val="131D3F"/>
                </a:solidFill>
                <a:latin typeface="Montserrat" panose="00000500000000000000" pitchFamily="2" charset="0"/>
              </a:rPr>
              <a:t>Valor Presente (VP</a:t>
            </a:r>
            <a:r>
              <a:rPr lang="es-ES" sz="2000" dirty="0">
                <a:solidFill>
                  <a:srgbClr val="131D3F"/>
                </a:solidFill>
                <a:latin typeface="Montserrat" panose="00000500000000000000" pitchFamily="2" charset="0"/>
              </a:rPr>
              <a:t>):</a:t>
            </a:r>
          </a:p>
          <a:p>
            <a:pPr algn="just"/>
            <a:r>
              <a:rPr lang="es-ES" sz="2000" dirty="0">
                <a:solidFill>
                  <a:srgbClr val="131D3F"/>
                </a:solidFill>
                <a:latin typeface="Montserrat" panose="00000500000000000000" pitchFamily="2" charset="0"/>
              </a:rPr>
              <a:t>El valor actual de una cantidad de dinero que se recibirá en el futuro, descontada a una tasa de interés o tasa de descuento. </a:t>
            </a:r>
            <a:r>
              <a:rPr lang="es-ES" sz="2000" u="sng" dirty="0">
                <a:solidFill>
                  <a:srgbClr val="131D3F"/>
                </a:solidFill>
                <a:latin typeface="Montserrat" panose="00000500000000000000" pitchFamily="2" charset="0"/>
              </a:rPr>
              <a:t>¿Cuánto vale hoy una cantidad que se recibirá en el futuro?</a:t>
            </a:r>
          </a:p>
        </p:txBody>
      </p:sp>
      <p:sp>
        <p:nvSpPr>
          <p:cNvPr id="25" name="CuadroTexto 24">
            <a:extLst>
              <a:ext uri="{FF2B5EF4-FFF2-40B4-BE49-F238E27FC236}">
                <a16:creationId xmlns:a16="http://schemas.microsoft.com/office/drawing/2014/main" id="{7AE308A8-EB2E-4DFB-BCE5-06CE3549EF42}"/>
              </a:ext>
            </a:extLst>
          </p:cNvPr>
          <p:cNvSpPr txBox="1"/>
          <p:nvPr/>
        </p:nvSpPr>
        <p:spPr>
          <a:xfrm>
            <a:off x="6734476" y="3077779"/>
            <a:ext cx="5168214" cy="2015936"/>
          </a:xfrm>
          <a:prstGeom prst="rect">
            <a:avLst/>
          </a:prstGeom>
          <a:noFill/>
        </p:spPr>
        <p:txBody>
          <a:bodyPr wrap="square">
            <a:spAutoFit/>
          </a:bodyPr>
          <a:lstStyle/>
          <a:p>
            <a:pPr>
              <a:spcAft>
                <a:spcPts val="600"/>
              </a:spcAft>
            </a:pPr>
            <a:r>
              <a:rPr lang="es-ES" sz="2000" b="1" dirty="0">
                <a:solidFill>
                  <a:srgbClr val="131D3F"/>
                </a:solidFill>
                <a:latin typeface="Montserrat" panose="00000500000000000000" pitchFamily="2" charset="0"/>
              </a:rPr>
              <a:t>Valor Futuro (VF):</a:t>
            </a:r>
          </a:p>
          <a:p>
            <a:pPr algn="just"/>
            <a:r>
              <a:rPr lang="es-ES" sz="2000" dirty="0">
                <a:solidFill>
                  <a:srgbClr val="131D3F"/>
                </a:solidFill>
                <a:latin typeface="Montserrat" panose="00000500000000000000" pitchFamily="2" charset="0"/>
              </a:rPr>
              <a:t>El valor de una cantidad de dinero hoy cuando se le aplica una tasa de interés durante un cierto período de tiempo. </a:t>
            </a:r>
            <a:r>
              <a:rPr lang="es-ES" sz="2000" u="sng" dirty="0">
                <a:solidFill>
                  <a:srgbClr val="131D3F"/>
                </a:solidFill>
                <a:latin typeface="Montserrat" panose="00000500000000000000" pitchFamily="2" charset="0"/>
              </a:rPr>
              <a:t>¿Cuánto valdrá una inversión en el futuro?</a:t>
            </a:r>
          </a:p>
        </p:txBody>
      </p:sp>
    </p:spTree>
    <p:extLst>
      <p:ext uri="{BB962C8B-B14F-4D97-AF65-F5344CB8AC3E}">
        <p14:creationId xmlns:p14="http://schemas.microsoft.com/office/powerpoint/2010/main" val="1860465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35</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1.10 Valor del dinero en el tiempo</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4BC069A0-5898-494C-9684-E9E657A43E92}"/>
              </a:ext>
            </a:extLst>
          </p:cNvPr>
          <p:cNvSpPr txBox="1"/>
          <p:nvPr/>
        </p:nvSpPr>
        <p:spPr>
          <a:xfrm>
            <a:off x="289310" y="1832410"/>
            <a:ext cx="11613379" cy="1337788"/>
          </a:xfrm>
          <a:prstGeom prst="rect">
            <a:avLst/>
          </a:prstGeom>
          <a:noFill/>
          <a:ln>
            <a:noFill/>
          </a:ln>
        </p:spPr>
        <p:txBody>
          <a:bodyPr spcFirstLastPara="1" wrap="square" lIns="91425" tIns="45700" rIns="91425" bIns="45700" anchor="t" anchorCtr="0">
            <a:noAutofit/>
          </a:bodyPr>
          <a:lstStyle/>
          <a:p>
            <a:pPr algn="ctr">
              <a:spcAft>
                <a:spcPts val="600"/>
              </a:spcAft>
            </a:pPr>
            <a:r>
              <a:rPr lang="es-ES" sz="4400" b="1" dirty="0">
                <a:solidFill>
                  <a:srgbClr val="131D3F"/>
                </a:solidFill>
                <a:latin typeface="Montserrat" panose="00000500000000000000" pitchFamily="2" charset="0"/>
              </a:rPr>
              <a:t>¿Para que nos sirve saber cual es el valor del dinero en el tiempo?</a:t>
            </a:r>
          </a:p>
        </p:txBody>
      </p:sp>
      <p:sp>
        <p:nvSpPr>
          <p:cNvPr id="2" name="Elipse 1">
            <a:extLst>
              <a:ext uri="{FF2B5EF4-FFF2-40B4-BE49-F238E27FC236}">
                <a16:creationId xmlns:a16="http://schemas.microsoft.com/office/drawing/2014/main" id="{D9C4EB98-6989-42C3-8E9D-C979DF7F091A}"/>
              </a:ext>
            </a:extLst>
          </p:cNvPr>
          <p:cNvSpPr/>
          <p:nvPr/>
        </p:nvSpPr>
        <p:spPr>
          <a:xfrm>
            <a:off x="9611504" y="3600000"/>
            <a:ext cx="2160000" cy="2160000"/>
          </a:xfrm>
          <a:prstGeom prst="ellipse">
            <a:avLst/>
          </a:prstGeom>
          <a:solidFill>
            <a:srgbClr val="CAD2C5"/>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s-ES" b="1" dirty="0">
                <a:solidFill>
                  <a:srgbClr val="35454D"/>
                </a:solidFill>
                <a:latin typeface="Montserrat" panose="00000500000000000000" pitchFamily="2" charset="0"/>
              </a:rPr>
              <a:t>Valuación de </a:t>
            </a:r>
          </a:p>
          <a:p>
            <a:pPr algn="ctr"/>
            <a:r>
              <a:rPr lang="es-ES" b="1" dirty="0">
                <a:solidFill>
                  <a:srgbClr val="35454D"/>
                </a:solidFill>
                <a:latin typeface="Montserrat" panose="00000500000000000000" pitchFamily="2" charset="0"/>
              </a:rPr>
              <a:t>proyectos</a:t>
            </a:r>
            <a:endParaRPr lang="es-MX" b="1" dirty="0">
              <a:solidFill>
                <a:srgbClr val="35454D"/>
              </a:solidFill>
              <a:latin typeface="Montserrat" panose="00000500000000000000" pitchFamily="2" charset="0"/>
            </a:endParaRPr>
          </a:p>
        </p:txBody>
      </p:sp>
      <p:sp>
        <p:nvSpPr>
          <p:cNvPr id="10" name="Elipse 9">
            <a:extLst>
              <a:ext uri="{FF2B5EF4-FFF2-40B4-BE49-F238E27FC236}">
                <a16:creationId xmlns:a16="http://schemas.microsoft.com/office/drawing/2014/main" id="{36DA5C31-1112-46C3-A130-6E42C9428ADC}"/>
              </a:ext>
            </a:extLst>
          </p:cNvPr>
          <p:cNvSpPr/>
          <p:nvPr/>
        </p:nvSpPr>
        <p:spPr>
          <a:xfrm>
            <a:off x="2711682" y="3600000"/>
            <a:ext cx="2160000" cy="2160000"/>
          </a:xfrm>
          <a:prstGeom prst="ellipse">
            <a:avLst/>
          </a:prstGeom>
          <a:solidFill>
            <a:srgbClr val="354F52"/>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s-ES" b="1" dirty="0">
                <a:latin typeface="Montserrat" panose="00000500000000000000" pitchFamily="2" charset="0"/>
              </a:rPr>
              <a:t>Planificación </a:t>
            </a:r>
          </a:p>
          <a:p>
            <a:pPr algn="ctr"/>
            <a:r>
              <a:rPr lang="es-ES" b="1" dirty="0">
                <a:latin typeface="Montserrat" panose="00000500000000000000" pitchFamily="2" charset="0"/>
              </a:rPr>
              <a:t>financiera</a:t>
            </a:r>
            <a:endParaRPr lang="es-MX" b="1" dirty="0">
              <a:latin typeface="Montserrat" panose="00000500000000000000" pitchFamily="2" charset="0"/>
            </a:endParaRPr>
          </a:p>
        </p:txBody>
      </p:sp>
      <p:sp>
        <p:nvSpPr>
          <p:cNvPr id="11" name="Elipse 10">
            <a:extLst>
              <a:ext uri="{FF2B5EF4-FFF2-40B4-BE49-F238E27FC236}">
                <a16:creationId xmlns:a16="http://schemas.microsoft.com/office/drawing/2014/main" id="{A7C64AF6-BD61-4852-89B1-3E90360E8514}"/>
              </a:ext>
            </a:extLst>
          </p:cNvPr>
          <p:cNvSpPr/>
          <p:nvPr/>
        </p:nvSpPr>
        <p:spPr>
          <a:xfrm>
            <a:off x="7320318" y="3600000"/>
            <a:ext cx="2160000" cy="2160000"/>
          </a:xfrm>
          <a:prstGeom prst="ellipse">
            <a:avLst/>
          </a:prstGeom>
          <a:solidFill>
            <a:srgbClr val="84A98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s-MX" b="1" dirty="0">
                <a:latin typeface="Montserrat" panose="00000500000000000000" pitchFamily="2" charset="0"/>
              </a:rPr>
              <a:t>Préstamos y </a:t>
            </a:r>
          </a:p>
          <a:p>
            <a:pPr algn="ctr"/>
            <a:r>
              <a:rPr lang="es-MX" b="1" dirty="0">
                <a:latin typeface="Montserrat" panose="00000500000000000000" pitchFamily="2" charset="0"/>
              </a:rPr>
              <a:t>Créditos</a:t>
            </a:r>
          </a:p>
        </p:txBody>
      </p:sp>
      <p:sp>
        <p:nvSpPr>
          <p:cNvPr id="12" name="Elipse 11">
            <a:extLst>
              <a:ext uri="{FF2B5EF4-FFF2-40B4-BE49-F238E27FC236}">
                <a16:creationId xmlns:a16="http://schemas.microsoft.com/office/drawing/2014/main" id="{04DDA2CA-E3DC-4EF4-91B6-5C16072A8A9F}"/>
              </a:ext>
            </a:extLst>
          </p:cNvPr>
          <p:cNvSpPr/>
          <p:nvPr/>
        </p:nvSpPr>
        <p:spPr>
          <a:xfrm>
            <a:off x="420496" y="3600000"/>
            <a:ext cx="2160000" cy="2160000"/>
          </a:xfrm>
          <a:prstGeom prst="ellipse">
            <a:avLst/>
          </a:prstGeom>
          <a:solidFill>
            <a:srgbClr val="2F3E4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s-ES" b="1" dirty="0">
                <a:latin typeface="Montserrat" panose="00000500000000000000" pitchFamily="2" charset="0"/>
              </a:rPr>
              <a:t>Inversiones</a:t>
            </a:r>
            <a:endParaRPr lang="es-MX" b="1" dirty="0">
              <a:latin typeface="Montserrat" panose="00000500000000000000" pitchFamily="2" charset="0"/>
            </a:endParaRPr>
          </a:p>
        </p:txBody>
      </p:sp>
      <p:sp>
        <p:nvSpPr>
          <p:cNvPr id="13" name="Elipse 12">
            <a:extLst>
              <a:ext uri="{FF2B5EF4-FFF2-40B4-BE49-F238E27FC236}">
                <a16:creationId xmlns:a16="http://schemas.microsoft.com/office/drawing/2014/main" id="{C257990F-9AFA-4A03-8B4F-E7D7EF496A71}"/>
              </a:ext>
            </a:extLst>
          </p:cNvPr>
          <p:cNvSpPr/>
          <p:nvPr/>
        </p:nvSpPr>
        <p:spPr>
          <a:xfrm>
            <a:off x="5016000" y="3600000"/>
            <a:ext cx="2160000" cy="2160000"/>
          </a:xfrm>
          <a:prstGeom prst="ellipse">
            <a:avLst/>
          </a:prstGeom>
          <a:solidFill>
            <a:srgbClr val="52796F"/>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s-ES" b="1" dirty="0">
                <a:latin typeface="Montserrat" panose="00000500000000000000" pitchFamily="2" charset="0"/>
              </a:rPr>
              <a:t>Valuación de </a:t>
            </a:r>
          </a:p>
          <a:p>
            <a:pPr algn="ctr"/>
            <a:r>
              <a:rPr lang="es-ES" b="1" dirty="0">
                <a:latin typeface="Montserrat" panose="00000500000000000000" pitchFamily="2" charset="0"/>
              </a:rPr>
              <a:t>activos</a:t>
            </a:r>
            <a:endParaRPr lang="es-MX" b="1" dirty="0">
              <a:latin typeface="Montserrat" panose="00000500000000000000" pitchFamily="2" charset="0"/>
            </a:endParaRPr>
          </a:p>
        </p:txBody>
      </p:sp>
    </p:spTree>
    <p:extLst>
      <p:ext uri="{BB962C8B-B14F-4D97-AF65-F5344CB8AC3E}">
        <p14:creationId xmlns:p14="http://schemas.microsoft.com/office/powerpoint/2010/main" val="10359952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36</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1.10 Valor del dinero en el tiempo</a:t>
            </a:r>
            <a:endParaRPr lang="es-MX" sz="2200" b="1" dirty="0">
              <a:solidFill>
                <a:srgbClr val="131D3F"/>
              </a:solidFill>
              <a:latin typeface="Montserrat SemiBold" panose="00000700000000000000" pitchFamily="2"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B7206361-C2B9-4AC0-A17A-308CD70CB195}"/>
                  </a:ext>
                </a:extLst>
              </p:cNvPr>
              <p:cNvSpPr txBox="1"/>
              <p:nvPr/>
            </p:nvSpPr>
            <p:spPr>
              <a:xfrm>
                <a:off x="1459501" y="2011628"/>
                <a:ext cx="1641603" cy="630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𝑉𝑃</m:t>
                      </m:r>
                      <m:r>
                        <a:rPr lang="es-MX" sz="2000" i="1" smtClean="0">
                          <a:solidFill>
                            <a:srgbClr val="00B050"/>
                          </a:solidFill>
                          <a:latin typeface="Cambria Math" panose="02040503050406030204" pitchFamily="18" charset="0"/>
                        </a:rPr>
                        <m:t>=</m:t>
                      </m:r>
                      <m:f>
                        <m:fPr>
                          <m:ctrlPr>
                            <a:rPr lang="es-MX" sz="2000" i="1" smtClean="0">
                              <a:solidFill>
                                <a:srgbClr val="00B050"/>
                              </a:solidFill>
                              <a:latin typeface="Cambria Math" panose="02040503050406030204" pitchFamily="18" charset="0"/>
                            </a:rPr>
                          </m:ctrlPr>
                        </m:fPr>
                        <m:num>
                          <m:r>
                            <a:rPr lang="es-ES" sz="2000" b="0" i="1" smtClean="0">
                              <a:solidFill>
                                <a:srgbClr val="00B050"/>
                              </a:solidFill>
                              <a:latin typeface="Cambria Math" panose="02040503050406030204" pitchFamily="18" charset="0"/>
                            </a:rPr>
                            <m:t>𝑉𝐹</m:t>
                          </m:r>
                        </m:num>
                        <m:den>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𝑛</m:t>
                              </m:r>
                            </m:sup>
                          </m:sSup>
                        </m:den>
                      </m:f>
                    </m:oMath>
                  </m:oMathPara>
                </a14:m>
                <a:endParaRPr lang="es-MX" sz="2000" dirty="0">
                  <a:solidFill>
                    <a:srgbClr val="00B050"/>
                  </a:solidFill>
                </a:endParaRPr>
              </a:p>
            </p:txBody>
          </p:sp>
        </mc:Choice>
        <mc:Fallback xmlns="">
          <p:sp>
            <p:nvSpPr>
              <p:cNvPr id="14" name="CuadroTexto 13">
                <a:extLst>
                  <a:ext uri="{FF2B5EF4-FFF2-40B4-BE49-F238E27FC236}">
                    <a16:creationId xmlns:a16="http://schemas.microsoft.com/office/drawing/2014/main" id="{B7206361-C2B9-4AC0-A17A-308CD70CB195}"/>
                  </a:ext>
                </a:extLst>
              </p:cNvPr>
              <p:cNvSpPr txBox="1">
                <a:spLocks noRot="1" noChangeAspect="1" noMove="1" noResize="1" noEditPoints="1" noAdjustHandles="1" noChangeArrowheads="1" noChangeShapeType="1" noTextEdit="1"/>
              </p:cNvSpPr>
              <p:nvPr/>
            </p:nvSpPr>
            <p:spPr>
              <a:xfrm>
                <a:off x="1459501" y="2011628"/>
                <a:ext cx="1641603" cy="630814"/>
              </a:xfrm>
              <a:prstGeom prst="rect">
                <a:avLst/>
              </a:prstGeom>
              <a:blipFill>
                <a:blip r:embed="rId5"/>
                <a:stretch>
                  <a:fillRect/>
                </a:stretch>
              </a:blipFill>
            </p:spPr>
            <p:txBody>
              <a:bodyPr/>
              <a:lstStyle/>
              <a:p>
                <a:r>
                  <a:rPr lang="es-MX">
                    <a:noFill/>
                  </a:rPr>
                  <a:t> </a:t>
                </a:r>
              </a:p>
            </p:txBody>
          </p:sp>
        </mc:Fallback>
      </mc:AlternateContent>
      <p:sp>
        <p:nvSpPr>
          <p:cNvPr id="15" name="Título 3">
            <a:extLst>
              <a:ext uri="{FF2B5EF4-FFF2-40B4-BE49-F238E27FC236}">
                <a16:creationId xmlns:a16="http://schemas.microsoft.com/office/drawing/2014/main" id="{80DDE690-9163-49AD-BC9C-76635188EB3C}"/>
              </a:ext>
            </a:extLst>
          </p:cNvPr>
          <p:cNvSpPr txBox="1">
            <a:spLocks/>
          </p:cNvSpPr>
          <p:nvPr/>
        </p:nvSpPr>
        <p:spPr>
          <a:xfrm>
            <a:off x="1004822" y="1337786"/>
            <a:ext cx="2550962" cy="47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panose="00000500000000000000" pitchFamily="2" charset="0"/>
              </a:rPr>
              <a:t>Valor Presente</a:t>
            </a:r>
            <a:endParaRPr lang="es-MX" sz="24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412CE63A-0235-40FE-B49D-7663C614A8D2}"/>
                  </a:ext>
                </a:extLst>
              </p:cNvPr>
              <p:cNvSpPr txBox="1"/>
              <p:nvPr/>
            </p:nvSpPr>
            <p:spPr>
              <a:xfrm>
                <a:off x="4263991" y="2174728"/>
                <a:ext cx="2106731" cy="307777"/>
              </a:xfrm>
              <a:prstGeom prst="rect">
                <a:avLst/>
              </a:prstGeom>
              <a:noFill/>
            </p:spPr>
            <p:txBody>
              <a:bodyPr wrap="none" lIns="0" tIns="0" rIns="0" bIns="0" rtlCol="0">
                <a:spAutoFit/>
              </a:bodyPr>
              <a:lstStyle/>
              <a:p>
                <a14:m>
                  <m:oMath xmlns:m="http://schemas.openxmlformats.org/officeDocument/2006/math">
                    <m:r>
                      <a:rPr lang="es-ES" sz="2000" b="0" i="1" smtClean="0">
                        <a:solidFill>
                          <a:srgbClr val="00B050"/>
                        </a:solidFill>
                        <a:latin typeface="Cambria Math" panose="02040503050406030204" pitchFamily="18" charset="0"/>
                      </a:rPr>
                      <m:t>𝑉𝐹</m:t>
                    </m:r>
                    <m:r>
                      <a:rPr lang="es-ES" sz="2000" b="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𝑉𝑃𝑥</m:t>
                    </m:r>
                    <m:r>
                      <a:rPr lang="es-ES" sz="2000" b="0" i="1" smtClean="0">
                        <a:solidFill>
                          <a:srgbClr val="00B050"/>
                        </a:solidFill>
                        <a:latin typeface="Cambria Math" panose="02040503050406030204" pitchFamily="18" charset="0"/>
                      </a:rPr>
                      <m:t>(</m:t>
                    </m:r>
                    <m:sSup>
                      <m:sSupPr>
                        <m:ctrlPr>
                          <a:rPr lang="es-ES" sz="2000" b="0" i="1" smtClean="0">
                            <a:solidFill>
                              <a:srgbClr val="00B050"/>
                            </a:solidFill>
                            <a:latin typeface="Cambria Math" panose="02040503050406030204" pitchFamily="18" charset="0"/>
                          </a:rPr>
                        </m:ctrlPr>
                      </m:sSupPr>
                      <m:e>
                        <m:r>
                          <a:rPr lang="es-ES" sz="2000" b="0" i="1" smtClean="0">
                            <a:solidFill>
                              <a:srgbClr val="00B050"/>
                            </a:solidFill>
                            <a:latin typeface="Cambria Math" panose="02040503050406030204" pitchFamily="18" charset="0"/>
                          </a:rPr>
                          <m:t>1+</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m:t>
                        </m:r>
                      </m:e>
                      <m:sup>
                        <m:r>
                          <a:rPr lang="es-ES" sz="2000" b="0" i="1" smtClean="0">
                            <a:solidFill>
                              <a:srgbClr val="00B050"/>
                            </a:solidFill>
                            <a:latin typeface="Cambria Math" panose="02040503050406030204" pitchFamily="18" charset="0"/>
                          </a:rPr>
                          <m:t>𝑛</m:t>
                        </m:r>
                      </m:sup>
                    </m:sSup>
                  </m:oMath>
                </a14:m>
                <a:r>
                  <a:rPr lang="es-MX" sz="2000" dirty="0">
                    <a:solidFill>
                      <a:srgbClr val="00B050"/>
                    </a:solidFill>
                  </a:rPr>
                  <a:t> </a:t>
                </a:r>
              </a:p>
            </p:txBody>
          </p:sp>
        </mc:Choice>
        <mc:Fallback xmlns="">
          <p:sp>
            <p:nvSpPr>
              <p:cNvPr id="16" name="CuadroTexto 15">
                <a:extLst>
                  <a:ext uri="{FF2B5EF4-FFF2-40B4-BE49-F238E27FC236}">
                    <a16:creationId xmlns:a16="http://schemas.microsoft.com/office/drawing/2014/main" id="{412CE63A-0235-40FE-B49D-7663C614A8D2}"/>
                  </a:ext>
                </a:extLst>
              </p:cNvPr>
              <p:cNvSpPr txBox="1">
                <a:spLocks noRot="1" noChangeAspect="1" noMove="1" noResize="1" noEditPoints="1" noAdjustHandles="1" noChangeArrowheads="1" noChangeShapeType="1" noTextEdit="1"/>
              </p:cNvSpPr>
              <p:nvPr/>
            </p:nvSpPr>
            <p:spPr>
              <a:xfrm>
                <a:off x="4263991" y="2174728"/>
                <a:ext cx="2106731" cy="307777"/>
              </a:xfrm>
              <a:prstGeom prst="rect">
                <a:avLst/>
              </a:prstGeom>
              <a:blipFill>
                <a:blip r:embed="rId6"/>
                <a:stretch>
                  <a:fillRect l="-4046" t="-4000" b="-36000"/>
                </a:stretch>
              </a:blipFill>
            </p:spPr>
            <p:txBody>
              <a:bodyPr/>
              <a:lstStyle/>
              <a:p>
                <a:r>
                  <a:rPr lang="es-MX">
                    <a:noFill/>
                  </a:rPr>
                  <a:t> </a:t>
                </a:r>
              </a:p>
            </p:txBody>
          </p:sp>
        </mc:Fallback>
      </mc:AlternateContent>
      <p:sp>
        <p:nvSpPr>
          <p:cNvPr id="18" name="Título 3">
            <a:extLst>
              <a:ext uri="{FF2B5EF4-FFF2-40B4-BE49-F238E27FC236}">
                <a16:creationId xmlns:a16="http://schemas.microsoft.com/office/drawing/2014/main" id="{372A013E-57BE-4F27-AD0D-076D3A39253B}"/>
              </a:ext>
            </a:extLst>
          </p:cNvPr>
          <p:cNvSpPr txBox="1">
            <a:spLocks/>
          </p:cNvSpPr>
          <p:nvPr/>
        </p:nvSpPr>
        <p:spPr>
          <a:xfrm>
            <a:off x="4041876" y="1337786"/>
            <a:ext cx="2550962" cy="47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400" b="1" dirty="0">
                <a:solidFill>
                  <a:srgbClr val="131D3F"/>
                </a:solidFill>
                <a:latin typeface="Montserrat" panose="00000500000000000000" pitchFamily="2" charset="0"/>
              </a:rPr>
              <a:t>Valor Futuro</a:t>
            </a:r>
            <a:endParaRPr lang="es-MX" sz="2400" b="1" dirty="0">
              <a:solidFill>
                <a:srgbClr val="131D3F"/>
              </a:solidFill>
              <a:latin typeface="Montserrat" panose="00000500000000000000" pitchFamily="2" charset="0"/>
            </a:endParaRPr>
          </a:p>
        </p:txBody>
      </p:sp>
      <p:sp>
        <p:nvSpPr>
          <p:cNvPr id="19" name="Título 3">
            <a:extLst>
              <a:ext uri="{FF2B5EF4-FFF2-40B4-BE49-F238E27FC236}">
                <a16:creationId xmlns:a16="http://schemas.microsoft.com/office/drawing/2014/main" id="{55DF9DCA-1BAB-4C74-8E66-DF1A477E2FA1}"/>
              </a:ext>
            </a:extLst>
          </p:cNvPr>
          <p:cNvSpPr txBox="1">
            <a:spLocks/>
          </p:cNvSpPr>
          <p:nvPr/>
        </p:nvSpPr>
        <p:spPr>
          <a:xfrm>
            <a:off x="935838" y="2923103"/>
            <a:ext cx="3328153" cy="47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400" b="1" dirty="0">
                <a:solidFill>
                  <a:srgbClr val="131D3F"/>
                </a:solidFill>
                <a:latin typeface="Montserrat" panose="00000500000000000000" pitchFamily="2" charset="0"/>
              </a:rPr>
              <a:t>Interés Compuesto</a:t>
            </a:r>
            <a:endParaRPr lang="es-MX" sz="2400" b="1" dirty="0">
              <a:solidFill>
                <a:srgbClr val="131D3F"/>
              </a:solidFill>
              <a:latin typeface="Montserrat" panose="00000500000000000000" pitchFamily="2" charset="0"/>
            </a:endParaRPr>
          </a:p>
        </p:txBody>
      </p:sp>
      <p:sp>
        <p:nvSpPr>
          <p:cNvPr id="20" name="Título 3">
            <a:extLst>
              <a:ext uri="{FF2B5EF4-FFF2-40B4-BE49-F238E27FC236}">
                <a16:creationId xmlns:a16="http://schemas.microsoft.com/office/drawing/2014/main" id="{56402AB9-2DF1-4CB9-8971-FD70E894E8F9}"/>
              </a:ext>
            </a:extLst>
          </p:cNvPr>
          <p:cNvSpPr txBox="1">
            <a:spLocks/>
          </p:cNvSpPr>
          <p:nvPr/>
        </p:nvSpPr>
        <p:spPr>
          <a:xfrm>
            <a:off x="7078930" y="1337785"/>
            <a:ext cx="2550962" cy="47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2400" b="1" dirty="0">
                <a:solidFill>
                  <a:srgbClr val="131D3F"/>
                </a:solidFill>
                <a:latin typeface="Montserrat" panose="00000500000000000000" pitchFamily="2" charset="0"/>
              </a:rPr>
              <a:t>Interés Simple</a:t>
            </a:r>
            <a:endParaRPr lang="es-MX" sz="24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A74AF4-A48A-4F03-86E7-02F889B07C3D}"/>
                  </a:ext>
                </a:extLst>
              </p:cNvPr>
              <p:cNvSpPr txBox="1"/>
              <p:nvPr/>
            </p:nvSpPr>
            <p:spPr>
              <a:xfrm>
                <a:off x="7649089" y="2173146"/>
                <a:ext cx="14106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00B050"/>
                          </a:solidFill>
                          <a:latin typeface="Cambria Math" panose="02040503050406030204" pitchFamily="18" charset="0"/>
                        </a:rPr>
                        <m:t>𝐼</m:t>
                      </m:r>
                      <m:r>
                        <a:rPr lang="es-ES" sz="2000" b="0" i="1" smtClean="0">
                          <a:solidFill>
                            <a:srgbClr val="00B050"/>
                          </a:solidFill>
                          <a:latin typeface="Cambria Math" panose="02040503050406030204" pitchFamily="18" charset="0"/>
                        </a:rPr>
                        <m:t>=</m:t>
                      </m:r>
                      <m:r>
                        <a:rPr lang="es-ES" sz="2000" b="0" i="1" smtClean="0">
                          <a:solidFill>
                            <a:srgbClr val="00B050"/>
                          </a:solidFill>
                          <a:latin typeface="Cambria Math" panose="02040503050406030204" pitchFamily="18" charset="0"/>
                        </a:rPr>
                        <m:t>𝑃</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𝑟</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𝑥</m:t>
                      </m:r>
                      <m:r>
                        <a:rPr lang="es-ES" sz="2000" b="0" i="1" smtClean="0">
                          <a:solidFill>
                            <a:srgbClr val="00B050"/>
                          </a:solidFill>
                          <a:latin typeface="Cambria Math" panose="02040503050406030204" pitchFamily="18" charset="0"/>
                        </a:rPr>
                        <m:t> </m:t>
                      </m:r>
                      <m:r>
                        <a:rPr lang="es-ES" sz="2000" b="0" i="1" smtClean="0">
                          <a:solidFill>
                            <a:srgbClr val="00B050"/>
                          </a:solidFill>
                          <a:latin typeface="Cambria Math" panose="02040503050406030204" pitchFamily="18" charset="0"/>
                        </a:rPr>
                        <m:t>𝑡</m:t>
                      </m:r>
                    </m:oMath>
                  </m:oMathPara>
                </a14:m>
                <a:endParaRPr lang="es-MX" sz="2000" dirty="0">
                  <a:solidFill>
                    <a:srgbClr val="00B050"/>
                  </a:solidFill>
                </a:endParaRPr>
              </a:p>
            </p:txBody>
          </p:sp>
        </mc:Choice>
        <mc:Fallback xmlns="">
          <p:sp>
            <p:nvSpPr>
              <p:cNvPr id="21" name="CuadroTexto 20">
                <a:extLst>
                  <a:ext uri="{FF2B5EF4-FFF2-40B4-BE49-F238E27FC236}">
                    <a16:creationId xmlns:a16="http://schemas.microsoft.com/office/drawing/2014/main" id="{2DA74AF4-A48A-4F03-86E7-02F889B07C3D}"/>
                  </a:ext>
                </a:extLst>
              </p:cNvPr>
              <p:cNvSpPr txBox="1">
                <a:spLocks noRot="1" noChangeAspect="1" noMove="1" noResize="1" noEditPoints="1" noAdjustHandles="1" noChangeArrowheads="1" noChangeShapeType="1" noTextEdit="1"/>
              </p:cNvSpPr>
              <p:nvPr/>
            </p:nvSpPr>
            <p:spPr>
              <a:xfrm>
                <a:off x="7649089" y="2173146"/>
                <a:ext cx="1410643" cy="307777"/>
              </a:xfrm>
              <a:prstGeom prst="rect">
                <a:avLst/>
              </a:prstGeom>
              <a:blipFill>
                <a:blip r:embed="rId7"/>
                <a:stretch>
                  <a:fillRect l="-3896" r="-3030" b="-5882"/>
                </a:stretch>
              </a:blipFill>
            </p:spPr>
            <p:txBody>
              <a:bodyPr/>
              <a:lstStyle/>
              <a:p>
                <a:r>
                  <a:rPr lang="es-MX">
                    <a:noFill/>
                  </a:rPr>
                  <a:t> </a:t>
                </a:r>
              </a:p>
            </p:txBody>
          </p:sp>
        </mc:Fallback>
      </mc:AlternateContent>
      <p:sp>
        <p:nvSpPr>
          <p:cNvPr id="23" name="Google Shape;112;p3">
            <a:extLst>
              <a:ext uri="{FF2B5EF4-FFF2-40B4-BE49-F238E27FC236}">
                <a16:creationId xmlns:a16="http://schemas.microsoft.com/office/drawing/2014/main" id="{11048CB7-5E7A-44B0-BADD-BBC3B4A0509D}"/>
              </a:ext>
            </a:extLst>
          </p:cNvPr>
          <p:cNvSpPr txBox="1"/>
          <p:nvPr/>
        </p:nvSpPr>
        <p:spPr>
          <a:xfrm>
            <a:off x="859723" y="3429000"/>
            <a:ext cx="10472554" cy="82359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Se refiere al cálculo de intereses no solo sobre el capital inicial, sino también sobre los intereses acumulados en períodos anteriores.</a:t>
            </a:r>
            <a:endParaRPr lang="es-ES" sz="22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3B6EE21-F540-4663-963A-EF2ADB097F90}"/>
                  </a:ext>
                </a:extLst>
              </p:cNvPr>
              <p:cNvSpPr txBox="1"/>
              <p:nvPr/>
            </p:nvSpPr>
            <p:spPr>
              <a:xfrm>
                <a:off x="1459501" y="4918696"/>
                <a:ext cx="2438731" cy="7378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solidFill>
                            <a:srgbClr val="00B050"/>
                          </a:solidFill>
                          <a:latin typeface="Cambria Math" panose="02040503050406030204" pitchFamily="18" charset="0"/>
                        </a:rPr>
                        <m:t>𝐴</m:t>
                      </m:r>
                      <m:r>
                        <a:rPr lang="es-ES" sz="2800" b="0" i="1" smtClean="0">
                          <a:solidFill>
                            <a:srgbClr val="00B050"/>
                          </a:solidFill>
                          <a:latin typeface="Cambria Math" panose="02040503050406030204" pitchFamily="18" charset="0"/>
                        </a:rPr>
                        <m:t>=</m:t>
                      </m:r>
                      <m:r>
                        <a:rPr lang="es-ES" sz="2800" b="0" i="1" smtClean="0">
                          <a:solidFill>
                            <a:srgbClr val="00B050"/>
                          </a:solidFill>
                          <a:latin typeface="Cambria Math" panose="02040503050406030204" pitchFamily="18" charset="0"/>
                        </a:rPr>
                        <m:t>𝑃</m:t>
                      </m:r>
                      <m:sSup>
                        <m:sSupPr>
                          <m:ctrlPr>
                            <a:rPr lang="es-ES" sz="2800" b="0" i="1" smtClean="0">
                              <a:solidFill>
                                <a:srgbClr val="00B050"/>
                              </a:solidFill>
                              <a:latin typeface="Cambria Math" panose="02040503050406030204" pitchFamily="18" charset="0"/>
                            </a:rPr>
                          </m:ctrlPr>
                        </m:sSupPr>
                        <m:e>
                          <m:r>
                            <a:rPr lang="es-ES" sz="2800" b="0" i="1" smtClean="0">
                              <a:solidFill>
                                <a:srgbClr val="00B050"/>
                              </a:solidFill>
                              <a:latin typeface="Cambria Math" panose="02040503050406030204" pitchFamily="18" charset="0"/>
                            </a:rPr>
                            <m:t>(1+</m:t>
                          </m:r>
                          <m:f>
                            <m:fPr>
                              <m:ctrlPr>
                                <a:rPr lang="es-ES" sz="2800" b="0" i="1" smtClean="0">
                                  <a:solidFill>
                                    <a:srgbClr val="00B050"/>
                                  </a:solidFill>
                                  <a:latin typeface="Cambria Math" panose="02040503050406030204" pitchFamily="18" charset="0"/>
                                </a:rPr>
                              </m:ctrlPr>
                            </m:fPr>
                            <m:num>
                              <m:r>
                                <a:rPr lang="es-ES" sz="2800" b="0" i="1" smtClean="0">
                                  <a:solidFill>
                                    <a:srgbClr val="00B050"/>
                                  </a:solidFill>
                                  <a:latin typeface="Cambria Math" panose="02040503050406030204" pitchFamily="18" charset="0"/>
                                </a:rPr>
                                <m:t>𝑟</m:t>
                              </m:r>
                            </m:num>
                            <m:den>
                              <m:r>
                                <a:rPr lang="es-ES" sz="2800" b="0" i="1" smtClean="0">
                                  <a:solidFill>
                                    <a:srgbClr val="00B050"/>
                                  </a:solidFill>
                                  <a:latin typeface="Cambria Math" panose="02040503050406030204" pitchFamily="18" charset="0"/>
                                </a:rPr>
                                <m:t>𝑛</m:t>
                              </m:r>
                            </m:den>
                          </m:f>
                          <m:r>
                            <a:rPr lang="es-ES" sz="2800" b="0" i="1" smtClean="0">
                              <a:solidFill>
                                <a:srgbClr val="00B050"/>
                              </a:solidFill>
                              <a:latin typeface="Cambria Math" panose="02040503050406030204" pitchFamily="18" charset="0"/>
                            </a:rPr>
                            <m:t>)</m:t>
                          </m:r>
                        </m:e>
                        <m:sup>
                          <m:r>
                            <a:rPr lang="es-ES" sz="2800" b="0" i="1" smtClean="0">
                              <a:solidFill>
                                <a:srgbClr val="00B050"/>
                              </a:solidFill>
                              <a:latin typeface="Cambria Math" panose="02040503050406030204" pitchFamily="18" charset="0"/>
                            </a:rPr>
                            <m:t>𝑛𝑡</m:t>
                          </m:r>
                        </m:sup>
                      </m:sSup>
                    </m:oMath>
                  </m:oMathPara>
                </a14:m>
                <a:endParaRPr lang="es-MX" sz="2800" dirty="0">
                  <a:solidFill>
                    <a:srgbClr val="00B050"/>
                  </a:solidFill>
                </a:endParaRPr>
              </a:p>
            </p:txBody>
          </p:sp>
        </mc:Choice>
        <mc:Fallback xmlns="">
          <p:sp>
            <p:nvSpPr>
              <p:cNvPr id="24" name="CuadroTexto 23">
                <a:extLst>
                  <a:ext uri="{FF2B5EF4-FFF2-40B4-BE49-F238E27FC236}">
                    <a16:creationId xmlns:a16="http://schemas.microsoft.com/office/drawing/2014/main" id="{53B6EE21-F540-4663-963A-EF2ADB097F90}"/>
                  </a:ext>
                </a:extLst>
              </p:cNvPr>
              <p:cNvSpPr txBox="1">
                <a:spLocks noRot="1" noChangeAspect="1" noMove="1" noResize="1" noEditPoints="1" noAdjustHandles="1" noChangeArrowheads="1" noChangeShapeType="1" noTextEdit="1"/>
              </p:cNvSpPr>
              <p:nvPr/>
            </p:nvSpPr>
            <p:spPr>
              <a:xfrm>
                <a:off x="1459501" y="4918696"/>
                <a:ext cx="2438731" cy="737894"/>
              </a:xfrm>
              <a:prstGeom prst="rect">
                <a:avLst/>
              </a:prstGeom>
              <a:blipFill>
                <a:blip r:embed="rId8"/>
                <a:stretch>
                  <a:fillRect/>
                </a:stretch>
              </a:blipFill>
            </p:spPr>
            <p:txBody>
              <a:bodyPr/>
              <a:lstStyle/>
              <a:p>
                <a:r>
                  <a:rPr lang="es-MX">
                    <a:noFill/>
                  </a:rPr>
                  <a:t> </a:t>
                </a:r>
              </a:p>
            </p:txBody>
          </p:sp>
        </mc:Fallback>
      </mc:AlternateContent>
      <p:sp>
        <p:nvSpPr>
          <p:cNvPr id="26" name="Google Shape;112;p3">
            <a:extLst>
              <a:ext uri="{FF2B5EF4-FFF2-40B4-BE49-F238E27FC236}">
                <a16:creationId xmlns:a16="http://schemas.microsoft.com/office/drawing/2014/main" id="{5EF4CCEF-30C6-46CF-A145-F7F61D794F69}"/>
              </a:ext>
            </a:extLst>
          </p:cNvPr>
          <p:cNvSpPr txBox="1"/>
          <p:nvPr/>
        </p:nvSpPr>
        <p:spPr>
          <a:xfrm>
            <a:off x="4777473" y="4319171"/>
            <a:ext cx="6554804" cy="1936944"/>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b="1" dirty="0">
                <a:solidFill>
                  <a:srgbClr val="131D3F"/>
                </a:solidFill>
                <a:latin typeface="Montserrat" panose="00000500000000000000" pitchFamily="2" charset="0"/>
              </a:rPr>
              <a:t>Donde: </a:t>
            </a:r>
          </a:p>
          <a:p>
            <a:pPr algn="just"/>
            <a:r>
              <a:rPr lang="es-ES" sz="2000" b="1" dirty="0">
                <a:solidFill>
                  <a:srgbClr val="131D3F"/>
                </a:solidFill>
                <a:latin typeface="Montserrat" panose="00000500000000000000" pitchFamily="2" charset="0"/>
              </a:rPr>
              <a:t>A = </a:t>
            </a:r>
            <a:r>
              <a:rPr lang="es-ES" sz="2000" dirty="0">
                <a:solidFill>
                  <a:srgbClr val="131D3F"/>
                </a:solidFill>
                <a:latin typeface="Montserrat" panose="00000500000000000000" pitchFamily="2" charset="0"/>
              </a:rPr>
              <a:t>monto futuro (principal e intereses).</a:t>
            </a:r>
          </a:p>
          <a:p>
            <a:pPr algn="just"/>
            <a:r>
              <a:rPr lang="es-ES" sz="2000" b="1" dirty="0">
                <a:solidFill>
                  <a:srgbClr val="131D3F"/>
                </a:solidFill>
                <a:latin typeface="Montserrat" panose="00000500000000000000" pitchFamily="2" charset="0"/>
              </a:rPr>
              <a:t>P = </a:t>
            </a:r>
            <a:r>
              <a:rPr lang="es-ES" sz="2000" dirty="0">
                <a:solidFill>
                  <a:srgbClr val="131D3F"/>
                </a:solidFill>
                <a:latin typeface="Montserrat" panose="00000500000000000000" pitchFamily="2" charset="0"/>
              </a:rPr>
              <a:t>capital inicial (principal).</a:t>
            </a:r>
          </a:p>
          <a:p>
            <a:pPr algn="just"/>
            <a:r>
              <a:rPr lang="es-ES" sz="2000" b="1" dirty="0">
                <a:solidFill>
                  <a:srgbClr val="131D3F"/>
                </a:solidFill>
                <a:latin typeface="Montserrat" panose="00000500000000000000" pitchFamily="2" charset="0"/>
              </a:rPr>
              <a:t>r = </a:t>
            </a:r>
            <a:r>
              <a:rPr lang="es-ES" sz="2000" dirty="0">
                <a:solidFill>
                  <a:srgbClr val="131D3F"/>
                </a:solidFill>
                <a:latin typeface="Montserrat" panose="00000500000000000000" pitchFamily="2" charset="0"/>
              </a:rPr>
              <a:t>tasa de interés anual.</a:t>
            </a:r>
          </a:p>
          <a:p>
            <a:pPr algn="just"/>
            <a:r>
              <a:rPr lang="es-ES" sz="2000" b="1" dirty="0">
                <a:solidFill>
                  <a:srgbClr val="131D3F"/>
                </a:solidFill>
                <a:latin typeface="Montserrat" panose="00000500000000000000" pitchFamily="2" charset="0"/>
              </a:rPr>
              <a:t>n = </a:t>
            </a:r>
            <a:r>
              <a:rPr lang="es-ES" sz="2000" dirty="0">
                <a:solidFill>
                  <a:srgbClr val="131D3F"/>
                </a:solidFill>
                <a:latin typeface="Montserrat" panose="00000500000000000000" pitchFamily="2" charset="0"/>
              </a:rPr>
              <a:t>número de períodos de capitalización por año.</a:t>
            </a:r>
          </a:p>
          <a:p>
            <a:pPr algn="just"/>
            <a:r>
              <a:rPr lang="es-ES" sz="2000" b="1" dirty="0">
                <a:solidFill>
                  <a:srgbClr val="131D3F"/>
                </a:solidFill>
                <a:latin typeface="Montserrat" panose="00000500000000000000" pitchFamily="2" charset="0"/>
              </a:rPr>
              <a:t>t = </a:t>
            </a:r>
            <a:r>
              <a:rPr lang="es-ES" sz="2000" dirty="0">
                <a:solidFill>
                  <a:srgbClr val="131D3F"/>
                </a:solidFill>
                <a:latin typeface="Montserrat" panose="00000500000000000000" pitchFamily="2" charset="0"/>
              </a:rPr>
              <a:t>número de años.</a:t>
            </a:r>
          </a:p>
        </p:txBody>
      </p:sp>
    </p:spTree>
    <p:extLst>
      <p:ext uri="{BB962C8B-B14F-4D97-AF65-F5344CB8AC3E}">
        <p14:creationId xmlns:p14="http://schemas.microsoft.com/office/powerpoint/2010/main" val="946775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37</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9322"/>
            <a:ext cx="9617592" cy="823595"/>
          </a:xfrm>
        </p:spPr>
        <p:txBody>
          <a:bodyPr>
            <a:normAutofit/>
          </a:bodyPr>
          <a:lstStyle/>
          <a:p>
            <a:r>
              <a:rPr lang="es-ES" sz="3600" b="1" dirty="0">
                <a:solidFill>
                  <a:srgbClr val="131D3F"/>
                </a:solidFill>
                <a:latin typeface="Montserrat SemiBold" panose="00000700000000000000" pitchFamily="2" charset="0"/>
              </a:rPr>
              <a:t>1.11 Eficiencia</a:t>
            </a:r>
            <a:endParaRPr lang="es-MX" sz="2200" b="1" dirty="0">
              <a:solidFill>
                <a:srgbClr val="131D3F"/>
              </a:solidFill>
              <a:latin typeface="Montserrat SemiBold" panose="00000700000000000000" pitchFamily="2" charset="0"/>
            </a:endParaRPr>
          </a:p>
        </p:txBody>
      </p:sp>
      <p:sp>
        <p:nvSpPr>
          <p:cNvPr id="23" name="Google Shape;112;p3">
            <a:extLst>
              <a:ext uri="{FF2B5EF4-FFF2-40B4-BE49-F238E27FC236}">
                <a16:creationId xmlns:a16="http://schemas.microsoft.com/office/drawing/2014/main" id="{11048CB7-5E7A-44B0-BADD-BBC3B4A0509D}"/>
              </a:ext>
            </a:extLst>
          </p:cNvPr>
          <p:cNvSpPr txBox="1"/>
          <p:nvPr/>
        </p:nvSpPr>
        <p:spPr>
          <a:xfrm>
            <a:off x="859723" y="1177957"/>
            <a:ext cx="10472554" cy="447748"/>
          </a:xfrm>
          <a:prstGeom prst="rect">
            <a:avLst/>
          </a:prstGeom>
          <a:noFill/>
          <a:ln>
            <a:noFill/>
          </a:ln>
        </p:spPr>
        <p:txBody>
          <a:bodyPr spcFirstLastPara="1" wrap="square" lIns="91425" tIns="45700" rIns="91425" bIns="45700" anchor="t" anchorCtr="0">
            <a:noAutofit/>
          </a:bodyPr>
          <a:lstStyle/>
          <a:p>
            <a:pPr algn="ctr">
              <a:spcAft>
                <a:spcPts val="600"/>
              </a:spcAft>
            </a:pPr>
            <a:r>
              <a:rPr lang="es-ES" sz="2200" dirty="0">
                <a:solidFill>
                  <a:srgbClr val="131D3F"/>
                </a:solidFill>
                <a:effectLst>
                  <a:outerShdw blurRad="38100" dist="38100" dir="2700000" algn="tl">
                    <a:srgbClr val="000000">
                      <a:alpha val="43137"/>
                    </a:srgbClr>
                  </a:outerShdw>
                </a:effectLst>
                <a:latin typeface="Montserrat" panose="00000500000000000000" pitchFamily="2" charset="0"/>
              </a:rPr>
              <a:t>Relación </a:t>
            </a:r>
            <a:r>
              <a:rPr lang="es-ES" sz="2200" b="1" dirty="0">
                <a:solidFill>
                  <a:srgbClr val="131D3F"/>
                </a:solidFill>
                <a:effectLst>
                  <a:outerShdw blurRad="38100" dist="38100" dir="2700000" algn="tl">
                    <a:srgbClr val="000000">
                      <a:alpha val="43137"/>
                    </a:srgbClr>
                  </a:outerShdw>
                </a:effectLst>
                <a:latin typeface="Montserrat" panose="00000500000000000000" pitchFamily="2" charset="0"/>
              </a:rPr>
              <a:t>optima</a:t>
            </a:r>
            <a:r>
              <a:rPr lang="es-ES" sz="2200" dirty="0">
                <a:solidFill>
                  <a:srgbClr val="131D3F"/>
                </a:solidFill>
                <a:effectLst>
                  <a:outerShdw blurRad="38100" dist="38100" dir="2700000" algn="tl">
                    <a:srgbClr val="000000">
                      <a:alpha val="43137"/>
                    </a:srgbClr>
                  </a:outerShdw>
                </a:effectLst>
                <a:latin typeface="Montserrat" panose="00000500000000000000" pitchFamily="2" charset="0"/>
              </a:rPr>
              <a:t> entre los recursos empleados y el beneficio obtenido.</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3B6EE21-F540-4663-963A-EF2ADB097F90}"/>
                  </a:ext>
                </a:extLst>
              </p:cNvPr>
              <p:cNvSpPr txBox="1"/>
              <p:nvPr/>
            </p:nvSpPr>
            <p:spPr>
              <a:xfrm>
                <a:off x="1205524" y="3818070"/>
                <a:ext cx="4035692" cy="8192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solidFill>
                            <a:srgbClr val="00B050"/>
                          </a:solidFill>
                          <a:latin typeface="Cambria Math" panose="02040503050406030204" pitchFamily="18" charset="0"/>
                        </a:rPr>
                        <m:t>𝑅𝑂𝐸</m:t>
                      </m:r>
                      <m:r>
                        <a:rPr lang="es-ES" sz="2800" b="0" i="1" smtClean="0">
                          <a:solidFill>
                            <a:srgbClr val="00B050"/>
                          </a:solidFill>
                          <a:latin typeface="Cambria Math" panose="02040503050406030204" pitchFamily="18" charset="0"/>
                        </a:rPr>
                        <m:t>=</m:t>
                      </m:r>
                      <m:f>
                        <m:fPr>
                          <m:ctrlPr>
                            <a:rPr lang="es-ES" sz="2800" b="0" i="1" smtClean="0">
                              <a:solidFill>
                                <a:srgbClr val="00B050"/>
                              </a:solidFill>
                              <a:latin typeface="Cambria Math" panose="02040503050406030204" pitchFamily="18" charset="0"/>
                            </a:rPr>
                          </m:ctrlPr>
                        </m:fPr>
                        <m:num>
                          <m:r>
                            <a:rPr lang="es-ES" sz="2800" b="0" i="1" smtClean="0">
                              <a:solidFill>
                                <a:srgbClr val="00B050"/>
                              </a:solidFill>
                              <a:latin typeface="Cambria Math" panose="02040503050406030204" pitchFamily="18" charset="0"/>
                            </a:rPr>
                            <m:t>𝐵𝑒𝑛𝑒𝑓𝑖𝑐𝑖𝑜</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𝑁𝑒𝑡𝑜</m:t>
                          </m:r>
                        </m:num>
                        <m:den>
                          <m:r>
                            <a:rPr lang="es-ES" sz="2800" b="0" i="1" smtClean="0">
                              <a:solidFill>
                                <a:srgbClr val="00B050"/>
                              </a:solidFill>
                              <a:latin typeface="Cambria Math" panose="02040503050406030204" pitchFamily="18" charset="0"/>
                            </a:rPr>
                            <m:t>𝑃𝑎𝑡𝑟𝑖𝑚𝑜𝑛𝑖𝑜</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𝑁𝑒𝑡𝑜</m:t>
                          </m:r>
                        </m:den>
                      </m:f>
                    </m:oMath>
                  </m:oMathPara>
                </a14:m>
                <a:endParaRPr lang="es-MX" sz="2800" dirty="0">
                  <a:solidFill>
                    <a:srgbClr val="00B050"/>
                  </a:solidFill>
                </a:endParaRPr>
              </a:p>
            </p:txBody>
          </p:sp>
        </mc:Choice>
        <mc:Fallback xmlns="">
          <p:sp>
            <p:nvSpPr>
              <p:cNvPr id="24" name="CuadroTexto 23">
                <a:extLst>
                  <a:ext uri="{FF2B5EF4-FFF2-40B4-BE49-F238E27FC236}">
                    <a16:creationId xmlns:a16="http://schemas.microsoft.com/office/drawing/2014/main" id="{53B6EE21-F540-4663-963A-EF2ADB097F90}"/>
                  </a:ext>
                </a:extLst>
              </p:cNvPr>
              <p:cNvSpPr txBox="1">
                <a:spLocks noRot="1" noChangeAspect="1" noMove="1" noResize="1" noEditPoints="1" noAdjustHandles="1" noChangeArrowheads="1" noChangeShapeType="1" noTextEdit="1"/>
              </p:cNvSpPr>
              <p:nvPr/>
            </p:nvSpPr>
            <p:spPr>
              <a:xfrm>
                <a:off x="1205524" y="3818070"/>
                <a:ext cx="4035692" cy="819263"/>
              </a:xfrm>
              <a:prstGeom prst="rect">
                <a:avLst/>
              </a:prstGeom>
              <a:blipFill>
                <a:blip r:embed="rId5"/>
                <a:stretch>
                  <a:fillRect/>
                </a:stretch>
              </a:blipFill>
            </p:spPr>
            <p:txBody>
              <a:bodyPr/>
              <a:lstStyle/>
              <a:p>
                <a:r>
                  <a:rPr lang="es-MX">
                    <a:noFill/>
                  </a:rPr>
                  <a:t> </a:t>
                </a:r>
              </a:p>
            </p:txBody>
          </p:sp>
        </mc:Fallback>
      </mc:AlternateContent>
      <p:sp>
        <p:nvSpPr>
          <p:cNvPr id="17" name="Google Shape;112;p3">
            <a:extLst>
              <a:ext uri="{FF2B5EF4-FFF2-40B4-BE49-F238E27FC236}">
                <a16:creationId xmlns:a16="http://schemas.microsoft.com/office/drawing/2014/main" id="{6952130F-AF0F-4278-8219-7DC97D21EF0B}"/>
              </a:ext>
            </a:extLst>
          </p:cNvPr>
          <p:cNvSpPr txBox="1"/>
          <p:nvPr/>
        </p:nvSpPr>
        <p:spPr>
          <a:xfrm>
            <a:off x="572477" y="1783359"/>
            <a:ext cx="11047046" cy="210284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b="1" dirty="0">
                <a:solidFill>
                  <a:srgbClr val="131D3F"/>
                </a:solidFill>
                <a:latin typeface="Montserrat" panose="00000500000000000000" pitchFamily="2" charset="0"/>
              </a:rPr>
              <a:t>Eficiencia Financiera </a:t>
            </a:r>
            <a:r>
              <a:rPr lang="es-ES" sz="2200" dirty="0">
                <a:solidFill>
                  <a:srgbClr val="131D3F"/>
                </a:solidFill>
                <a:latin typeface="Montserrat" panose="00000500000000000000" pitchFamily="2" charset="0"/>
              </a:rPr>
              <a:t>se refiere a la capacidad de una empresa para maximizar sus ganancias mientras minimiza los costos. Se puede medir utilizando varios indicadores como el Retorno sobre el Patrimonio (ROE), el Retorno sobre los Activos (ROA) y el Margen de Beneficio Neto. Estos ratios ayudan a evaluar el uso de los recursos disponibles para generar beneficios.</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F038473-D63C-448B-9D9D-C4BAA164BC1B}"/>
                  </a:ext>
                </a:extLst>
              </p:cNvPr>
              <p:cNvSpPr txBox="1"/>
              <p:nvPr/>
            </p:nvSpPr>
            <p:spPr>
              <a:xfrm>
                <a:off x="6950786" y="3818070"/>
                <a:ext cx="4035692" cy="8193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solidFill>
                            <a:srgbClr val="00B050"/>
                          </a:solidFill>
                          <a:latin typeface="Cambria Math" panose="02040503050406030204" pitchFamily="18" charset="0"/>
                        </a:rPr>
                        <m:t>𝑅𝑂𝐴</m:t>
                      </m:r>
                      <m:r>
                        <a:rPr lang="es-ES" sz="2800" b="0" i="1" smtClean="0">
                          <a:solidFill>
                            <a:srgbClr val="00B050"/>
                          </a:solidFill>
                          <a:latin typeface="Cambria Math" panose="02040503050406030204" pitchFamily="18" charset="0"/>
                        </a:rPr>
                        <m:t>=</m:t>
                      </m:r>
                      <m:f>
                        <m:fPr>
                          <m:ctrlPr>
                            <a:rPr lang="es-ES" sz="2800" b="0" i="1" smtClean="0">
                              <a:solidFill>
                                <a:srgbClr val="00B050"/>
                              </a:solidFill>
                              <a:latin typeface="Cambria Math" panose="02040503050406030204" pitchFamily="18" charset="0"/>
                            </a:rPr>
                          </m:ctrlPr>
                        </m:fPr>
                        <m:num>
                          <m:r>
                            <a:rPr lang="es-ES" sz="2800" b="0" i="1" smtClean="0">
                              <a:solidFill>
                                <a:srgbClr val="00B050"/>
                              </a:solidFill>
                              <a:latin typeface="Cambria Math" panose="02040503050406030204" pitchFamily="18" charset="0"/>
                            </a:rPr>
                            <m:t>𝐵𝑒𝑛𝑒𝑓𝑖𝑐𝑖𝑜</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𝑁𝑒𝑡𝑜</m:t>
                          </m:r>
                        </m:num>
                        <m:den>
                          <m:r>
                            <a:rPr lang="es-ES" sz="2800" b="0" i="1" smtClean="0">
                              <a:solidFill>
                                <a:srgbClr val="00B050"/>
                              </a:solidFill>
                              <a:latin typeface="Cambria Math" panose="02040503050406030204" pitchFamily="18" charset="0"/>
                            </a:rPr>
                            <m:t>𝐴𝑐𝑡𝑖𝑣𝑜𝑠</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𝑇𝑜𝑡𝑎𝑙𝑒𝑠</m:t>
                          </m:r>
                        </m:den>
                      </m:f>
                    </m:oMath>
                  </m:oMathPara>
                </a14:m>
                <a:endParaRPr lang="es-MX" sz="2800" dirty="0">
                  <a:solidFill>
                    <a:srgbClr val="00B050"/>
                  </a:solidFill>
                </a:endParaRPr>
              </a:p>
            </p:txBody>
          </p:sp>
        </mc:Choice>
        <mc:Fallback xmlns="">
          <p:sp>
            <p:nvSpPr>
              <p:cNvPr id="22" name="CuadroTexto 21">
                <a:extLst>
                  <a:ext uri="{FF2B5EF4-FFF2-40B4-BE49-F238E27FC236}">
                    <a16:creationId xmlns:a16="http://schemas.microsoft.com/office/drawing/2014/main" id="{9F038473-D63C-448B-9D9D-C4BAA164BC1B}"/>
                  </a:ext>
                </a:extLst>
              </p:cNvPr>
              <p:cNvSpPr txBox="1">
                <a:spLocks noRot="1" noChangeAspect="1" noMove="1" noResize="1" noEditPoints="1" noAdjustHandles="1" noChangeArrowheads="1" noChangeShapeType="1" noTextEdit="1"/>
              </p:cNvSpPr>
              <p:nvPr/>
            </p:nvSpPr>
            <p:spPr>
              <a:xfrm>
                <a:off x="6950786" y="3818070"/>
                <a:ext cx="4035692" cy="819327"/>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86DF5A53-EAAE-41EE-9008-EFDD15243DBA}"/>
                  </a:ext>
                </a:extLst>
              </p:cNvPr>
              <p:cNvSpPr txBox="1"/>
              <p:nvPr/>
            </p:nvSpPr>
            <p:spPr>
              <a:xfrm>
                <a:off x="1828187" y="5317108"/>
                <a:ext cx="7596978" cy="8192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solidFill>
                            <a:srgbClr val="00B050"/>
                          </a:solidFill>
                          <a:latin typeface="Cambria Math" panose="02040503050406030204" pitchFamily="18" charset="0"/>
                        </a:rPr>
                        <m:t>𝑀𝑎𝑟𝑔𝑒𝑛</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𝑑𝑒</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𝐵𝑒𝑛𝑒𝑓𝑖𝑐𝑖𝑜</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𝑁𝑒𝑡𝑜</m:t>
                      </m:r>
                      <m:r>
                        <a:rPr lang="es-ES" sz="2800" b="0" i="1" smtClean="0">
                          <a:solidFill>
                            <a:srgbClr val="00B050"/>
                          </a:solidFill>
                          <a:latin typeface="Cambria Math" panose="02040503050406030204" pitchFamily="18" charset="0"/>
                        </a:rPr>
                        <m:t>=</m:t>
                      </m:r>
                      <m:f>
                        <m:fPr>
                          <m:ctrlPr>
                            <a:rPr lang="es-ES" sz="2800" b="0" i="1" smtClean="0">
                              <a:solidFill>
                                <a:srgbClr val="00B050"/>
                              </a:solidFill>
                              <a:latin typeface="Cambria Math" panose="02040503050406030204" pitchFamily="18" charset="0"/>
                            </a:rPr>
                          </m:ctrlPr>
                        </m:fPr>
                        <m:num>
                          <m:r>
                            <a:rPr lang="es-ES" sz="2800" b="0" i="1" smtClean="0">
                              <a:solidFill>
                                <a:srgbClr val="00B050"/>
                              </a:solidFill>
                              <a:latin typeface="Cambria Math" panose="02040503050406030204" pitchFamily="18" charset="0"/>
                            </a:rPr>
                            <m:t>𝐵𝑒𝑛𝑒𝑓𝑖𝑐𝑖𝑜</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𝑁𝑒𝑡𝑜</m:t>
                          </m:r>
                        </m:num>
                        <m:den>
                          <m:r>
                            <a:rPr lang="es-ES" sz="2800" b="0" i="1" smtClean="0">
                              <a:solidFill>
                                <a:srgbClr val="00B050"/>
                              </a:solidFill>
                              <a:latin typeface="Cambria Math" panose="02040503050406030204" pitchFamily="18" charset="0"/>
                            </a:rPr>
                            <m:t>𝑉𝑒𝑛𝑡𝑎𝑠</m:t>
                          </m:r>
                          <m:r>
                            <a:rPr lang="es-ES" sz="2800" b="0" i="1" smtClean="0">
                              <a:solidFill>
                                <a:srgbClr val="00B050"/>
                              </a:solidFill>
                              <a:latin typeface="Cambria Math" panose="02040503050406030204" pitchFamily="18" charset="0"/>
                            </a:rPr>
                            <m:t> </m:t>
                          </m:r>
                          <m:r>
                            <a:rPr lang="es-ES" sz="2800" b="0" i="1" smtClean="0">
                              <a:solidFill>
                                <a:srgbClr val="00B050"/>
                              </a:solidFill>
                              <a:latin typeface="Cambria Math" panose="02040503050406030204" pitchFamily="18" charset="0"/>
                            </a:rPr>
                            <m:t>𝑇𝑜𝑡𝑎𝑙𝑒𝑠</m:t>
                          </m:r>
                        </m:den>
                      </m:f>
                    </m:oMath>
                  </m:oMathPara>
                </a14:m>
                <a:endParaRPr lang="es-MX" sz="2800" dirty="0">
                  <a:solidFill>
                    <a:srgbClr val="00B050"/>
                  </a:solidFill>
                </a:endParaRPr>
              </a:p>
            </p:txBody>
          </p:sp>
        </mc:Choice>
        <mc:Fallback xmlns="">
          <p:sp>
            <p:nvSpPr>
              <p:cNvPr id="25" name="CuadroTexto 24">
                <a:extLst>
                  <a:ext uri="{FF2B5EF4-FFF2-40B4-BE49-F238E27FC236}">
                    <a16:creationId xmlns:a16="http://schemas.microsoft.com/office/drawing/2014/main" id="{86DF5A53-EAAE-41EE-9008-EFDD15243DBA}"/>
                  </a:ext>
                </a:extLst>
              </p:cNvPr>
              <p:cNvSpPr txBox="1">
                <a:spLocks noRot="1" noChangeAspect="1" noMove="1" noResize="1" noEditPoints="1" noAdjustHandles="1" noChangeArrowheads="1" noChangeShapeType="1" noTextEdit="1"/>
              </p:cNvSpPr>
              <p:nvPr/>
            </p:nvSpPr>
            <p:spPr>
              <a:xfrm>
                <a:off x="1828187" y="5317108"/>
                <a:ext cx="7596978" cy="819263"/>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7348084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38</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a:bodyPr>
          <a:lstStyle/>
          <a:p>
            <a:r>
              <a:rPr lang="es-ES" sz="3600" b="1" dirty="0">
                <a:solidFill>
                  <a:srgbClr val="131D3F"/>
                </a:solidFill>
                <a:latin typeface="Montserrat SemiBold" panose="00000700000000000000" pitchFamily="2" charset="0"/>
              </a:rPr>
              <a:t>1.12 Eficacia</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6952130F-AF0F-4278-8219-7DC97D21EF0B}"/>
              </a:ext>
            </a:extLst>
          </p:cNvPr>
          <p:cNvSpPr txBox="1"/>
          <p:nvPr/>
        </p:nvSpPr>
        <p:spPr>
          <a:xfrm>
            <a:off x="572477" y="1507626"/>
            <a:ext cx="11047046" cy="3842748"/>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La eficacia es un concepto clave en la </a:t>
            </a:r>
            <a:r>
              <a:rPr lang="es-ES" sz="2200" b="1" dirty="0">
                <a:solidFill>
                  <a:srgbClr val="131D3F"/>
                </a:solidFill>
                <a:latin typeface="Montserrat" panose="00000500000000000000" pitchFamily="2" charset="0"/>
              </a:rPr>
              <a:t>gestión</a:t>
            </a:r>
            <a:r>
              <a:rPr lang="es-ES" sz="2200" dirty="0">
                <a:solidFill>
                  <a:srgbClr val="131D3F"/>
                </a:solidFill>
                <a:latin typeface="Montserrat" panose="00000500000000000000" pitchFamily="2" charset="0"/>
              </a:rPr>
              <a:t>, la </a:t>
            </a:r>
            <a:r>
              <a:rPr lang="es-ES" sz="2200" b="1" dirty="0">
                <a:solidFill>
                  <a:srgbClr val="131D3F"/>
                </a:solidFill>
                <a:latin typeface="Montserrat" panose="00000500000000000000" pitchFamily="2" charset="0"/>
              </a:rPr>
              <a:t>toma de decisiones</a:t>
            </a:r>
            <a:r>
              <a:rPr lang="es-ES" sz="2200" dirty="0">
                <a:solidFill>
                  <a:srgbClr val="131D3F"/>
                </a:solidFill>
                <a:latin typeface="Montserrat" panose="00000500000000000000" pitchFamily="2" charset="0"/>
              </a:rPr>
              <a:t> y la </a:t>
            </a:r>
            <a:r>
              <a:rPr lang="es-ES" sz="2200" b="1" dirty="0">
                <a:solidFill>
                  <a:srgbClr val="131D3F"/>
                </a:solidFill>
                <a:latin typeface="Montserrat" panose="00000500000000000000" pitchFamily="2" charset="0"/>
              </a:rPr>
              <a:t>evaluación del rendimiento</a:t>
            </a:r>
            <a:r>
              <a:rPr lang="es-ES" sz="2200" dirty="0">
                <a:solidFill>
                  <a:srgbClr val="131D3F"/>
                </a:solidFill>
                <a:latin typeface="Montserrat" panose="00000500000000000000" pitchFamily="2" charset="0"/>
              </a:rPr>
              <a:t>. </a:t>
            </a:r>
          </a:p>
          <a:p>
            <a:pPr algn="just">
              <a:spcAft>
                <a:spcPts val="600"/>
              </a:spcAft>
            </a:pPr>
            <a:endParaRPr lang="es-ES" sz="2200" dirty="0">
              <a:solidFill>
                <a:srgbClr val="131D3F"/>
              </a:solidFill>
              <a:latin typeface="Montserrat" panose="00000500000000000000" pitchFamily="2" charset="0"/>
            </a:endParaRPr>
          </a:p>
          <a:p>
            <a:pPr algn="just">
              <a:spcAft>
                <a:spcPts val="600"/>
              </a:spcAft>
            </a:pPr>
            <a:r>
              <a:rPr lang="es-ES" sz="2200" dirty="0">
                <a:solidFill>
                  <a:srgbClr val="131D3F"/>
                </a:solidFill>
                <a:latin typeface="Montserrat" panose="00000500000000000000" pitchFamily="2" charset="0"/>
              </a:rPr>
              <a:t>A diferencia de la eficiencia, que se centra en el uso óptimo de los recursos para lograr un resultado, la eficacia se refiere a la </a:t>
            </a:r>
            <a:r>
              <a:rPr lang="es-ES" sz="2200" b="1" dirty="0">
                <a:solidFill>
                  <a:srgbClr val="131D3F"/>
                </a:solidFill>
                <a:latin typeface="Montserrat" panose="00000500000000000000" pitchFamily="2" charset="0"/>
              </a:rPr>
              <a:t>capacidad de alcanzar los objetivos</a:t>
            </a:r>
            <a:r>
              <a:rPr lang="es-ES" sz="2200" dirty="0">
                <a:solidFill>
                  <a:srgbClr val="131D3F"/>
                </a:solidFill>
                <a:latin typeface="Montserrat" panose="00000500000000000000" pitchFamily="2" charset="0"/>
              </a:rPr>
              <a:t> </a:t>
            </a:r>
            <a:r>
              <a:rPr lang="es-ES" sz="2200" b="1" dirty="0">
                <a:solidFill>
                  <a:srgbClr val="131D3F"/>
                </a:solidFill>
                <a:latin typeface="Montserrat" panose="00000500000000000000" pitchFamily="2" charset="0"/>
              </a:rPr>
              <a:t>y resultados deseados</a:t>
            </a:r>
            <a:r>
              <a:rPr lang="es-ES" sz="2200" dirty="0">
                <a:solidFill>
                  <a:srgbClr val="131D3F"/>
                </a:solidFill>
                <a:latin typeface="Montserrat" panose="00000500000000000000" pitchFamily="2" charset="0"/>
              </a:rPr>
              <a:t>, sin necesariamente considerar los recursos utilizados. </a:t>
            </a:r>
          </a:p>
          <a:p>
            <a:pPr algn="just">
              <a:spcAft>
                <a:spcPts val="600"/>
              </a:spcAft>
            </a:pPr>
            <a:endParaRPr lang="es-ES" sz="2200" dirty="0">
              <a:solidFill>
                <a:srgbClr val="131D3F"/>
              </a:solidFill>
              <a:latin typeface="Montserrat" panose="00000500000000000000" pitchFamily="2" charset="0"/>
            </a:endParaRPr>
          </a:p>
          <a:p>
            <a:pPr algn="just">
              <a:spcAft>
                <a:spcPts val="600"/>
              </a:spcAft>
            </a:pPr>
            <a:r>
              <a:rPr lang="es-ES" sz="2200" dirty="0">
                <a:solidFill>
                  <a:srgbClr val="131D3F"/>
                </a:solidFill>
                <a:latin typeface="Montserrat" panose="00000500000000000000" pitchFamily="2" charset="0"/>
              </a:rPr>
              <a:t>En resumen, mientras que la eficiencia se enfoca en el “cómo” se logran los resultados, </a:t>
            </a:r>
            <a:r>
              <a:rPr lang="es-ES" sz="2200" b="1" dirty="0">
                <a:solidFill>
                  <a:srgbClr val="131D3F"/>
                </a:solidFill>
                <a:latin typeface="Montserrat" panose="00000500000000000000" pitchFamily="2" charset="0"/>
              </a:rPr>
              <a:t>la eficacia se enfoca en el “qué” resultados se logran</a:t>
            </a:r>
            <a:r>
              <a:rPr lang="es-ES" sz="2200" dirty="0">
                <a:solidFill>
                  <a:srgbClr val="131D3F"/>
                </a:solidFill>
                <a:latin typeface="Montserrat" panose="00000500000000000000" pitchFamily="2" charset="0"/>
              </a:rPr>
              <a:t>.</a:t>
            </a:r>
          </a:p>
        </p:txBody>
      </p:sp>
    </p:spTree>
    <p:extLst>
      <p:ext uri="{BB962C8B-B14F-4D97-AF65-F5344CB8AC3E}">
        <p14:creationId xmlns:p14="http://schemas.microsoft.com/office/powerpoint/2010/main" val="3687373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39</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fontScale="90000"/>
          </a:bodyPr>
          <a:lstStyle/>
          <a:p>
            <a:r>
              <a:rPr lang="es-ES" sz="3600" b="1" dirty="0">
                <a:solidFill>
                  <a:srgbClr val="131D3F"/>
                </a:solidFill>
                <a:latin typeface="Montserrat SemiBold" panose="00000700000000000000" pitchFamily="2" charset="0"/>
              </a:rPr>
              <a:t>1.12 Eficacia</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200" b="1" dirty="0">
                <a:solidFill>
                  <a:srgbClr val="131D3F"/>
                </a:solidFill>
                <a:latin typeface="Montserrat SemiBold" panose="00000700000000000000" pitchFamily="2" charset="0"/>
              </a:rPr>
              <a:t>1.12.1 Principios Clave de la Eficacia</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6952130F-AF0F-4278-8219-7DC97D21EF0B}"/>
              </a:ext>
            </a:extLst>
          </p:cNvPr>
          <p:cNvSpPr txBox="1"/>
          <p:nvPr/>
        </p:nvSpPr>
        <p:spPr>
          <a:xfrm>
            <a:off x="458177" y="1494692"/>
            <a:ext cx="7323015" cy="5205046"/>
          </a:xfrm>
          <a:prstGeom prst="rect">
            <a:avLst/>
          </a:prstGeom>
          <a:noFill/>
          <a:ln>
            <a:noFill/>
          </a:ln>
        </p:spPr>
        <p:txBody>
          <a:bodyPr spcFirstLastPara="1" wrap="square" lIns="91425" tIns="45700" rIns="91425" bIns="45700" anchor="t" anchorCtr="0">
            <a:noAutofit/>
          </a:bodyPr>
          <a:lstStyle/>
          <a:p>
            <a:pPr algn="just"/>
            <a:r>
              <a:rPr lang="es-ES" sz="2000" b="1" dirty="0">
                <a:solidFill>
                  <a:srgbClr val="131D3F"/>
                </a:solidFill>
                <a:latin typeface="Montserrat" panose="00000500000000000000" pitchFamily="2" charset="0"/>
              </a:rPr>
              <a:t>Definición de Objetivos Claros: </a:t>
            </a:r>
            <a:r>
              <a:rPr lang="es-ES" sz="2000" dirty="0">
                <a:solidFill>
                  <a:srgbClr val="131D3F"/>
                </a:solidFill>
                <a:latin typeface="Montserrat" panose="00000500000000000000" pitchFamily="2" charset="0"/>
              </a:rPr>
              <a:t>La eficacia se mide por la capacidad de cumplir con los objetivos establecidos. Es esencial definir objetivos claros y alcanzables evaluar la eficacia. </a:t>
            </a:r>
          </a:p>
          <a:p>
            <a:pPr algn="just">
              <a:spcAft>
                <a:spcPts val="600"/>
              </a:spcAft>
            </a:pPr>
            <a:endParaRPr lang="es-ES" sz="2000" dirty="0">
              <a:solidFill>
                <a:srgbClr val="131D3F"/>
              </a:solidFill>
              <a:latin typeface="Montserrat" panose="00000500000000000000" pitchFamily="2" charset="0"/>
            </a:endParaRPr>
          </a:p>
          <a:p>
            <a:pPr algn="just"/>
            <a:r>
              <a:rPr lang="es-ES" sz="2000" b="1" dirty="0">
                <a:solidFill>
                  <a:srgbClr val="131D3F"/>
                </a:solidFill>
                <a:latin typeface="Montserrat" panose="00000500000000000000" pitchFamily="2" charset="0"/>
              </a:rPr>
              <a:t>Enfoque en Resultados:</a:t>
            </a:r>
            <a:r>
              <a:rPr lang="es-ES" sz="2000" dirty="0">
                <a:solidFill>
                  <a:srgbClr val="131D3F"/>
                </a:solidFill>
                <a:latin typeface="Montserrat" panose="00000500000000000000" pitchFamily="2" charset="0"/>
              </a:rPr>
              <a:t> Un proceso, proyecto o estrategia es considerado eficaz si logra los resultados esperados o cumple con los objetivos establecidos, independientemente de los recursos utilizados. </a:t>
            </a:r>
          </a:p>
          <a:p>
            <a:pPr algn="just">
              <a:spcAft>
                <a:spcPts val="600"/>
              </a:spcAft>
            </a:pPr>
            <a:endParaRPr lang="es-ES" sz="2000" dirty="0">
              <a:solidFill>
                <a:srgbClr val="131D3F"/>
              </a:solidFill>
              <a:latin typeface="Montserrat" panose="00000500000000000000" pitchFamily="2" charset="0"/>
            </a:endParaRPr>
          </a:p>
          <a:p>
            <a:pPr algn="just"/>
            <a:r>
              <a:rPr lang="es-ES" sz="2000" b="1" dirty="0">
                <a:solidFill>
                  <a:srgbClr val="131D3F"/>
                </a:solidFill>
                <a:latin typeface="Montserrat" panose="00000500000000000000" pitchFamily="2" charset="0"/>
              </a:rPr>
              <a:t>Evaluación del Impacto: </a:t>
            </a:r>
            <a:r>
              <a:rPr lang="es-ES" sz="2000" dirty="0">
                <a:solidFill>
                  <a:srgbClr val="131D3F"/>
                </a:solidFill>
                <a:latin typeface="Montserrat" panose="00000500000000000000" pitchFamily="2" charset="0"/>
              </a:rPr>
              <a:t>Para evaluar la eficacia, se analiza el impacto de las acciones realizadas en comparación con los objetivos propuestos. Esto puede implicar la revisión de métricas de desempeño, resultados finales y el impacto general de las actividades.</a:t>
            </a:r>
          </a:p>
        </p:txBody>
      </p:sp>
      <p:pic>
        <p:nvPicPr>
          <p:cNvPr id="2050" name="Picture 2" descr="Objetivos en empresas ¿Qué son los Objetivos Empresariales?">
            <a:extLst>
              <a:ext uri="{FF2B5EF4-FFF2-40B4-BE49-F238E27FC236}">
                <a16:creationId xmlns:a16="http://schemas.microsoft.com/office/drawing/2014/main" id="{5E390FFA-A000-4156-939B-02A127FA06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1038" y="2932494"/>
            <a:ext cx="3522785" cy="2329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377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40</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a:bodyPr>
          <a:lstStyle/>
          <a:p>
            <a:r>
              <a:rPr lang="es-ES" sz="3600" b="1" dirty="0">
                <a:solidFill>
                  <a:srgbClr val="131D3F"/>
                </a:solidFill>
                <a:latin typeface="Montserrat SemiBold" panose="00000700000000000000" pitchFamily="2" charset="0"/>
              </a:rPr>
              <a:t>1.13 Productividad</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6952130F-AF0F-4278-8219-7DC97D21EF0B}"/>
              </a:ext>
            </a:extLst>
          </p:cNvPr>
          <p:cNvSpPr txBox="1"/>
          <p:nvPr/>
        </p:nvSpPr>
        <p:spPr>
          <a:xfrm>
            <a:off x="763954" y="1459523"/>
            <a:ext cx="10664092" cy="1354016"/>
          </a:xfrm>
          <a:prstGeom prst="rect">
            <a:avLst/>
          </a:prstGeom>
          <a:noFill/>
          <a:ln>
            <a:noFill/>
          </a:ln>
        </p:spPr>
        <p:txBody>
          <a:bodyPr spcFirstLastPara="1" wrap="square" lIns="91425" tIns="45700" rIns="91425" bIns="45700" anchor="t" anchorCtr="0">
            <a:noAutofit/>
          </a:bodyPr>
          <a:lstStyle/>
          <a:p>
            <a:pPr algn="just"/>
            <a:r>
              <a:rPr lang="es-ES" sz="2000" dirty="0">
                <a:solidFill>
                  <a:srgbClr val="131D3F"/>
                </a:solidFill>
                <a:latin typeface="Montserrat" panose="00000500000000000000" pitchFamily="2" charset="0"/>
              </a:rPr>
              <a:t>La productividad es una </a:t>
            </a:r>
            <a:r>
              <a:rPr lang="es-ES" sz="2000" b="1" dirty="0">
                <a:solidFill>
                  <a:srgbClr val="131D3F"/>
                </a:solidFill>
                <a:latin typeface="Montserrat" panose="00000500000000000000" pitchFamily="2" charset="0"/>
              </a:rPr>
              <a:t>medida de cuán eficazmente se utilizan los recursos </a:t>
            </a:r>
            <a:r>
              <a:rPr lang="es-ES" sz="2000" dirty="0">
                <a:solidFill>
                  <a:srgbClr val="131D3F"/>
                </a:solidFill>
                <a:latin typeface="Montserrat" panose="00000500000000000000" pitchFamily="2" charset="0"/>
              </a:rPr>
              <a:t>(como el tiempo, el trabajo y el capital) </a:t>
            </a:r>
            <a:r>
              <a:rPr lang="es-ES" sz="2000" b="1" dirty="0">
                <a:solidFill>
                  <a:srgbClr val="131D3F"/>
                </a:solidFill>
                <a:latin typeface="Montserrat" panose="00000500000000000000" pitchFamily="2" charset="0"/>
              </a:rPr>
              <a:t>para generar resultados</a:t>
            </a:r>
            <a:r>
              <a:rPr lang="es-ES" sz="2000" dirty="0">
                <a:solidFill>
                  <a:srgbClr val="131D3F"/>
                </a:solidFill>
                <a:latin typeface="Montserrat" panose="00000500000000000000" pitchFamily="2" charset="0"/>
              </a:rPr>
              <a:t>. En otras palabras, ser productivo significa lograr más con menos esfuerzo o en menos tiempo, manteniendo o mejorando la calidad del trabajo.</a:t>
            </a:r>
          </a:p>
        </p:txBody>
      </p:sp>
      <p:graphicFrame>
        <p:nvGraphicFramePr>
          <p:cNvPr id="3" name="Diagrama 2">
            <a:extLst>
              <a:ext uri="{FF2B5EF4-FFF2-40B4-BE49-F238E27FC236}">
                <a16:creationId xmlns:a16="http://schemas.microsoft.com/office/drawing/2014/main" id="{E75718C8-8971-4FF6-AD5F-941E2B33F9D9}"/>
              </a:ext>
            </a:extLst>
          </p:cNvPr>
          <p:cNvGraphicFramePr>
            <a:graphicFrameLocks noChangeAspect="1"/>
          </p:cNvGraphicFramePr>
          <p:nvPr>
            <p:extLst>
              <p:ext uri="{D42A27DB-BD31-4B8C-83A1-F6EECF244321}">
                <p14:modId xmlns:p14="http://schemas.microsoft.com/office/powerpoint/2010/main" val="2079755023"/>
              </p:ext>
            </p:extLst>
          </p:nvPr>
        </p:nvGraphicFramePr>
        <p:xfrm>
          <a:off x="790917" y="2783992"/>
          <a:ext cx="10610166" cy="376347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4209750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 name="Gráfico 24">
            <a:extLst>
              <a:ext uri="{FF2B5EF4-FFF2-40B4-BE49-F238E27FC236}">
                <a16:creationId xmlns:a16="http://schemas.microsoft.com/office/drawing/2014/main" id="{D45BF182-9765-498B-54B0-F928887351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26" name="Google Shape;86;p2">
            <a:extLst>
              <a:ext uri="{FF2B5EF4-FFF2-40B4-BE49-F238E27FC236}">
                <a16:creationId xmlns:a16="http://schemas.microsoft.com/office/drawing/2014/main" id="{17F1C0FB-BF4F-180F-E27D-051DEB983846}"/>
              </a:ext>
            </a:extLst>
          </p:cNvPr>
          <p:cNvSpPr txBox="1">
            <a:spLocks/>
          </p:cNvSpPr>
          <p:nvPr/>
        </p:nvSpPr>
        <p:spPr>
          <a:xfrm>
            <a:off x="-1" y="0"/>
            <a:ext cx="537329"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41</a:t>
            </a:fld>
            <a:endParaRPr lang="es-MX" sz="2400" b="1" dirty="0">
              <a:solidFill>
                <a:srgbClr val="BA955B"/>
              </a:solidFill>
              <a:latin typeface="Montserrat SemiBold" panose="00000700000000000000" pitchFamily="2" charset="0"/>
            </a:endParaRPr>
          </a:p>
        </p:txBody>
      </p:sp>
      <p:sp>
        <p:nvSpPr>
          <p:cNvPr id="2" name="Google Shape;118;p4">
            <a:extLst>
              <a:ext uri="{FF2B5EF4-FFF2-40B4-BE49-F238E27FC236}">
                <a16:creationId xmlns:a16="http://schemas.microsoft.com/office/drawing/2014/main" id="{0E982364-79BA-6D46-495F-E7C7AD4EC16F}"/>
              </a:ext>
            </a:extLst>
          </p:cNvPr>
          <p:cNvSpPr txBox="1">
            <a:spLocks/>
          </p:cNvSpPr>
          <p:nvPr/>
        </p:nvSpPr>
        <p:spPr>
          <a:xfrm>
            <a:off x="764948" y="1387381"/>
            <a:ext cx="10662103" cy="4083238"/>
          </a:xfrm>
          <a:prstGeom prst="rect">
            <a:avLst/>
          </a:prstGeom>
          <a:noFill/>
          <a:ln>
            <a:noFill/>
          </a:ln>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400"/>
              <a:buFont typeface="Montserrat SemiBold"/>
              <a:buNone/>
            </a:pPr>
            <a:r>
              <a:rPr lang="es-ES" sz="4800" dirty="0">
                <a:solidFill>
                  <a:srgbClr val="131D3F"/>
                </a:solidFill>
                <a:latin typeface="Montserrat SemiBold" panose="00000700000000000000" pitchFamily="2" charset="0"/>
              </a:rPr>
              <a:t>2 El ciclo de la vida económica</a:t>
            </a:r>
          </a:p>
          <a:p>
            <a:pPr>
              <a:spcBef>
                <a:spcPts val="0"/>
              </a:spcBef>
              <a:buClr>
                <a:schemeClr val="accent2"/>
              </a:buClr>
              <a:buSzPts val="4400"/>
              <a:buFont typeface="Montserrat SemiBold"/>
              <a:buNone/>
            </a:pPr>
            <a:endParaRPr lang="es-ES" sz="4800" dirty="0">
              <a:solidFill>
                <a:srgbClr val="131D3F"/>
              </a:solidFill>
              <a:latin typeface="Montserrat SemiBold" panose="00000700000000000000" pitchFamily="2" charset="0"/>
            </a:endParaRPr>
          </a:p>
          <a:p>
            <a:pPr algn="just">
              <a:spcBef>
                <a:spcPts val="0"/>
              </a:spcBef>
              <a:buClr>
                <a:schemeClr val="accent2"/>
              </a:buClr>
              <a:buSzPts val="4400"/>
              <a:buFont typeface="Montserrat SemiBold"/>
              <a:buNone/>
            </a:pPr>
            <a:r>
              <a:rPr lang="es-ES" sz="3200" dirty="0">
                <a:solidFill>
                  <a:srgbClr val="131D3F"/>
                </a:solidFill>
                <a:latin typeface="Montserrat" panose="00000500000000000000" pitchFamily="2" charset="0"/>
              </a:rPr>
              <a:t>El alumno clasificará los conceptos de producto y proyecto y su ciclo de vida, para seleccionar la mejor decisión en los proyectos a través de los productos.</a:t>
            </a:r>
            <a:endParaRPr lang="es-MX" sz="3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0097617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42</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a:bodyPr>
          <a:lstStyle/>
          <a:p>
            <a:r>
              <a:rPr lang="es-ES" sz="3600" b="1" dirty="0">
                <a:solidFill>
                  <a:srgbClr val="131D3F"/>
                </a:solidFill>
                <a:latin typeface="Montserrat SemiBold" panose="00000700000000000000" pitchFamily="2" charset="0"/>
              </a:rPr>
              <a:t>2 Producto || Proyecto</a:t>
            </a:r>
            <a:endParaRPr lang="es-MX" sz="2200" b="1" dirty="0">
              <a:solidFill>
                <a:srgbClr val="131D3F"/>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D70EBFBA-8970-40C6-8219-A780DC3A86EF}"/>
              </a:ext>
            </a:extLst>
          </p:cNvPr>
          <p:cNvSpPr txBox="1"/>
          <p:nvPr/>
        </p:nvSpPr>
        <p:spPr>
          <a:xfrm>
            <a:off x="817880" y="1209074"/>
            <a:ext cx="4974679" cy="2871631"/>
          </a:xfrm>
          <a:prstGeom prst="rect">
            <a:avLst/>
          </a:prstGeom>
          <a:noFill/>
          <a:ln>
            <a:noFill/>
          </a:ln>
        </p:spPr>
        <p:txBody>
          <a:bodyPr spcFirstLastPara="1" wrap="square" lIns="91425" tIns="45700" rIns="91425" bIns="45700" anchor="t" anchorCtr="0">
            <a:noAutofit/>
          </a:bodyPr>
          <a:lstStyle/>
          <a:p>
            <a:pPr algn="just"/>
            <a:r>
              <a:rPr lang="es-ES" sz="2400" b="1" dirty="0">
                <a:solidFill>
                  <a:srgbClr val="131D3F"/>
                </a:solidFill>
                <a:latin typeface="Montserrat" panose="00000500000000000000" pitchFamily="2" charset="0"/>
              </a:rPr>
              <a:t>Proyecto:</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Conjunto de actividades interrelacionadas con </a:t>
            </a:r>
            <a:r>
              <a:rPr lang="es-ES" sz="2000" b="1" dirty="0">
                <a:solidFill>
                  <a:srgbClr val="131D3F"/>
                </a:solidFill>
                <a:latin typeface="Montserrat" panose="00000500000000000000" pitchFamily="2" charset="0"/>
              </a:rPr>
              <a:t>un objetivo específico y temporal</a:t>
            </a:r>
            <a:r>
              <a:rPr lang="es-ES" sz="2000" dirty="0">
                <a:solidFill>
                  <a:srgbClr val="131D3F"/>
                </a:solidFill>
                <a:latin typeface="Montserrat" panose="00000500000000000000" pitchFamily="2" charset="0"/>
              </a:rPr>
              <a:t>. Al finalizar el proyecto, se entrega un </a:t>
            </a:r>
            <a:r>
              <a:rPr lang="es-ES" sz="2000" b="1" dirty="0">
                <a:solidFill>
                  <a:srgbClr val="131D3F"/>
                </a:solidFill>
                <a:latin typeface="Montserrat" panose="00000500000000000000" pitchFamily="2" charset="0"/>
              </a:rPr>
              <a:t>producto o resultado</a:t>
            </a:r>
            <a:r>
              <a:rPr lang="es-ES" sz="2000" dirty="0">
                <a:solidFill>
                  <a:srgbClr val="131D3F"/>
                </a:solidFill>
                <a:latin typeface="Montserrat" panose="00000500000000000000" pitchFamily="2" charset="0"/>
              </a:rPr>
              <a:t>, y el proyecto en sí mismo se considera concluido.</a:t>
            </a:r>
          </a:p>
        </p:txBody>
      </p:sp>
      <p:sp>
        <p:nvSpPr>
          <p:cNvPr id="20" name="Google Shape;112;p3">
            <a:extLst>
              <a:ext uri="{FF2B5EF4-FFF2-40B4-BE49-F238E27FC236}">
                <a16:creationId xmlns:a16="http://schemas.microsoft.com/office/drawing/2014/main" id="{30951FAA-A213-4F45-A22D-3CB0234EC17B}"/>
              </a:ext>
            </a:extLst>
          </p:cNvPr>
          <p:cNvSpPr txBox="1"/>
          <p:nvPr/>
        </p:nvSpPr>
        <p:spPr>
          <a:xfrm>
            <a:off x="6399443" y="1209075"/>
            <a:ext cx="4974679" cy="2540780"/>
          </a:xfrm>
          <a:prstGeom prst="rect">
            <a:avLst/>
          </a:prstGeom>
          <a:noFill/>
          <a:ln>
            <a:noFill/>
          </a:ln>
        </p:spPr>
        <p:txBody>
          <a:bodyPr spcFirstLastPara="1" wrap="square" lIns="91425" tIns="45700" rIns="91425" bIns="45700" anchor="t" anchorCtr="0">
            <a:noAutofit/>
          </a:bodyPr>
          <a:lstStyle/>
          <a:p>
            <a:pPr algn="just"/>
            <a:r>
              <a:rPr lang="es-ES" sz="2400" b="1" dirty="0">
                <a:solidFill>
                  <a:srgbClr val="131D3F"/>
                </a:solidFill>
                <a:latin typeface="Montserrat" panose="00000500000000000000" pitchFamily="2" charset="0"/>
              </a:rPr>
              <a:t>Producto:</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Un bien o servicio que se ofrece al mercado para </a:t>
            </a:r>
            <a:r>
              <a:rPr lang="es-ES" sz="2000" b="1" dirty="0">
                <a:solidFill>
                  <a:srgbClr val="131D3F"/>
                </a:solidFill>
                <a:latin typeface="Montserrat" panose="00000500000000000000" pitchFamily="2" charset="0"/>
              </a:rPr>
              <a:t>satisfacer una necesidad</a:t>
            </a:r>
            <a:r>
              <a:rPr lang="es-ES" sz="2000" dirty="0">
                <a:solidFill>
                  <a:srgbClr val="131D3F"/>
                </a:solidFill>
                <a:latin typeface="Montserrat" panose="00000500000000000000" pitchFamily="2" charset="0"/>
              </a:rPr>
              <a:t> o deseo del consumidor. </a:t>
            </a:r>
            <a:r>
              <a:rPr lang="es-ES" sz="2000" b="1" dirty="0">
                <a:solidFill>
                  <a:srgbClr val="131D3F"/>
                </a:solidFill>
                <a:latin typeface="Montserrat" panose="00000500000000000000" pitchFamily="2" charset="0"/>
              </a:rPr>
              <a:t>Resultado final</a:t>
            </a:r>
            <a:r>
              <a:rPr lang="es-ES" sz="2000" dirty="0">
                <a:solidFill>
                  <a:srgbClr val="131D3F"/>
                </a:solidFill>
                <a:latin typeface="Montserrat" panose="00000500000000000000" pitchFamily="2" charset="0"/>
              </a:rPr>
              <a:t> y está destinado a ser vendido o consumido por los clientes. </a:t>
            </a:r>
          </a:p>
        </p:txBody>
      </p:sp>
      <p:pic>
        <p:nvPicPr>
          <p:cNvPr id="6152" name="Picture 8" descr="Los principales errores a evitar en proyectos de construcción">
            <a:extLst>
              <a:ext uri="{FF2B5EF4-FFF2-40B4-BE49-F238E27FC236}">
                <a16:creationId xmlns:a16="http://schemas.microsoft.com/office/drawing/2014/main" id="{E47BB811-959B-4DFC-8812-07969BE440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9157" y="3863214"/>
            <a:ext cx="3912124" cy="2553698"/>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Burj Khalifa, Dubái: Cosas que Debe Saber ANTES de Visitar">
            <a:extLst>
              <a:ext uri="{FF2B5EF4-FFF2-40B4-BE49-F238E27FC236}">
                <a16:creationId xmlns:a16="http://schemas.microsoft.com/office/drawing/2014/main" id="{1058BF40-1C16-4D18-B93E-C6E59C17B6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1197" y="3869673"/>
            <a:ext cx="3811170" cy="2540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7944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43</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a:bodyPr>
          <a:lstStyle/>
          <a:p>
            <a:r>
              <a:rPr lang="es-ES" sz="3600" b="1" dirty="0">
                <a:solidFill>
                  <a:srgbClr val="131D3F"/>
                </a:solidFill>
                <a:latin typeface="Montserrat SemiBold" panose="00000700000000000000" pitchFamily="2" charset="0"/>
              </a:rPr>
              <a:t>2.2 Proyecto</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6952130F-AF0F-4278-8219-7DC97D21EF0B}"/>
              </a:ext>
            </a:extLst>
          </p:cNvPr>
          <p:cNvSpPr txBox="1"/>
          <p:nvPr/>
        </p:nvSpPr>
        <p:spPr>
          <a:xfrm>
            <a:off x="475139" y="1606101"/>
            <a:ext cx="11241721" cy="4351937"/>
          </a:xfrm>
          <a:prstGeom prst="rect">
            <a:avLst/>
          </a:prstGeom>
          <a:noFill/>
          <a:ln>
            <a:noFill/>
          </a:ln>
        </p:spPr>
        <p:txBody>
          <a:bodyPr spcFirstLastPara="1" wrap="square" lIns="91425" tIns="45700" rIns="91425" bIns="45700" anchor="t" anchorCtr="0">
            <a:noAutofit/>
          </a:bodyPr>
          <a:lstStyle/>
          <a:p>
            <a:pPr algn="just"/>
            <a:r>
              <a:rPr lang="es-ES" sz="2000" dirty="0">
                <a:solidFill>
                  <a:srgbClr val="131D3F"/>
                </a:solidFill>
                <a:latin typeface="Montserrat" panose="00000500000000000000" pitchFamily="2" charset="0"/>
              </a:rPr>
              <a:t>Conjunto de </a:t>
            </a:r>
            <a:r>
              <a:rPr lang="es-ES" sz="2000" b="1" dirty="0">
                <a:solidFill>
                  <a:srgbClr val="131D3F"/>
                </a:solidFill>
                <a:latin typeface="Montserrat" panose="00000500000000000000" pitchFamily="2" charset="0"/>
              </a:rPr>
              <a:t>actividades y tareas interrelacionadas </a:t>
            </a:r>
            <a:r>
              <a:rPr lang="es-ES" sz="2000" dirty="0">
                <a:solidFill>
                  <a:srgbClr val="131D3F"/>
                </a:solidFill>
                <a:latin typeface="Montserrat" panose="00000500000000000000" pitchFamily="2" charset="0"/>
              </a:rPr>
              <a:t>que se llevan a cabo fin de </a:t>
            </a:r>
            <a:r>
              <a:rPr lang="es-ES" sz="2000" u="sng" dirty="0">
                <a:solidFill>
                  <a:srgbClr val="131D3F"/>
                </a:solidFill>
                <a:latin typeface="Montserrat" panose="00000500000000000000" pitchFamily="2" charset="0"/>
              </a:rPr>
              <a:t>alcanzar un objetivo específico</a:t>
            </a:r>
            <a:r>
              <a:rPr lang="es-ES" sz="2000" dirty="0">
                <a:solidFill>
                  <a:srgbClr val="131D3F"/>
                </a:solidFill>
                <a:latin typeface="Montserrat" panose="00000500000000000000" pitchFamily="2" charset="0"/>
              </a:rPr>
              <a:t> dentro de un </a:t>
            </a:r>
            <a:r>
              <a:rPr lang="es-ES" sz="2000" b="1" dirty="0">
                <a:solidFill>
                  <a:srgbClr val="131D3F"/>
                </a:solidFill>
                <a:latin typeface="Montserrat" panose="00000500000000000000" pitchFamily="2" charset="0"/>
              </a:rPr>
              <a:t>plazo</a:t>
            </a:r>
            <a:r>
              <a:rPr lang="es-ES" sz="2000" dirty="0">
                <a:solidFill>
                  <a:srgbClr val="131D3F"/>
                </a:solidFill>
                <a:latin typeface="Montserrat" panose="00000500000000000000" pitchFamily="2" charset="0"/>
              </a:rPr>
              <a:t> definido y con </a:t>
            </a:r>
            <a:r>
              <a:rPr lang="es-ES" sz="2000" b="1" dirty="0">
                <a:solidFill>
                  <a:srgbClr val="131D3F"/>
                </a:solidFill>
                <a:latin typeface="Montserrat" panose="00000500000000000000" pitchFamily="2" charset="0"/>
              </a:rPr>
              <a:t>recursos</a:t>
            </a:r>
            <a:r>
              <a:rPr lang="es-ES" sz="2000" dirty="0">
                <a:solidFill>
                  <a:srgbClr val="131D3F"/>
                </a:solidFill>
                <a:latin typeface="Montserrat" panose="00000500000000000000" pitchFamily="2" charset="0"/>
              </a:rPr>
              <a:t> limitados. </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Existen diferentes tipos de proyecto, tales como, </a:t>
            </a:r>
            <a:r>
              <a:rPr lang="es-ES" sz="2000" b="1" dirty="0">
                <a:solidFill>
                  <a:srgbClr val="131D3F"/>
                </a:solidFill>
                <a:latin typeface="Montserrat" panose="00000500000000000000" pitchFamily="2" charset="0"/>
              </a:rPr>
              <a:t>productivos o privados</a:t>
            </a:r>
            <a:r>
              <a:rPr lang="es-ES" sz="2000" dirty="0">
                <a:solidFill>
                  <a:srgbClr val="131D3F"/>
                </a:solidFill>
                <a:latin typeface="Montserrat" panose="00000500000000000000" pitchFamily="2" charset="0"/>
              </a:rPr>
              <a:t>, públicos o sociales, comunitarios, de vida, investigación, etc.</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Independientemente del tipo de proyecto, todos tienen una característica común, y es que  </a:t>
            </a:r>
            <a:r>
              <a:rPr lang="es-ES" sz="2000" b="1" dirty="0">
                <a:solidFill>
                  <a:srgbClr val="131D3F"/>
                </a:solidFill>
                <a:latin typeface="Montserrat" panose="00000500000000000000" pitchFamily="2" charset="0"/>
              </a:rPr>
              <a:t>buscan dar respuesta a una necesidad</a:t>
            </a:r>
            <a:r>
              <a:rPr lang="es-ES" sz="2000" dirty="0">
                <a:solidFill>
                  <a:srgbClr val="131D3F"/>
                </a:solidFill>
                <a:latin typeface="Montserrat" panose="00000500000000000000" pitchFamily="2" charset="0"/>
              </a:rPr>
              <a:t> (económica, social, personal,...). </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Por eso, es necesario analizar y reflexionar sobre las necesidades planteadas y las posibles soluciones que se pueden dar.</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Al final, todo proyecto debe buscar un cambio, proponer una </a:t>
            </a:r>
            <a:r>
              <a:rPr lang="es-ES" sz="2000" b="1" dirty="0">
                <a:solidFill>
                  <a:srgbClr val="131D3F"/>
                </a:solidFill>
                <a:latin typeface="Montserrat" panose="00000500000000000000" pitchFamily="2" charset="0"/>
              </a:rPr>
              <a:t>respuesta creativa</a:t>
            </a:r>
            <a:r>
              <a:rPr lang="es-ES" sz="2000" dirty="0">
                <a:solidFill>
                  <a:srgbClr val="131D3F"/>
                </a:solidFill>
                <a:latin typeface="Montserrat" panose="00000500000000000000" pitchFamily="2" charset="0"/>
              </a:rPr>
              <a:t> e </a:t>
            </a:r>
            <a:r>
              <a:rPr lang="es-ES" sz="2000" b="1" dirty="0">
                <a:solidFill>
                  <a:srgbClr val="131D3F"/>
                </a:solidFill>
                <a:latin typeface="Montserrat" panose="00000500000000000000" pitchFamily="2" charset="0"/>
              </a:rPr>
              <a:t>inteligente</a:t>
            </a:r>
            <a:r>
              <a:rPr lang="es-ES" sz="2000" dirty="0">
                <a:solidFill>
                  <a:srgbClr val="131D3F"/>
                </a:solidFill>
                <a:latin typeface="Montserrat" panose="00000500000000000000" pitchFamily="2" charset="0"/>
              </a:rPr>
              <a:t> a las necesidades planteadas.</a:t>
            </a:r>
          </a:p>
        </p:txBody>
      </p:sp>
    </p:spTree>
    <p:extLst>
      <p:ext uri="{BB962C8B-B14F-4D97-AF65-F5344CB8AC3E}">
        <p14:creationId xmlns:p14="http://schemas.microsoft.com/office/powerpoint/2010/main" val="2457098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44</a:t>
            </a:fld>
            <a:endParaRPr lang="es-MX" sz="2400" b="1" dirty="0">
              <a:solidFill>
                <a:srgbClr val="BA955B"/>
              </a:solidFill>
              <a:latin typeface="Montserrat SemiBold" panose="00000700000000000000" pitchFamily="2" charset="0"/>
            </a:endParaRPr>
          </a:p>
        </p:txBody>
      </p:sp>
      <p:sp>
        <p:nvSpPr>
          <p:cNvPr id="2" name="Rectángulo: esquinas diagonales cortadas 1">
            <a:extLst>
              <a:ext uri="{FF2B5EF4-FFF2-40B4-BE49-F238E27FC236}">
                <a16:creationId xmlns:a16="http://schemas.microsoft.com/office/drawing/2014/main" id="{B0AACC09-9533-472B-B6EA-27F722BF695E}"/>
              </a:ext>
            </a:extLst>
          </p:cNvPr>
          <p:cNvSpPr/>
          <p:nvPr/>
        </p:nvSpPr>
        <p:spPr>
          <a:xfrm>
            <a:off x="728897" y="1989462"/>
            <a:ext cx="2162908" cy="650631"/>
          </a:xfrm>
          <a:prstGeom prst="snip2DiagRect">
            <a:avLst/>
          </a:prstGeom>
          <a:solidFill>
            <a:srgbClr val="CAD2C5"/>
          </a:solidFill>
          <a:ln>
            <a:solidFill>
              <a:srgbClr val="CAD2C5"/>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solidFill>
                  <a:srgbClr val="131D3F"/>
                </a:solidFill>
                <a:latin typeface="Montserrat" panose="00000500000000000000" pitchFamily="2" charset="0"/>
              </a:rPr>
              <a:t>Objetivo definido</a:t>
            </a:r>
            <a:endParaRPr lang="es-MX" dirty="0">
              <a:solidFill>
                <a:srgbClr val="131D3F"/>
              </a:solidFill>
              <a:latin typeface="Montserrat" panose="00000500000000000000" pitchFamily="2" charset="0"/>
            </a:endParaRPr>
          </a:p>
        </p:txBody>
      </p:sp>
      <p:sp>
        <p:nvSpPr>
          <p:cNvPr id="10" name="Rectángulo: esquinas diagonales cortadas 9">
            <a:extLst>
              <a:ext uri="{FF2B5EF4-FFF2-40B4-BE49-F238E27FC236}">
                <a16:creationId xmlns:a16="http://schemas.microsoft.com/office/drawing/2014/main" id="{4F1F3B29-A90E-4D29-A493-20B4ED1A0ED4}"/>
              </a:ext>
            </a:extLst>
          </p:cNvPr>
          <p:cNvSpPr/>
          <p:nvPr/>
        </p:nvSpPr>
        <p:spPr>
          <a:xfrm>
            <a:off x="3585996" y="1992886"/>
            <a:ext cx="2162908" cy="650631"/>
          </a:xfrm>
          <a:prstGeom prst="snip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Temporalidad</a:t>
            </a:r>
            <a:endParaRPr lang="es-MX" dirty="0">
              <a:latin typeface="Montserrat" panose="00000500000000000000" pitchFamily="2" charset="0"/>
            </a:endParaRPr>
          </a:p>
        </p:txBody>
      </p:sp>
      <p:sp>
        <p:nvSpPr>
          <p:cNvPr id="11" name="Rectángulo: esquinas diagonales cortadas 10">
            <a:extLst>
              <a:ext uri="{FF2B5EF4-FFF2-40B4-BE49-F238E27FC236}">
                <a16:creationId xmlns:a16="http://schemas.microsoft.com/office/drawing/2014/main" id="{F59BB405-CF3E-4237-B921-3A22D92B603E}"/>
              </a:ext>
            </a:extLst>
          </p:cNvPr>
          <p:cNvSpPr/>
          <p:nvPr/>
        </p:nvSpPr>
        <p:spPr>
          <a:xfrm>
            <a:off x="6443095" y="1989462"/>
            <a:ext cx="2162908" cy="650631"/>
          </a:xfrm>
          <a:prstGeom prst="snip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Recursos Limitados</a:t>
            </a:r>
            <a:endParaRPr lang="es-MX" dirty="0">
              <a:latin typeface="Montserrat" panose="00000500000000000000" pitchFamily="2" charset="0"/>
            </a:endParaRPr>
          </a:p>
        </p:txBody>
      </p:sp>
      <p:sp>
        <p:nvSpPr>
          <p:cNvPr id="12" name="Rectángulo: esquinas diagonales cortadas 11">
            <a:extLst>
              <a:ext uri="{FF2B5EF4-FFF2-40B4-BE49-F238E27FC236}">
                <a16:creationId xmlns:a16="http://schemas.microsoft.com/office/drawing/2014/main" id="{D7DFCF1B-3870-4E30-B471-A54938850495}"/>
              </a:ext>
            </a:extLst>
          </p:cNvPr>
          <p:cNvSpPr/>
          <p:nvPr/>
        </p:nvSpPr>
        <p:spPr>
          <a:xfrm>
            <a:off x="9300194" y="1989461"/>
            <a:ext cx="2162908" cy="650631"/>
          </a:xfrm>
          <a:prstGeom prst="snip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Espacio</a:t>
            </a:r>
            <a:endParaRPr lang="es-MX" dirty="0">
              <a:latin typeface="Montserrat" panose="00000500000000000000" pitchFamily="2" charset="0"/>
            </a:endParaRPr>
          </a:p>
        </p:txBody>
      </p:sp>
      <p:sp>
        <p:nvSpPr>
          <p:cNvPr id="13" name="Rectángulo: esquinas diagonales cortadas 12">
            <a:extLst>
              <a:ext uri="{FF2B5EF4-FFF2-40B4-BE49-F238E27FC236}">
                <a16:creationId xmlns:a16="http://schemas.microsoft.com/office/drawing/2014/main" id="{A330DC90-7827-444C-8BB4-C878A0099F4E}"/>
              </a:ext>
            </a:extLst>
          </p:cNvPr>
          <p:cNvSpPr/>
          <p:nvPr/>
        </p:nvSpPr>
        <p:spPr>
          <a:xfrm>
            <a:off x="728897" y="4175166"/>
            <a:ext cx="2162908" cy="650631"/>
          </a:xfrm>
          <a:prstGeom prst="snip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Planeación y Ejecución</a:t>
            </a:r>
            <a:endParaRPr lang="es-MX" dirty="0">
              <a:latin typeface="Montserrat" panose="00000500000000000000" pitchFamily="2" charset="0"/>
            </a:endParaRPr>
          </a:p>
        </p:txBody>
      </p:sp>
      <p:sp>
        <p:nvSpPr>
          <p:cNvPr id="14" name="Rectángulo: esquinas diagonales cortadas 13">
            <a:extLst>
              <a:ext uri="{FF2B5EF4-FFF2-40B4-BE49-F238E27FC236}">
                <a16:creationId xmlns:a16="http://schemas.microsoft.com/office/drawing/2014/main" id="{26282DDE-6715-42FA-94E4-F2E0C84BA190}"/>
              </a:ext>
            </a:extLst>
          </p:cNvPr>
          <p:cNvSpPr/>
          <p:nvPr/>
        </p:nvSpPr>
        <p:spPr>
          <a:xfrm>
            <a:off x="9300194" y="4175164"/>
            <a:ext cx="2162908" cy="650631"/>
          </a:xfrm>
          <a:prstGeom prst="snip2DiagRect">
            <a:avLst/>
          </a:prstGeom>
          <a:solidFill>
            <a:srgbClr val="2F3E46"/>
          </a:solidFill>
          <a:ln>
            <a:solidFill>
              <a:srgbClr val="2F3E46"/>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Criterios de Éxito</a:t>
            </a:r>
            <a:endParaRPr lang="es-MX" dirty="0">
              <a:latin typeface="Montserrat" panose="00000500000000000000" pitchFamily="2" charset="0"/>
            </a:endParaRPr>
          </a:p>
        </p:txBody>
      </p:sp>
      <p:sp>
        <p:nvSpPr>
          <p:cNvPr id="15" name="Rectángulo: esquinas diagonales cortadas 14">
            <a:extLst>
              <a:ext uri="{FF2B5EF4-FFF2-40B4-BE49-F238E27FC236}">
                <a16:creationId xmlns:a16="http://schemas.microsoft.com/office/drawing/2014/main" id="{AF6A23E2-035C-49C8-AF90-4AB109C5C5D4}"/>
              </a:ext>
            </a:extLst>
          </p:cNvPr>
          <p:cNvSpPr/>
          <p:nvPr/>
        </p:nvSpPr>
        <p:spPr>
          <a:xfrm>
            <a:off x="6443095" y="4175166"/>
            <a:ext cx="2162908" cy="650631"/>
          </a:xfrm>
          <a:prstGeom prst="snip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Gestión de inversionistas</a:t>
            </a:r>
            <a:endParaRPr lang="es-MX" dirty="0">
              <a:latin typeface="Montserrat" panose="00000500000000000000" pitchFamily="2" charset="0"/>
            </a:endParaRPr>
          </a:p>
        </p:txBody>
      </p:sp>
      <p:sp>
        <p:nvSpPr>
          <p:cNvPr id="16" name="Rectángulo: esquinas diagonales cortadas 15">
            <a:extLst>
              <a:ext uri="{FF2B5EF4-FFF2-40B4-BE49-F238E27FC236}">
                <a16:creationId xmlns:a16="http://schemas.microsoft.com/office/drawing/2014/main" id="{C6DBBFE3-6E73-443C-B659-9474CAA0309C}"/>
              </a:ext>
            </a:extLst>
          </p:cNvPr>
          <p:cNvSpPr/>
          <p:nvPr/>
        </p:nvSpPr>
        <p:spPr>
          <a:xfrm>
            <a:off x="3585996" y="4175165"/>
            <a:ext cx="2162908" cy="650631"/>
          </a:xfrm>
          <a:prstGeom prst="snip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Restricciones</a:t>
            </a:r>
            <a:endParaRPr lang="es-MX" dirty="0">
              <a:latin typeface="Montserrat" panose="00000500000000000000" pitchFamily="2" charset="0"/>
            </a:endParaRPr>
          </a:p>
        </p:txBody>
      </p:sp>
      <p:sp>
        <p:nvSpPr>
          <p:cNvPr id="19" name="Título 3">
            <a:extLst>
              <a:ext uri="{FF2B5EF4-FFF2-40B4-BE49-F238E27FC236}">
                <a16:creationId xmlns:a16="http://schemas.microsoft.com/office/drawing/2014/main" id="{C5E60E6E-F472-431F-B42F-D735E9D8FCE0}"/>
              </a:ext>
            </a:extLst>
          </p:cNvPr>
          <p:cNvSpPr txBox="1">
            <a:spLocks/>
          </p:cNvSpPr>
          <p:nvPr/>
        </p:nvSpPr>
        <p:spPr>
          <a:xfrm>
            <a:off x="817880" y="310529"/>
            <a:ext cx="9617592" cy="118833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2.2 Proyecto	</a:t>
            </a:r>
          </a:p>
          <a:p>
            <a:r>
              <a:rPr lang="es-ES" sz="3600" b="1" dirty="0">
                <a:solidFill>
                  <a:srgbClr val="131D3F"/>
                </a:solidFill>
                <a:latin typeface="Montserrat SemiBold" panose="00000700000000000000" pitchFamily="2" charset="0"/>
              </a:rPr>
              <a:t>	</a:t>
            </a:r>
            <a:r>
              <a:rPr lang="es-ES" sz="2000" b="1" dirty="0">
                <a:solidFill>
                  <a:srgbClr val="131D3F"/>
                </a:solidFill>
                <a:latin typeface="Montserrat SemiBold" panose="00000700000000000000" pitchFamily="2" charset="0"/>
              </a:rPr>
              <a:t>2.2.1 Elementos clave del proyecto</a:t>
            </a:r>
            <a:endParaRPr lang="es-MX" sz="2000" b="1" dirty="0">
              <a:solidFill>
                <a:srgbClr val="131D3F"/>
              </a:solidFill>
              <a:latin typeface="Montserrat SemiBold" panose="00000700000000000000" pitchFamily="2" charset="0"/>
            </a:endParaRPr>
          </a:p>
        </p:txBody>
      </p:sp>
      <p:sp>
        <p:nvSpPr>
          <p:cNvPr id="5" name="CuadroTexto 4">
            <a:extLst>
              <a:ext uri="{FF2B5EF4-FFF2-40B4-BE49-F238E27FC236}">
                <a16:creationId xmlns:a16="http://schemas.microsoft.com/office/drawing/2014/main" id="{D02405D8-F2A3-4624-82C7-7C7427A9C63B}"/>
              </a:ext>
            </a:extLst>
          </p:cNvPr>
          <p:cNvSpPr txBox="1"/>
          <p:nvPr/>
        </p:nvSpPr>
        <p:spPr>
          <a:xfrm>
            <a:off x="959905" y="2750459"/>
            <a:ext cx="2162908"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Problema que se quiere solucionar y/o las metas que se busca lograr.</a:t>
            </a:r>
          </a:p>
        </p:txBody>
      </p:sp>
      <p:sp>
        <p:nvSpPr>
          <p:cNvPr id="20" name="CuadroTexto 19">
            <a:extLst>
              <a:ext uri="{FF2B5EF4-FFF2-40B4-BE49-F238E27FC236}">
                <a16:creationId xmlns:a16="http://schemas.microsoft.com/office/drawing/2014/main" id="{A93BDE6D-08A6-4595-9BC8-97CAF183FECD}"/>
              </a:ext>
            </a:extLst>
          </p:cNvPr>
          <p:cNvSpPr txBox="1"/>
          <p:nvPr/>
        </p:nvSpPr>
        <p:spPr>
          <a:xfrm>
            <a:off x="3817005" y="2749095"/>
            <a:ext cx="2162908"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Inicio y fin de desarrollo.</a:t>
            </a:r>
          </a:p>
          <a:p>
            <a:pPr algn="just"/>
            <a:r>
              <a:rPr lang="es-ES" sz="1600" i="1" dirty="0">
                <a:latin typeface="Adobe Caslon Pro Bold" panose="0205070206050A020403" pitchFamily="18" charset="0"/>
              </a:rPr>
              <a:t>Periodo de operación, financiamiento, concesión.</a:t>
            </a:r>
          </a:p>
        </p:txBody>
      </p:sp>
      <p:sp>
        <p:nvSpPr>
          <p:cNvPr id="21" name="CuadroTexto 20">
            <a:extLst>
              <a:ext uri="{FF2B5EF4-FFF2-40B4-BE49-F238E27FC236}">
                <a16:creationId xmlns:a16="http://schemas.microsoft.com/office/drawing/2014/main" id="{446FF068-5AD4-4F17-A01B-99CE2932D19A}"/>
              </a:ext>
            </a:extLst>
          </p:cNvPr>
          <p:cNvSpPr txBox="1"/>
          <p:nvPr/>
        </p:nvSpPr>
        <p:spPr>
          <a:xfrm>
            <a:off x="6674104" y="2749095"/>
            <a:ext cx="2258140"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Monto optimo de inversión.</a:t>
            </a:r>
          </a:p>
          <a:p>
            <a:pPr algn="just"/>
            <a:r>
              <a:rPr lang="es-ES" sz="1600" i="1" dirty="0">
                <a:latin typeface="Adobe Caslon Pro Bold" panose="0205070206050A020403" pitchFamily="18" charset="0"/>
              </a:rPr>
              <a:t>Origen de los recursos.</a:t>
            </a:r>
          </a:p>
          <a:p>
            <a:pPr algn="just"/>
            <a:r>
              <a:rPr lang="es-ES" sz="1600" i="1" dirty="0">
                <a:latin typeface="Adobe Caslon Pro Bold" panose="0205070206050A020403" pitchFamily="18" charset="0"/>
              </a:rPr>
              <a:t>Financiamiento.</a:t>
            </a:r>
          </a:p>
        </p:txBody>
      </p:sp>
      <p:sp>
        <p:nvSpPr>
          <p:cNvPr id="22" name="CuadroTexto 21">
            <a:extLst>
              <a:ext uri="{FF2B5EF4-FFF2-40B4-BE49-F238E27FC236}">
                <a16:creationId xmlns:a16="http://schemas.microsoft.com/office/drawing/2014/main" id="{F62698F2-C06F-4521-A81C-F43F9D6D5DF6}"/>
              </a:ext>
            </a:extLst>
          </p:cNvPr>
          <p:cNvSpPr txBox="1"/>
          <p:nvPr/>
        </p:nvSpPr>
        <p:spPr>
          <a:xfrm>
            <a:off x="9531202" y="2749095"/>
            <a:ext cx="2162908"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Analizar el entorno.</a:t>
            </a:r>
          </a:p>
          <a:p>
            <a:pPr algn="just"/>
            <a:r>
              <a:rPr lang="es-ES" sz="1600" i="1" dirty="0">
                <a:latin typeface="Adobe Caslon Pro Bold" panose="0205070206050A020403" pitchFamily="18" charset="0"/>
              </a:rPr>
              <a:t>Limitantes / ventajas.</a:t>
            </a:r>
          </a:p>
          <a:p>
            <a:pPr algn="just"/>
            <a:r>
              <a:rPr lang="es-ES" sz="1600" i="1" dirty="0">
                <a:latin typeface="Adobe Caslon Pro Bold" panose="0205070206050A020403" pitchFamily="18" charset="0"/>
              </a:rPr>
              <a:t>Mercado local o externos.</a:t>
            </a:r>
          </a:p>
        </p:txBody>
      </p:sp>
      <p:sp>
        <p:nvSpPr>
          <p:cNvPr id="23" name="CuadroTexto 22">
            <a:extLst>
              <a:ext uri="{FF2B5EF4-FFF2-40B4-BE49-F238E27FC236}">
                <a16:creationId xmlns:a16="http://schemas.microsoft.com/office/drawing/2014/main" id="{1D5408DB-9E2C-453B-B354-44F77881BEEC}"/>
              </a:ext>
            </a:extLst>
          </p:cNvPr>
          <p:cNvSpPr txBox="1"/>
          <p:nvPr/>
        </p:nvSpPr>
        <p:spPr>
          <a:xfrm>
            <a:off x="959905" y="4932960"/>
            <a:ext cx="2162908"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Si tuviera ocho horas para cortar un árbol, emplearía siete en afilar el hacha.</a:t>
            </a:r>
          </a:p>
        </p:txBody>
      </p:sp>
      <p:sp>
        <p:nvSpPr>
          <p:cNvPr id="24" name="CuadroTexto 23">
            <a:extLst>
              <a:ext uri="{FF2B5EF4-FFF2-40B4-BE49-F238E27FC236}">
                <a16:creationId xmlns:a16="http://schemas.microsoft.com/office/drawing/2014/main" id="{0B86FD37-82B6-4F9E-8225-4AA0A2A3D321}"/>
              </a:ext>
            </a:extLst>
          </p:cNvPr>
          <p:cNvSpPr txBox="1"/>
          <p:nvPr/>
        </p:nvSpPr>
        <p:spPr>
          <a:xfrm>
            <a:off x="3817005" y="4931596"/>
            <a:ext cx="2162908"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Limitantes generales del proyecto. Económicas, temporales, sociales…</a:t>
            </a:r>
          </a:p>
        </p:txBody>
      </p:sp>
      <p:sp>
        <p:nvSpPr>
          <p:cNvPr id="25" name="CuadroTexto 24">
            <a:extLst>
              <a:ext uri="{FF2B5EF4-FFF2-40B4-BE49-F238E27FC236}">
                <a16:creationId xmlns:a16="http://schemas.microsoft.com/office/drawing/2014/main" id="{09B1B510-DE46-4868-AE2A-CF6E72D4646F}"/>
              </a:ext>
            </a:extLst>
          </p:cNvPr>
          <p:cNvSpPr txBox="1"/>
          <p:nvPr/>
        </p:nvSpPr>
        <p:spPr>
          <a:xfrm>
            <a:off x="6674104" y="4931596"/>
            <a:ext cx="2258140"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Alinear la visión de todos los inversionistas al mismo objetivo.</a:t>
            </a:r>
          </a:p>
        </p:txBody>
      </p:sp>
      <p:sp>
        <p:nvSpPr>
          <p:cNvPr id="26" name="CuadroTexto 25">
            <a:extLst>
              <a:ext uri="{FF2B5EF4-FFF2-40B4-BE49-F238E27FC236}">
                <a16:creationId xmlns:a16="http://schemas.microsoft.com/office/drawing/2014/main" id="{882DAAF4-5F9E-4C9B-9E21-10A1981ADB09}"/>
              </a:ext>
            </a:extLst>
          </p:cNvPr>
          <p:cNvSpPr txBox="1"/>
          <p:nvPr/>
        </p:nvSpPr>
        <p:spPr>
          <a:xfrm>
            <a:off x="9531202" y="4931596"/>
            <a:ext cx="2162908"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¿Cómo mides el éxito del proyecto? Eficacia, eficiencia y productividad.</a:t>
            </a:r>
          </a:p>
        </p:txBody>
      </p:sp>
    </p:spTree>
    <p:extLst>
      <p:ext uri="{BB962C8B-B14F-4D97-AF65-F5344CB8AC3E}">
        <p14:creationId xmlns:p14="http://schemas.microsoft.com/office/powerpoint/2010/main" val="2774052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45</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a:bodyPr>
          <a:lstStyle/>
          <a:p>
            <a:r>
              <a:rPr lang="es-ES" sz="3600" b="1" dirty="0">
                <a:solidFill>
                  <a:srgbClr val="131D3F"/>
                </a:solidFill>
                <a:latin typeface="Montserrat SemiBold" panose="00000700000000000000" pitchFamily="2" charset="0"/>
              </a:rPr>
              <a:t>2.6 Ciclo de vida del proyecto</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6952130F-AF0F-4278-8219-7DC97D21EF0B}"/>
              </a:ext>
            </a:extLst>
          </p:cNvPr>
          <p:cNvSpPr txBox="1"/>
          <p:nvPr/>
        </p:nvSpPr>
        <p:spPr>
          <a:xfrm>
            <a:off x="763954" y="1257301"/>
            <a:ext cx="10664092" cy="1042840"/>
          </a:xfrm>
          <a:prstGeom prst="rect">
            <a:avLst/>
          </a:prstGeom>
          <a:noFill/>
          <a:ln>
            <a:noFill/>
          </a:ln>
        </p:spPr>
        <p:txBody>
          <a:bodyPr spcFirstLastPara="1" wrap="square" lIns="91425" tIns="45700" rIns="91425" bIns="45700" anchor="t" anchorCtr="0">
            <a:noAutofit/>
          </a:bodyPr>
          <a:lstStyle/>
          <a:p>
            <a:pPr algn="just"/>
            <a:r>
              <a:rPr lang="es-ES" sz="2000" dirty="0">
                <a:solidFill>
                  <a:srgbClr val="131D3F"/>
                </a:solidFill>
                <a:latin typeface="Montserrat" panose="00000500000000000000" pitchFamily="2" charset="0"/>
              </a:rPr>
              <a:t>Ayuda a </a:t>
            </a:r>
            <a:r>
              <a:rPr lang="es-ES" sz="2000" b="1" dirty="0">
                <a:solidFill>
                  <a:srgbClr val="131D3F"/>
                </a:solidFill>
                <a:latin typeface="Montserrat" panose="00000500000000000000" pitchFamily="2" charset="0"/>
              </a:rPr>
              <a:t>planificar, ejecutar y gestionar</a:t>
            </a:r>
            <a:r>
              <a:rPr lang="es-ES" sz="2000" dirty="0">
                <a:solidFill>
                  <a:srgbClr val="131D3F"/>
                </a:solidFill>
                <a:latin typeface="Montserrat" panose="00000500000000000000" pitchFamily="2" charset="0"/>
              </a:rPr>
              <a:t> el proyecto de manera efectiva, </a:t>
            </a:r>
            <a:r>
              <a:rPr lang="es-ES" sz="2000" u="sng" dirty="0">
                <a:solidFill>
                  <a:srgbClr val="131D3F"/>
                </a:solidFill>
                <a:latin typeface="Montserrat" panose="00000500000000000000" pitchFamily="2" charset="0"/>
              </a:rPr>
              <a:t>asegurando que se cumplan los objetivos</a:t>
            </a:r>
            <a:r>
              <a:rPr lang="es-ES" sz="2000" dirty="0">
                <a:solidFill>
                  <a:srgbClr val="131D3F"/>
                </a:solidFill>
                <a:latin typeface="Montserrat" panose="00000500000000000000" pitchFamily="2" charset="0"/>
              </a:rPr>
              <a:t> y se entreguen los resultados esperados.</a:t>
            </a:r>
          </a:p>
        </p:txBody>
      </p:sp>
      <p:graphicFrame>
        <p:nvGraphicFramePr>
          <p:cNvPr id="2" name="Diagrama 1">
            <a:extLst>
              <a:ext uri="{FF2B5EF4-FFF2-40B4-BE49-F238E27FC236}">
                <a16:creationId xmlns:a16="http://schemas.microsoft.com/office/drawing/2014/main" id="{BAF6CB35-AAC8-4106-A78C-AD8C17A468AE}"/>
              </a:ext>
            </a:extLst>
          </p:cNvPr>
          <p:cNvGraphicFramePr/>
          <p:nvPr>
            <p:extLst>
              <p:ext uri="{D42A27DB-BD31-4B8C-83A1-F6EECF244321}">
                <p14:modId xmlns:p14="http://schemas.microsoft.com/office/powerpoint/2010/main" val="1700149703"/>
              </p:ext>
            </p:extLst>
          </p:nvPr>
        </p:nvGraphicFramePr>
        <p:xfrm>
          <a:off x="258230" y="1903589"/>
          <a:ext cx="11675540" cy="19245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CuadroTexto 2">
            <a:extLst>
              <a:ext uri="{FF2B5EF4-FFF2-40B4-BE49-F238E27FC236}">
                <a16:creationId xmlns:a16="http://schemas.microsoft.com/office/drawing/2014/main" id="{E873F87F-5746-4A48-8A0F-8BFD45A97D6E}"/>
              </a:ext>
            </a:extLst>
          </p:cNvPr>
          <p:cNvSpPr txBox="1"/>
          <p:nvPr/>
        </p:nvSpPr>
        <p:spPr>
          <a:xfrm>
            <a:off x="3058160" y="2650420"/>
            <a:ext cx="1960880" cy="400110"/>
          </a:xfrm>
          <a:prstGeom prst="rect">
            <a:avLst/>
          </a:prstGeom>
          <a:noFill/>
        </p:spPr>
        <p:txBody>
          <a:bodyPr wrap="square" rtlCol="0">
            <a:spAutoFit/>
          </a:bodyPr>
          <a:lstStyle/>
          <a:p>
            <a:r>
              <a:rPr lang="es-ES" sz="2000" b="1" dirty="0">
                <a:solidFill>
                  <a:schemeClr val="bg1"/>
                </a:solidFill>
                <a:latin typeface="Montserrat" panose="00000500000000000000" pitchFamily="2" charset="0"/>
              </a:rPr>
              <a:t>Planificación</a:t>
            </a:r>
            <a:endParaRPr lang="es-MX" sz="2000" b="1" dirty="0">
              <a:solidFill>
                <a:schemeClr val="bg1"/>
              </a:solidFill>
              <a:latin typeface="Montserrat" panose="00000500000000000000" pitchFamily="2" charset="0"/>
            </a:endParaRPr>
          </a:p>
        </p:txBody>
      </p:sp>
      <p:sp>
        <p:nvSpPr>
          <p:cNvPr id="11" name="CuadroTexto 10">
            <a:extLst>
              <a:ext uri="{FF2B5EF4-FFF2-40B4-BE49-F238E27FC236}">
                <a16:creationId xmlns:a16="http://schemas.microsoft.com/office/drawing/2014/main" id="{82D2F8B0-C5D4-4395-B171-F64C7DC31F12}"/>
              </a:ext>
            </a:extLst>
          </p:cNvPr>
          <p:cNvSpPr txBox="1"/>
          <p:nvPr/>
        </p:nvSpPr>
        <p:spPr>
          <a:xfrm>
            <a:off x="7711440" y="2486370"/>
            <a:ext cx="1960880" cy="769441"/>
          </a:xfrm>
          <a:prstGeom prst="rect">
            <a:avLst/>
          </a:prstGeom>
          <a:noFill/>
        </p:spPr>
        <p:txBody>
          <a:bodyPr wrap="square" rtlCol="0">
            <a:spAutoFit/>
          </a:bodyPr>
          <a:lstStyle/>
          <a:p>
            <a:r>
              <a:rPr lang="es-ES" sz="2200" b="1" dirty="0">
                <a:solidFill>
                  <a:schemeClr val="bg1"/>
                </a:solidFill>
                <a:latin typeface="Montserrat" panose="00000500000000000000" pitchFamily="2" charset="0"/>
              </a:rPr>
              <a:t>Monitoreo </a:t>
            </a:r>
          </a:p>
          <a:p>
            <a:r>
              <a:rPr lang="es-ES" sz="2200" b="1" dirty="0">
                <a:solidFill>
                  <a:schemeClr val="bg1"/>
                </a:solidFill>
                <a:latin typeface="Montserrat" panose="00000500000000000000" pitchFamily="2" charset="0"/>
              </a:rPr>
              <a:t>y control</a:t>
            </a:r>
            <a:endParaRPr lang="es-MX" sz="2200" b="1" dirty="0">
              <a:solidFill>
                <a:schemeClr val="bg1"/>
              </a:solidFill>
              <a:latin typeface="Montserrat" panose="00000500000000000000" pitchFamily="2" charset="0"/>
            </a:endParaRPr>
          </a:p>
        </p:txBody>
      </p:sp>
      <p:sp>
        <p:nvSpPr>
          <p:cNvPr id="12" name="CuadroTexto 11">
            <a:extLst>
              <a:ext uri="{FF2B5EF4-FFF2-40B4-BE49-F238E27FC236}">
                <a16:creationId xmlns:a16="http://schemas.microsoft.com/office/drawing/2014/main" id="{93E083E6-0309-44CA-A3E3-18C509287EE7}"/>
              </a:ext>
            </a:extLst>
          </p:cNvPr>
          <p:cNvSpPr txBox="1"/>
          <p:nvPr/>
        </p:nvSpPr>
        <p:spPr>
          <a:xfrm>
            <a:off x="878840" y="2635031"/>
            <a:ext cx="1960880" cy="430887"/>
          </a:xfrm>
          <a:prstGeom prst="rect">
            <a:avLst/>
          </a:prstGeom>
          <a:noFill/>
        </p:spPr>
        <p:txBody>
          <a:bodyPr wrap="square" rtlCol="0">
            <a:spAutoFit/>
          </a:bodyPr>
          <a:lstStyle/>
          <a:p>
            <a:r>
              <a:rPr lang="es-ES" sz="2200" b="1" dirty="0">
                <a:solidFill>
                  <a:srgbClr val="131D3F"/>
                </a:solidFill>
                <a:latin typeface="Montserrat" panose="00000500000000000000" pitchFamily="2" charset="0"/>
              </a:rPr>
              <a:t>Iniciación</a:t>
            </a:r>
            <a:endParaRPr lang="es-MX" sz="2200" b="1" dirty="0">
              <a:solidFill>
                <a:srgbClr val="131D3F"/>
              </a:solidFill>
              <a:latin typeface="Montserrat" panose="00000500000000000000" pitchFamily="2" charset="0"/>
            </a:endParaRPr>
          </a:p>
        </p:txBody>
      </p:sp>
      <p:sp>
        <p:nvSpPr>
          <p:cNvPr id="13" name="CuadroTexto 12">
            <a:extLst>
              <a:ext uri="{FF2B5EF4-FFF2-40B4-BE49-F238E27FC236}">
                <a16:creationId xmlns:a16="http://schemas.microsoft.com/office/drawing/2014/main" id="{2DFBE6FF-FC92-45E9-9BD5-9807603F5E2D}"/>
              </a:ext>
            </a:extLst>
          </p:cNvPr>
          <p:cNvSpPr txBox="1"/>
          <p:nvPr/>
        </p:nvSpPr>
        <p:spPr>
          <a:xfrm>
            <a:off x="5449990" y="2635030"/>
            <a:ext cx="1960880" cy="430887"/>
          </a:xfrm>
          <a:prstGeom prst="rect">
            <a:avLst/>
          </a:prstGeom>
          <a:noFill/>
        </p:spPr>
        <p:txBody>
          <a:bodyPr wrap="square" rtlCol="0">
            <a:spAutoFit/>
          </a:bodyPr>
          <a:lstStyle/>
          <a:p>
            <a:r>
              <a:rPr lang="es-ES" sz="2200" b="1" dirty="0">
                <a:solidFill>
                  <a:schemeClr val="bg1"/>
                </a:solidFill>
                <a:latin typeface="Montserrat" panose="00000500000000000000" pitchFamily="2" charset="0"/>
              </a:rPr>
              <a:t>Ejecución</a:t>
            </a:r>
            <a:endParaRPr lang="es-MX" sz="2200" b="1" dirty="0">
              <a:solidFill>
                <a:schemeClr val="bg1"/>
              </a:solidFill>
              <a:latin typeface="Montserrat" panose="00000500000000000000" pitchFamily="2" charset="0"/>
            </a:endParaRPr>
          </a:p>
        </p:txBody>
      </p:sp>
      <p:sp>
        <p:nvSpPr>
          <p:cNvPr id="14" name="CuadroTexto 13">
            <a:extLst>
              <a:ext uri="{FF2B5EF4-FFF2-40B4-BE49-F238E27FC236}">
                <a16:creationId xmlns:a16="http://schemas.microsoft.com/office/drawing/2014/main" id="{11459F2E-64C6-4492-83CD-FD72293B446E}"/>
              </a:ext>
            </a:extLst>
          </p:cNvPr>
          <p:cNvSpPr txBox="1"/>
          <p:nvPr/>
        </p:nvSpPr>
        <p:spPr>
          <a:xfrm>
            <a:off x="429038" y="3697551"/>
            <a:ext cx="1857082" cy="1323439"/>
          </a:xfrm>
          <a:prstGeom prst="rect">
            <a:avLst/>
          </a:prstGeom>
          <a:noFill/>
        </p:spPr>
        <p:txBody>
          <a:bodyPr wrap="square" lIns="0" rIns="0" rtlCol="0">
            <a:spAutoFit/>
          </a:bodyPr>
          <a:lstStyle/>
          <a:p>
            <a:pPr algn="just"/>
            <a:r>
              <a:rPr lang="es-ES" sz="1600" i="1" dirty="0">
                <a:latin typeface="Adobe Caslon Pro Bold" panose="0205070206050A020403" pitchFamily="18" charset="0"/>
              </a:rPr>
              <a:t>Definición del proyecto y autorización.</a:t>
            </a:r>
          </a:p>
          <a:p>
            <a:pPr algn="just"/>
            <a:r>
              <a:rPr lang="es-ES" sz="1600" i="1" dirty="0">
                <a:latin typeface="Adobe Caslon Pro Bold" panose="0205070206050A020403" pitchFamily="18" charset="0"/>
              </a:rPr>
              <a:t>Se establecen objetivos y se determina la viabilidad del proyecto.</a:t>
            </a:r>
          </a:p>
        </p:txBody>
      </p:sp>
      <p:sp>
        <p:nvSpPr>
          <p:cNvPr id="16" name="CuadroTexto 15">
            <a:extLst>
              <a:ext uri="{FF2B5EF4-FFF2-40B4-BE49-F238E27FC236}">
                <a16:creationId xmlns:a16="http://schemas.microsoft.com/office/drawing/2014/main" id="{C2264F17-7661-4411-8D1C-FE954D32F109}"/>
              </a:ext>
            </a:extLst>
          </p:cNvPr>
          <p:cNvSpPr txBox="1"/>
          <p:nvPr/>
        </p:nvSpPr>
        <p:spPr>
          <a:xfrm>
            <a:off x="2678462" y="3697550"/>
            <a:ext cx="1857082" cy="1569660"/>
          </a:xfrm>
          <a:prstGeom prst="rect">
            <a:avLst/>
          </a:prstGeom>
          <a:noFill/>
        </p:spPr>
        <p:txBody>
          <a:bodyPr wrap="square" lIns="0" rIns="0" rtlCol="0">
            <a:spAutoFit/>
          </a:bodyPr>
          <a:lstStyle/>
          <a:p>
            <a:pPr algn="just"/>
            <a:r>
              <a:rPr lang="es-ES" sz="1600" i="1" dirty="0">
                <a:latin typeface="Adobe Caslon Pro Bold" panose="0205070206050A020403" pitchFamily="18" charset="0"/>
              </a:rPr>
              <a:t>Plan detallado que </a:t>
            </a:r>
            <a:r>
              <a:rPr lang="es-ES" sz="1600" b="1" i="1" u="sng" dirty="0">
                <a:latin typeface="Adobe Caslon Pro Bold" panose="0205070206050A020403" pitchFamily="18" charset="0"/>
              </a:rPr>
              <a:t>guiará la ejecución del proyecto</a:t>
            </a:r>
            <a:r>
              <a:rPr lang="es-ES" sz="1600" b="1" i="1" dirty="0">
                <a:latin typeface="Adobe Caslon Pro Bold" panose="0205070206050A020403" pitchFamily="18" charset="0"/>
              </a:rPr>
              <a:t>.</a:t>
            </a:r>
            <a:r>
              <a:rPr lang="es-ES" sz="1600" i="1" dirty="0">
                <a:latin typeface="Adobe Caslon Pro Bold" panose="0205070206050A020403" pitchFamily="18" charset="0"/>
              </a:rPr>
              <a:t> Se establecen los </a:t>
            </a:r>
            <a:r>
              <a:rPr lang="es-ES" sz="1600" i="1" u="sng" dirty="0">
                <a:latin typeface="Adobe Caslon Pro Bold" panose="0205070206050A020403" pitchFamily="18" charset="0"/>
              </a:rPr>
              <a:t>recursos</a:t>
            </a:r>
            <a:r>
              <a:rPr lang="es-ES" sz="1600" i="1" dirty="0">
                <a:latin typeface="Adobe Caslon Pro Bold" panose="0205070206050A020403" pitchFamily="18" charset="0"/>
              </a:rPr>
              <a:t>, el </a:t>
            </a:r>
            <a:r>
              <a:rPr lang="es-ES" sz="1600" i="1" u="sng" dirty="0">
                <a:latin typeface="Adobe Caslon Pro Bold" panose="0205070206050A020403" pitchFamily="18" charset="0"/>
              </a:rPr>
              <a:t>cronograma</a:t>
            </a:r>
            <a:r>
              <a:rPr lang="es-ES" sz="1600" i="1" dirty="0">
                <a:latin typeface="Adobe Caslon Pro Bold" panose="0205070206050A020403" pitchFamily="18" charset="0"/>
              </a:rPr>
              <a:t> y los </a:t>
            </a:r>
            <a:r>
              <a:rPr lang="es-ES" sz="1600" i="1" u="sng" dirty="0">
                <a:latin typeface="Adobe Caslon Pro Bold" panose="0205070206050A020403" pitchFamily="18" charset="0"/>
              </a:rPr>
              <a:t>criterios de éxito</a:t>
            </a:r>
            <a:r>
              <a:rPr lang="es-ES" sz="1600" i="1" dirty="0">
                <a:latin typeface="Adobe Caslon Pro Bold" panose="0205070206050A020403" pitchFamily="18" charset="0"/>
              </a:rPr>
              <a:t>.</a:t>
            </a:r>
          </a:p>
        </p:txBody>
      </p:sp>
      <p:sp>
        <p:nvSpPr>
          <p:cNvPr id="18" name="CuadroTexto 17">
            <a:extLst>
              <a:ext uri="{FF2B5EF4-FFF2-40B4-BE49-F238E27FC236}">
                <a16:creationId xmlns:a16="http://schemas.microsoft.com/office/drawing/2014/main" id="{0B9C0515-B278-4A8A-89F0-3E44039513AB}"/>
              </a:ext>
            </a:extLst>
          </p:cNvPr>
          <p:cNvSpPr txBox="1"/>
          <p:nvPr/>
        </p:nvSpPr>
        <p:spPr>
          <a:xfrm>
            <a:off x="4927886" y="3697550"/>
            <a:ext cx="1857082"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Se coordina el equipo de trabajo y se gestionan los recursos.</a:t>
            </a:r>
          </a:p>
        </p:txBody>
      </p:sp>
      <p:sp>
        <p:nvSpPr>
          <p:cNvPr id="19" name="CuadroTexto 18">
            <a:extLst>
              <a:ext uri="{FF2B5EF4-FFF2-40B4-BE49-F238E27FC236}">
                <a16:creationId xmlns:a16="http://schemas.microsoft.com/office/drawing/2014/main" id="{A441D3A2-09FF-4757-8DFA-FF150373A219}"/>
              </a:ext>
            </a:extLst>
          </p:cNvPr>
          <p:cNvSpPr txBox="1"/>
          <p:nvPr/>
        </p:nvSpPr>
        <p:spPr>
          <a:xfrm>
            <a:off x="7177310" y="3697550"/>
            <a:ext cx="1857082" cy="1323439"/>
          </a:xfrm>
          <a:prstGeom prst="rect">
            <a:avLst/>
          </a:prstGeom>
          <a:noFill/>
        </p:spPr>
        <p:txBody>
          <a:bodyPr wrap="square" lIns="0" rIns="0" rtlCol="0">
            <a:spAutoFit/>
          </a:bodyPr>
          <a:lstStyle/>
          <a:p>
            <a:pPr algn="just"/>
            <a:r>
              <a:rPr lang="es-ES" sz="1600" i="1" dirty="0">
                <a:latin typeface="Adobe Caslon Pro Bold" panose="0205070206050A020403" pitchFamily="18" charset="0"/>
              </a:rPr>
              <a:t>Se enfoca en el seguimiento del progreso del proyecto y en la realización de ajustes.</a:t>
            </a:r>
          </a:p>
        </p:txBody>
      </p:sp>
      <p:sp>
        <p:nvSpPr>
          <p:cNvPr id="27" name="Flecha: a la izquierda y derecha 26">
            <a:extLst>
              <a:ext uri="{FF2B5EF4-FFF2-40B4-BE49-F238E27FC236}">
                <a16:creationId xmlns:a16="http://schemas.microsoft.com/office/drawing/2014/main" id="{B42D8D7F-9A77-47F3-AEE5-5FB38EF81B44}"/>
              </a:ext>
            </a:extLst>
          </p:cNvPr>
          <p:cNvSpPr/>
          <p:nvPr/>
        </p:nvSpPr>
        <p:spPr>
          <a:xfrm>
            <a:off x="5857952" y="4961312"/>
            <a:ext cx="2247899" cy="428510"/>
          </a:xfrm>
          <a:prstGeom prst="leftRightArrow">
            <a:avLst/>
          </a:prstGeom>
          <a:solidFill>
            <a:srgbClr val="131D3F"/>
          </a:solidFill>
          <a:ln>
            <a:solidFill>
              <a:srgbClr val="131D3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8" name="CuadroTexto 27">
            <a:extLst>
              <a:ext uri="{FF2B5EF4-FFF2-40B4-BE49-F238E27FC236}">
                <a16:creationId xmlns:a16="http://schemas.microsoft.com/office/drawing/2014/main" id="{CC3E5AFD-E44C-4F2E-B913-16465E7197AB}"/>
              </a:ext>
            </a:extLst>
          </p:cNvPr>
          <p:cNvSpPr txBox="1"/>
          <p:nvPr/>
        </p:nvSpPr>
        <p:spPr>
          <a:xfrm>
            <a:off x="9506931" y="3697550"/>
            <a:ext cx="1857082" cy="830997"/>
          </a:xfrm>
          <a:prstGeom prst="rect">
            <a:avLst/>
          </a:prstGeom>
          <a:noFill/>
        </p:spPr>
        <p:txBody>
          <a:bodyPr wrap="square" lIns="0" rIns="0" rtlCol="0">
            <a:spAutoFit/>
          </a:bodyPr>
          <a:lstStyle/>
          <a:p>
            <a:pPr algn="just"/>
            <a:r>
              <a:rPr lang="es-ES" sz="1600" i="1" dirty="0">
                <a:latin typeface="Adobe Caslon Pro Bold" panose="0205070206050A020403" pitchFamily="18" charset="0"/>
              </a:rPr>
              <a:t>Entrega de resultados y revisión el desempeño del proyecto</a:t>
            </a:r>
          </a:p>
        </p:txBody>
      </p:sp>
      <p:sp>
        <p:nvSpPr>
          <p:cNvPr id="30" name="CuadroTexto 29">
            <a:extLst>
              <a:ext uri="{FF2B5EF4-FFF2-40B4-BE49-F238E27FC236}">
                <a16:creationId xmlns:a16="http://schemas.microsoft.com/office/drawing/2014/main" id="{2A29C6E9-8C20-4E13-9EC8-0A7FF0889A2D}"/>
              </a:ext>
            </a:extLst>
          </p:cNvPr>
          <p:cNvSpPr txBox="1"/>
          <p:nvPr/>
        </p:nvSpPr>
        <p:spPr>
          <a:xfrm>
            <a:off x="3006090" y="5822587"/>
            <a:ext cx="6179820" cy="369332"/>
          </a:xfrm>
          <a:prstGeom prst="rect">
            <a:avLst/>
          </a:prstGeom>
          <a:noFill/>
        </p:spPr>
        <p:txBody>
          <a:bodyPr wrap="square">
            <a:spAutoFit/>
          </a:bodyPr>
          <a:lstStyle/>
          <a:p>
            <a:pPr algn="ctr"/>
            <a:r>
              <a:rPr lang="es-ES" b="1" dirty="0">
                <a:latin typeface="Montserrat" panose="00000500000000000000" pitchFamily="2" charset="0"/>
              </a:rPr>
              <a:t>Gestión de Calidad y Riesgos</a:t>
            </a:r>
            <a:endParaRPr lang="es-MX" b="1" dirty="0">
              <a:latin typeface="Montserrat" panose="00000500000000000000" pitchFamily="2" charset="0"/>
            </a:endParaRPr>
          </a:p>
        </p:txBody>
      </p:sp>
    </p:spTree>
    <p:extLst>
      <p:ext uri="{BB962C8B-B14F-4D97-AF65-F5344CB8AC3E}">
        <p14:creationId xmlns:p14="http://schemas.microsoft.com/office/powerpoint/2010/main" val="3657015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46</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a:bodyPr>
          <a:lstStyle/>
          <a:p>
            <a:r>
              <a:rPr lang="es-ES" sz="3600" b="1" dirty="0">
                <a:solidFill>
                  <a:srgbClr val="131D3F"/>
                </a:solidFill>
                <a:latin typeface="Montserrat SemiBold" panose="00000700000000000000" pitchFamily="2" charset="0"/>
              </a:rPr>
              <a:t>2.1 Producto</a:t>
            </a:r>
            <a:endParaRPr lang="es-MX" sz="2200" b="1" dirty="0">
              <a:solidFill>
                <a:srgbClr val="131D3F"/>
              </a:solidFill>
              <a:latin typeface="Montserrat SemiBold" panose="00000700000000000000" pitchFamily="2" charset="0"/>
            </a:endParaRPr>
          </a:p>
        </p:txBody>
      </p:sp>
      <p:sp>
        <p:nvSpPr>
          <p:cNvPr id="17" name="Google Shape;112;p3">
            <a:extLst>
              <a:ext uri="{FF2B5EF4-FFF2-40B4-BE49-F238E27FC236}">
                <a16:creationId xmlns:a16="http://schemas.microsoft.com/office/drawing/2014/main" id="{6952130F-AF0F-4278-8219-7DC97D21EF0B}"/>
              </a:ext>
            </a:extLst>
          </p:cNvPr>
          <p:cNvSpPr txBox="1"/>
          <p:nvPr/>
        </p:nvSpPr>
        <p:spPr>
          <a:xfrm>
            <a:off x="763954" y="1127455"/>
            <a:ext cx="10664092" cy="1969477"/>
          </a:xfrm>
          <a:prstGeom prst="rect">
            <a:avLst/>
          </a:prstGeom>
          <a:noFill/>
          <a:ln>
            <a:noFill/>
          </a:ln>
        </p:spPr>
        <p:txBody>
          <a:bodyPr spcFirstLastPara="1" wrap="square" lIns="91425" tIns="45700" rIns="91425" bIns="45700" anchor="t" anchorCtr="0">
            <a:noAutofit/>
          </a:bodyPr>
          <a:lstStyle/>
          <a:p>
            <a:pPr algn="just"/>
            <a:r>
              <a:rPr lang="es-ES" sz="2400" dirty="0">
                <a:solidFill>
                  <a:srgbClr val="131D3F"/>
                </a:solidFill>
                <a:latin typeface="Montserrat" panose="00000500000000000000" pitchFamily="2" charset="0"/>
              </a:rPr>
              <a:t>Un producto es cualquier </a:t>
            </a:r>
            <a:r>
              <a:rPr lang="es-ES" sz="2400" b="1" dirty="0">
                <a:solidFill>
                  <a:srgbClr val="131D3F"/>
                </a:solidFill>
                <a:latin typeface="Montserrat" panose="00000500000000000000" pitchFamily="2" charset="0"/>
              </a:rPr>
              <a:t>bien</a:t>
            </a:r>
            <a:r>
              <a:rPr lang="es-ES" sz="2400" dirty="0">
                <a:solidFill>
                  <a:srgbClr val="131D3F"/>
                </a:solidFill>
                <a:latin typeface="Montserrat" panose="00000500000000000000" pitchFamily="2" charset="0"/>
              </a:rPr>
              <a:t> o </a:t>
            </a:r>
            <a:r>
              <a:rPr lang="es-ES" sz="2400" b="1" dirty="0">
                <a:solidFill>
                  <a:srgbClr val="131D3F"/>
                </a:solidFill>
                <a:latin typeface="Montserrat" panose="00000500000000000000" pitchFamily="2" charset="0"/>
              </a:rPr>
              <a:t>servicio</a:t>
            </a:r>
            <a:r>
              <a:rPr lang="es-ES" sz="2400" dirty="0">
                <a:solidFill>
                  <a:srgbClr val="131D3F"/>
                </a:solidFill>
                <a:latin typeface="Montserrat" panose="00000500000000000000" pitchFamily="2" charset="0"/>
              </a:rPr>
              <a:t> que </a:t>
            </a:r>
            <a:r>
              <a:rPr lang="es-ES" sz="2400" u="sng" dirty="0">
                <a:solidFill>
                  <a:srgbClr val="131D3F"/>
                </a:solidFill>
                <a:latin typeface="Montserrat" panose="00000500000000000000" pitchFamily="2" charset="0"/>
              </a:rPr>
              <a:t>se ofrece al mercado para </a:t>
            </a:r>
            <a:r>
              <a:rPr lang="es-ES" sz="2400" b="1" u="sng" dirty="0">
                <a:solidFill>
                  <a:srgbClr val="131D3F"/>
                </a:solidFill>
                <a:latin typeface="Montserrat" panose="00000500000000000000" pitchFamily="2" charset="0"/>
              </a:rPr>
              <a:t>satisfacer una necesidad</a:t>
            </a:r>
            <a:r>
              <a:rPr lang="es-ES" sz="2400" u="sng" dirty="0">
                <a:solidFill>
                  <a:srgbClr val="131D3F"/>
                </a:solidFill>
                <a:latin typeface="Montserrat" panose="00000500000000000000" pitchFamily="2" charset="0"/>
              </a:rPr>
              <a:t> o deseo del consumidor</a:t>
            </a:r>
            <a:r>
              <a:rPr lang="es-ES" sz="2400" dirty="0">
                <a:solidFill>
                  <a:srgbClr val="131D3F"/>
                </a:solidFill>
                <a:latin typeface="Montserrat" panose="00000500000000000000" pitchFamily="2" charset="0"/>
              </a:rPr>
              <a:t>. Los productos pueden ser </a:t>
            </a:r>
            <a:r>
              <a:rPr lang="es-ES" sz="2400" b="1" dirty="0">
                <a:solidFill>
                  <a:srgbClr val="131D3F"/>
                </a:solidFill>
                <a:latin typeface="Montserrat" panose="00000500000000000000" pitchFamily="2" charset="0"/>
              </a:rPr>
              <a:t>tangibles</a:t>
            </a:r>
            <a:r>
              <a:rPr lang="es-ES" sz="2400" dirty="0">
                <a:solidFill>
                  <a:srgbClr val="131D3F"/>
                </a:solidFill>
                <a:latin typeface="Montserrat" panose="00000500000000000000" pitchFamily="2" charset="0"/>
              </a:rPr>
              <a:t> (como un coche, un libro o una computadora) o </a:t>
            </a:r>
            <a:r>
              <a:rPr lang="es-ES" sz="2400" b="1" dirty="0">
                <a:solidFill>
                  <a:srgbClr val="131D3F"/>
                </a:solidFill>
                <a:latin typeface="Montserrat" panose="00000500000000000000" pitchFamily="2" charset="0"/>
              </a:rPr>
              <a:t>intangibles</a:t>
            </a:r>
            <a:r>
              <a:rPr lang="es-ES" sz="2400" dirty="0">
                <a:solidFill>
                  <a:srgbClr val="131D3F"/>
                </a:solidFill>
                <a:latin typeface="Montserrat" panose="00000500000000000000" pitchFamily="2" charset="0"/>
              </a:rPr>
              <a:t> (como un servicio de consultoría, una suscripción a un software o una clase de yoga).</a:t>
            </a:r>
          </a:p>
        </p:txBody>
      </p:sp>
      <p:sp>
        <p:nvSpPr>
          <p:cNvPr id="2" name="AutoShape 2" descr="Lanzamientos de Apple para este 2024 - TuAppleMundo">
            <a:extLst>
              <a:ext uri="{FF2B5EF4-FFF2-40B4-BE49-F238E27FC236}">
                <a16:creationId xmlns:a16="http://schemas.microsoft.com/office/drawing/2014/main" id="{6F2A541F-480E-4469-93C4-7C57750B9A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1028" name="Picture 4" descr="Descubriendo las tendencias de merchandising 2024: Impulsa Tu Estrategia de  Marca">
            <a:extLst>
              <a:ext uri="{FF2B5EF4-FFF2-40B4-BE49-F238E27FC236}">
                <a16:creationId xmlns:a16="http://schemas.microsoft.com/office/drawing/2014/main" id="{5DF13CB6-8336-4E31-B64D-54D5714CC5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7108" y="3144067"/>
            <a:ext cx="3649204" cy="27716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a importancia del coordinador de vuelo - Me gusta volar">
            <a:extLst>
              <a:ext uri="{FF2B5EF4-FFF2-40B4-BE49-F238E27FC236}">
                <a16:creationId xmlns:a16="http://schemas.microsoft.com/office/drawing/2014/main" id="{CCC859D9-3D84-4B14-9A22-21E41CCDA8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3144067"/>
            <a:ext cx="3537103" cy="2771683"/>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40C6D9DB-899E-4BB0-A218-91E655F821C3}"/>
              </a:ext>
            </a:extLst>
          </p:cNvPr>
          <p:cNvSpPr txBox="1"/>
          <p:nvPr/>
        </p:nvSpPr>
        <p:spPr>
          <a:xfrm>
            <a:off x="758427" y="6042726"/>
            <a:ext cx="10855396" cy="400110"/>
          </a:xfrm>
          <a:prstGeom prst="rect">
            <a:avLst/>
          </a:prstGeom>
          <a:noFill/>
        </p:spPr>
        <p:txBody>
          <a:bodyPr wrap="square">
            <a:spAutoFit/>
          </a:bodyPr>
          <a:lstStyle/>
          <a:p>
            <a:pPr algn="ctr"/>
            <a:r>
              <a:rPr lang="es-ES" sz="2000" b="1" dirty="0">
                <a:latin typeface="Montserrat" panose="00000500000000000000" pitchFamily="2" charset="0"/>
              </a:rPr>
              <a:t>Un producto se define como una oferta que tiene valor para el consumidor.</a:t>
            </a:r>
            <a:endParaRPr lang="es-MX" sz="2000" b="1" dirty="0">
              <a:latin typeface="Montserrat" panose="00000500000000000000" pitchFamily="2" charset="0"/>
            </a:endParaRPr>
          </a:p>
        </p:txBody>
      </p:sp>
    </p:spTree>
    <p:extLst>
      <p:ext uri="{BB962C8B-B14F-4D97-AF65-F5344CB8AC3E}">
        <p14:creationId xmlns:p14="http://schemas.microsoft.com/office/powerpoint/2010/main" val="9549734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47</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946770"/>
          </a:xfrm>
        </p:spPr>
        <p:txBody>
          <a:bodyPr>
            <a:normAutofit/>
          </a:bodyPr>
          <a:lstStyle/>
          <a:p>
            <a:r>
              <a:rPr lang="es-ES" sz="3600" b="1" dirty="0">
                <a:solidFill>
                  <a:srgbClr val="131D3F"/>
                </a:solidFill>
                <a:latin typeface="Montserrat SemiBold" panose="00000700000000000000" pitchFamily="2" charset="0"/>
              </a:rPr>
              <a:t>2.1 Producto</a:t>
            </a:r>
            <a:endParaRPr lang="es-MX" sz="2200" b="1" dirty="0">
              <a:solidFill>
                <a:srgbClr val="131D3F"/>
              </a:solidFill>
              <a:latin typeface="Montserrat SemiBold" panose="00000700000000000000" pitchFamily="2" charset="0"/>
            </a:endParaRPr>
          </a:p>
        </p:txBody>
      </p:sp>
      <p:sp>
        <p:nvSpPr>
          <p:cNvPr id="2" name="AutoShape 2" descr="Lanzamientos de Apple para este 2024 - TuAppleMundo">
            <a:extLst>
              <a:ext uri="{FF2B5EF4-FFF2-40B4-BE49-F238E27FC236}">
                <a16:creationId xmlns:a16="http://schemas.microsoft.com/office/drawing/2014/main" id="{6F2A541F-480E-4469-93C4-7C57750B9A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2050" name="Picture 2" descr="Lentes multifocales - ¿Qué son? Precios y Beneficios – Vision Center">
            <a:extLst>
              <a:ext uri="{FF2B5EF4-FFF2-40B4-BE49-F238E27FC236}">
                <a16:creationId xmlns:a16="http://schemas.microsoft.com/office/drawing/2014/main" id="{3CBE14C9-F002-41DB-A070-8419F26E62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2904" y="1550828"/>
            <a:ext cx="10110992" cy="3451543"/>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CD769273-BFD6-4F48-9FE8-0425799DAC5E}"/>
              </a:ext>
            </a:extLst>
          </p:cNvPr>
          <p:cNvSpPr txBox="1"/>
          <p:nvPr/>
        </p:nvSpPr>
        <p:spPr>
          <a:xfrm>
            <a:off x="1422389" y="5188831"/>
            <a:ext cx="2173623" cy="461665"/>
          </a:xfrm>
          <a:prstGeom prst="rect">
            <a:avLst/>
          </a:prstGeom>
          <a:noFill/>
        </p:spPr>
        <p:txBody>
          <a:bodyPr wrap="square">
            <a:spAutoFit/>
          </a:bodyPr>
          <a:lstStyle/>
          <a:p>
            <a:pPr algn="ctr"/>
            <a:r>
              <a:rPr lang="es-ES" sz="2400" b="1" dirty="0">
                <a:solidFill>
                  <a:srgbClr val="131D3F"/>
                </a:solidFill>
                <a:effectLst>
                  <a:outerShdw blurRad="38100" dist="38100" dir="2700000" algn="tl">
                    <a:srgbClr val="000000">
                      <a:alpha val="43137"/>
                    </a:srgbClr>
                  </a:outerShdw>
                </a:effectLst>
                <a:latin typeface="Montserrat" panose="00000500000000000000" pitchFamily="2" charset="0"/>
              </a:rPr>
              <a:t>Marketing</a:t>
            </a:r>
            <a:endParaRPr lang="es-MX" sz="2400" b="1"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
        <p:nvSpPr>
          <p:cNvPr id="13" name="CuadroTexto 12">
            <a:extLst>
              <a:ext uri="{FF2B5EF4-FFF2-40B4-BE49-F238E27FC236}">
                <a16:creationId xmlns:a16="http://schemas.microsoft.com/office/drawing/2014/main" id="{F121633B-ECED-49F1-99B2-F36210EE5C3C}"/>
              </a:ext>
            </a:extLst>
          </p:cNvPr>
          <p:cNvSpPr txBox="1"/>
          <p:nvPr/>
        </p:nvSpPr>
        <p:spPr>
          <a:xfrm>
            <a:off x="3163636" y="5775216"/>
            <a:ext cx="2173623" cy="461665"/>
          </a:xfrm>
          <a:prstGeom prst="rect">
            <a:avLst/>
          </a:prstGeom>
          <a:noFill/>
        </p:spPr>
        <p:txBody>
          <a:bodyPr wrap="square">
            <a:spAutoFit/>
          </a:bodyPr>
          <a:lstStyle/>
          <a:p>
            <a:pPr algn="ctr"/>
            <a:r>
              <a:rPr lang="es-ES" sz="2400" b="1" dirty="0">
                <a:solidFill>
                  <a:srgbClr val="131D3F"/>
                </a:solidFill>
                <a:effectLst>
                  <a:outerShdw blurRad="38100" dist="38100" dir="2700000" algn="tl">
                    <a:srgbClr val="000000">
                      <a:alpha val="43137"/>
                    </a:srgbClr>
                  </a:outerShdw>
                </a:effectLst>
                <a:latin typeface="Montserrat" panose="00000500000000000000" pitchFamily="2" charset="0"/>
              </a:rPr>
              <a:t>Producción</a:t>
            </a:r>
            <a:endParaRPr lang="es-MX" sz="2400" b="1"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
        <p:nvSpPr>
          <p:cNvPr id="14" name="CuadroTexto 13">
            <a:extLst>
              <a:ext uri="{FF2B5EF4-FFF2-40B4-BE49-F238E27FC236}">
                <a16:creationId xmlns:a16="http://schemas.microsoft.com/office/drawing/2014/main" id="{70AD4C74-24EA-407C-8F01-0C572860A2C7}"/>
              </a:ext>
            </a:extLst>
          </p:cNvPr>
          <p:cNvSpPr txBox="1"/>
          <p:nvPr/>
        </p:nvSpPr>
        <p:spPr>
          <a:xfrm>
            <a:off x="8583106" y="5197079"/>
            <a:ext cx="2173623" cy="461665"/>
          </a:xfrm>
          <a:prstGeom prst="rect">
            <a:avLst/>
          </a:prstGeom>
          <a:noFill/>
        </p:spPr>
        <p:txBody>
          <a:bodyPr wrap="square">
            <a:spAutoFit/>
          </a:bodyPr>
          <a:lstStyle/>
          <a:p>
            <a:pPr algn="ctr"/>
            <a:r>
              <a:rPr lang="es-ES" sz="2400" b="1" dirty="0">
                <a:solidFill>
                  <a:srgbClr val="131D3F"/>
                </a:solidFill>
                <a:effectLst>
                  <a:outerShdw blurRad="38100" dist="38100" dir="2700000" algn="tl">
                    <a:srgbClr val="000000">
                      <a:alpha val="43137"/>
                    </a:srgbClr>
                  </a:outerShdw>
                </a:effectLst>
                <a:latin typeface="Montserrat" panose="00000500000000000000" pitchFamily="2" charset="0"/>
              </a:rPr>
              <a:t>Consumidor</a:t>
            </a:r>
            <a:endParaRPr lang="es-MX" sz="2400" b="1"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
        <p:nvSpPr>
          <p:cNvPr id="15" name="CuadroTexto 14">
            <a:extLst>
              <a:ext uri="{FF2B5EF4-FFF2-40B4-BE49-F238E27FC236}">
                <a16:creationId xmlns:a16="http://schemas.microsoft.com/office/drawing/2014/main" id="{A8B90414-25D9-45F8-9966-D050A84034B9}"/>
              </a:ext>
            </a:extLst>
          </p:cNvPr>
          <p:cNvSpPr txBox="1"/>
          <p:nvPr/>
        </p:nvSpPr>
        <p:spPr>
          <a:xfrm>
            <a:off x="7146661" y="5775216"/>
            <a:ext cx="2173623" cy="461665"/>
          </a:xfrm>
          <a:prstGeom prst="rect">
            <a:avLst/>
          </a:prstGeom>
          <a:noFill/>
        </p:spPr>
        <p:txBody>
          <a:bodyPr wrap="square">
            <a:spAutoFit/>
          </a:bodyPr>
          <a:lstStyle/>
          <a:p>
            <a:pPr algn="ctr"/>
            <a:r>
              <a:rPr lang="es-ES" sz="2400" b="1" dirty="0">
                <a:solidFill>
                  <a:srgbClr val="131D3F"/>
                </a:solidFill>
                <a:effectLst>
                  <a:outerShdw blurRad="38100" dist="38100" dir="2700000" algn="tl">
                    <a:srgbClr val="000000">
                      <a:alpha val="43137"/>
                    </a:srgbClr>
                  </a:outerShdw>
                </a:effectLst>
                <a:latin typeface="Montserrat" panose="00000500000000000000" pitchFamily="2" charset="0"/>
              </a:rPr>
              <a:t>Económico</a:t>
            </a:r>
            <a:endParaRPr lang="es-MX" sz="2400" b="1"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
        <p:nvSpPr>
          <p:cNvPr id="16" name="CuadroTexto 15">
            <a:extLst>
              <a:ext uri="{FF2B5EF4-FFF2-40B4-BE49-F238E27FC236}">
                <a16:creationId xmlns:a16="http://schemas.microsoft.com/office/drawing/2014/main" id="{38CB89F3-B72A-49B5-BE78-539876184D1B}"/>
              </a:ext>
            </a:extLst>
          </p:cNvPr>
          <p:cNvSpPr txBox="1"/>
          <p:nvPr/>
        </p:nvSpPr>
        <p:spPr>
          <a:xfrm>
            <a:off x="5307547" y="5197079"/>
            <a:ext cx="2173623" cy="461665"/>
          </a:xfrm>
          <a:prstGeom prst="rect">
            <a:avLst/>
          </a:prstGeom>
          <a:noFill/>
        </p:spPr>
        <p:txBody>
          <a:bodyPr wrap="square">
            <a:spAutoFit/>
          </a:bodyPr>
          <a:lstStyle/>
          <a:p>
            <a:pPr algn="ctr"/>
            <a:r>
              <a:rPr lang="es-ES" sz="2400" b="1" dirty="0">
                <a:solidFill>
                  <a:srgbClr val="131D3F"/>
                </a:solidFill>
                <a:effectLst>
                  <a:outerShdw blurRad="38100" dist="38100" dir="2700000" algn="tl">
                    <a:srgbClr val="000000">
                      <a:alpha val="43137"/>
                    </a:srgbClr>
                  </a:outerShdw>
                </a:effectLst>
                <a:latin typeface="Montserrat" panose="00000500000000000000" pitchFamily="2" charset="0"/>
              </a:rPr>
              <a:t>Financiero</a:t>
            </a:r>
            <a:endParaRPr lang="es-MX" sz="2400" b="1"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Tree>
    <p:extLst>
      <p:ext uri="{BB962C8B-B14F-4D97-AF65-F5344CB8AC3E}">
        <p14:creationId xmlns:p14="http://schemas.microsoft.com/office/powerpoint/2010/main" val="41372684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48</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29"/>
            <a:ext cx="9617592" cy="1188333"/>
          </a:xfrm>
        </p:spPr>
        <p:txBody>
          <a:bodyPr>
            <a:normAutofit/>
          </a:bodyPr>
          <a:lstStyle/>
          <a:p>
            <a:r>
              <a:rPr lang="es-ES" sz="3600" b="1" dirty="0">
                <a:solidFill>
                  <a:srgbClr val="131D3F"/>
                </a:solidFill>
                <a:latin typeface="Montserrat SemiBold" panose="00000700000000000000" pitchFamily="2" charset="0"/>
              </a:rPr>
              <a:t>2.1 Producto</a:t>
            </a:r>
            <a:br>
              <a:rPr lang="es-ES" sz="3600" b="1" dirty="0">
                <a:solidFill>
                  <a:srgbClr val="131D3F"/>
                </a:solidFill>
                <a:latin typeface="Montserrat SemiBold" panose="00000700000000000000" pitchFamily="2" charset="0"/>
              </a:rPr>
            </a:br>
            <a:r>
              <a:rPr lang="es-ES" sz="3600" b="1" dirty="0">
                <a:solidFill>
                  <a:srgbClr val="131D3F"/>
                </a:solidFill>
                <a:latin typeface="Montserrat SemiBold" panose="00000700000000000000" pitchFamily="2" charset="0"/>
              </a:rPr>
              <a:t>	</a:t>
            </a:r>
            <a:r>
              <a:rPr lang="es-ES" sz="2000" b="1" dirty="0">
                <a:solidFill>
                  <a:srgbClr val="131D3F"/>
                </a:solidFill>
                <a:latin typeface="Montserrat SemiBold" panose="00000700000000000000" pitchFamily="2" charset="0"/>
              </a:rPr>
              <a:t>2.1.1 Financiero</a:t>
            </a:r>
            <a:endParaRPr lang="es-MX" sz="2000" b="1" dirty="0">
              <a:solidFill>
                <a:srgbClr val="131D3F"/>
              </a:solidFill>
              <a:latin typeface="Montserrat SemiBold" panose="00000700000000000000" pitchFamily="2" charset="0"/>
            </a:endParaRPr>
          </a:p>
        </p:txBody>
      </p:sp>
      <p:sp>
        <p:nvSpPr>
          <p:cNvPr id="2" name="AutoShape 2" descr="Lanzamientos de Apple para este 2024 - TuAppleMundo">
            <a:extLst>
              <a:ext uri="{FF2B5EF4-FFF2-40B4-BE49-F238E27FC236}">
                <a16:creationId xmlns:a16="http://schemas.microsoft.com/office/drawing/2014/main" id="{6F2A541F-480E-4469-93C4-7C57750B9A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763954" y="1413201"/>
            <a:ext cx="10664092" cy="490562"/>
          </a:xfrm>
          <a:prstGeom prst="rect">
            <a:avLst/>
          </a:prstGeom>
          <a:noFill/>
          <a:ln>
            <a:noFill/>
          </a:ln>
        </p:spPr>
        <p:txBody>
          <a:bodyPr spcFirstLastPara="1" wrap="square" lIns="91425" tIns="45700" rIns="91425" bIns="45700" anchor="t" anchorCtr="0">
            <a:noAutofit/>
          </a:bodyPr>
          <a:lstStyle/>
          <a:p>
            <a:pPr algn="just"/>
            <a:r>
              <a:rPr lang="es-ES" sz="2000" dirty="0">
                <a:solidFill>
                  <a:srgbClr val="131D3F"/>
                </a:solidFill>
                <a:latin typeface="Montserrat" panose="00000500000000000000" pitchFamily="2" charset="0"/>
              </a:rPr>
              <a:t>Lo productos son evaluados en términos de varios factores financieros clave: </a:t>
            </a:r>
          </a:p>
        </p:txBody>
      </p:sp>
      <p:sp>
        <p:nvSpPr>
          <p:cNvPr id="19" name="Google Shape;112;p3">
            <a:extLst>
              <a:ext uri="{FF2B5EF4-FFF2-40B4-BE49-F238E27FC236}">
                <a16:creationId xmlns:a16="http://schemas.microsoft.com/office/drawing/2014/main" id="{C70097FF-5041-469A-84F7-D4B0A7562EAE}"/>
              </a:ext>
            </a:extLst>
          </p:cNvPr>
          <p:cNvSpPr txBox="1"/>
          <p:nvPr/>
        </p:nvSpPr>
        <p:spPr>
          <a:xfrm>
            <a:off x="317369" y="1965309"/>
            <a:ext cx="11557261" cy="4382737"/>
          </a:xfrm>
          <a:prstGeom prst="rect">
            <a:avLst/>
          </a:prstGeom>
          <a:noFill/>
          <a:ln>
            <a:noFill/>
          </a:ln>
        </p:spPr>
        <p:txBody>
          <a:bodyPr spcFirstLastPara="1" wrap="square" lIns="91425" tIns="45700" rIns="91425" bIns="45700" anchor="t" anchorCtr="0">
            <a:noAutofit/>
          </a:bodyPr>
          <a:lstStyle/>
          <a:p>
            <a:pPr algn="just"/>
            <a:r>
              <a:rPr lang="es-ES" b="1" dirty="0">
                <a:solidFill>
                  <a:srgbClr val="131D3F"/>
                </a:solidFill>
                <a:latin typeface="Montserrat" panose="00000500000000000000" pitchFamily="2" charset="0"/>
              </a:rPr>
              <a:t>Costos:</a:t>
            </a:r>
            <a:r>
              <a:rPr lang="es-ES" dirty="0">
                <a:solidFill>
                  <a:srgbClr val="131D3F"/>
                </a:solidFill>
                <a:latin typeface="Montserrat" panose="00000500000000000000" pitchFamily="2" charset="0"/>
              </a:rPr>
              <a:t> Todos los gastos asociados con la producción, desarrollo, distribución y comercialización del producto. </a:t>
            </a:r>
          </a:p>
          <a:p>
            <a:pPr algn="just">
              <a:spcAft>
                <a:spcPts val="600"/>
              </a:spcAft>
            </a:pPr>
            <a:r>
              <a:rPr lang="es-ES" b="1" dirty="0">
                <a:solidFill>
                  <a:srgbClr val="131D3F"/>
                </a:solidFill>
                <a:latin typeface="Montserrat" panose="00000500000000000000" pitchFamily="2" charset="0"/>
              </a:rPr>
              <a:t>Precio:</a:t>
            </a:r>
            <a:r>
              <a:rPr lang="es-ES" dirty="0">
                <a:solidFill>
                  <a:srgbClr val="131D3F"/>
                </a:solidFill>
                <a:latin typeface="Montserrat" panose="00000500000000000000" pitchFamily="2" charset="0"/>
              </a:rPr>
              <a:t> Es el valor monetario que el cliente debe pagar para adquirir el producto. Considera el costo de producción y el margen de ganancia deseado.</a:t>
            </a:r>
          </a:p>
          <a:p>
            <a:pPr algn="just">
              <a:spcAft>
                <a:spcPts val="600"/>
              </a:spcAft>
            </a:pPr>
            <a:r>
              <a:rPr lang="es-ES" b="1" dirty="0">
                <a:solidFill>
                  <a:srgbClr val="131D3F"/>
                </a:solidFill>
                <a:latin typeface="Montserrat" panose="00000500000000000000" pitchFamily="2" charset="0"/>
              </a:rPr>
              <a:t>Rentabilidad: </a:t>
            </a:r>
            <a:r>
              <a:rPr lang="es-ES" dirty="0">
                <a:solidFill>
                  <a:srgbClr val="131D3F"/>
                </a:solidFill>
                <a:latin typeface="Montserrat" panose="00000500000000000000" pitchFamily="2" charset="0"/>
              </a:rPr>
              <a:t>Se refiere a la capacidad del producto para generar una ganancia. Ingresos generados vs costos. </a:t>
            </a:r>
          </a:p>
          <a:p>
            <a:pPr algn="just">
              <a:spcAft>
                <a:spcPts val="600"/>
              </a:spcAft>
            </a:pPr>
            <a:r>
              <a:rPr lang="es-ES" b="1" dirty="0">
                <a:solidFill>
                  <a:srgbClr val="131D3F"/>
                </a:solidFill>
                <a:latin typeface="Montserrat" panose="00000500000000000000" pitchFamily="2" charset="0"/>
              </a:rPr>
              <a:t>Demanda y Mercado: </a:t>
            </a:r>
            <a:r>
              <a:rPr lang="es-ES" dirty="0">
                <a:solidFill>
                  <a:srgbClr val="131D3F"/>
                </a:solidFill>
                <a:latin typeface="Montserrat" panose="00000500000000000000" pitchFamily="2" charset="0"/>
              </a:rPr>
              <a:t>Esto incluye entender el tamaño del mercado, las tendencias de consumo y el perfil de los clientes.</a:t>
            </a:r>
          </a:p>
          <a:p>
            <a:pPr algn="just">
              <a:spcAft>
                <a:spcPts val="600"/>
              </a:spcAft>
            </a:pPr>
            <a:r>
              <a:rPr lang="es-ES" b="1" dirty="0">
                <a:solidFill>
                  <a:srgbClr val="131D3F"/>
                </a:solidFill>
                <a:latin typeface="Montserrat" panose="00000500000000000000" pitchFamily="2" charset="0"/>
              </a:rPr>
              <a:t>Ciclo de Vida del Producto: </a:t>
            </a:r>
            <a:r>
              <a:rPr lang="es-ES" dirty="0">
                <a:solidFill>
                  <a:srgbClr val="131D3F"/>
                </a:solidFill>
                <a:latin typeface="Montserrat" panose="00000500000000000000" pitchFamily="2" charset="0"/>
              </a:rPr>
              <a:t>Cada etapa (introducción, crecimiento, madurez y declive) tiene implicaciones financieras distintas. </a:t>
            </a:r>
          </a:p>
          <a:p>
            <a:pPr algn="just">
              <a:spcAft>
                <a:spcPts val="600"/>
              </a:spcAft>
            </a:pPr>
            <a:r>
              <a:rPr lang="es-ES" b="1" dirty="0">
                <a:solidFill>
                  <a:srgbClr val="131D3F"/>
                </a:solidFill>
                <a:latin typeface="Montserrat" panose="00000500000000000000" pitchFamily="2" charset="0"/>
              </a:rPr>
              <a:t>Riesgos Financieros: </a:t>
            </a:r>
            <a:r>
              <a:rPr lang="es-ES" dirty="0">
                <a:solidFill>
                  <a:srgbClr val="131D3F"/>
                </a:solidFill>
                <a:latin typeface="Montserrat" panose="00000500000000000000" pitchFamily="2" charset="0"/>
              </a:rPr>
              <a:t>Riesgos asociados con el producto, fluctuaciones en el costo de materiales, cambios en la demanda o problemas en la cadena de suministro.</a:t>
            </a:r>
          </a:p>
          <a:p>
            <a:pPr algn="just">
              <a:spcAft>
                <a:spcPts val="600"/>
              </a:spcAft>
            </a:pPr>
            <a:r>
              <a:rPr lang="es-ES" b="1" dirty="0">
                <a:solidFill>
                  <a:srgbClr val="131D3F"/>
                </a:solidFill>
                <a:latin typeface="Montserrat" panose="00000500000000000000" pitchFamily="2" charset="0"/>
              </a:rPr>
              <a:t>Valor Añadido:</a:t>
            </a:r>
            <a:r>
              <a:rPr lang="es-ES" dirty="0">
                <a:solidFill>
                  <a:srgbClr val="131D3F"/>
                </a:solidFill>
                <a:latin typeface="Montserrat" panose="00000500000000000000" pitchFamily="2" charset="0"/>
              </a:rPr>
              <a:t> Adicional a las ganancias directas, cómo el producto puede fortalecer la marca, nuevas oportunidades de mercado o la lealtad del cliente.</a:t>
            </a:r>
          </a:p>
        </p:txBody>
      </p:sp>
    </p:spTree>
    <p:extLst>
      <p:ext uri="{BB962C8B-B14F-4D97-AF65-F5344CB8AC3E}">
        <p14:creationId xmlns:p14="http://schemas.microsoft.com/office/powerpoint/2010/main" val="4224941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49</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29"/>
            <a:ext cx="9617592" cy="1188333"/>
          </a:xfrm>
        </p:spPr>
        <p:txBody>
          <a:bodyPr>
            <a:normAutofit/>
          </a:bodyPr>
          <a:lstStyle/>
          <a:p>
            <a:r>
              <a:rPr lang="es-ES" sz="3600" b="1" dirty="0">
                <a:solidFill>
                  <a:srgbClr val="131D3F"/>
                </a:solidFill>
                <a:latin typeface="Montserrat SemiBold" panose="00000700000000000000" pitchFamily="2" charset="0"/>
              </a:rPr>
              <a:t>2.5 Ciclo de vida del producto</a:t>
            </a:r>
            <a:endParaRPr lang="es-MX" sz="2000" b="1" dirty="0">
              <a:solidFill>
                <a:srgbClr val="131D3F"/>
              </a:solidFill>
              <a:latin typeface="Montserrat SemiBold" panose="00000700000000000000" pitchFamily="2" charset="0"/>
            </a:endParaRPr>
          </a:p>
        </p:txBody>
      </p:sp>
      <p:sp>
        <p:nvSpPr>
          <p:cNvPr id="2" name="AutoShape 2" descr="Lanzamientos de Apple para este 2024 - TuAppleMundo">
            <a:extLst>
              <a:ext uri="{FF2B5EF4-FFF2-40B4-BE49-F238E27FC236}">
                <a16:creationId xmlns:a16="http://schemas.microsoft.com/office/drawing/2014/main" id="{6F2A541F-480E-4469-93C4-7C57750B9A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4100" name="Picture 4" descr="BlackBerry Mobile launches KEY2 with dual cameras and improved keyboard |  ZDNET">
            <a:extLst>
              <a:ext uri="{FF2B5EF4-FFF2-40B4-BE49-F238E27FC236}">
                <a16:creationId xmlns:a16="http://schemas.microsoft.com/office/drawing/2014/main" id="{1F2BBF59-CFEE-47EF-AE3D-F745304154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880" y="1337786"/>
            <a:ext cx="2637858" cy="26378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istory of Kodak: You press the button we do the rest — about photography">
            <a:extLst>
              <a:ext uri="{FF2B5EF4-FFF2-40B4-BE49-F238E27FC236}">
                <a16:creationId xmlns:a16="http://schemas.microsoft.com/office/drawing/2014/main" id="{3E73F1B7-82FA-49B0-9AE6-626113B78A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6638" y="2110071"/>
            <a:ext cx="4378723" cy="263785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Blockbuster: the Rise and Fall of the Iconic Movie Rental Store - Business  Insider">
            <a:extLst>
              <a:ext uri="{FF2B5EF4-FFF2-40B4-BE49-F238E27FC236}">
                <a16:creationId xmlns:a16="http://schemas.microsoft.com/office/drawing/2014/main" id="{A85345BA-7DE7-482F-AEF2-5DF17E4C8F9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570"/>
          <a:stretch/>
        </p:blipFill>
        <p:spPr bwMode="auto">
          <a:xfrm>
            <a:off x="8736261" y="3677919"/>
            <a:ext cx="2582638" cy="263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240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50</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29"/>
            <a:ext cx="9617592" cy="1188333"/>
          </a:xfrm>
        </p:spPr>
        <p:txBody>
          <a:bodyPr>
            <a:normAutofit/>
          </a:bodyPr>
          <a:lstStyle/>
          <a:p>
            <a:r>
              <a:rPr lang="es-ES" sz="3600" b="1" dirty="0">
                <a:solidFill>
                  <a:srgbClr val="131D3F"/>
                </a:solidFill>
                <a:latin typeface="Montserrat SemiBold" panose="00000700000000000000" pitchFamily="2" charset="0"/>
              </a:rPr>
              <a:t>2.5 Ciclo de vida del producto</a:t>
            </a:r>
            <a:endParaRPr lang="es-MX" sz="2000" b="1" dirty="0">
              <a:solidFill>
                <a:srgbClr val="131D3F"/>
              </a:solidFill>
              <a:latin typeface="Montserrat SemiBold" panose="00000700000000000000" pitchFamily="2" charset="0"/>
            </a:endParaRPr>
          </a:p>
        </p:txBody>
      </p:sp>
      <p:sp>
        <p:nvSpPr>
          <p:cNvPr id="2" name="AutoShape 2" descr="Lanzamientos de Apple para este 2024 - TuAppleMundo">
            <a:extLst>
              <a:ext uri="{FF2B5EF4-FFF2-40B4-BE49-F238E27FC236}">
                <a16:creationId xmlns:a16="http://schemas.microsoft.com/office/drawing/2014/main" id="{6F2A541F-480E-4469-93C4-7C57750B9A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763954" y="1337786"/>
            <a:ext cx="10664092" cy="1303623"/>
          </a:xfrm>
          <a:prstGeom prst="rect">
            <a:avLst/>
          </a:prstGeom>
          <a:noFill/>
          <a:ln>
            <a:noFill/>
          </a:ln>
        </p:spPr>
        <p:txBody>
          <a:bodyPr spcFirstLastPara="1" wrap="square" lIns="91425" tIns="45700" rIns="91425" bIns="45700" anchor="t" anchorCtr="0">
            <a:noAutofit/>
          </a:bodyPr>
          <a:lstStyle/>
          <a:p>
            <a:pPr algn="just"/>
            <a:r>
              <a:rPr lang="es-ES" sz="2000" dirty="0">
                <a:solidFill>
                  <a:srgbClr val="131D3F"/>
                </a:solidFill>
                <a:latin typeface="Montserrat" panose="00000500000000000000" pitchFamily="2" charset="0"/>
              </a:rPr>
              <a:t>El ciclo de vida del producto (CVP) describe las </a:t>
            </a:r>
            <a:r>
              <a:rPr lang="es-ES" sz="2000" b="1" dirty="0">
                <a:solidFill>
                  <a:srgbClr val="131D3F"/>
                </a:solidFill>
                <a:latin typeface="Montserrat" panose="00000500000000000000" pitchFamily="2" charset="0"/>
              </a:rPr>
              <a:t>etapas que atraviesa un producto</a:t>
            </a:r>
            <a:r>
              <a:rPr lang="es-ES" sz="2000" dirty="0">
                <a:solidFill>
                  <a:srgbClr val="131D3F"/>
                </a:solidFill>
                <a:latin typeface="Montserrat" panose="00000500000000000000" pitchFamily="2" charset="0"/>
              </a:rPr>
              <a:t> desde su introducción en el mercado hasta su eventual retirada. Este ciclo ayuda a las empresas a gestionar el desarrollo, la comercialización y la estrategia del producto a lo largo de su existencia. </a:t>
            </a:r>
          </a:p>
        </p:txBody>
      </p:sp>
      <p:graphicFrame>
        <p:nvGraphicFramePr>
          <p:cNvPr id="4" name="Diagrama 3">
            <a:extLst>
              <a:ext uri="{FF2B5EF4-FFF2-40B4-BE49-F238E27FC236}">
                <a16:creationId xmlns:a16="http://schemas.microsoft.com/office/drawing/2014/main" id="{06CB4A13-8DDF-4DEC-925B-B52DF2912434}"/>
              </a:ext>
            </a:extLst>
          </p:cNvPr>
          <p:cNvGraphicFramePr/>
          <p:nvPr>
            <p:extLst>
              <p:ext uri="{D42A27DB-BD31-4B8C-83A1-F6EECF244321}">
                <p14:modId xmlns:p14="http://schemas.microsoft.com/office/powerpoint/2010/main" val="644378647"/>
              </p:ext>
            </p:extLst>
          </p:nvPr>
        </p:nvGraphicFramePr>
        <p:xfrm>
          <a:off x="-405384" y="2804746"/>
          <a:ext cx="5869354" cy="335996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CuadroTexto 4">
            <a:extLst>
              <a:ext uri="{FF2B5EF4-FFF2-40B4-BE49-F238E27FC236}">
                <a16:creationId xmlns:a16="http://schemas.microsoft.com/office/drawing/2014/main" id="{C5BFF887-9AA8-40A9-A4C4-752AC882E226}"/>
              </a:ext>
            </a:extLst>
          </p:cNvPr>
          <p:cNvSpPr txBox="1"/>
          <p:nvPr/>
        </p:nvSpPr>
        <p:spPr>
          <a:xfrm>
            <a:off x="1817825" y="3183283"/>
            <a:ext cx="1422935" cy="246221"/>
          </a:xfrm>
          <a:prstGeom prst="rect">
            <a:avLst/>
          </a:prstGeom>
          <a:noFill/>
        </p:spPr>
        <p:txBody>
          <a:bodyPr wrap="square" rtlCol="0">
            <a:spAutoFit/>
          </a:bodyPr>
          <a:lstStyle/>
          <a:p>
            <a:pPr algn="ctr"/>
            <a:r>
              <a:rPr lang="es-ES" sz="1000" b="1" dirty="0">
                <a:latin typeface="Montserrat" panose="00000500000000000000" pitchFamily="2" charset="0"/>
              </a:rPr>
              <a:t>Introducción</a:t>
            </a:r>
            <a:endParaRPr lang="es-MX" sz="1000" b="1" dirty="0">
              <a:latin typeface="Montserrat" panose="00000500000000000000" pitchFamily="2" charset="0"/>
            </a:endParaRPr>
          </a:p>
        </p:txBody>
      </p:sp>
      <p:sp>
        <p:nvSpPr>
          <p:cNvPr id="11" name="CuadroTexto 10">
            <a:extLst>
              <a:ext uri="{FF2B5EF4-FFF2-40B4-BE49-F238E27FC236}">
                <a16:creationId xmlns:a16="http://schemas.microsoft.com/office/drawing/2014/main" id="{7FDBC879-035F-4C26-A3A1-8C1B247367C1}"/>
              </a:ext>
            </a:extLst>
          </p:cNvPr>
          <p:cNvSpPr txBox="1"/>
          <p:nvPr/>
        </p:nvSpPr>
        <p:spPr>
          <a:xfrm>
            <a:off x="3065124" y="4095669"/>
            <a:ext cx="1422935" cy="246221"/>
          </a:xfrm>
          <a:prstGeom prst="rect">
            <a:avLst/>
          </a:prstGeom>
          <a:noFill/>
        </p:spPr>
        <p:txBody>
          <a:bodyPr wrap="square" rtlCol="0">
            <a:spAutoFit/>
          </a:bodyPr>
          <a:lstStyle/>
          <a:p>
            <a:pPr algn="ctr"/>
            <a:r>
              <a:rPr lang="es-ES" sz="1000" b="1" dirty="0">
                <a:solidFill>
                  <a:schemeClr val="bg1"/>
                </a:solidFill>
                <a:latin typeface="Montserrat" panose="00000500000000000000" pitchFamily="2" charset="0"/>
              </a:rPr>
              <a:t>Crecimiento</a:t>
            </a:r>
            <a:endParaRPr lang="es-MX" sz="1000" b="1" dirty="0">
              <a:solidFill>
                <a:schemeClr val="bg1"/>
              </a:solidFill>
              <a:latin typeface="Montserrat" panose="00000500000000000000" pitchFamily="2" charset="0"/>
            </a:endParaRPr>
          </a:p>
        </p:txBody>
      </p:sp>
      <p:sp>
        <p:nvSpPr>
          <p:cNvPr id="12" name="CuadroTexto 11">
            <a:extLst>
              <a:ext uri="{FF2B5EF4-FFF2-40B4-BE49-F238E27FC236}">
                <a16:creationId xmlns:a16="http://schemas.microsoft.com/office/drawing/2014/main" id="{B30433A2-877D-4878-B0BF-C6FA72FEE3ED}"/>
              </a:ext>
            </a:extLst>
          </p:cNvPr>
          <p:cNvSpPr txBox="1"/>
          <p:nvPr/>
        </p:nvSpPr>
        <p:spPr>
          <a:xfrm>
            <a:off x="2581730" y="5537229"/>
            <a:ext cx="1422935" cy="246221"/>
          </a:xfrm>
          <a:prstGeom prst="rect">
            <a:avLst/>
          </a:prstGeom>
          <a:noFill/>
        </p:spPr>
        <p:txBody>
          <a:bodyPr wrap="square" rtlCol="0">
            <a:spAutoFit/>
          </a:bodyPr>
          <a:lstStyle/>
          <a:p>
            <a:pPr algn="ctr"/>
            <a:r>
              <a:rPr lang="es-ES" sz="1000" b="1" dirty="0">
                <a:solidFill>
                  <a:schemeClr val="bg1"/>
                </a:solidFill>
                <a:latin typeface="Montserrat" panose="00000500000000000000" pitchFamily="2" charset="0"/>
              </a:rPr>
              <a:t>Madurez</a:t>
            </a:r>
            <a:endParaRPr lang="es-MX" sz="1000" b="1" dirty="0">
              <a:solidFill>
                <a:schemeClr val="bg1"/>
              </a:solidFill>
              <a:latin typeface="Montserrat" panose="00000500000000000000" pitchFamily="2" charset="0"/>
            </a:endParaRPr>
          </a:p>
        </p:txBody>
      </p:sp>
      <p:sp>
        <p:nvSpPr>
          <p:cNvPr id="13" name="CuadroTexto 12">
            <a:extLst>
              <a:ext uri="{FF2B5EF4-FFF2-40B4-BE49-F238E27FC236}">
                <a16:creationId xmlns:a16="http://schemas.microsoft.com/office/drawing/2014/main" id="{A079D383-A001-4CE0-B4B0-3004635863A6}"/>
              </a:ext>
            </a:extLst>
          </p:cNvPr>
          <p:cNvSpPr txBox="1"/>
          <p:nvPr/>
        </p:nvSpPr>
        <p:spPr>
          <a:xfrm>
            <a:off x="1045030" y="5537229"/>
            <a:ext cx="1422935" cy="246221"/>
          </a:xfrm>
          <a:prstGeom prst="rect">
            <a:avLst/>
          </a:prstGeom>
          <a:noFill/>
        </p:spPr>
        <p:txBody>
          <a:bodyPr wrap="square" rtlCol="0">
            <a:spAutoFit/>
          </a:bodyPr>
          <a:lstStyle/>
          <a:p>
            <a:pPr algn="ctr"/>
            <a:r>
              <a:rPr lang="es-ES" sz="1000" b="1" dirty="0">
                <a:solidFill>
                  <a:schemeClr val="bg1"/>
                </a:solidFill>
                <a:latin typeface="Montserrat" panose="00000500000000000000" pitchFamily="2" charset="0"/>
              </a:rPr>
              <a:t>Declive</a:t>
            </a:r>
            <a:endParaRPr lang="es-MX" sz="1000" b="1" dirty="0">
              <a:solidFill>
                <a:schemeClr val="bg1"/>
              </a:solidFill>
              <a:latin typeface="Montserrat" panose="00000500000000000000" pitchFamily="2" charset="0"/>
            </a:endParaRPr>
          </a:p>
        </p:txBody>
      </p:sp>
      <p:sp>
        <p:nvSpPr>
          <p:cNvPr id="14" name="CuadroTexto 13">
            <a:extLst>
              <a:ext uri="{FF2B5EF4-FFF2-40B4-BE49-F238E27FC236}">
                <a16:creationId xmlns:a16="http://schemas.microsoft.com/office/drawing/2014/main" id="{CC9B3A79-2A69-44DC-9D31-B7389E25CC70}"/>
              </a:ext>
            </a:extLst>
          </p:cNvPr>
          <p:cNvSpPr txBox="1"/>
          <p:nvPr/>
        </p:nvSpPr>
        <p:spPr>
          <a:xfrm>
            <a:off x="579922" y="4095668"/>
            <a:ext cx="1422935" cy="246221"/>
          </a:xfrm>
          <a:prstGeom prst="rect">
            <a:avLst/>
          </a:prstGeom>
          <a:noFill/>
        </p:spPr>
        <p:txBody>
          <a:bodyPr wrap="square" rtlCol="0">
            <a:spAutoFit/>
          </a:bodyPr>
          <a:lstStyle/>
          <a:p>
            <a:pPr algn="ctr"/>
            <a:r>
              <a:rPr lang="es-ES" sz="1000" b="1" dirty="0">
                <a:solidFill>
                  <a:schemeClr val="bg1"/>
                </a:solidFill>
                <a:latin typeface="Montserrat" panose="00000500000000000000" pitchFamily="2" charset="0"/>
              </a:rPr>
              <a:t>Retiro</a:t>
            </a:r>
            <a:endParaRPr lang="es-MX" sz="1000" b="1" dirty="0">
              <a:solidFill>
                <a:schemeClr val="bg1"/>
              </a:solidFill>
              <a:latin typeface="Montserrat" panose="00000500000000000000" pitchFamily="2" charset="0"/>
            </a:endParaRPr>
          </a:p>
        </p:txBody>
      </p:sp>
      <p:sp>
        <p:nvSpPr>
          <p:cNvPr id="17" name="CuadroTexto 16">
            <a:extLst>
              <a:ext uri="{FF2B5EF4-FFF2-40B4-BE49-F238E27FC236}">
                <a16:creationId xmlns:a16="http://schemas.microsoft.com/office/drawing/2014/main" id="{E0629FE0-8533-46B5-8C9E-30FD0D790728}"/>
              </a:ext>
            </a:extLst>
          </p:cNvPr>
          <p:cNvSpPr txBox="1"/>
          <p:nvPr/>
        </p:nvSpPr>
        <p:spPr>
          <a:xfrm>
            <a:off x="4860758" y="2915067"/>
            <a:ext cx="6567288" cy="3416320"/>
          </a:xfrm>
          <a:prstGeom prst="rect">
            <a:avLst/>
          </a:prstGeom>
          <a:noFill/>
        </p:spPr>
        <p:txBody>
          <a:bodyPr wrap="square">
            <a:spAutoFit/>
          </a:bodyPr>
          <a:lstStyle/>
          <a:p>
            <a:pPr marL="285750" indent="-285750" algn="just">
              <a:buFont typeface="Arial" panose="020B0604020202020204" pitchFamily="34" charset="0"/>
              <a:buChar char="•"/>
            </a:pPr>
            <a:r>
              <a:rPr lang="es-ES" b="1" dirty="0">
                <a:solidFill>
                  <a:srgbClr val="131D3F"/>
                </a:solidFill>
                <a:latin typeface="Montserrat" panose="00000500000000000000" pitchFamily="2" charset="0"/>
              </a:rPr>
              <a:t>Introducción: </a:t>
            </a:r>
            <a:r>
              <a:rPr lang="es-ES" dirty="0">
                <a:solidFill>
                  <a:srgbClr val="131D3F"/>
                </a:solidFill>
                <a:latin typeface="Montserrat" panose="00000500000000000000" pitchFamily="2" charset="0"/>
              </a:rPr>
              <a:t>El producto se lanza al mercado. Darlo a conocer y estimular la demanda.</a:t>
            </a:r>
          </a:p>
          <a:p>
            <a:pPr marL="285750" indent="-285750" algn="just">
              <a:buFont typeface="Arial" panose="020B0604020202020204" pitchFamily="34" charset="0"/>
              <a:buChar char="•"/>
            </a:pPr>
            <a:r>
              <a:rPr lang="es-ES" b="1" dirty="0">
                <a:solidFill>
                  <a:srgbClr val="131D3F"/>
                </a:solidFill>
                <a:latin typeface="Montserrat" panose="00000500000000000000" pitchFamily="2" charset="0"/>
              </a:rPr>
              <a:t>Crecimiento: </a:t>
            </a:r>
            <a:r>
              <a:rPr lang="es-ES" dirty="0">
                <a:solidFill>
                  <a:srgbClr val="131D3F"/>
                </a:solidFill>
                <a:latin typeface="Montserrat" panose="00000500000000000000" pitchFamily="2" charset="0"/>
              </a:rPr>
              <a:t>Aceptación en el mercado y aumento de ventas.</a:t>
            </a:r>
          </a:p>
          <a:p>
            <a:pPr marL="285750" indent="-285750" algn="just">
              <a:buFont typeface="Arial" panose="020B0604020202020204" pitchFamily="34" charset="0"/>
              <a:buChar char="•"/>
            </a:pPr>
            <a:r>
              <a:rPr lang="es-ES" b="1" dirty="0">
                <a:solidFill>
                  <a:srgbClr val="131D3F"/>
                </a:solidFill>
                <a:latin typeface="Montserrat" panose="00000500000000000000" pitchFamily="2" charset="0"/>
              </a:rPr>
              <a:t>Madurez: </a:t>
            </a:r>
            <a:r>
              <a:rPr lang="es-ES" dirty="0">
                <a:solidFill>
                  <a:srgbClr val="131D3F"/>
                </a:solidFill>
                <a:latin typeface="Montserrat" panose="00000500000000000000" pitchFamily="2" charset="0"/>
              </a:rPr>
              <a:t>Estabilización del crecimiento de las ventas y el mercado se satura. Punto máximo de aceptación.</a:t>
            </a:r>
          </a:p>
          <a:p>
            <a:pPr marL="285750" indent="-285750" algn="just">
              <a:buFont typeface="Arial" panose="020B0604020202020204" pitchFamily="34" charset="0"/>
              <a:buChar char="•"/>
            </a:pPr>
            <a:r>
              <a:rPr lang="es-ES" b="1" dirty="0">
                <a:solidFill>
                  <a:srgbClr val="131D3F"/>
                </a:solidFill>
                <a:latin typeface="Montserrat" panose="00000500000000000000" pitchFamily="2" charset="0"/>
              </a:rPr>
              <a:t>Declive: </a:t>
            </a:r>
            <a:r>
              <a:rPr lang="es-ES" dirty="0">
                <a:solidFill>
                  <a:srgbClr val="131D3F"/>
                </a:solidFill>
                <a:latin typeface="Montserrat" panose="00000500000000000000" pitchFamily="2" charset="0"/>
              </a:rPr>
              <a:t>Disminución de ventas debido a la competencia, cambios en las preferencias, o la </a:t>
            </a:r>
            <a:r>
              <a:rPr lang="es-ES" u="sng" dirty="0">
                <a:solidFill>
                  <a:srgbClr val="131D3F"/>
                </a:solidFill>
                <a:latin typeface="Montserrat" panose="00000500000000000000" pitchFamily="2" charset="0"/>
              </a:rPr>
              <a:t>obsolescencia tecnológica</a:t>
            </a:r>
            <a:r>
              <a:rPr lang="es-ES" dirty="0">
                <a:solidFill>
                  <a:srgbClr val="131D3F"/>
                </a:solidFill>
                <a:latin typeface="Montserrat" panose="00000500000000000000" pitchFamily="2" charset="0"/>
              </a:rPr>
              <a:t>.</a:t>
            </a:r>
          </a:p>
          <a:p>
            <a:pPr marL="285750" indent="-285750" algn="just">
              <a:buFont typeface="Arial" panose="020B0604020202020204" pitchFamily="34" charset="0"/>
              <a:buChar char="•"/>
            </a:pPr>
            <a:r>
              <a:rPr lang="es-ES" b="1" dirty="0">
                <a:solidFill>
                  <a:srgbClr val="131D3F"/>
                </a:solidFill>
                <a:latin typeface="Montserrat" panose="00000500000000000000" pitchFamily="2" charset="0"/>
              </a:rPr>
              <a:t>Retiro: </a:t>
            </a:r>
            <a:r>
              <a:rPr lang="es-ES" dirty="0">
                <a:solidFill>
                  <a:srgbClr val="131D3F"/>
                </a:solidFill>
                <a:latin typeface="Montserrat" panose="00000500000000000000" pitchFamily="2" charset="0"/>
              </a:rPr>
              <a:t>El producto es retirado del mercado. Ya no es rentable.</a:t>
            </a:r>
          </a:p>
        </p:txBody>
      </p:sp>
    </p:spTree>
    <p:extLst>
      <p:ext uri="{BB962C8B-B14F-4D97-AF65-F5344CB8AC3E}">
        <p14:creationId xmlns:p14="http://schemas.microsoft.com/office/powerpoint/2010/main" val="4181950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51</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29"/>
            <a:ext cx="9617592" cy="1188333"/>
          </a:xfrm>
        </p:spPr>
        <p:txBody>
          <a:bodyPr>
            <a:normAutofit/>
          </a:bodyPr>
          <a:lstStyle/>
          <a:p>
            <a:r>
              <a:rPr lang="es-ES" sz="3600" b="1" dirty="0">
                <a:solidFill>
                  <a:srgbClr val="131D3F"/>
                </a:solidFill>
                <a:latin typeface="Montserrat SemiBold" panose="00000700000000000000" pitchFamily="2" charset="0"/>
              </a:rPr>
              <a:t>2.5 Ciclo de vida del producto</a:t>
            </a:r>
            <a:endParaRPr lang="es-MX" sz="2000" b="1" dirty="0">
              <a:solidFill>
                <a:srgbClr val="131D3F"/>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763954" y="1820685"/>
            <a:ext cx="10664092" cy="3216629"/>
          </a:xfrm>
          <a:prstGeom prst="rect">
            <a:avLst/>
          </a:prstGeom>
          <a:noFill/>
          <a:ln>
            <a:noFill/>
          </a:ln>
        </p:spPr>
        <p:txBody>
          <a:bodyPr spcFirstLastPara="1" wrap="square" lIns="91425" tIns="45700" rIns="91425" bIns="45700" anchor="t" anchorCtr="0">
            <a:noAutofit/>
          </a:bodyPr>
          <a:lstStyle/>
          <a:p>
            <a:pPr marL="342900" indent="-342900" algn="just">
              <a:spcAft>
                <a:spcPts val="600"/>
              </a:spcAft>
              <a:buFont typeface="Arial" panose="020B0604020202020204" pitchFamily="34" charset="0"/>
              <a:buChar char="•"/>
            </a:pPr>
            <a:r>
              <a:rPr lang="es-ES" sz="2000" b="1" dirty="0">
                <a:solidFill>
                  <a:srgbClr val="131D3F"/>
                </a:solidFill>
                <a:latin typeface="Montserrat" panose="00000500000000000000" pitchFamily="2" charset="0"/>
              </a:rPr>
              <a:t>Innovación y Actualización:</a:t>
            </a:r>
            <a:r>
              <a:rPr lang="es-ES" sz="2000" dirty="0">
                <a:solidFill>
                  <a:srgbClr val="131D3F"/>
                </a:solidFill>
                <a:latin typeface="Montserrat" panose="00000500000000000000" pitchFamily="2" charset="0"/>
              </a:rPr>
              <a:t> Algunas veces, los productos pueden ser modificados o actualizados en diferentes etapas del ciclo de vida para extender su madurez o mejorar su posicionamiento en el mercado.</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Variaciones: </a:t>
            </a:r>
            <a:r>
              <a:rPr lang="es-ES" sz="2000" dirty="0">
                <a:solidFill>
                  <a:srgbClr val="131D3F"/>
                </a:solidFill>
                <a:latin typeface="Montserrat" panose="00000500000000000000" pitchFamily="2" charset="0"/>
              </a:rPr>
              <a:t>No todos los productos siguen un ciclo de vida uniforme. Algunos pueden experimentar fases más largas o más cortas, o ciclos de vida atípicos debido a cambios tecnológicos, modas, o innovaciones disruptivas.</a:t>
            </a:r>
          </a:p>
          <a:p>
            <a:pPr algn="just"/>
            <a:endParaRPr lang="es-ES" sz="2000" dirty="0">
              <a:solidFill>
                <a:srgbClr val="131D3F"/>
              </a:solidFill>
              <a:latin typeface="Montserrat" panose="00000500000000000000" pitchFamily="2" charset="0"/>
            </a:endParaRPr>
          </a:p>
          <a:p>
            <a:pPr algn="just"/>
            <a:r>
              <a:rPr lang="es-ES" sz="2000" dirty="0">
                <a:solidFill>
                  <a:srgbClr val="131D3F"/>
                </a:solidFill>
                <a:latin typeface="Montserrat" panose="00000500000000000000" pitchFamily="2" charset="0"/>
              </a:rPr>
              <a:t>El conocimiento del ciclo de vida del producto permite a las empresas tomar decisiones informadas sobre marketing, desarrollo, y estrategia para maximizar el rendimiento y la rentabilidad del producto a lo largo de su existencia</a:t>
            </a:r>
          </a:p>
        </p:txBody>
      </p:sp>
    </p:spTree>
    <p:extLst>
      <p:ext uri="{BB962C8B-B14F-4D97-AF65-F5344CB8AC3E}">
        <p14:creationId xmlns:p14="http://schemas.microsoft.com/office/powerpoint/2010/main" val="2218221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8200" y="1138238"/>
            <a:ext cx="10515600" cy="840219"/>
          </a:xfrm>
        </p:spPr>
        <p:txBody>
          <a:bodyPr>
            <a:normAutofit/>
          </a:bodyPr>
          <a:lstStyle/>
          <a:p>
            <a:pPr algn="ctr"/>
            <a:r>
              <a:rPr lang="es-ES" sz="4800" b="1" dirty="0">
                <a:latin typeface="Montserrat" panose="00000500000000000000" pitchFamily="2" charset="0"/>
              </a:rPr>
              <a:t>Clase 4°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1136072" y="1988849"/>
            <a:ext cx="10515600" cy="35972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2</a:t>
            </a:r>
            <a:r>
              <a:rPr lang="es-ES" sz="4800" dirty="0">
                <a:latin typeface="Montserrat" panose="00000500000000000000" pitchFamily="2" charset="0"/>
              </a:rPr>
              <a:t> El ciclo de la vida económica</a:t>
            </a:r>
          </a:p>
          <a:p>
            <a:pPr marL="1800000"/>
            <a:r>
              <a:rPr lang="es-ES" sz="3200" dirty="0">
                <a:latin typeface="Montserrat" panose="00000500000000000000" pitchFamily="2" charset="0"/>
              </a:rPr>
              <a:t>2.3 Programa</a:t>
            </a:r>
          </a:p>
          <a:p>
            <a:pPr marL="1800000"/>
            <a:r>
              <a:rPr lang="es-ES" sz="3200" dirty="0">
                <a:latin typeface="Montserrat" panose="00000500000000000000" pitchFamily="2" charset="0"/>
              </a:rPr>
              <a:t>2.4 Portafolio</a:t>
            </a:r>
          </a:p>
          <a:p>
            <a:pPr marL="1800000"/>
            <a:r>
              <a:rPr lang="es-ES" sz="3200" dirty="0">
                <a:latin typeface="Montserrat" panose="00000500000000000000" pitchFamily="2" charset="0"/>
              </a:rPr>
              <a:t>2.7 Propuestas</a:t>
            </a:r>
          </a:p>
          <a:p>
            <a:pPr marL="1800000"/>
            <a:r>
              <a:rPr lang="es-ES" sz="3200" dirty="0">
                <a:latin typeface="Montserrat" panose="00000500000000000000" pitchFamily="2" charset="0"/>
              </a:rPr>
              <a:t>2.9 Planeación</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6000" y="5719762"/>
            <a:ext cx="4423063" cy="46340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30 de agosto de 2024</a:t>
            </a:r>
            <a:endParaRPr lang="es-MX" sz="4800" dirty="0">
              <a:latin typeface="Montserrat" panose="00000500000000000000" pitchFamily="2" charset="0"/>
            </a:endParaRPr>
          </a:p>
        </p:txBody>
      </p:sp>
    </p:spTree>
    <p:extLst>
      <p:ext uri="{BB962C8B-B14F-4D97-AF65-F5344CB8AC3E}">
        <p14:creationId xmlns:p14="http://schemas.microsoft.com/office/powerpoint/2010/main" val="1681413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53</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29"/>
            <a:ext cx="9617592" cy="1188333"/>
          </a:xfrm>
        </p:spPr>
        <p:txBody>
          <a:bodyPr>
            <a:normAutofit/>
          </a:bodyPr>
          <a:lstStyle/>
          <a:p>
            <a:r>
              <a:rPr lang="es-ES" sz="3600" b="1" dirty="0">
                <a:solidFill>
                  <a:srgbClr val="131D3F"/>
                </a:solidFill>
                <a:latin typeface="Montserrat SemiBold" panose="00000700000000000000" pitchFamily="2" charset="0"/>
              </a:rPr>
              <a:t>2.3 Programa</a:t>
            </a:r>
            <a:endParaRPr lang="es-MX" sz="2000" b="1" dirty="0">
              <a:solidFill>
                <a:srgbClr val="131D3F"/>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763954" y="1358772"/>
            <a:ext cx="10664092" cy="137500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Cuando hablamos de un programa financiero, nos referimos a un conjunto de </a:t>
            </a:r>
            <a:r>
              <a:rPr lang="es-ES" sz="2000" b="1" dirty="0">
                <a:solidFill>
                  <a:srgbClr val="131D3F"/>
                </a:solidFill>
                <a:latin typeface="Montserrat" panose="00000500000000000000" pitchFamily="2" charset="0"/>
              </a:rPr>
              <a:t>estrategias, políticas, y prácticas</a:t>
            </a:r>
            <a:r>
              <a:rPr lang="es-ES" sz="2000" dirty="0">
                <a:solidFill>
                  <a:srgbClr val="131D3F"/>
                </a:solidFill>
                <a:latin typeface="Montserrat" panose="00000500000000000000" pitchFamily="2" charset="0"/>
              </a:rPr>
              <a:t> </a:t>
            </a:r>
            <a:r>
              <a:rPr lang="es-ES" sz="2000" u="sng" dirty="0">
                <a:solidFill>
                  <a:srgbClr val="131D3F"/>
                </a:solidFill>
                <a:latin typeface="Montserrat" panose="00000500000000000000" pitchFamily="2" charset="0"/>
              </a:rPr>
              <a:t>estructuradas</a:t>
            </a:r>
            <a:r>
              <a:rPr lang="es-ES" sz="2000" dirty="0">
                <a:solidFill>
                  <a:srgbClr val="131D3F"/>
                </a:solidFill>
                <a:latin typeface="Montserrat" panose="00000500000000000000" pitchFamily="2" charset="0"/>
              </a:rPr>
              <a:t> y diseñadas para </a:t>
            </a:r>
            <a:r>
              <a:rPr lang="es-ES" sz="2000" u="sng" dirty="0">
                <a:solidFill>
                  <a:srgbClr val="131D3F"/>
                </a:solidFill>
                <a:latin typeface="Montserrat" panose="00000500000000000000" pitchFamily="2" charset="0"/>
              </a:rPr>
              <a:t>gestionar y planificar</a:t>
            </a:r>
            <a:r>
              <a:rPr lang="es-ES" sz="2000" dirty="0">
                <a:solidFill>
                  <a:srgbClr val="131D3F"/>
                </a:solidFill>
                <a:latin typeface="Montserrat" panose="00000500000000000000" pitchFamily="2" charset="0"/>
              </a:rPr>
              <a:t> las finanzas de una persona, empresa o institución. Aquí tienes una visión más esencial de lo que implica.</a:t>
            </a:r>
          </a:p>
        </p:txBody>
      </p:sp>
      <p:graphicFrame>
        <p:nvGraphicFramePr>
          <p:cNvPr id="2" name="Diagrama 1">
            <a:extLst>
              <a:ext uri="{FF2B5EF4-FFF2-40B4-BE49-F238E27FC236}">
                <a16:creationId xmlns:a16="http://schemas.microsoft.com/office/drawing/2014/main" id="{4B22A9DF-2F53-4240-A9C8-0E30E2E45BE7}"/>
              </a:ext>
            </a:extLst>
          </p:cNvPr>
          <p:cNvGraphicFramePr/>
          <p:nvPr>
            <p:extLst>
              <p:ext uri="{D42A27DB-BD31-4B8C-83A1-F6EECF244321}">
                <p14:modId xmlns:p14="http://schemas.microsoft.com/office/powerpoint/2010/main" val="117326162"/>
              </p:ext>
            </p:extLst>
          </p:nvPr>
        </p:nvGraphicFramePr>
        <p:xfrm>
          <a:off x="408940" y="2889366"/>
          <a:ext cx="11374120" cy="22890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 name="CuadroTexto 10">
            <a:extLst>
              <a:ext uri="{FF2B5EF4-FFF2-40B4-BE49-F238E27FC236}">
                <a16:creationId xmlns:a16="http://schemas.microsoft.com/office/drawing/2014/main" id="{A866E035-585F-4510-8013-E00D4596EDE4}"/>
              </a:ext>
            </a:extLst>
          </p:cNvPr>
          <p:cNvSpPr txBox="1"/>
          <p:nvPr/>
        </p:nvSpPr>
        <p:spPr>
          <a:xfrm>
            <a:off x="685800" y="5418262"/>
            <a:ext cx="11097260" cy="1015663"/>
          </a:xfrm>
          <a:prstGeom prst="rect">
            <a:avLst/>
          </a:prstGeom>
          <a:noFill/>
        </p:spPr>
        <p:txBody>
          <a:bodyPr wrap="square">
            <a:spAutoFit/>
          </a:bodyPr>
          <a:lstStyle/>
          <a:p>
            <a:pPr algn="just"/>
            <a:r>
              <a:rPr lang="es-ES" sz="2000" dirty="0">
                <a:solidFill>
                  <a:srgbClr val="131D3F"/>
                </a:solidFill>
                <a:latin typeface="Montserrat" panose="00000500000000000000" pitchFamily="2" charset="0"/>
              </a:rPr>
              <a:t>En resumen, un programa financiero es un enfoque integral y organizado para la </a:t>
            </a:r>
            <a:r>
              <a:rPr lang="es-ES" sz="2000" b="1" dirty="0">
                <a:solidFill>
                  <a:srgbClr val="131D3F"/>
                </a:solidFill>
                <a:latin typeface="Montserrat" panose="00000500000000000000" pitchFamily="2" charset="0"/>
              </a:rPr>
              <a:t>gestión y planificación de las finanzas</a:t>
            </a:r>
            <a:r>
              <a:rPr lang="es-ES" sz="2000" dirty="0">
                <a:solidFill>
                  <a:srgbClr val="131D3F"/>
                </a:solidFill>
                <a:latin typeface="Montserrat" panose="00000500000000000000" pitchFamily="2" charset="0"/>
              </a:rPr>
              <a:t>, centrado en alcanzar objetivos financieros a través de una combinación de estrategias, análisis, y control.</a:t>
            </a:r>
            <a:endParaRPr lang="es-MX" sz="20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1801978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54</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29"/>
            <a:ext cx="9617592" cy="1188333"/>
          </a:xfrm>
        </p:spPr>
        <p:txBody>
          <a:bodyPr>
            <a:normAutofit/>
          </a:bodyPr>
          <a:lstStyle/>
          <a:p>
            <a:r>
              <a:rPr lang="es-ES" sz="3600" b="1" dirty="0">
                <a:solidFill>
                  <a:srgbClr val="131D3F"/>
                </a:solidFill>
                <a:latin typeface="Montserrat SemiBold" panose="00000700000000000000" pitchFamily="2" charset="0"/>
              </a:rPr>
              <a:t>2.9 Planeación	</a:t>
            </a:r>
            <a:endParaRPr lang="es-MX" sz="2000" b="1" dirty="0">
              <a:solidFill>
                <a:srgbClr val="131D3F"/>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763954" y="1358772"/>
            <a:ext cx="10664092" cy="998348"/>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La planeación es un proceso que implica </a:t>
            </a:r>
            <a:r>
              <a:rPr lang="es-ES" sz="2000" b="1" dirty="0">
                <a:solidFill>
                  <a:srgbClr val="131D3F"/>
                </a:solidFill>
                <a:latin typeface="Montserrat" panose="00000500000000000000" pitchFamily="2" charset="0"/>
              </a:rPr>
              <a:t>desarrollar estrategias </a:t>
            </a:r>
            <a:r>
              <a:rPr lang="es-ES" sz="2000" dirty="0">
                <a:solidFill>
                  <a:srgbClr val="131D3F"/>
                </a:solidFill>
                <a:latin typeface="Montserrat" panose="00000500000000000000" pitchFamily="2" charset="0"/>
              </a:rPr>
              <a:t>para alcanzarlas mis metas.</a:t>
            </a:r>
          </a:p>
          <a:p>
            <a:pPr algn="just">
              <a:spcAft>
                <a:spcPts val="600"/>
              </a:spcAft>
            </a:pPr>
            <a:r>
              <a:rPr lang="es-ES" sz="2000" dirty="0">
                <a:solidFill>
                  <a:srgbClr val="131D3F"/>
                </a:solidFill>
                <a:latin typeface="Montserrat" panose="00000500000000000000" pitchFamily="2" charset="0"/>
              </a:rPr>
              <a:t>En el caso especifico de las finanzas, </a:t>
            </a:r>
            <a:r>
              <a:rPr lang="es-ES" sz="2000" b="1" dirty="0">
                <a:solidFill>
                  <a:srgbClr val="131D3F"/>
                </a:solidFill>
                <a:latin typeface="Montserrat" panose="00000500000000000000" pitchFamily="2" charset="0"/>
              </a:rPr>
              <a:t>organizar los recursos</a:t>
            </a:r>
            <a:r>
              <a:rPr lang="es-ES" sz="2000" dirty="0">
                <a:solidFill>
                  <a:srgbClr val="131D3F"/>
                </a:solidFill>
                <a:latin typeface="Montserrat" panose="00000500000000000000" pitchFamily="2" charset="0"/>
              </a:rPr>
              <a:t> necesarios para implementarlas de manera efectiva. </a:t>
            </a:r>
          </a:p>
        </p:txBody>
      </p:sp>
      <p:pic>
        <p:nvPicPr>
          <p:cNvPr id="1028" name="Picture 4" descr="Los mapas secretos del pirata Francis Drake">
            <a:extLst>
              <a:ext uri="{FF2B5EF4-FFF2-40B4-BE49-F238E27FC236}">
                <a16:creationId xmlns:a16="http://schemas.microsoft.com/office/drawing/2014/main" id="{0E3F8711-33A5-4A25-88B3-8F0ED532AB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0533" y="3005458"/>
            <a:ext cx="6134100" cy="3448050"/>
          </a:xfrm>
          <a:prstGeom prst="rect">
            <a:avLst/>
          </a:prstGeom>
          <a:noFill/>
          <a:extLst>
            <a:ext uri="{909E8E84-426E-40DD-AFC4-6F175D3DCCD1}">
              <a14:hiddenFill xmlns:a14="http://schemas.microsoft.com/office/drawing/2010/main">
                <a:solidFill>
                  <a:srgbClr val="FFFFFF"/>
                </a:solidFill>
              </a14:hiddenFill>
            </a:ext>
          </a:extLst>
        </p:spPr>
      </p:pic>
      <p:pic>
        <p:nvPicPr>
          <p:cNvPr id="5" name="Gráfico 4" descr="Marcador con relleno sólido">
            <a:extLst>
              <a:ext uri="{FF2B5EF4-FFF2-40B4-BE49-F238E27FC236}">
                <a16:creationId xmlns:a16="http://schemas.microsoft.com/office/drawing/2014/main" id="{B5814844-4B4D-4250-8F51-71B85D2B040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40427" y="4015742"/>
            <a:ext cx="373379" cy="373379"/>
          </a:xfrm>
          <a:prstGeom prst="rect">
            <a:avLst/>
          </a:prstGeom>
        </p:spPr>
      </p:pic>
      <p:pic>
        <p:nvPicPr>
          <p:cNvPr id="12" name="Gráfico 11" descr="Marcador con relleno sólido">
            <a:extLst>
              <a:ext uri="{FF2B5EF4-FFF2-40B4-BE49-F238E27FC236}">
                <a16:creationId xmlns:a16="http://schemas.microsoft.com/office/drawing/2014/main" id="{F90A12CB-1E4E-43F7-90AB-F1121D8A79E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68387" y="4542793"/>
            <a:ext cx="373379" cy="373379"/>
          </a:xfrm>
          <a:prstGeom prst="rect">
            <a:avLst/>
          </a:prstGeom>
        </p:spPr>
      </p:pic>
      <p:cxnSp>
        <p:nvCxnSpPr>
          <p:cNvPr id="10" name="Conector: curvado 9">
            <a:extLst>
              <a:ext uri="{FF2B5EF4-FFF2-40B4-BE49-F238E27FC236}">
                <a16:creationId xmlns:a16="http://schemas.microsoft.com/office/drawing/2014/main" id="{9F25DF50-8D81-4170-A2E7-D81CD6A55188}"/>
              </a:ext>
            </a:extLst>
          </p:cNvPr>
          <p:cNvCxnSpPr>
            <a:cxnSpLocks/>
            <a:stCxn id="5" idx="3"/>
            <a:endCxn id="12" idx="1"/>
          </p:cNvCxnSpPr>
          <p:nvPr/>
        </p:nvCxnSpPr>
        <p:spPr>
          <a:xfrm>
            <a:off x="3113806" y="4202432"/>
            <a:ext cx="2354581" cy="527051"/>
          </a:xfrm>
          <a:prstGeom prst="curvedConnector3">
            <a:avLst>
              <a:gd name="adj1" fmla="val 50000"/>
            </a:avLst>
          </a:prstGeom>
          <a:ln w="28575">
            <a:solidFill>
              <a:srgbClr val="CAD2C5"/>
            </a:solidFill>
            <a:prstDash val="sysDash"/>
          </a:ln>
        </p:spPr>
        <p:style>
          <a:lnRef idx="1">
            <a:schemeClr val="accent1"/>
          </a:lnRef>
          <a:fillRef idx="0">
            <a:schemeClr val="accent1"/>
          </a:fillRef>
          <a:effectRef idx="0">
            <a:schemeClr val="accent1"/>
          </a:effectRef>
          <a:fontRef idx="minor">
            <a:schemeClr val="tx1"/>
          </a:fontRef>
        </p:style>
      </p:cxnSp>
      <p:pic>
        <p:nvPicPr>
          <p:cNvPr id="21" name="Gráfico 20" descr="Avión con relleno sólido">
            <a:extLst>
              <a:ext uri="{FF2B5EF4-FFF2-40B4-BE49-F238E27FC236}">
                <a16:creationId xmlns:a16="http://schemas.microsoft.com/office/drawing/2014/main" id="{FF0505E9-0083-436F-9339-0A75B41578C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17227" y="5137648"/>
            <a:ext cx="914400" cy="914400"/>
          </a:xfrm>
          <a:prstGeom prst="rect">
            <a:avLst/>
          </a:prstGeom>
        </p:spPr>
      </p:pic>
      <p:pic>
        <p:nvPicPr>
          <p:cNvPr id="23" name="Gráfico 22" descr="Autobús con relleno sólido">
            <a:extLst>
              <a:ext uri="{FF2B5EF4-FFF2-40B4-BE49-F238E27FC236}">
                <a16:creationId xmlns:a16="http://schemas.microsoft.com/office/drawing/2014/main" id="{E42D6305-0CBF-462D-8C3E-8905D768F3C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917227" y="4085593"/>
            <a:ext cx="914400" cy="914400"/>
          </a:xfrm>
          <a:prstGeom prst="rect">
            <a:avLst/>
          </a:prstGeom>
        </p:spPr>
      </p:pic>
      <p:pic>
        <p:nvPicPr>
          <p:cNvPr id="25" name="Gráfico 24" descr="Ejecutar con relleno sólido">
            <a:extLst>
              <a:ext uri="{FF2B5EF4-FFF2-40B4-BE49-F238E27FC236}">
                <a16:creationId xmlns:a16="http://schemas.microsoft.com/office/drawing/2014/main" id="{8B366F4F-AE54-498F-B667-DFF8317DEA5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917227" y="3033538"/>
            <a:ext cx="914400" cy="914400"/>
          </a:xfrm>
          <a:prstGeom prst="rect">
            <a:avLst/>
          </a:prstGeom>
        </p:spPr>
      </p:pic>
      <p:pic>
        <p:nvPicPr>
          <p:cNvPr id="27" name="Gráfico 26" descr="Coche con relleno sólido">
            <a:extLst>
              <a:ext uri="{FF2B5EF4-FFF2-40B4-BE49-F238E27FC236}">
                <a16:creationId xmlns:a16="http://schemas.microsoft.com/office/drawing/2014/main" id="{DF593F94-BD59-4D11-8A38-054511C967E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96379" y="2997590"/>
            <a:ext cx="914400" cy="914400"/>
          </a:xfrm>
          <a:prstGeom prst="rect">
            <a:avLst/>
          </a:prstGeom>
        </p:spPr>
      </p:pic>
      <p:cxnSp>
        <p:nvCxnSpPr>
          <p:cNvPr id="32" name="Conector: curvado 31">
            <a:extLst>
              <a:ext uri="{FF2B5EF4-FFF2-40B4-BE49-F238E27FC236}">
                <a16:creationId xmlns:a16="http://schemas.microsoft.com/office/drawing/2014/main" id="{BD4EFCEE-95B1-45D9-A0A9-E01FE4B5392B}"/>
              </a:ext>
            </a:extLst>
          </p:cNvPr>
          <p:cNvCxnSpPr>
            <a:cxnSpLocks/>
            <a:stCxn id="5" idx="2"/>
            <a:endCxn id="12" idx="2"/>
          </p:cNvCxnSpPr>
          <p:nvPr/>
        </p:nvCxnSpPr>
        <p:spPr>
          <a:xfrm rot="16200000" flipH="1">
            <a:off x="4027572" y="3288666"/>
            <a:ext cx="527051" cy="2727960"/>
          </a:xfrm>
          <a:prstGeom prst="curvedConnector3">
            <a:avLst>
              <a:gd name="adj1" fmla="val 274939"/>
            </a:avLst>
          </a:prstGeom>
          <a:ln w="28575">
            <a:solidFill>
              <a:srgbClr val="131D3F"/>
            </a:solidFill>
            <a:prstDash val="sysDash"/>
          </a:ln>
        </p:spPr>
        <p:style>
          <a:lnRef idx="1">
            <a:schemeClr val="accent1"/>
          </a:lnRef>
          <a:fillRef idx="0">
            <a:schemeClr val="accent1"/>
          </a:fillRef>
          <a:effectRef idx="0">
            <a:schemeClr val="accent1"/>
          </a:effectRef>
          <a:fontRef idx="minor">
            <a:schemeClr val="tx1"/>
          </a:fontRef>
        </p:style>
      </p:cxnSp>
      <p:cxnSp>
        <p:nvCxnSpPr>
          <p:cNvPr id="39" name="Conector: curvado 38">
            <a:extLst>
              <a:ext uri="{FF2B5EF4-FFF2-40B4-BE49-F238E27FC236}">
                <a16:creationId xmlns:a16="http://schemas.microsoft.com/office/drawing/2014/main" id="{C2D5E477-1372-44F7-B13E-86570176F136}"/>
              </a:ext>
            </a:extLst>
          </p:cNvPr>
          <p:cNvCxnSpPr>
            <a:cxnSpLocks/>
            <a:stCxn id="5" idx="0"/>
          </p:cNvCxnSpPr>
          <p:nvPr/>
        </p:nvCxnSpPr>
        <p:spPr>
          <a:xfrm rot="16200000" flipH="1">
            <a:off x="4028207" y="2914651"/>
            <a:ext cx="525779" cy="2727960"/>
          </a:xfrm>
          <a:prstGeom prst="curvedConnector4">
            <a:avLst>
              <a:gd name="adj1" fmla="val -91304"/>
              <a:gd name="adj2" fmla="val 64316"/>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pic>
        <p:nvPicPr>
          <p:cNvPr id="1030" name="Picture 6" descr="Barco con contenedores - Iconos gratis de transporte">
            <a:extLst>
              <a:ext uri="{FF2B5EF4-FFF2-40B4-BE49-F238E27FC236}">
                <a16:creationId xmlns:a16="http://schemas.microsoft.com/office/drawing/2014/main" id="{58F74590-E2A0-402E-B13D-959F6E824DB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396380" y="4085593"/>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ubmarino - Iconos gratis de transporte">
            <a:extLst>
              <a:ext uri="{FF2B5EF4-FFF2-40B4-BE49-F238E27FC236}">
                <a16:creationId xmlns:a16="http://schemas.microsoft.com/office/drawing/2014/main" id="{68A10D6C-623E-4E23-A5BD-B80CEFE44D5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96379" y="5133832"/>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118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55</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605637" y="2010923"/>
            <a:ext cx="10980726" cy="3175522"/>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Dirección y Enfoque:</a:t>
            </a:r>
            <a:r>
              <a:rPr lang="es-ES" sz="2400" dirty="0">
                <a:solidFill>
                  <a:srgbClr val="131D3F"/>
                </a:solidFill>
                <a:latin typeface="Montserrat" panose="00000500000000000000" pitchFamily="2" charset="0"/>
              </a:rPr>
              <a:t> Proporciona una dirección clara y un enfoque en los objetivos, evitando la dispersión de esfuerzos y recursos.</a:t>
            </a:r>
          </a:p>
          <a:p>
            <a:pPr algn="just">
              <a:spcAft>
                <a:spcPts val="600"/>
              </a:spcAft>
            </a:pPr>
            <a:r>
              <a:rPr lang="es-ES" sz="2400" b="1" dirty="0">
                <a:solidFill>
                  <a:srgbClr val="131D3F"/>
                </a:solidFill>
                <a:latin typeface="Montserrat" panose="00000500000000000000" pitchFamily="2" charset="0"/>
              </a:rPr>
              <a:t>Anticipación y Prevención:</a:t>
            </a:r>
            <a:r>
              <a:rPr lang="es-ES" sz="2400" dirty="0">
                <a:solidFill>
                  <a:srgbClr val="131D3F"/>
                </a:solidFill>
                <a:latin typeface="Montserrat" panose="00000500000000000000" pitchFamily="2" charset="0"/>
              </a:rPr>
              <a:t> Ayuda a anticipar problemas potenciales y a desarrollar soluciones antes de que se conviertan en crisis.</a:t>
            </a:r>
          </a:p>
          <a:p>
            <a:pPr algn="just">
              <a:spcAft>
                <a:spcPts val="600"/>
              </a:spcAft>
            </a:pPr>
            <a:r>
              <a:rPr lang="es-ES" sz="2400" b="1" dirty="0">
                <a:solidFill>
                  <a:srgbClr val="131D3F"/>
                </a:solidFill>
                <a:latin typeface="Montserrat" panose="00000500000000000000" pitchFamily="2" charset="0"/>
              </a:rPr>
              <a:t>Eficiencia y Efectividad:</a:t>
            </a:r>
            <a:r>
              <a:rPr lang="es-ES" sz="2400" dirty="0">
                <a:solidFill>
                  <a:srgbClr val="131D3F"/>
                </a:solidFill>
                <a:latin typeface="Montserrat" panose="00000500000000000000" pitchFamily="2" charset="0"/>
              </a:rPr>
              <a:t> Optimiza el uso de recursos y mejora la eficiencia en la consecución de los objetivos.</a:t>
            </a:r>
          </a:p>
          <a:p>
            <a:pPr algn="just">
              <a:spcAft>
                <a:spcPts val="600"/>
              </a:spcAft>
            </a:pPr>
            <a:r>
              <a:rPr lang="es-ES" sz="2400" b="1" dirty="0">
                <a:solidFill>
                  <a:srgbClr val="131D3F"/>
                </a:solidFill>
                <a:latin typeface="Montserrat" panose="00000500000000000000" pitchFamily="2" charset="0"/>
              </a:rPr>
              <a:t>Medición del Progreso:</a:t>
            </a:r>
            <a:r>
              <a:rPr lang="es-ES" sz="2400" dirty="0">
                <a:solidFill>
                  <a:srgbClr val="131D3F"/>
                </a:solidFill>
                <a:latin typeface="Montserrat" panose="00000500000000000000" pitchFamily="2" charset="0"/>
              </a:rPr>
              <a:t> Permite evaluar el progreso y realizar ajustes para asegurar que las metas se alcancen de manera efectiva.</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895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2.9 Planeación</a:t>
            </a:r>
            <a:br>
              <a:rPr lang="es-ES" sz="3600" b="1" dirty="0">
                <a:solidFill>
                  <a:srgbClr val="131D3F"/>
                </a:solidFill>
                <a:latin typeface="Montserrat SemiBold" panose="00000700000000000000" pitchFamily="2" charset="0"/>
              </a:rPr>
            </a:br>
            <a:r>
              <a:rPr lang="es-ES" sz="2200" b="1" dirty="0">
                <a:solidFill>
                  <a:srgbClr val="131D3F"/>
                </a:solidFill>
                <a:latin typeface="Montserrat SemiBold" panose="00000700000000000000" pitchFamily="2" charset="0"/>
              </a:rPr>
              <a:t>	2.9.1 Importancia de la Planeación</a:t>
            </a:r>
            <a:endParaRPr lang="es-MX" sz="2200" b="1" dirty="0">
              <a:solidFill>
                <a:srgbClr val="131D3F"/>
              </a:solidFill>
              <a:latin typeface="Montserrat SemiBold" panose="00000700000000000000" pitchFamily="2" charset="0"/>
            </a:endParaRPr>
          </a:p>
        </p:txBody>
      </p:sp>
      <p:sp>
        <p:nvSpPr>
          <p:cNvPr id="6" name="Flecha: en U 5">
            <a:hlinkClick r:id="rId5" action="ppaction://hlinksldjump"/>
            <a:extLst>
              <a:ext uri="{FF2B5EF4-FFF2-40B4-BE49-F238E27FC236}">
                <a16:creationId xmlns:a16="http://schemas.microsoft.com/office/drawing/2014/main" id="{80B68E59-F60C-4734-8030-A6A56D762091}"/>
              </a:ext>
            </a:extLst>
          </p:cNvPr>
          <p:cNvSpPr/>
          <p:nvPr/>
        </p:nvSpPr>
        <p:spPr>
          <a:xfrm rot="5400000">
            <a:off x="548134" y="5941129"/>
            <a:ext cx="668595" cy="754816"/>
          </a:xfrm>
          <a:prstGeom prst="uturnArrow">
            <a:avLst/>
          </a:prstGeom>
          <a:solidFill>
            <a:srgbClr val="2F3E46"/>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3154772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56</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605637" y="2049480"/>
            <a:ext cx="10980726" cy="275904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Presupuesto: </a:t>
            </a:r>
            <a:r>
              <a:rPr lang="es-ES" sz="2400" dirty="0">
                <a:solidFill>
                  <a:srgbClr val="131D3F"/>
                </a:solidFill>
                <a:latin typeface="Montserrat" panose="00000500000000000000" pitchFamily="2" charset="0"/>
              </a:rPr>
              <a:t>Crear y gestionar presupuestos para controlar los gastos y asignar fondos de manera efectiva.</a:t>
            </a:r>
          </a:p>
          <a:p>
            <a:pPr algn="just">
              <a:spcAft>
                <a:spcPts val="600"/>
              </a:spcAft>
            </a:pPr>
            <a:r>
              <a:rPr lang="es-ES" sz="2400" b="1" dirty="0">
                <a:solidFill>
                  <a:srgbClr val="131D3F"/>
                </a:solidFill>
                <a:latin typeface="Montserrat" panose="00000500000000000000" pitchFamily="2" charset="0"/>
              </a:rPr>
              <a:t>Análisis de Flujo de Efectivo: </a:t>
            </a:r>
            <a:r>
              <a:rPr lang="es-ES" sz="2400" dirty="0">
                <a:solidFill>
                  <a:srgbClr val="131D3F"/>
                </a:solidFill>
                <a:latin typeface="Montserrat" panose="00000500000000000000" pitchFamily="2" charset="0"/>
              </a:rPr>
              <a:t>Monitorear las entradas y salidas de dinero para garantizar la liquidez y la estabilidad financiera.</a:t>
            </a:r>
          </a:p>
          <a:p>
            <a:pPr algn="just">
              <a:spcAft>
                <a:spcPts val="600"/>
              </a:spcAft>
            </a:pPr>
            <a:r>
              <a:rPr lang="es-ES" sz="2400" b="1" dirty="0">
                <a:solidFill>
                  <a:srgbClr val="131D3F"/>
                </a:solidFill>
                <a:latin typeface="Montserrat" panose="00000500000000000000" pitchFamily="2" charset="0"/>
              </a:rPr>
              <a:t>Proyecciones y Planificación de Inversiones: </a:t>
            </a:r>
            <a:r>
              <a:rPr lang="es-ES" sz="2400" dirty="0">
                <a:solidFill>
                  <a:srgbClr val="131D3F"/>
                </a:solidFill>
                <a:latin typeface="Montserrat" panose="00000500000000000000" pitchFamily="2" charset="0"/>
              </a:rPr>
              <a:t>Realizar proyecciones financieras y planificar inversiones para el crecimiento y la sostenibilidad a largo plazo.</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895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2.9 Planeación</a:t>
            </a:r>
            <a:br>
              <a:rPr lang="es-ES" sz="3600" b="1" dirty="0">
                <a:solidFill>
                  <a:srgbClr val="131D3F"/>
                </a:solidFill>
                <a:latin typeface="Montserrat SemiBold" panose="00000700000000000000" pitchFamily="2" charset="0"/>
              </a:rPr>
            </a:br>
            <a:r>
              <a:rPr lang="es-ES" sz="2200" b="1" dirty="0">
                <a:solidFill>
                  <a:srgbClr val="131D3F"/>
                </a:solidFill>
                <a:latin typeface="Montserrat SemiBold" panose="00000700000000000000" pitchFamily="2" charset="0"/>
              </a:rPr>
              <a:t>	2.9.2 Planeación Financiera</a:t>
            </a:r>
            <a:endParaRPr lang="es-MX" sz="22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18192442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57</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605637" y="1417885"/>
            <a:ext cx="10980726" cy="1287609"/>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dirty="0">
                <a:solidFill>
                  <a:srgbClr val="131D3F"/>
                </a:solidFill>
                <a:latin typeface="Montserrat" panose="00000500000000000000" pitchFamily="2" charset="0"/>
              </a:rPr>
              <a:t>Es el detalle de una idea, proyecto o plan financiero, que presentamos con el objetivo de convencer a posibles inversores o prestamistas de que el proyecto es viable, rentable y merece la inversión de recursos.</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895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2.7 Propuestas (opiones9</a:t>
            </a:r>
            <a:endParaRPr lang="es-MX" sz="2200" b="1" dirty="0">
              <a:solidFill>
                <a:srgbClr val="131D3F"/>
              </a:solidFill>
              <a:latin typeface="Montserrat SemiBold" panose="00000700000000000000" pitchFamily="2" charset="0"/>
            </a:endParaRPr>
          </a:p>
        </p:txBody>
      </p:sp>
      <p:graphicFrame>
        <p:nvGraphicFramePr>
          <p:cNvPr id="4" name="Diagrama 3">
            <a:extLst>
              <a:ext uri="{FF2B5EF4-FFF2-40B4-BE49-F238E27FC236}">
                <a16:creationId xmlns:a16="http://schemas.microsoft.com/office/drawing/2014/main" id="{21F61BD1-E460-4865-80E7-1041B9A6A38B}"/>
              </a:ext>
            </a:extLst>
          </p:cNvPr>
          <p:cNvGraphicFramePr/>
          <p:nvPr>
            <p:extLst>
              <p:ext uri="{D42A27DB-BD31-4B8C-83A1-F6EECF244321}">
                <p14:modId xmlns:p14="http://schemas.microsoft.com/office/powerpoint/2010/main" val="1759299625"/>
              </p:ext>
            </p:extLst>
          </p:nvPr>
        </p:nvGraphicFramePr>
        <p:xfrm>
          <a:off x="352498" y="2917570"/>
          <a:ext cx="11487004" cy="205247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0" name="Diagrama 9">
            <a:extLst>
              <a:ext uri="{FF2B5EF4-FFF2-40B4-BE49-F238E27FC236}">
                <a16:creationId xmlns:a16="http://schemas.microsoft.com/office/drawing/2014/main" id="{E651A547-DE1E-4866-BC84-DCC9C6BF72CA}"/>
              </a:ext>
            </a:extLst>
          </p:cNvPr>
          <p:cNvGraphicFramePr/>
          <p:nvPr>
            <p:extLst>
              <p:ext uri="{D42A27DB-BD31-4B8C-83A1-F6EECF244321}">
                <p14:modId xmlns:p14="http://schemas.microsoft.com/office/powerpoint/2010/main" val="195122122"/>
              </p:ext>
            </p:extLst>
          </p:nvPr>
        </p:nvGraphicFramePr>
        <p:xfrm>
          <a:off x="3940529" y="4413876"/>
          <a:ext cx="4310942" cy="205247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8076072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58</a:t>
            </a:fld>
            <a:endParaRPr lang="es-MX" sz="2400" b="1" dirty="0">
              <a:solidFill>
                <a:srgbClr val="BA955B"/>
              </a:solidFill>
              <a:latin typeface="Montserrat SemiBold" panose="00000700000000000000" pitchFamily="2" charset="0"/>
            </a:endParaRP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8952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2.4 Portafolio</a:t>
            </a:r>
            <a:endParaRPr lang="es-MX" sz="2200" b="1" dirty="0">
              <a:solidFill>
                <a:srgbClr val="131D3F"/>
              </a:solidFill>
              <a:latin typeface="Montserrat SemiBold" panose="00000700000000000000" pitchFamily="2" charset="0"/>
            </a:endParaRPr>
          </a:p>
        </p:txBody>
      </p:sp>
      <p:pic>
        <p:nvPicPr>
          <p:cNvPr id="9" name="Picture 2" descr="Juan en Cripto ₿ 🍊⚡ on X: &quot;Relación riesgo-rentabilidad de algunos  activos. Cada persona tiene un perfil de riesgo diferente y debe tener un  portafolio diferente. Lo ideal es tener un portafolio">
            <a:extLst>
              <a:ext uri="{FF2B5EF4-FFF2-40B4-BE49-F238E27FC236}">
                <a16:creationId xmlns:a16="http://schemas.microsoft.com/office/drawing/2014/main" id="{65D7CC76-85A5-406F-9DDC-36E148F1A0BE}"/>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val="0"/>
              </a:ext>
            </a:extLst>
          </a:blip>
          <a:srcRect t="4528" b="12115"/>
          <a:stretch/>
        </p:blipFill>
        <p:spPr bwMode="auto">
          <a:xfrm>
            <a:off x="1479158" y="1205809"/>
            <a:ext cx="9233683" cy="5007654"/>
          </a:xfrm>
          <a:prstGeom prst="rect">
            <a:avLst/>
          </a:prstGeom>
          <a:noFill/>
          <a:scene3d>
            <a:camera prst="orthographicFront"/>
            <a:lightRig rig="threePt" dir="t"/>
          </a:scene3d>
          <a:sp3d>
            <a:bevelT w="38100" h="38100"/>
          </a:sp3d>
          <a:extLst>
            <a:ext uri="{909E8E84-426E-40DD-AFC4-6F175D3DCCD1}">
              <a14:hiddenFill xmlns:a14="http://schemas.microsoft.com/office/drawing/2010/main">
                <a:solidFill>
                  <a:srgbClr val="FFFFFF"/>
                </a:solidFill>
              </a14:hiddenFill>
            </a:ext>
          </a:extLst>
        </p:spPr>
      </p:pic>
      <p:sp>
        <p:nvSpPr>
          <p:cNvPr id="11" name="Google Shape;112;p3">
            <a:extLst>
              <a:ext uri="{FF2B5EF4-FFF2-40B4-BE49-F238E27FC236}">
                <a16:creationId xmlns:a16="http://schemas.microsoft.com/office/drawing/2014/main" id="{07871D83-DE00-4503-91CA-1D9CF788DF3B}"/>
              </a:ext>
            </a:extLst>
          </p:cNvPr>
          <p:cNvSpPr txBox="1"/>
          <p:nvPr/>
        </p:nvSpPr>
        <p:spPr>
          <a:xfrm>
            <a:off x="1479158" y="6356473"/>
            <a:ext cx="2745509" cy="381993"/>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dirty="0">
                <a:solidFill>
                  <a:srgbClr val="131D3F"/>
                </a:solidFill>
                <a:latin typeface="Montserrat" panose="00000500000000000000" pitchFamily="2" charset="0"/>
              </a:rPr>
              <a:t>$ Cash </a:t>
            </a:r>
            <a:r>
              <a:rPr lang="es-ES" sz="2400" dirty="0" err="1">
                <a:solidFill>
                  <a:srgbClr val="131D3F"/>
                </a:solidFill>
                <a:latin typeface="Montserrat" panose="00000500000000000000" pitchFamily="2" charset="0"/>
              </a:rPr>
              <a:t>is</a:t>
            </a:r>
            <a:r>
              <a:rPr lang="es-ES" sz="2400" dirty="0">
                <a:solidFill>
                  <a:srgbClr val="131D3F"/>
                </a:solidFill>
                <a:latin typeface="Montserrat" panose="00000500000000000000" pitchFamily="2" charset="0"/>
              </a:rPr>
              <a:t> King $</a:t>
            </a:r>
          </a:p>
        </p:txBody>
      </p:sp>
    </p:spTree>
    <p:extLst>
      <p:ext uri="{BB962C8B-B14F-4D97-AF65-F5344CB8AC3E}">
        <p14:creationId xmlns:p14="http://schemas.microsoft.com/office/powerpoint/2010/main" val="15173899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59</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605637" y="2981784"/>
            <a:ext cx="10980726" cy="2066814"/>
          </a:xfrm>
          <a:prstGeom prst="rect">
            <a:avLst/>
          </a:prstGeom>
          <a:noFill/>
          <a:ln>
            <a:noFill/>
          </a:ln>
        </p:spPr>
        <p:txBody>
          <a:bodyPr spcFirstLastPara="1" wrap="square" lIns="91425" tIns="45700" rIns="91425" bIns="45700" anchor="t" anchorCtr="0">
            <a:noAutofit/>
          </a:bodyPr>
          <a:lstStyle/>
          <a:p>
            <a:pPr algn="just">
              <a:spcAft>
                <a:spcPts val="1200"/>
              </a:spcAft>
            </a:pPr>
            <a:r>
              <a:rPr lang="es-ES" sz="2400" dirty="0">
                <a:solidFill>
                  <a:srgbClr val="131D3F"/>
                </a:solidFill>
                <a:latin typeface="Montserrat" panose="00000500000000000000" pitchFamily="2" charset="0"/>
              </a:rPr>
              <a:t>Un portafolio de inversión es un </a:t>
            </a:r>
            <a:r>
              <a:rPr lang="es-ES" sz="2400" b="1" dirty="0">
                <a:solidFill>
                  <a:srgbClr val="131D3F"/>
                </a:solidFill>
                <a:latin typeface="Montserrat" panose="00000500000000000000" pitchFamily="2" charset="0"/>
              </a:rPr>
              <a:t>grupo de activos financieros</a:t>
            </a:r>
            <a:r>
              <a:rPr lang="es-ES" sz="2400" dirty="0">
                <a:solidFill>
                  <a:srgbClr val="131D3F"/>
                </a:solidFill>
                <a:latin typeface="Montserrat" panose="00000500000000000000" pitchFamily="2" charset="0"/>
              </a:rPr>
              <a:t> como acciones, bonos, bienes raíces y otros instrumentos que una persona o entidad posee con el objetivo de alcanzar sus metas financieras. </a:t>
            </a:r>
          </a:p>
          <a:p>
            <a:pPr algn="just">
              <a:spcAft>
                <a:spcPts val="600"/>
              </a:spcAft>
            </a:pPr>
            <a:r>
              <a:rPr lang="es-ES" sz="2400" dirty="0">
                <a:solidFill>
                  <a:srgbClr val="131D3F"/>
                </a:solidFill>
                <a:latin typeface="Montserrat" panose="00000500000000000000" pitchFamily="2" charset="0"/>
              </a:rPr>
              <a:t>La idea principal es </a:t>
            </a:r>
            <a:r>
              <a:rPr lang="es-ES" sz="2400" b="1" dirty="0">
                <a:solidFill>
                  <a:srgbClr val="131D3F"/>
                </a:solidFill>
                <a:latin typeface="Montserrat" panose="00000500000000000000" pitchFamily="2" charset="0"/>
              </a:rPr>
              <a:t>diversificar los activos</a:t>
            </a:r>
            <a:r>
              <a:rPr lang="es-ES" sz="2400" dirty="0">
                <a:solidFill>
                  <a:srgbClr val="131D3F"/>
                </a:solidFill>
                <a:latin typeface="Montserrat" panose="00000500000000000000" pitchFamily="2" charset="0"/>
              </a:rPr>
              <a:t> para </a:t>
            </a:r>
            <a:r>
              <a:rPr lang="es-ES" sz="2400" b="1" dirty="0">
                <a:solidFill>
                  <a:srgbClr val="131D3F"/>
                </a:solidFill>
                <a:latin typeface="Montserrat" panose="00000500000000000000" pitchFamily="2" charset="0"/>
              </a:rPr>
              <a:t>gestionar el riesgo</a:t>
            </a:r>
            <a:r>
              <a:rPr lang="es-ES" sz="2400" dirty="0">
                <a:solidFill>
                  <a:srgbClr val="131D3F"/>
                </a:solidFill>
                <a:latin typeface="Montserrat" panose="00000500000000000000" pitchFamily="2" charset="0"/>
              </a:rPr>
              <a:t> y </a:t>
            </a:r>
            <a:r>
              <a:rPr lang="es-ES" sz="2400" b="1" dirty="0">
                <a:solidFill>
                  <a:srgbClr val="131D3F"/>
                </a:solidFill>
                <a:latin typeface="Montserrat" panose="00000500000000000000" pitchFamily="2" charset="0"/>
              </a:rPr>
              <a:t>mejorar el potencial de rendimientos</a:t>
            </a:r>
            <a:r>
              <a:rPr lang="es-ES" sz="2400" dirty="0">
                <a:solidFill>
                  <a:srgbClr val="131D3F"/>
                </a:solidFill>
                <a:latin typeface="Montserrat" panose="00000500000000000000" pitchFamily="2" charset="0"/>
              </a:rPr>
              <a:t>.</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28271" y="866168"/>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2.4 Portafolio</a:t>
            </a:r>
          </a:p>
          <a:p>
            <a:r>
              <a:rPr lang="es-ES" sz="2000" b="1" dirty="0">
                <a:solidFill>
                  <a:srgbClr val="131D3F"/>
                </a:solidFill>
                <a:latin typeface="Montserrat SemiBold" panose="00000700000000000000" pitchFamily="2" charset="0"/>
              </a:rPr>
              <a:t>	¿Cómo maximizar el rendimiento y reducir riesgo?</a:t>
            </a:r>
            <a:endParaRPr lang="es-MX" sz="12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39931253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60</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1421466" y="4552593"/>
            <a:ext cx="9349068" cy="1223816"/>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Perfil de Riesgo:</a:t>
            </a:r>
            <a:r>
              <a:rPr lang="es-ES" sz="2400" dirty="0">
                <a:solidFill>
                  <a:srgbClr val="131D3F"/>
                </a:solidFill>
                <a:latin typeface="Montserrat" panose="00000500000000000000" pitchFamily="2" charset="0"/>
              </a:rPr>
              <a:t> Evaluación de la tolerancia y capacidad para soportar la volatilidad y las pérdidas potenciales en sus inversiones. </a:t>
            </a:r>
            <a:r>
              <a:rPr lang="es-ES" sz="2400" b="1" dirty="0">
                <a:solidFill>
                  <a:srgbClr val="131D3F"/>
                </a:solidFill>
                <a:latin typeface="Montserrat" panose="00000500000000000000" pitchFamily="2" charset="0"/>
              </a:rPr>
              <a:t>conservadora</a:t>
            </a:r>
            <a:r>
              <a:rPr lang="es-ES" sz="24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moderada</a:t>
            </a:r>
            <a:r>
              <a:rPr lang="es-ES" sz="2400" dirty="0">
                <a:solidFill>
                  <a:srgbClr val="131D3F"/>
                </a:solidFill>
                <a:latin typeface="Montserrat" panose="00000500000000000000" pitchFamily="2" charset="0"/>
              </a:rPr>
              <a:t> o </a:t>
            </a:r>
            <a:r>
              <a:rPr lang="es-ES" sz="2400" b="1" dirty="0">
                <a:solidFill>
                  <a:srgbClr val="131D3F"/>
                </a:solidFill>
                <a:latin typeface="Montserrat" panose="00000500000000000000" pitchFamily="2" charset="0"/>
              </a:rPr>
              <a:t>agresiva</a:t>
            </a:r>
            <a:r>
              <a:rPr lang="es-ES" sz="2400" dirty="0">
                <a:solidFill>
                  <a:srgbClr val="131D3F"/>
                </a:solidFill>
                <a:latin typeface="Montserrat" panose="00000500000000000000" pitchFamily="2" charset="0"/>
              </a:rPr>
              <a:t>.</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28271" y="62226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2.4 Portafolio</a:t>
            </a:r>
          </a:p>
          <a:p>
            <a:r>
              <a:rPr lang="es-ES" sz="2000" b="1" dirty="0">
                <a:solidFill>
                  <a:srgbClr val="131D3F"/>
                </a:solidFill>
                <a:latin typeface="Montserrat SemiBold" panose="00000700000000000000" pitchFamily="2" charset="0"/>
              </a:rPr>
              <a:t>	¿Cómo maximizar el rendimiento y reducir riesgo?</a:t>
            </a:r>
            <a:endParaRPr lang="es-MX" sz="1200" b="1" dirty="0">
              <a:solidFill>
                <a:srgbClr val="131D3F"/>
              </a:solidFill>
              <a:latin typeface="Montserrat SemiBold" panose="00000700000000000000" pitchFamily="2" charset="0"/>
            </a:endParaRPr>
          </a:p>
        </p:txBody>
      </p:sp>
      <p:pic>
        <p:nvPicPr>
          <p:cNvPr id="1026" name="Picture 2" descr="Productos de inversión según tus objetivos - SyPpT">
            <a:extLst>
              <a:ext uri="{FF2B5EF4-FFF2-40B4-BE49-F238E27FC236}">
                <a16:creationId xmlns:a16="http://schemas.microsoft.com/office/drawing/2014/main" id="{B1E87FEF-FAE5-450C-B6E7-D6B7237AEE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189" y="1954435"/>
            <a:ext cx="4151345" cy="2075673"/>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12;p3">
            <a:extLst>
              <a:ext uri="{FF2B5EF4-FFF2-40B4-BE49-F238E27FC236}">
                <a16:creationId xmlns:a16="http://schemas.microsoft.com/office/drawing/2014/main" id="{77606327-66E8-4732-B137-9DE217B669FC}"/>
              </a:ext>
            </a:extLst>
          </p:cNvPr>
          <p:cNvSpPr txBox="1"/>
          <p:nvPr/>
        </p:nvSpPr>
        <p:spPr>
          <a:xfrm>
            <a:off x="1421466" y="2861657"/>
            <a:ext cx="3823355" cy="5194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Objetivos financieros</a:t>
            </a:r>
            <a:endParaRPr lang="es-ES" sz="2400" dirty="0">
              <a:solidFill>
                <a:srgbClr val="131D3F"/>
              </a:solidFill>
              <a:latin typeface="Montserrat" panose="00000500000000000000" pitchFamily="2" charset="0"/>
            </a:endParaRPr>
          </a:p>
        </p:txBody>
      </p:sp>
      <p:sp>
        <p:nvSpPr>
          <p:cNvPr id="2" name="Flecha: hacia abajo 1">
            <a:extLst>
              <a:ext uri="{FF2B5EF4-FFF2-40B4-BE49-F238E27FC236}">
                <a16:creationId xmlns:a16="http://schemas.microsoft.com/office/drawing/2014/main" id="{1AD1F8C6-F7AF-4D15-A043-200372335694}"/>
              </a:ext>
            </a:extLst>
          </p:cNvPr>
          <p:cNvSpPr/>
          <p:nvPr/>
        </p:nvSpPr>
        <p:spPr>
          <a:xfrm>
            <a:off x="2433856" y="3377474"/>
            <a:ext cx="424206" cy="1052265"/>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Flecha: hacia abajo 9">
            <a:extLst>
              <a:ext uri="{FF2B5EF4-FFF2-40B4-BE49-F238E27FC236}">
                <a16:creationId xmlns:a16="http://schemas.microsoft.com/office/drawing/2014/main" id="{85E24A83-D39F-4601-901B-2EA05D07AD1D}"/>
              </a:ext>
            </a:extLst>
          </p:cNvPr>
          <p:cNvSpPr/>
          <p:nvPr/>
        </p:nvSpPr>
        <p:spPr>
          <a:xfrm rot="10800000">
            <a:off x="3333143" y="3377474"/>
            <a:ext cx="424206" cy="1052265"/>
          </a:xfrm>
          <a:prstGeom prst="downArrow">
            <a:avLst/>
          </a:prstGeom>
          <a:solidFill>
            <a:srgbClr val="37464C"/>
          </a:solidFill>
          <a:ln>
            <a:solidFill>
              <a:srgbClr val="2F3E46"/>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143950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61</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605637" y="1463144"/>
            <a:ext cx="10980726" cy="25269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Diversificación:</a:t>
            </a:r>
            <a:r>
              <a:rPr lang="es-ES" sz="2400" dirty="0">
                <a:solidFill>
                  <a:srgbClr val="131D3F"/>
                </a:solidFill>
                <a:latin typeface="Montserrat" panose="00000500000000000000" pitchFamily="2" charset="0"/>
              </a:rPr>
              <a:t> Distribuye tus inversiones en diferentes clases de activos (acciones, bonos, bienes raíces, etc.) y dentro de cada clase.</a:t>
            </a:r>
          </a:p>
          <a:p>
            <a:pPr algn="just">
              <a:spcAft>
                <a:spcPts val="600"/>
              </a:spcAft>
            </a:pPr>
            <a:r>
              <a:rPr lang="es-ES" sz="2400" b="1" dirty="0">
                <a:solidFill>
                  <a:srgbClr val="131D3F"/>
                </a:solidFill>
                <a:latin typeface="Montserrat" panose="00000500000000000000" pitchFamily="2" charset="0"/>
              </a:rPr>
              <a:t>Asignación de Activos:</a:t>
            </a:r>
            <a:r>
              <a:rPr lang="es-ES" sz="2400" dirty="0">
                <a:solidFill>
                  <a:srgbClr val="131D3F"/>
                </a:solidFill>
                <a:latin typeface="Montserrat" panose="00000500000000000000" pitchFamily="2" charset="0"/>
              </a:rPr>
              <a:t> Decide qué porcentaje de tu portafolio estará en cada clase de activo.</a:t>
            </a:r>
          </a:p>
          <a:p>
            <a:pPr algn="just">
              <a:spcAft>
                <a:spcPts val="600"/>
              </a:spcAft>
            </a:pPr>
            <a:r>
              <a:rPr lang="es-ES" sz="2400" b="1" dirty="0">
                <a:solidFill>
                  <a:srgbClr val="131D3F"/>
                </a:solidFill>
                <a:latin typeface="Montserrat" panose="00000500000000000000" pitchFamily="2" charset="0"/>
              </a:rPr>
              <a:t>Rebalanceo: </a:t>
            </a:r>
            <a:r>
              <a:rPr lang="es-ES" sz="2400" dirty="0">
                <a:solidFill>
                  <a:srgbClr val="131D3F"/>
                </a:solidFill>
                <a:latin typeface="Montserrat" panose="00000500000000000000" pitchFamily="2" charset="0"/>
              </a:rPr>
              <a:t>Revisa y ajusta tu portafolio periódicamente, asegúrate de que siga alineado con tus objetivos y perfil de riesgo. </a:t>
            </a:r>
          </a:p>
          <a:p>
            <a:pPr algn="just">
              <a:spcAft>
                <a:spcPts val="600"/>
              </a:spcAft>
            </a:pPr>
            <a:endParaRPr lang="es-ES" sz="2400" dirty="0">
              <a:solidFill>
                <a:srgbClr val="131D3F"/>
              </a:solidFill>
              <a:latin typeface="Montserrat" panose="00000500000000000000" pitchFamily="2" charset="0"/>
            </a:endParaRP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2.4 Portafolio</a:t>
            </a:r>
          </a:p>
          <a:p>
            <a:r>
              <a:rPr lang="es-ES" sz="2000" b="1" dirty="0">
                <a:solidFill>
                  <a:srgbClr val="131D3F"/>
                </a:solidFill>
                <a:latin typeface="Montserrat SemiBold" panose="00000700000000000000" pitchFamily="2" charset="0"/>
              </a:rPr>
              <a:t>	¿Cómo maximizar el rendimiento y reducir riesgo?</a:t>
            </a:r>
            <a:endParaRPr lang="es-MX" sz="1200" b="1" dirty="0">
              <a:solidFill>
                <a:srgbClr val="131D3F"/>
              </a:solidFill>
              <a:latin typeface="Montserrat SemiBold" panose="00000700000000000000" pitchFamily="2" charset="0"/>
            </a:endParaRPr>
          </a:p>
        </p:txBody>
      </p:sp>
      <p:pic>
        <p:nvPicPr>
          <p:cNvPr id="1028" name="Picture 4" descr="Para qué sirve la diversificación de inversiones? - Mariereined">
            <a:extLst>
              <a:ext uri="{FF2B5EF4-FFF2-40B4-BE49-F238E27FC236}">
                <a16:creationId xmlns:a16="http://schemas.microsoft.com/office/drawing/2014/main" id="{AA083755-1B6A-44CA-9DF4-C25388A67F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7301" y="3990110"/>
            <a:ext cx="3583071" cy="23899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lación entre el riesgo/rendimiento en inversiones">
            <a:extLst>
              <a:ext uri="{FF2B5EF4-FFF2-40B4-BE49-F238E27FC236}">
                <a16:creationId xmlns:a16="http://schemas.microsoft.com/office/drawing/2014/main" id="{BDD89A8F-5405-405A-9D92-3783D2B8DB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655" y="3990109"/>
            <a:ext cx="5246144" cy="2389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5997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62</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471056" y="1337786"/>
            <a:ext cx="6668000" cy="503184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Horizonte de Inversión: </a:t>
            </a:r>
            <a:r>
              <a:rPr lang="es-ES" sz="2400" dirty="0">
                <a:solidFill>
                  <a:srgbClr val="131D3F"/>
                </a:solidFill>
                <a:latin typeface="Montserrat" panose="00000500000000000000" pitchFamily="2" charset="0"/>
              </a:rPr>
              <a:t>Período durante el cual planeas mantener tus inversiones.</a:t>
            </a:r>
          </a:p>
          <a:p>
            <a:pPr algn="just">
              <a:spcAft>
                <a:spcPts val="600"/>
              </a:spcAft>
            </a:pPr>
            <a:r>
              <a:rPr lang="es-ES" sz="2400" b="1" dirty="0">
                <a:solidFill>
                  <a:srgbClr val="131D3F"/>
                </a:solidFill>
                <a:latin typeface="Montserrat" panose="00000500000000000000" pitchFamily="2" charset="0"/>
              </a:rPr>
              <a:t>Costos y Comisiones: </a:t>
            </a:r>
            <a:r>
              <a:rPr lang="es-ES" sz="2400" dirty="0">
                <a:solidFill>
                  <a:srgbClr val="131D3F"/>
                </a:solidFill>
                <a:latin typeface="Montserrat" panose="00000500000000000000" pitchFamily="2" charset="0"/>
              </a:rPr>
              <a:t>Costos de compra, venta y mantenimiento de tus inversiones.</a:t>
            </a:r>
          </a:p>
          <a:p>
            <a:pPr algn="just">
              <a:spcAft>
                <a:spcPts val="600"/>
              </a:spcAft>
            </a:pPr>
            <a:r>
              <a:rPr lang="es-ES" sz="2400" b="1" dirty="0">
                <a:solidFill>
                  <a:srgbClr val="131D3F"/>
                </a:solidFill>
                <a:latin typeface="Montserrat" panose="00000500000000000000" pitchFamily="2" charset="0"/>
              </a:rPr>
              <a:t>Investigación y Monitoreo: </a:t>
            </a:r>
            <a:r>
              <a:rPr lang="es-ES" sz="2400" dirty="0">
                <a:solidFill>
                  <a:srgbClr val="131D3F"/>
                </a:solidFill>
                <a:latin typeface="Montserrat" panose="00000500000000000000" pitchFamily="2" charset="0"/>
              </a:rPr>
              <a:t>Mantente informado sobre el desempeño de tus inversiones y las condiciones del mercado.</a:t>
            </a:r>
          </a:p>
          <a:p>
            <a:pPr algn="just">
              <a:spcAft>
                <a:spcPts val="600"/>
              </a:spcAft>
            </a:pPr>
            <a:r>
              <a:rPr lang="es-ES" sz="2400" b="1" dirty="0">
                <a:solidFill>
                  <a:srgbClr val="131D3F"/>
                </a:solidFill>
                <a:latin typeface="Montserrat" panose="00000500000000000000" pitchFamily="2" charset="0"/>
              </a:rPr>
              <a:t>Estrategia de Salida: </a:t>
            </a:r>
            <a:r>
              <a:rPr lang="es-ES" sz="2400" dirty="0">
                <a:solidFill>
                  <a:srgbClr val="131D3F"/>
                </a:solidFill>
                <a:latin typeface="Montserrat" panose="00000500000000000000" pitchFamily="2" charset="0"/>
              </a:rPr>
              <a:t>Plan para cuándo y cómo venderás tus inversiones en el futuro, ya sea para alcanzar tus objetivos financieros o ajustar tu portafolio según cambien las condiciones.</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2.4 Portafolio</a:t>
            </a:r>
          </a:p>
          <a:p>
            <a:r>
              <a:rPr lang="es-ES" sz="2000" b="1" dirty="0">
                <a:solidFill>
                  <a:srgbClr val="131D3F"/>
                </a:solidFill>
                <a:latin typeface="Montserrat SemiBold" panose="00000700000000000000" pitchFamily="2" charset="0"/>
              </a:rPr>
              <a:t>	¿Cómo maximizar el rendimiento y reducir riesgo?</a:t>
            </a:r>
            <a:endParaRPr lang="es-MX" sz="1200" b="1" dirty="0">
              <a:solidFill>
                <a:srgbClr val="131D3F"/>
              </a:solidFill>
              <a:latin typeface="Montserrat SemiBold" panose="00000700000000000000" pitchFamily="2" charset="0"/>
            </a:endParaRPr>
          </a:p>
        </p:txBody>
      </p:sp>
      <p:pic>
        <p:nvPicPr>
          <p:cNvPr id="2050" name="Picture 2" descr="Inserción en la economía mundial | CEPAL">
            <a:extLst>
              <a:ext uri="{FF2B5EF4-FFF2-40B4-BE49-F238E27FC236}">
                <a16:creationId xmlns:a16="http://schemas.microsoft.com/office/drawing/2014/main" id="{39119214-BA5E-471F-B0F9-6259D3FAF01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1212"/>
          <a:stretch/>
        </p:blipFill>
        <p:spPr bwMode="auto">
          <a:xfrm>
            <a:off x="7377496" y="1337785"/>
            <a:ext cx="4343448" cy="216022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5 estrategias de salida para asegurar sus ganancias y limitar su riesgo -  FUTUROS TRADING">
            <a:extLst>
              <a:ext uri="{FF2B5EF4-FFF2-40B4-BE49-F238E27FC236}">
                <a16:creationId xmlns:a16="http://schemas.microsoft.com/office/drawing/2014/main" id="{8E79CD4F-57F3-44A8-9F5C-3FE91E7263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7493" y="4379912"/>
            <a:ext cx="4343449" cy="159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275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63</a:t>
            </a:fld>
            <a:endParaRPr lang="es-MX" sz="2400" b="1" dirty="0">
              <a:solidFill>
                <a:srgbClr val="BA955B"/>
              </a:solidFill>
              <a:latin typeface="Montserrat SemiBold" panose="00000700000000000000" pitchFamily="2" charset="0"/>
            </a:endParaRP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Proyecto Final</a:t>
            </a:r>
          </a:p>
        </p:txBody>
      </p:sp>
      <p:pic>
        <p:nvPicPr>
          <p:cNvPr id="3074" name="Picture 2" descr="briq.mx | Mexico City">
            <a:extLst>
              <a:ext uri="{FF2B5EF4-FFF2-40B4-BE49-F238E27FC236}">
                <a16:creationId xmlns:a16="http://schemas.microsoft.com/office/drawing/2014/main" id="{8971718D-02D8-4809-B1F6-8EDDB738A4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0592" y="158851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2crowd | Miguel Hidalgo">
            <a:extLst>
              <a:ext uri="{FF2B5EF4-FFF2-40B4-BE49-F238E27FC236}">
                <a16:creationId xmlns:a16="http://schemas.microsoft.com/office/drawing/2014/main" id="{5F1A30F7-D398-4C58-AA57-62FD6830A6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2995" y="1588509"/>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Opinión sobre Fintual: ¿Es fiable?¿Cómo funciona? | Rankia">
            <a:extLst>
              <a:ext uri="{FF2B5EF4-FFF2-40B4-BE49-F238E27FC236}">
                <a16:creationId xmlns:a16="http://schemas.microsoft.com/office/drawing/2014/main" id="{BB13750F-5EF6-4F53-8D54-156DE68EB3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4505" y="1588510"/>
            <a:ext cx="2466062"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Términos y Condiciones – 100 Ladrillos">
            <a:extLst>
              <a:ext uri="{FF2B5EF4-FFF2-40B4-BE49-F238E27FC236}">
                <a16:creationId xmlns:a16="http://schemas.microsoft.com/office/drawing/2014/main" id="{27790256-FC80-46D9-8DFF-7D44C0E4830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7682" y="4583691"/>
            <a:ext cx="333375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0496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8200" y="1138238"/>
            <a:ext cx="10515600" cy="840219"/>
          </a:xfrm>
        </p:spPr>
        <p:txBody>
          <a:bodyPr>
            <a:normAutofit/>
          </a:bodyPr>
          <a:lstStyle/>
          <a:p>
            <a:pPr algn="ctr"/>
            <a:r>
              <a:rPr lang="es-ES" sz="4800" b="1" dirty="0">
                <a:latin typeface="Montserrat" panose="00000500000000000000" pitchFamily="2" charset="0"/>
              </a:rPr>
              <a:t>Clase 5°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1136072" y="1988849"/>
            <a:ext cx="10515600" cy="35972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2</a:t>
            </a:r>
            <a:r>
              <a:rPr lang="es-ES" sz="4800" dirty="0">
                <a:latin typeface="Montserrat" panose="00000500000000000000" pitchFamily="2" charset="0"/>
              </a:rPr>
              <a:t> El ciclo de la vida económica</a:t>
            </a:r>
          </a:p>
          <a:p>
            <a:pPr marL="1800000"/>
            <a:r>
              <a:rPr lang="es-ES" sz="3200" dirty="0">
                <a:latin typeface="Montserrat" panose="00000500000000000000" pitchFamily="2" charset="0"/>
              </a:rPr>
              <a:t>2.8 	Decisiones de inversión</a:t>
            </a:r>
          </a:p>
          <a:p>
            <a:pPr marL="1800000"/>
            <a:r>
              <a:rPr lang="es-ES" sz="3200" dirty="0">
                <a:latin typeface="Montserrat" panose="00000500000000000000" pitchFamily="2" charset="0"/>
              </a:rPr>
              <a:t>2.10 	Precio y costos</a:t>
            </a:r>
          </a:p>
          <a:p>
            <a:pPr marL="1800000"/>
            <a:r>
              <a:rPr lang="es-ES" sz="3200" dirty="0">
                <a:latin typeface="Montserrat" panose="00000500000000000000" pitchFamily="2" charset="0"/>
              </a:rPr>
              <a:t>2.11 	Costo y costeo</a:t>
            </a:r>
          </a:p>
          <a:p>
            <a:pPr marL="1800000"/>
            <a:r>
              <a:rPr lang="es-ES" sz="3200" dirty="0">
                <a:latin typeface="Montserrat" panose="00000500000000000000" pitchFamily="2" charset="0"/>
              </a:rPr>
              <a:t>2.12 	Medidas de rendimiento</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6000" y="5719762"/>
            <a:ext cx="4423063" cy="46340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06 de septiembre de 2024</a:t>
            </a:r>
            <a:endParaRPr lang="es-MX" sz="4800" dirty="0">
              <a:latin typeface="Montserrat" panose="00000500000000000000" pitchFamily="2" charset="0"/>
            </a:endParaRPr>
          </a:p>
        </p:txBody>
      </p:sp>
    </p:spTree>
    <p:extLst>
      <p:ext uri="{BB962C8B-B14F-4D97-AF65-F5344CB8AC3E}">
        <p14:creationId xmlns:p14="http://schemas.microsoft.com/office/powerpoint/2010/main" val="15791061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65</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558800" y="1888260"/>
            <a:ext cx="5179910" cy="376285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dirty="0">
                <a:solidFill>
                  <a:srgbClr val="131D3F"/>
                </a:solidFill>
                <a:latin typeface="Montserrat" panose="00000500000000000000" pitchFamily="2" charset="0"/>
              </a:rPr>
              <a:t>La toma de decisiones de inversión representa un </a:t>
            </a:r>
            <a:r>
              <a:rPr lang="es-ES" sz="2400" b="1" dirty="0">
                <a:solidFill>
                  <a:srgbClr val="131D3F"/>
                </a:solidFill>
                <a:latin typeface="Montserrat" panose="00000500000000000000" pitchFamily="2" charset="0"/>
              </a:rPr>
              <a:t>proceso complejo </a:t>
            </a:r>
            <a:r>
              <a:rPr lang="es-ES" sz="2400" dirty="0">
                <a:solidFill>
                  <a:srgbClr val="131D3F"/>
                </a:solidFill>
                <a:latin typeface="Montserrat" panose="00000500000000000000" pitchFamily="2" charset="0"/>
              </a:rPr>
              <a:t>de </a:t>
            </a:r>
            <a:r>
              <a:rPr lang="es-ES" sz="2400" u="sng" dirty="0">
                <a:solidFill>
                  <a:srgbClr val="131D3F"/>
                </a:solidFill>
                <a:latin typeface="Montserrat" panose="00000500000000000000" pitchFamily="2" charset="0"/>
              </a:rPr>
              <a:t>asignación de fondos</a:t>
            </a:r>
            <a:r>
              <a:rPr lang="es-ES" sz="2400" dirty="0">
                <a:solidFill>
                  <a:srgbClr val="131D3F"/>
                </a:solidFill>
                <a:latin typeface="Montserrat" panose="00000500000000000000" pitchFamily="2" charset="0"/>
              </a:rPr>
              <a:t> en </a:t>
            </a:r>
            <a:r>
              <a:rPr lang="es-ES" sz="2400" u="sng" dirty="0">
                <a:solidFill>
                  <a:srgbClr val="131D3F"/>
                </a:solidFill>
                <a:latin typeface="Montserrat" panose="00000500000000000000" pitchFamily="2" charset="0"/>
              </a:rPr>
              <a:t>diferentes oportunidades de inversión,</a:t>
            </a:r>
            <a:r>
              <a:rPr lang="es-ES" sz="2400" dirty="0">
                <a:solidFill>
                  <a:srgbClr val="131D3F"/>
                </a:solidFill>
                <a:latin typeface="Montserrat" panose="00000500000000000000" pitchFamily="2" charset="0"/>
              </a:rPr>
              <a:t> considerando una serie de factores que se interrelacionan y afectan la rentabilidad y el riesgo asociado a fin de alcanzar el </a:t>
            </a:r>
            <a:r>
              <a:rPr lang="es-ES" sz="2400" u="sng" dirty="0">
                <a:solidFill>
                  <a:srgbClr val="131D3F"/>
                </a:solidFill>
                <a:latin typeface="Montserrat" panose="00000500000000000000" pitchFamily="2" charset="0"/>
              </a:rPr>
              <a:t>mayor rendimiento posible</a:t>
            </a:r>
            <a:r>
              <a:rPr lang="es-ES" sz="2400" dirty="0">
                <a:solidFill>
                  <a:srgbClr val="131D3F"/>
                </a:solidFill>
                <a:latin typeface="Montserrat" panose="00000500000000000000" pitchFamily="2" charset="0"/>
              </a:rPr>
              <a:t>. </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2.8 Decisiones de inversión</a:t>
            </a:r>
          </a:p>
        </p:txBody>
      </p:sp>
      <p:pic>
        <p:nvPicPr>
          <p:cNvPr id="1026" name="Picture 2" descr="High Life | ¿Por qué deberías tener un traje a medida?">
            <a:extLst>
              <a:ext uri="{FF2B5EF4-FFF2-40B4-BE49-F238E27FC236}">
                <a16:creationId xmlns:a16="http://schemas.microsoft.com/office/drawing/2014/main" id="{BF849D36-8BAE-4F3C-ACE0-0048F425BF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6016" y="1975450"/>
            <a:ext cx="5767184" cy="3588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52530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66</a:t>
            </a:fld>
            <a:endParaRPr lang="es-MX" sz="2400" b="1" dirty="0">
              <a:solidFill>
                <a:srgbClr val="BA955B"/>
              </a:solidFill>
              <a:latin typeface="Montserrat SemiBold" panose="00000700000000000000" pitchFamily="2" charset="0"/>
            </a:endParaRPr>
          </a:p>
        </p:txBody>
      </p:sp>
      <p:sp>
        <p:nvSpPr>
          <p:cNvPr id="18" name="Google Shape;112;p3">
            <a:extLst>
              <a:ext uri="{FF2B5EF4-FFF2-40B4-BE49-F238E27FC236}">
                <a16:creationId xmlns:a16="http://schemas.microsoft.com/office/drawing/2014/main" id="{43098869-3F54-46D3-9957-A4D87CF1A6A2}"/>
              </a:ext>
            </a:extLst>
          </p:cNvPr>
          <p:cNvSpPr txBox="1"/>
          <p:nvPr/>
        </p:nvSpPr>
        <p:spPr>
          <a:xfrm>
            <a:off x="733457" y="2843760"/>
            <a:ext cx="10725085" cy="1170479"/>
          </a:xfrm>
          <a:prstGeom prst="rect">
            <a:avLst/>
          </a:prstGeom>
          <a:noFill/>
          <a:ln>
            <a:noFill/>
          </a:ln>
        </p:spPr>
        <p:txBody>
          <a:bodyPr spcFirstLastPara="1" wrap="square" lIns="91425" tIns="45700" rIns="91425" bIns="45700" anchor="t" anchorCtr="0">
            <a:noAutofit/>
          </a:bodyPr>
          <a:lstStyle/>
          <a:p>
            <a:pPr algn="ctr">
              <a:spcAft>
                <a:spcPts val="600"/>
              </a:spcAft>
            </a:pPr>
            <a:r>
              <a:rPr lang="es-ES" sz="3600" dirty="0">
                <a:solidFill>
                  <a:srgbClr val="131D3F"/>
                </a:solidFill>
                <a:latin typeface="Montserrat" panose="00000500000000000000" pitchFamily="2" charset="0"/>
              </a:rPr>
              <a:t>¿Cuáles son los elementos a tomar en cuenta para una decisión de inversión adecuada?</a:t>
            </a:r>
          </a:p>
        </p:txBody>
      </p:sp>
      <p:sp>
        <p:nvSpPr>
          <p:cNvPr id="19" name="Título 3">
            <a:extLst>
              <a:ext uri="{FF2B5EF4-FFF2-40B4-BE49-F238E27FC236}">
                <a16:creationId xmlns:a16="http://schemas.microsoft.com/office/drawing/2014/main" id="{FF13868A-F9C4-465B-A3BF-289AFFFA8C67}"/>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2.8 Decisiones de inversión</a:t>
            </a:r>
          </a:p>
        </p:txBody>
      </p:sp>
    </p:spTree>
    <p:extLst>
      <p:ext uri="{BB962C8B-B14F-4D97-AF65-F5344CB8AC3E}">
        <p14:creationId xmlns:p14="http://schemas.microsoft.com/office/powerpoint/2010/main" val="15287995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67</a:t>
            </a:fld>
            <a:endParaRPr lang="es-MX" sz="2400" b="1" dirty="0">
              <a:solidFill>
                <a:srgbClr val="BA955B"/>
              </a:solidFill>
              <a:latin typeface="Montserrat SemiBold" panose="00000700000000000000" pitchFamily="2" charset="0"/>
            </a:endParaRPr>
          </a:p>
        </p:txBody>
      </p:sp>
      <p:sp>
        <p:nvSpPr>
          <p:cNvPr id="2" name="Rectángulo: esquinas diagonales cortadas 1">
            <a:extLst>
              <a:ext uri="{FF2B5EF4-FFF2-40B4-BE49-F238E27FC236}">
                <a16:creationId xmlns:a16="http://schemas.microsoft.com/office/drawing/2014/main" id="{B0AACC09-9533-472B-B6EA-27F722BF695E}"/>
              </a:ext>
            </a:extLst>
          </p:cNvPr>
          <p:cNvSpPr/>
          <p:nvPr/>
        </p:nvSpPr>
        <p:spPr>
          <a:xfrm>
            <a:off x="728897" y="1989462"/>
            <a:ext cx="2162908" cy="650631"/>
          </a:xfrm>
          <a:prstGeom prst="snip2DiagRect">
            <a:avLst/>
          </a:prstGeom>
          <a:solidFill>
            <a:srgbClr val="CAD2C5"/>
          </a:solidFill>
          <a:ln>
            <a:solidFill>
              <a:srgbClr val="CAD2C5"/>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solidFill>
                  <a:srgbClr val="131D3F"/>
                </a:solidFill>
                <a:latin typeface="Montserrat" panose="00000500000000000000" pitchFamily="2" charset="0"/>
              </a:rPr>
              <a:t>Define Objetivos</a:t>
            </a:r>
            <a:endParaRPr lang="es-MX" dirty="0">
              <a:solidFill>
                <a:srgbClr val="131D3F"/>
              </a:solidFill>
              <a:latin typeface="Montserrat" panose="00000500000000000000" pitchFamily="2" charset="0"/>
            </a:endParaRPr>
          </a:p>
        </p:txBody>
      </p:sp>
      <p:sp>
        <p:nvSpPr>
          <p:cNvPr id="10" name="Rectángulo: esquinas diagonales cortadas 9">
            <a:extLst>
              <a:ext uri="{FF2B5EF4-FFF2-40B4-BE49-F238E27FC236}">
                <a16:creationId xmlns:a16="http://schemas.microsoft.com/office/drawing/2014/main" id="{4F1F3B29-A90E-4D29-A493-20B4ED1A0ED4}"/>
              </a:ext>
            </a:extLst>
          </p:cNvPr>
          <p:cNvSpPr/>
          <p:nvPr/>
        </p:nvSpPr>
        <p:spPr>
          <a:xfrm>
            <a:off x="3585996" y="1992886"/>
            <a:ext cx="2162908" cy="650631"/>
          </a:xfrm>
          <a:prstGeom prst="snip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Tolerancia al riesgo</a:t>
            </a:r>
            <a:endParaRPr lang="es-MX" dirty="0">
              <a:latin typeface="Montserrat" panose="00000500000000000000" pitchFamily="2" charset="0"/>
            </a:endParaRPr>
          </a:p>
        </p:txBody>
      </p:sp>
      <p:sp>
        <p:nvSpPr>
          <p:cNvPr id="11" name="Rectángulo: esquinas diagonales cortadas 10">
            <a:extLst>
              <a:ext uri="{FF2B5EF4-FFF2-40B4-BE49-F238E27FC236}">
                <a16:creationId xmlns:a16="http://schemas.microsoft.com/office/drawing/2014/main" id="{F59BB405-CF3E-4237-B921-3A22D92B603E}"/>
              </a:ext>
            </a:extLst>
          </p:cNvPr>
          <p:cNvSpPr/>
          <p:nvPr/>
        </p:nvSpPr>
        <p:spPr>
          <a:xfrm>
            <a:off x="6443095" y="3496434"/>
            <a:ext cx="2162908" cy="650631"/>
          </a:xfrm>
          <a:prstGeom prst="snip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Diversificación</a:t>
            </a:r>
            <a:endParaRPr lang="es-MX" dirty="0">
              <a:latin typeface="Montserrat" panose="00000500000000000000" pitchFamily="2" charset="0"/>
            </a:endParaRPr>
          </a:p>
        </p:txBody>
      </p:sp>
      <p:sp>
        <p:nvSpPr>
          <p:cNvPr id="12" name="Rectángulo: esquinas diagonales cortadas 11">
            <a:extLst>
              <a:ext uri="{FF2B5EF4-FFF2-40B4-BE49-F238E27FC236}">
                <a16:creationId xmlns:a16="http://schemas.microsoft.com/office/drawing/2014/main" id="{D7DFCF1B-3870-4E30-B471-A54938850495}"/>
              </a:ext>
            </a:extLst>
          </p:cNvPr>
          <p:cNvSpPr/>
          <p:nvPr/>
        </p:nvSpPr>
        <p:spPr>
          <a:xfrm>
            <a:off x="9300194" y="3496434"/>
            <a:ext cx="2162908" cy="650631"/>
          </a:xfrm>
          <a:prstGeom prst="snip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Investigación y análisis</a:t>
            </a:r>
            <a:endParaRPr lang="es-MX" dirty="0">
              <a:latin typeface="Montserrat" panose="00000500000000000000" pitchFamily="2" charset="0"/>
            </a:endParaRPr>
          </a:p>
        </p:txBody>
      </p:sp>
      <p:sp>
        <p:nvSpPr>
          <p:cNvPr id="13" name="Rectángulo: esquinas diagonales cortadas 12">
            <a:extLst>
              <a:ext uri="{FF2B5EF4-FFF2-40B4-BE49-F238E27FC236}">
                <a16:creationId xmlns:a16="http://schemas.microsoft.com/office/drawing/2014/main" id="{A330DC90-7827-444C-8BB4-C878A0099F4E}"/>
              </a:ext>
            </a:extLst>
          </p:cNvPr>
          <p:cNvSpPr/>
          <p:nvPr/>
        </p:nvSpPr>
        <p:spPr>
          <a:xfrm>
            <a:off x="728897" y="3496435"/>
            <a:ext cx="2162908" cy="650631"/>
          </a:xfrm>
          <a:prstGeom prst="snip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Horizonte temporal</a:t>
            </a:r>
            <a:endParaRPr lang="es-MX" dirty="0">
              <a:latin typeface="Montserrat" panose="00000500000000000000" pitchFamily="2" charset="0"/>
            </a:endParaRPr>
          </a:p>
        </p:txBody>
      </p:sp>
      <p:sp>
        <p:nvSpPr>
          <p:cNvPr id="14" name="Rectángulo: esquinas diagonales cortadas 13">
            <a:extLst>
              <a:ext uri="{FF2B5EF4-FFF2-40B4-BE49-F238E27FC236}">
                <a16:creationId xmlns:a16="http://schemas.microsoft.com/office/drawing/2014/main" id="{26282DDE-6715-42FA-94E4-F2E0C84BA190}"/>
              </a:ext>
            </a:extLst>
          </p:cNvPr>
          <p:cNvSpPr/>
          <p:nvPr/>
        </p:nvSpPr>
        <p:spPr>
          <a:xfrm>
            <a:off x="9300194" y="1989461"/>
            <a:ext cx="2162908" cy="650631"/>
          </a:xfrm>
          <a:prstGeom prst="snip2DiagRect">
            <a:avLst/>
          </a:prstGeom>
          <a:solidFill>
            <a:srgbClr val="CAD2C5"/>
          </a:solidFill>
          <a:ln>
            <a:solidFill>
              <a:srgbClr val="CAD2C5"/>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solidFill>
                  <a:srgbClr val="131D3F"/>
                </a:solidFill>
                <a:latin typeface="Montserrat" panose="00000500000000000000" pitchFamily="2" charset="0"/>
              </a:rPr>
              <a:t>Consulta con un profesional</a:t>
            </a:r>
            <a:endParaRPr lang="es-MX" dirty="0">
              <a:solidFill>
                <a:srgbClr val="131D3F"/>
              </a:solidFill>
              <a:latin typeface="Montserrat" panose="00000500000000000000" pitchFamily="2" charset="0"/>
            </a:endParaRPr>
          </a:p>
        </p:txBody>
      </p:sp>
      <p:sp>
        <p:nvSpPr>
          <p:cNvPr id="15" name="Rectángulo: esquinas diagonales cortadas 14">
            <a:extLst>
              <a:ext uri="{FF2B5EF4-FFF2-40B4-BE49-F238E27FC236}">
                <a16:creationId xmlns:a16="http://schemas.microsoft.com/office/drawing/2014/main" id="{AF6A23E2-035C-49C8-AF90-4AB109C5C5D4}"/>
              </a:ext>
            </a:extLst>
          </p:cNvPr>
          <p:cNvSpPr/>
          <p:nvPr/>
        </p:nvSpPr>
        <p:spPr>
          <a:xfrm>
            <a:off x="6443095" y="1989461"/>
            <a:ext cx="2162908" cy="650631"/>
          </a:xfrm>
          <a:prstGeom prst="snip2DiagRect">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Costos y tarifas</a:t>
            </a:r>
            <a:endParaRPr lang="es-MX" dirty="0">
              <a:latin typeface="Montserrat" panose="00000500000000000000" pitchFamily="2" charset="0"/>
            </a:endParaRPr>
          </a:p>
        </p:txBody>
      </p:sp>
      <p:sp>
        <p:nvSpPr>
          <p:cNvPr id="16" name="Rectángulo: esquinas diagonales cortadas 15">
            <a:extLst>
              <a:ext uri="{FF2B5EF4-FFF2-40B4-BE49-F238E27FC236}">
                <a16:creationId xmlns:a16="http://schemas.microsoft.com/office/drawing/2014/main" id="{C6DBBFE3-6E73-443C-B659-9474CAA0309C}"/>
              </a:ext>
            </a:extLst>
          </p:cNvPr>
          <p:cNvSpPr/>
          <p:nvPr/>
        </p:nvSpPr>
        <p:spPr>
          <a:xfrm>
            <a:off x="3585996" y="3496434"/>
            <a:ext cx="2162908" cy="650631"/>
          </a:xfrm>
          <a:prstGeom prst="snip2DiagRect">
            <a:avLst/>
          </a:prstGeom>
          <a:solidFill>
            <a:srgbClr val="354F52"/>
          </a:solidFill>
          <a:ln>
            <a:solidFill>
              <a:srgbClr val="354F52"/>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Planificación fiscal</a:t>
            </a:r>
            <a:endParaRPr lang="es-MX" dirty="0">
              <a:latin typeface="Montserrat" panose="000005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2.8 Decisiones de inversión</a:t>
            </a:r>
          </a:p>
        </p:txBody>
      </p:sp>
      <p:sp>
        <p:nvSpPr>
          <p:cNvPr id="30" name="Rectángulo: esquinas diagonales cortadas 29">
            <a:extLst>
              <a:ext uri="{FF2B5EF4-FFF2-40B4-BE49-F238E27FC236}">
                <a16:creationId xmlns:a16="http://schemas.microsoft.com/office/drawing/2014/main" id="{F404C5B0-BF9C-46C7-9178-0EF51FFF5668}"/>
              </a:ext>
            </a:extLst>
          </p:cNvPr>
          <p:cNvSpPr/>
          <p:nvPr/>
        </p:nvSpPr>
        <p:spPr>
          <a:xfrm>
            <a:off x="6443095" y="4999983"/>
            <a:ext cx="2162908" cy="650631"/>
          </a:xfrm>
          <a:prstGeom prst="snip2DiagRect">
            <a:avLst/>
          </a:prstGeom>
          <a:solidFill>
            <a:srgbClr val="2F3E46"/>
          </a:solidFill>
          <a:ln>
            <a:solidFill>
              <a:srgbClr val="2F3E46"/>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Revisa y ajusta</a:t>
            </a:r>
            <a:endParaRPr lang="es-MX" dirty="0">
              <a:latin typeface="Montserrat" panose="00000500000000000000" pitchFamily="2" charset="0"/>
            </a:endParaRPr>
          </a:p>
        </p:txBody>
      </p:sp>
      <p:sp>
        <p:nvSpPr>
          <p:cNvPr id="31" name="Rectángulo: esquinas diagonales cortadas 30">
            <a:extLst>
              <a:ext uri="{FF2B5EF4-FFF2-40B4-BE49-F238E27FC236}">
                <a16:creationId xmlns:a16="http://schemas.microsoft.com/office/drawing/2014/main" id="{3D868772-8F91-41C0-B614-BF7FB574773E}"/>
              </a:ext>
            </a:extLst>
          </p:cNvPr>
          <p:cNvSpPr/>
          <p:nvPr/>
        </p:nvSpPr>
        <p:spPr>
          <a:xfrm>
            <a:off x="3585996" y="4999982"/>
            <a:ext cx="2162908" cy="650631"/>
          </a:xfrm>
          <a:prstGeom prst="snip2DiagRect">
            <a:avLst/>
          </a:prstGeom>
          <a:solidFill>
            <a:srgbClr val="2F3E46"/>
          </a:solidFill>
          <a:ln>
            <a:solidFill>
              <a:srgbClr val="2F3E46"/>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dirty="0">
                <a:latin typeface="Montserrat" panose="00000500000000000000" pitchFamily="2" charset="0"/>
              </a:rPr>
              <a:t>Mantén la calma</a:t>
            </a:r>
            <a:endParaRPr lang="es-MX" dirty="0">
              <a:latin typeface="Montserrat" panose="00000500000000000000" pitchFamily="2" charset="0"/>
            </a:endParaRPr>
          </a:p>
        </p:txBody>
      </p:sp>
    </p:spTree>
    <p:extLst>
      <p:ext uri="{BB962C8B-B14F-4D97-AF65-F5344CB8AC3E}">
        <p14:creationId xmlns:p14="http://schemas.microsoft.com/office/powerpoint/2010/main" val="1546005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68</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2.10 Precio y Costos</a:t>
            </a:r>
          </a:p>
        </p:txBody>
      </p:sp>
      <p:sp>
        <p:nvSpPr>
          <p:cNvPr id="17" name="Google Shape;112;p3">
            <a:extLst>
              <a:ext uri="{FF2B5EF4-FFF2-40B4-BE49-F238E27FC236}">
                <a16:creationId xmlns:a16="http://schemas.microsoft.com/office/drawing/2014/main" id="{0982BCA1-5FF6-41FC-AB76-9BB3211E3237}"/>
              </a:ext>
            </a:extLst>
          </p:cNvPr>
          <p:cNvSpPr txBox="1"/>
          <p:nvPr/>
        </p:nvSpPr>
        <p:spPr>
          <a:xfrm>
            <a:off x="733457" y="2843760"/>
            <a:ext cx="10725085" cy="1266016"/>
          </a:xfrm>
          <a:prstGeom prst="rect">
            <a:avLst/>
          </a:prstGeom>
          <a:noFill/>
          <a:ln>
            <a:noFill/>
          </a:ln>
        </p:spPr>
        <p:txBody>
          <a:bodyPr spcFirstLastPara="1" wrap="square" lIns="91425" tIns="45700" rIns="91425" bIns="45700" anchor="t" anchorCtr="0">
            <a:noAutofit/>
          </a:bodyPr>
          <a:lstStyle/>
          <a:p>
            <a:pPr algn="ctr">
              <a:spcAft>
                <a:spcPts val="600"/>
              </a:spcAft>
            </a:pPr>
            <a:r>
              <a:rPr lang="es-ES" sz="7200" b="1" dirty="0">
                <a:solidFill>
                  <a:srgbClr val="131D3F"/>
                </a:solidFill>
                <a:latin typeface="Montserrat" panose="00000500000000000000" pitchFamily="2" charset="0"/>
              </a:rPr>
              <a:t>¿Precio = Costo?</a:t>
            </a:r>
          </a:p>
        </p:txBody>
      </p:sp>
    </p:spTree>
    <p:extLst>
      <p:ext uri="{BB962C8B-B14F-4D97-AF65-F5344CB8AC3E}">
        <p14:creationId xmlns:p14="http://schemas.microsoft.com/office/powerpoint/2010/main" val="15614424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69</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2.10 Precio y Costos</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516431" y="2107835"/>
            <a:ext cx="5392001" cy="285605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Es el valor que pagamos por un producto o servicio. Se establece tomando en cuenta, entre otros, costos de producción, el mercado objetivo, la competencia, y la estrategia de posicionamiento. Debe ser atractivo para los clientes y, al mismo tiempo, debe cubrir los costos y generar una ganancia.</a:t>
            </a:r>
          </a:p>
        </p:txBody>
      </p:sp>
      <p:sp>
        <p:nvSpPr>
          <p:cNvPr id="9" name="Rectángulo: esquinas diagonales cortadas 8">
            <a:extLst>
              <a:ext uri="{FF2B5EF4-FFF2-40B4-BE49-F238E27FC236}">
                <a16:creationId xmlns:a16="http://schemas.microsoft.com/office/drawing/2014/main" id="{F53E724A-E63B-42F3-AD72-923A531906B9}"/>
              </a:ext>
            </a:extLst>
          </p:cNvPr>
          <p:cNvSpPr/>
          <p:nvPr/>
        </p:nvSpPr>
        <p:spPr>
          <a:xfrm>
            <a:off x="787737" y="1281591"/>
            <a:ext cx="4849390" cy="707985"/>
          </a:xfrm>
          <a:prstGeom prst="snip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sz="2800" b="1" dirty="0">
                <a:solidFill>
                  <a:schemeClr val="bg1"/>
                </a:solidFill>
                <a:latin typeface="Montserrat" panose="00000500000000000000" pitchFamily="2" charset="0"/>
              </a:rPr>
              <a:t>Precio</a:t>
            </a:r>
            <a:endParaRPr lang="es-MX" sz="2800" b="1" dirty="0">
              <a:solidFill>
                <a:schemeClr val="bg1"/>
              </a:solidFill>
              <a:latin typeface="Montserrat" panose="00000500000000000000" pitchFamily="2" charset="0"/>
            </a:endParaRPr>
          </a:p>
        </p:txBody>
      </p:sp>
      <p:sp>
        <p:nvSpPr>
          <p:cNvPr id="10" name="Google Shape;112;p3">
            <a:extLst>
              <a:ext uri="{FF2B5EF4-FFF2-40B4-BE49-F238E27FC236}">
                <a16:creationId xmlns:a16="http://schemas.microsoft.com/office/drawing/2014/main" id="{C4951C5E-5DEE-4F93-814E-0DB05425717E}"/>
              </a:ext>
            </a:extLst>
          </p:cNvPr>
          <p:cNvSpPr txBox="1"/>
          <p:nvPr/>
        </p:nvSpPr>
        <p:spPr>
          <a:xfrm>
            <a:off x="6396391" y="2107836"/>
            <a:ext cx="5392001" cy="276059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dirty="0">
                <a:solidFill>
                  <a:srgbClr val="131D3F"/>
                </a:solidFill>
                <a:latin typeface="Montserrat" panose="00000500000000000000" pitchFamily="2" charset="0"/>
              </a:rPr>
              <a:t>Son los gastos que incurre una empresa para producir un producto o servicio. </a:t>
            </a:r>
            <a:r>
              <a:rPr lang="es-ES" sz="2000" b="1" dirty="0">
                <a:solidFill>
                  <a:srgbClr val="131D3F"/>
                </a:solidFill>
                <a:latin typeface="Montserrat" panose="00000500000000000000" pitchFamily="2" charset="0"/>
              </a:rPr>
              <a:t>Costos Fijos: </a:t>
            </a:r>
            <a:r>
              <a:rPr lang="es-ES" sz="2000" dirty="0">
                <a:solidFill>
                  <a:srgbClr val="131D3F"/>
                </a:solidFill>
                <a:latin typeface="Montserrat" panose="00000500000000000000" pitchFamily="2" charset="0"/>
              </a:rPr>
              <a:t>No cambian con el volumen de producción o ventas.</a:t>
            </a:r>
          </a:p>
          <a:p>
            <a:pPr algn="just">
              <a:spcAft>
                <a:spcPts val="600"/>
              </a:spcAft>
            </a:pPr>
            <a:r>
              <a:rPr lang="es-ES" sz="2000" b="1" dirty="0">
                <a:solidFill>
                  <a:srgbClr val="131D3F"/>
                </a:solidFill>
                <a:latin typeface="Montserrat" panose="00000500000000000000" pitchFamily="2" charset="0"/>
              </a:rPr>
              <a:t>Costos Variables: </a:t>
            </a:r>
            <a:r>
              <a:rPr lang="es-ES" sz="2000" dirty="0">
                <a:solidFill>
                  <a:srgbClr val="131D3F"/>
                </a:solidFill>
                <a:latin typeface="Montserrat" panose="00000500000000000000" pitchFamily="2" charset="0"/>
              </a:rPr>
              <a:t>Fluctúan según el nivel de producción o ventas.</a:t>
            </a:r>
          </a:p>
        </p:txBody>
      </p:sp>
      <p:sp>
        <p:nvSpPr>
          <p:cNvPr id="11" name="Rectángulo: esquinas diagonales cortadas 10">
            <a:extLst>
              <a:ext uri="{FF2B5EF4-FFF2-40B4-BE49-F238E27FC236}">
                <a16:creationId xmlns:a16="http://schemas.microsoft.com/office/drawing/2014/main" id="{B7C59B75-7D0C-4B4B-8511-92B55ED02F05}"/>
              </a:ext>
            </a:extLst>
          </p:cNvPr>
          <p:cNvSpPr/>
          <p:nvPr/>
        </p:nvSpPr>
        <p:spPr>
          <a:xfrm>
            <a:off x="6667697" y="1281591"/>
            <a:ext cx="4849390" cy="707985"/>
          </a:xfrm>
          <a:prstGeom prst="snip2DiagRect">
            <a:avLst/>
          </a:prstGeom>
          <a:solidFill>
            <a:srgbClr val="84A98C"/>
          </a:solidFill>
          <a:ln>
            <a:solidFill>
              <a:srgbClr val="84A98C"/>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s-ES" sz="2800" b="1" dirty="0">
                <a:solidFill>
                  <a:schemeClr val="bg1"/>
                </a:solidFill>
                <a:latin typeface="Montserrat" panose="00000500000000000000" pitchFamily="2" charset="0"/>
              </a:rPr>
              <a:t>Costos</a:t>
            </a:r>
            <a:endParaRPr lang="es-MX" sz="2800" b="1" dirty="0">
              <a:solidFill>
                <a:schemeClr val="bg1"/>
              </a:solidFill>
              <a:latin typeface="Montserrat" panose="00000500000000000000" pitchFamily="2" charset="0"/>
            </a:endParaRPr>
          </a:p>
        </p:txBody>
      </p:sp>
      <p:sp>
        <p:nvSpPr>
          <p:cNvPr id="12" name="Google Shape;112;p3">
            <a:extLst>
              <a:ext uri="{FF2B5EF4-FFF2-40B4-BE49-F238E27FC236}">
                <a16:creationId xmlns:a16="http://schemas.microsoft.com/office/drawing/2014/main" id="{24B191BC-5B25-4D3D-B63F-9CE2D2CAF73D}"/>
              </a:ext>
            </a:extLst>
          </p:cNvPr>
          <p:cNvSpPr txBox="1"/>
          <p:nvPr/>
        </p:nvSpPr>
        <p:spPr>
          <a:xfrm>
            <a:off x="516431" y="5418363"/>
            <a:ext cx="11271961" cy="799186"/>
          </a:xfrm>
          <a:prstGeom prst="rect">
            <a:avLst/>
          </a:prstGeom>
          <a:noFill/>
          <a:ln>
            <a:noFill/>
          </a:ln>
        </p:spPr>
        <p:txBody>
          <a:bodyPr spcFirstLastPara="1" wrap="square" lIns="91425" tIns="45700" rIns="91425" bIns="45700" anchor="t" anchorCtr="0">
            <a:noAutofit/>
          </a:bodyPr>
          <a:lstStyle/>
          <a:p>
            <a:pPr algn="just">
              <a:spcAft>
                <a:spcPts val="600"/>
              </a:spcAft>
            </a:pPr>
            <a:r>
              <a:rPr lang="es-ES" sz="2000" b="1" dirty="0">
                <a:solidFill>
                  <a:srgbClr val="131D3F"/>
                </a:solidFill>
                <a:latin typeface="Montserrat" panose="00000500000000000000" pitchFamily="2" charset="0"/>
              </a:rPr>
              <a:t>Valor: </a:t>
            </a:r>
            <a:r>
              <a:rPr lang="es-ES" sz="2000" dirty="0">
                <a:solidFill>
                  <a:srgbClr val="131D3F"/>
                </a:solidFill>
                <a:latin typeface="Montserrat" panose="00000500000000000000" pitchFamily="2" charset="0"/>
              </a:rPr>
              <a:t>Es el monto que el cliente esta dispuesto a pagar por un bien o servicio en función de los beneficios percibidos.</a:t>
            </a:r>
          </a:p>
        </p:txBody>
      </p:sp>
    </p:spTree>
    <p:extLst>
      <p:ext uri="{BB962C8B-B14F-4D97-AF65-F5344CB8AC3E}">
        <p14:creationId xmlns:p14="http://schemas.microsoft.com/office/powerpoint/2010/main" val="2947972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70</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2.10 Precio y Costos</a:t>
            </a:r>
          </a:p>
        </p:txBody>
      </p:sp>
      <p:sp>
        <p:nvSpPr>
          <p:cNvPr id="10" name="Google Shape;112;p3">
            <a:extLst>
              <a:ext uri="{FF2B5EF4-FFF2-40B4-BE49-F238E27FC236}">
                <a16:creationId xmlns:a16="http://schemas.microsoft.com/office/drawing/2014/main" id="{C4951C5E-5DEE-4F93-814E-0DB05425717E}"/>
              </a:ext>
            </a:extLst>
          </p:cNvPr>
          <p:cNvSpPr txBox="1"/>
          <p:nvPr/>
        </p:nvSpPr>
        <p:spPr>
          <a:xfrm>
            <a:off x="2285127" y="2079556"/>
            <a:ext cx="7433209" cy="456255"/>
          </a:xfrm>
          <a:prstGeom prst="rect">
            <a:avLst/>
          </a:prstGeom>
          <a:noFill/>
          <a:ln>
            <a:noFill/>
          </a:ln>
        </p:spPr>
        <p:txBody>
          <a:bodyPr spcFirstLastPara="1" wrap="square" lIns="91425" tIns="45700" rIns="91425" bIns="45700" anchor="t" anchorCtr="0">
            <a:noAutofit/>
          </a:bodyPr>
          <a:lstStyle/>
          <a:p>
            <a:pPr algn="ctr">
              <a:spcAft>
                <a:spcPts val="600"/>
              </a:spcAft>
            </a:pPr>
            <a:r>
              <a:rPr lang="es-ES" sz="3600" b="1" dirty="0">
                <a:solidFill>
                  <a:srgbClr val="131D3F"/>
                </a:solidFill>
                <a:latin typeface="Montserrat" panose="00000500000000000000" pitchFamily="2" charset="0"/>
              </a:rPr>
              <a:t>Ejemplo de Costos Fijos</a:t>
            </a:r>
          </a:p>
        </p:txBody>
      </p:sp>
      <p:sp>
        <p:nvSpPr>
          <p:cNvPr id="13" name="Google Shape;112;p3">
            <a:extLst>
              <a:ext uri="{FF2B5EF4-FFF2-40B4-BE49-F238E27FC236}">
                <a16:creationId xmlns:a16="http://schemas.microsoft.com/office/drawing/2014/main" id="{16D1FAE4-E003-4C89-BC9C-D8430CD10DF5}"/>
              </a:ext>
            </a:extLst>
          </p:cNvPr>
          <p:cNvSpPr txBox="1"/>
          <p:nvPr/>
        </p:nvSpPr>
        <p:spPr>
          <a:xfrm>
            <a:off x="2285127" y="4075208"/>
            <a:ext cx="7433209" cy="456255"/>
          </a:xfrm>
          <a:prstGeom prst="rect">
            <a:avLst/>
          </a:prstGeom>
          <a:noFill/>
          <a:ln>
            <a:noFill/>
          </a:ln>
        </p:spPr>
        <p:txBody>
          <a:bodyPr spcFirstLastPara="1" wrap="square" lIns="91425" tIns="45700" rIns="91425" bIns="45700" anchor="t" anchorCtr="0">
            <a:noAutofit/>
          </a:bodyPr>
          <a:lstStyle/>
          <a:p>
            <a:pPr algn="ctr">
              <a:spcAft>
                <a:spcPts val="600"/>
              </a:spcAft>
            </a:pPr>
            <a:r>
              <a:rPr lang="es-ES" sz="3600" b="1" dirty="0">
                <a:solidFill>
                  <a:srgbClr val="131D3F"/>
                </a:solidFill>
                <a:latin typeface="Montserrat" panose="00000500000000000000" pitchFamily="2" charset="0"/>
              </a:rPr>
              <a:t>Ejemplo de Costos Variables</a:t>
            </a:r>
            <a:endParaRPr lang="es-ES" sz="36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3587361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71</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2.11 Costeo</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1984814"/>
            <a:ext cx="10663759" cy="3133941"/>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dirty="0">
                <a:solidFill>
                  <a:srgbClr val="131D3F"/>
                </a:solidFill>
                <a:latin typeface="Montserrat" panose="00000500000000000000" pitchFamily="2" charset="0"/>
              </a:rPr>
              <a:t>Se encarga de determinar el costo de los productos o servicios ofrecidos por una empresa. El propósito del costeo es entender cuántos recursos se están utilizando para producir un bien o prestar un servicio y, por ende, cómo afectan estos costos a la rentabilidad y a la fijación de precios.</a:t>
            </a:r>
          </a:p>
          <a:p>
            <a:pPr algn="just">
              <a:spcAft>
                <a:spcPts val="600"/>
              </a:spcAft>
            </a:pPr>
            <a:endParaRPr lang="es-ES" sz="2400" dirty="0">
              <a:solidFill>
                <a:srgbClr val="131D3F"/>
              </a:solidFill>
              <a:latin typeface="Montserrat" panose="00000500000000000000" pitchFamily="2" charset="0"/>
            </a:endParaRPr>
          </a:p>
          <a:p>
            <a:pPr algn="just">
              <a:spcAft>
                <a:spcPts val="600"/>
              </a:spcAft>
            </a:pPr>
            <a:r>
              <a:rPr lang="es-ES" sz="2400" dirty="0">
                <a:solidFill>
                  <a:srgbClr val="131D3F"/>
                </a:solidFill>
                <a:latin typeface="Montserrat" panose="00000500000000000000" pitchFamily="2" charset="0"/>
              </a:rPr>
              <a:t>Es el cálculo de todos los gastos que intervienen en la fabricación y venta de un producto o en la prestación de un servicio.</a:t>
            </a:r>
          </a:p>
        </p:txBody>
      </p:sp>
    </p:spTree>
    <p:extLst>
      <p:ext uri="{BB962C8B-B14F-4D97-AF65-F5344CB8AC3E}">
        <p14:creationId xmlns:p14="http://schemas.microsoft.com/office/powerpoint/2010/main" val="14747536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72</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2465345"/>
            <a:ext cx="10663759" cy="192731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dirty="0">
                <a:solidFill>
                  <a:srgbClr val="131D3F"/>
                </a:solidFill>
                <a:latin typeface="Montserrat" panose="00000500000000000000" pitchFamily="2" charset="0"/>
              </a:rPr>
              <a:t>Los indicadores de rendimiento financiero son métricas cuantitativas que revelan cómo una empresa está gestionando sus recursos y operando en términos de </a:t>
            </a:r>
            <a:r>
              <a:rPr lang="es-ES" sz="2400" b="1" dirty="0">
                <a:solidFill>
                  <a:srgbClr val="131D3F"/>
                </a:solidFill>
                <a:latin typeface="Montserrat" panose="00000500000000000000" pitchFamily="2" charset="0"/>
              </a:rPr>
              <a:t>rentabilidad, liquidez, solvencia y eficiencia</a:t>
            </a:r>
            <a:r>
              <a:rPr lang="es-ES" sz="2400" dirty="0">
                <a:solidFill>
                  <a:srgbClr val="131D3F"/>
                </a:solidFill>
                <a:latin typeface="Montserrat" panose="00000500000000000000" pitchFamily="2" charset="0"/>
              </a:rPr>
              <a:t>. Estos indicadores son extraídos de los estados financieros de la empresa.</a:t>
            </a:r>
          </a:p>
        </p:txBody>
      </p:sp>
    </p:spTree>
    <p:extLst>
      <p:ext uri="{BB962C8B-B14F-4D97-AF65-F5344CB8AC3E}">
        <p14:creationId xmlns:p14="http://schemas.microsoft.com/office/powerpoint/2010/main" val="170107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73</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pPr lvl="2"/>
            <a:r>
              <a:rPr lang="es-ES" sz="2000" dirty="0">
                <a:solidFill>
                  <a:srgbClr val="131D3F"/>
                </a:solidFill>
                <a:latin typeface="Montserrat" panose="00000500000000000000" pitchFamily="2" charset="0"/>
              </a:rPr>
              <a:t>Rentabilidad</a:t>
            </a:r>
          </a:p>
        </p:txBody>
      </p:sp>
      <mc:AlternateContent xmlns:mc="http://schemas.openxmlformats.org/markup-compatibility/2006" xmlns:a14="http://schemas.microsoft.com/office/drawing/2010/main">
        <mc:Choice Requires="a14">
          <p:sp>
            <p:nvSpPr>
              <p:cNvPr id="6" name="Google Shape;112;p3">
                <a:extLst>
                  <a:ext uri="{FF2B5EF4-FFF2-40B4-BE49-F238E27FC236}">
                    <a16:creationId xmlns:a16="http://schemas.microsoft.com/office/drawing/2014/main" id="{534C6BB6-89F8-44D2-8E18-CC49AB8EACFA}"/>
                  </a:ext>
                </a:extLst>
              </p:cNvPr>
              <p:cNvSpPr txBox="1"/>
              <p:nvPr/>
            </p:nvSpPr>
            <p:spPr>
              <a:xfrm>
                <a:off x="764120" y="1682920"/>
                <a:ext cx="10663759" cy="174608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Margen Neto:</a:t>
                </a:r>
                <a:r>
                  <a:rPr lang="es-ES" sz="2400" dirty="0">
                    <a:solidFill>
                      <a:srgbClr val="131D3F"/>
                    </a:solidFill>
                    <a:latin typeface="Montserrat" panose="00000500000000000000" pitchFamily="2" charset="0"/>
                  </a:rPr>
                  <a:t> Indica el porcentaje de las ventas que queda como beneficio neto después de todos los gastos e impuestos.</a:t>
                </a: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𝑀𝑎𝑟𝑔𝑒𝑛</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𝑁𝑒𝑡𝑜</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𝑈𝑡𝑖𝑙𝑖𝑑𝑎𝑑</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𝑁𝑒𝑡𝑎</m:t>
                          </m:r>
                        </m:num>
                        <m:den>
                          <m:r>
                            <a:rPr lang="es-ES" sz="2400" b="0" i="1" smtClean="0">
                              <a:solidFill>
                                <a:srgbClr val="131D3F"/>
                              </a:solidFill>
                              <a:latin typeface="Cambria Math" panose="02040503050406030204" pitchFamily="18" charset="0"/>
                            </a:rPr>
                            <m:t>𝑉𝑒𝑛𝑡𝑎𝑠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𝑇𝑜𝑡𝑎𝑙𝑒𝑠</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m:t>
                      </m:r>
                    </m:oMath>
                  </m:oMathPara>
                </a14:m>
                <a:endParaRPr lang="es-ES" sz="2400" dirty="0">
                  <a:solidFill>
                    <a:srgbClr val="131D3F"/>
                  </a:solidFill>
                  <a:latin typeface="Montserrat" panose="00000500000000000000" pitchFamily="2" charset="0"/>
                </a:endParaRPr>
              </a:p>
            </p:txBody>
          </p:sp>
        </mc:Choice>
        <mc:Fallback xmlns="">
          <p:sp>
            <p:nvSpPr>
              <p:cNvPr id="6" name="Google Shape;112;p3">
                <a:extLst>
                  <a:ext uri="{FF2B5EF4-FFF2-40B4-BE49-F238E27FC236}">
                    <a16:creationId xmlns:a16="http://schemas.microsoft.com/office/drawing/2014/main" id="{534C6BB6-89F8-44D2-8E18-CC49AB8EACFA}"/>
                  </a:ext>
                </a:extLst>
              </p:cNvPr>
              <p:cNvSpPr txBox="1">
                <a:spLocks noRot="1" noChangeAspect="1" noMove="1" noResize="1" noEditPoints="1" noAdjustHandles="1" noChangeArrowheads="1" noChangeShapeType="1" noTextEdit="1"/>
              </p:cNvSpPr>
              <p:nvPr/>
            </p:nvSpPr>
            <p:spPr>
              <a:xfrm>
                <a:off x="764120" y="1682920"/>
                <a:ext cx="10663759" cy="1746080"/>
              </a:xfrm>
              <a:prstGeom prst="rect">
                <a:avLst/>
              </a:prstGeom>
              <a:blipFill>
                <a:blip r:embed="rId5"/>
                <a:stretch>
                  <a:fillRect l="-857" t="-2439" r="-857"/>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Google Shape;112;p3">
                <a:extLst>
                  <a:ext uri="{FF2B5EF4-FFF2-40B4-BE49-F238E27FC236}">
                    <a16:creationId xmlns:a16="http://schemas.microsoft.com/office/drawing/2014/main" id="{C59969BE-7DA7-4822-951C-CDBE30F594E6}"/>
                  </a:ext>
                </a:extLst>
              </p:cNvPr>
              <p:cNvSpPr txBox="1"/>
              <p:nvPr/>
            </p:nvSpPr>
            <p:spPr>
              <a:xfrm>
                <a:off x="817880" y="3664120"/>
                <a:ext cx="10663759" cy="174608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Rentabilidad sobre patrimonio (ROE):</a:t>
                </a:r>
                <a:r>
                  <a:rPr lang="es-ES" sz="2400" dirty="0">
                    <a:solidFill>
                      <a:srgbClr val="131D3F"/>
                    </a:solidFill>
                    <a:latin typeface="Montserrat" panose="00000500000000000000" pitchFamily="2" charset="0"/>
                  </a:rPr>
                  <a:t> Mide la capacidad de una empresa para generar beneficios a partir de los recursos de los accionistas.</a:t>
                </a:r>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𝑅𝑂𝐸</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𝑈𝑡𝑖𝑙𝑖𝑑𝑎𝑑</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𝑁𝑒𝑡𝑎</m:t>
                          </m:r>
                        </m:num>
                        <m:den>
                          <m:r>
                            <a:rPr lang="es-ES" sz="2400" b="0" i="1" smtClean="0">
                              <a:solidFill>
                                <a:srgbClr val="131D3F"/>
                              </a:solidFill>
                              <a:latin typeface="Cambria Math" panose="02040503050406030204" pitchFamily="18" charset="0"/>
                            </a:rPr>
                            <m:t>𝑃𝑎𝑡𝑟𝑖𝑚𝑜𝑛𝑖𝑜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𝑁𝑒𝑡𝑜</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m:t>
                      </m:r>
                    </m:oMath>
                  </m:oMathPara>
                </a14:m>
                <a:endParaRPr lang="es-ES" sz="2400" dirty="0">
                  <a:solidFill>
                    <a:srgbClr val="131D3F"/>
                  </a:solidFill>
                  <a:latin typeface="Montserrat" panose="00000500000000000000" pitchFamily="2" charset="0"/>
                </a:endParaRPr>
              </a:p>
            </p:txBody>
          </p:sp>
        </mc:Choice>
        <mc:Fallback xmlns="">
          <p:sp>
            <p:nvSpPr>
              <p:cNvPr id="10" name="Google Shape;112;p3">
                <a:extLst>
                  <a:ext uri="{FF2B5EF4-FFF2-40B4-BE49-F238E27FC236}">
                    <a16:creationId xmlns:a16="http://schemas.microsoft.com/office/drawing/2014/main" id="{C59969BE-7DA7-4822-951C-CDBE30F594E6}"/>
                  </a:ext>
                </a:extLst>
              </p:cNvPr>
              <p:cNvSpPr txBox="1">
                <a:spLocks noRot="1" noChangeAspect="1" noMove="1" noResize="1" noEditPoints="1" noAdjustHandles="1" noChangeArrowheads="1" noChangeShapeType="1" noTextEdit="1"/>
              </p:cNvSpPr>
              <p:nvPr/>
            </p:nvSpPr>
            <p:spPr>
              <a:xfrm>
                <a:off x="817880" y="3664120"/>
                <a:ext cx="10663759" cy="1746080"/>
              </a:xfrm>
              <a:prstGeom prst="rect">
                <a:avLst/>
              </a:prstGeom>
              <a:blipFill>
                <a:blip r:embed="rId6"/>
                <a:stretch>
                  <a:fillRect l="-858" t="-2439" r="-915" b="-9408"/>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30301556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74</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pPr lvl="2"/>
            <a:r>
              <a:rPr lang="es-ES" sz="2000" dirty="0">
                <a:solidFill>
                  <a:srgbClr val="131D3F"/>
                </a:solidFill>
                <a:latin typeface="Montserrat" panose="00000500000000000000" pitchFamily="2" charset="0"/>
              </a:rPr>
              <a:t>Rentabilidad</a:t>
            </a:r>
          </a:p>
        </p:txBody>
      </p:sp>
      <mc:AlternateContent xmlns:mc="http://schemas.openxmlformats.org/markup-compatibility/2006" xmlns:a14="http://schemas.microsoft.com/office/drawing/2010/main">
        <mc:Choice Requires="a14">
          <p:sp>
            <p:nvSpPr>
              <p:cNvPr id="6" name="Google Shape;112;p3">
                <a:extLst>
                  <a:ext uri="{FF2B5EF4-FFF2-40B4-BE49-F238E27FC236}">
                    <a16:creationId xmlns:a16="http://schemas.microsoft.com/office/drawing/2014/main" id="{534C6BB6-89F8-44D2-8E18-CC49AB8EACFA}"/>
                  </a:ext>
                </a:extLst>
              </p:cNvPr>
              <p:cNvSpPr txBox="1"/>
              <p:nvPr/>
            </p:nvSpPr>
            <p:spPr>
              <a:xfrm>
                <a:off x="764120" y="1682920"/>
                <a:ext cx="10663759" cy="174608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Rentabilidad sobre el Activo (ROA)</a:t>
                </a:r>
                <a:r>
                  <a:rPr lang="es-ES" sz="2400" dirty="0">
                    <a:solidFill>
                      <a:srgbClr val="131D3F"/>
                    </a:solidFill>
                    <a:latin typeface="Montserrat" panose="00000500000000000000" pitchFamily="2" charset="0"/>
                  </a:rPr>
                  <a:t>: Evalúa la eficiencia de la empresa en la generación de beneficios utilizando sus activos.</a:t>
                </a:r>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𝑅𝑂𝐴</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𝑈𝑡𝑖𝑙𝑖𝑑𝑎𝑑</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𝑁𝑒𝑡𝑎</m:t>
                          </m:r>
                        </m:num>
                        <m:den>
                          <m:r>
                            <a:rPr lang="es-ES" sz="2400" b="0" i="1" smtClean="0">
                              <a:solidFill>
                                <a:srgbClr val="131D3F"/>
                              </a:solidFill>
                              <a:latin typeface="Cambria Math" panose="02040503050406030204" pitchFamily="18" charset="0"/>
                            </a:rPr>
                            <m:t>𝐴𝑐𝑡𝑖𝑣𝑜𝑠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𝑇𝑜𝑡𝑎𝑙𝑒𝑠</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m:t>
                      </m:r>
                    </m:oMath>
                  </m:oMathPara>
                </a14:m>
                <a:endParaRPr lang="es-ES" sz="2400" dirty="0">
                  <a:solidFill>
                    <a:srgbClr val="131D3F"/>
                  </a:solidFill>
                  <a:latin typeface="Montserrat" panose="00000500000000000000" pitchFamily="2" charset="0"/>
                </a:endParaRPr>
              </a:p>
            </p:txBody>
          </p:sp>
        </mc:Choice>
        <mc:Fallback xmlns="">
          <p:sp>
            <p:nvSpPr>
              <p:cNvPr id="6" name="Google Shape;112;p3">
                <a:extLst>
                  <a:ext uri="{FF2B5EF4-FFF2-40B4-BE49-F238E27FC236}">
                    <a16:creationId xmlns:a16="http://schemas.microsoft.com/office/drawing/2014/main" id="{534C6BB6-89F8-44D2-8E18-CC49AB8EACFA}"/>
                  </a:ext>
                </a:extLst>
              </p:cNvPr>
              <p:cNvSpPr txBox="1">
                <a:spLocks noRot="1" noChangeAspect="1" noMove="1" noResize="1" noEditPoints="1" noAdjustHandles="1" noChangeArrowheads="1" noChangeShapeType="1" noTextEdit="1"/>
              </p:cNvSpPr>
              <p:nvPr/>
            </p:nvSpPr>
            <p:spPr>
              <a:xfrm>
                <a:off x="764120" y="1682920"/>
                <a:ext cx="10663759" cy="1746080"/>
              </a:xfrm>
              <a:prstGeom prst="rect">
                <a:avLst/>
              </a:prstGeom>
              <a:blipFill>
                <a:blip r:embed="rId5"/>
                <a:stretch>
                  <a:fillRect l="-857" t="-2439" r="-857"/>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Google Shape;112;p3">
                <a:extLst>
                  <a:ext uri="{FF2B5EF4-FFF2-40B4-BE49-F238E27FC236}">
                    <a16:creationId xmlns:a16="http://schemas.microsoft.com/office/drawing/2014/main" id="{C59969BE-7DA7-4822-951C-CDBE30F594E6}"/>
                  </a:ext>
                </a:extLst>
              </p:cNvPr>
              <p:cNvSpPr txBox="1"/>
              <p:nvPr/>
            </p:nvSpPr>
            <p:spPr>
              <a:xfrm>
                <a:off x="817880" y="3664120"/>
                <a:ext cx="10663759" cy="174608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Rentabilidad sobre el Capital Invertido (ROIC):</a:t>
                </a:r>
                <a:r>
                  <a:rPr lang="es-ES" sz="2400" dirty="0">
                    <a:solidFill>
                      <a:srgbClr val="131D3F"/>
                    </a:solidFill>
                    <a:latin typeface="Montserrat" panose="00000500000000000000" pitchFamily="2" charset="0"/>
                  </a:rPr>
                  <a:t> Mide la rentabilidad de los recursos invertidos en el negocio</a:t>
                </a:r>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𝑅𝐼𝑂𝐶</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𝑈𝑡𝑖𝑙𝑖𝑑𝑎𝑑</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𝑁𝑒𝑡𝑎</m:t>
                          </m:r>
                          <m:r>
                            <a:rPr lang="es-ES" sz="2400" b="0" i="1" smtClean="0">
                              <a:solidFill>
                                <a:srgbClr val="131D3F"/>
                              </a:solidFill>
                              <a:latin typeface="Cambria Math" panose="02040503050406030204" pitchFamily="18" charset="0"/>
                            </a:rPr>
                            <m:t>−</m:t>
                          </m:r>
                          <m:r>
                            <a:rPr lang="es-ES" sz="2400" b="0" i="1" smtClean="0">
                              <a:solidFill>
                                <a:srgbClr val="131D3F"/>
                              </a:solidFill>
                              <a:latin typeface="Cambria Math" panose="02040503050406030204" pitchFamily="18" charset="0"/>
                            </a:rPr>
                            <m:t>𝐷𝑖𝑣𝑖𝑑𝑒𝑛𝑑𝑜𝑠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𝑝𝑟𝑒𝑓𝑒𝑟𝑒𝑛𝑡𝑒𝑠</m:t>
                          </m:r>
                        </m:num>
                        <m:den>
                          <m:r>
                            <a:rPr lang="es-ES" sz="2400" b="0" i="1" smtClean="0">
                              <a:solidFill>
                                <a:srgbClr val="131D3F"/>
                              </a:solidFill>
                              <a:latin typeface="Cambria Math" panose="02040503050406030204" pitchFamily="18" charset="0"/>
                            </a:rPr>
                            <m:t>𝐶𝑎𝑝𝑖𝑡𝑎𝑙</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𝐼𝑛𝑣𝑒𝑟𝑡𝑖𝑑𝑜</m:t>
                          </m:r>
                        </m:den>
                      </m:f>
                    </m:oMath>
                  </m:oMathPara>
                </a14:m>
                <a:endParaRPr lang="es-ES" sz="2400" dirty="0">
                  <a:solidFill>
                    <a:srgbClr val="131D3F"/>
                  </a:solidFill>
                  <a:latin typeface="Montserrat" panose="00000500000000000000" pitchFamily="2" charset="0"/>
                </a:endParaRPr>
              </a:p>
            </p:txBody>
          </p:sp>
        </mc:Choice>
        <mc:Fallback xmlns="">
          <p:sp>
            <p:nvSpPr>
              <p:cNvPr id="10" name="Google Shape;112;p3">
                <a:extLst>
                  <a:ext uri="{FF2B5EF4-FFF2-40B4-BE49-F238E27FC236}">
                    <a16:creationId xmlns:a16="http://schemas.microsoft.com/office/drawing/2014/main" id="{C59969BE-7DA7-4822-951C-CDBE30F594E6}"/>
                  </a:ext>
                </a:extLst>
              </p:cNvPr>
              <p:cNvSpPr txBox="1">
                <a:spLocks noRot="1" noChangeAspect="1" noMove="1" noResize="1" noEditPoints="1" noAdjustHandles="1" noChangeArrowheads="1" noChangeShapeType="1" noTextEdit="1"/>
              </p:cNvSpPr>
              <p:nvPr/>
            </p:nvSpPr>
            <p:spPr>
              <a:xfrm>
                <a:off x="817880" y="3664120"/>
                <a:ext cx="10663759" cy="1746080"/>
              </a:xfrm>
              <a:prstGeom prst="rect">
                <a:avLst/>
              </a:prstGeom>
              <a:blipFill>
                <a:blip r:embed="rId6"/>
                <a:stretch>
                  <a:fillRect l="-858" t="-2439" r="-915"/>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28985072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75</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pPr lvl="2"/>
            <a:r>
              <a:rPr lang="es-ES" sz="2000" dirty="0">
                <a:solidFill>
                  <a:srgbClr val="131D3F"/>
                </a:solidFill>
                <a:latin typeface="Montserrat" panose="00000500000000000000" pitchFamily="2" charset="0"/>
              </a:rPr>
              <a:t>Liquidez</a:t>
            </a:r>
          </a:p>
        </p:txBody>
      </p:sp>
      <mc:AlternateContent xmlns:mc="http://schemas.openxmlformats.org/markup-compatibility/2006" xmlns:a14="http://schemas.microsoft.com/office/drawing/2010/main">
        <mc:Choice Requires="a14">
          <p:sp>
            <p:nvSpPr>
              <p:cNvPr id="6" name="Google Shape;112;p3">
                <a:extLst>
                  <a:ext uri="{FF2B5EF4-FFF2-40B4-BE49-F238E27FC236}">
                    <a16:creationId xmlns:a16="http://schemas.microsoft.com/office/drawing/2014/main" id="{534C6BB6-89F8-44D2-8E18-CC49AB8EACFA}"/>
                  </a:ext>
                </a:extLst>
              </p:cNvPr>
              <p:cNvSpPr txBox="1"/>
              <p:nvPr/>
            </p:nvSpPr>
            <p:spPr>
              <a:xfrm>
                <a:off x="764120" y="1682920"/>
                <a:ext cx="10663759" cy="174608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Liquidez Circulante</a:t>
                </a:r>
                <a:r>
                  <a:rPr lang="es-ES" sz="2400" dirty="0">
                    <a:solidFill>
                      <a:srgbClr val="131D3F"/>
                    </a:solidFill>
                    <a:latin typeface="Montserrat" panose="00000500000000000000" pitchFamily="2" charset="0"/>
                  </a:rPr>
                  <a:t>: Indica la capacidad de la empresa para cubrir sus obligaciones a corto plazo con sus activos a corto plazo.</a:t>
                </a:r>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𝐿𝑖𝑞𝑢𝑖𝑑𝑒𝑧</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𝐶𝑖𝑟𝑐𝑢𝑙𝑎𝑛𝑡𝑒</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𝐴𝑐𝑡𝑖𝑣𝑜𝑠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𝐶𝑖𝑟𝑐𝑢𝑙𝑎𝑛𝑡𝑒𝑠</m:t>
                          </m:r>
                        </m:num>
                        <m:den>
                          <m:r>
                            <a:rPr lang="es-ES" sz="2400" b="0" i="1" smtClean="0">
                              <a:solidFill>
                                <a:srgbClr val="131D3F"/>
                              </a:solidFill>
                              <a:latin typeface="Cambria Math" panose="02040503050406030204" pitchFamily="18" charset="0"/>
                            </a:rPr>
                            <m:t>𝑃𝑎𝑠𝑖𝑣𝑜𝑠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𝐶𝑖𝑟𝑐𝑢𝑙𝑎𝑛𝑡𝑒𝑠</m:t>
                          </m:r>
                        </m:den>
                      </m:f>
                    </m:oMath>
                  </m:oMathPara>
                </a14:m>
                <a:endParaRPr lang="es-ES" sz="2400" dirty="0">
                  <a:solidFill>
                    <a:srgbClr val="131D3F"/>
                  </a:solidFill>
                  <a:latin typeface="Montserrat" panose="00000500000000000000" pitchFamily="2" charset="0"/>
                </a:endParaRPr>
              </a:p>
            </p:txBody>
          </p:sp>
        </mc:Choice>
        <mc:Fallback xmlns="">
          <p:sp>
            <p:nvSpPr>
              <p:cNvPr id="6" name="Google Shape;112;p3">
                <a:extLst>
                  <a:ext uri="{FF2B5EF4-FFF2-40B4-BE49-F238E27FC236}">
                    <a16:creationId xmlns:a16="http://schemas.microsoft.com/office/drawing/2014/main" id="{534C6BB6-89F8-44D2-8E18-CC49AB8EACFA}"/>
                  </a:ext>
                </a:extLst>
              </p:cNvPr>
              <p:cNvSpPr txBox="1">
                <a:spLocks noRot="1" noChangeAspect="1" noMove="1" noResize="1" noEditPoints="1" noAdjustHandles="1" noChangeArrowheads="1" noChangeShapeType="1" noTextEdit="1"/>
              </p:cNvSpPr>
              <p:nvPr/>
            </p:nvSpPr>
            <p:spPr>
              <a:xfrm>
                <a:off x="764120" y="1682920"/>
                <a:ext cx="10663759" cy="1746080"/>
              </a:xfrm>
              <a:prstGeom prst="rect">
                <a:avLst/>
              </a:prstGeom>
              <a:blipFill>
                <a:blip r:embed="rId5"/>
                <a:stretch>
                  <a:fillRect l="-857" t="-2439" r="-857"/>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Google Shape;112;p3">
                <a:extLst>
                  <a:ext uri="{FF2B5EF4-FFF2-40B4-BE49-F238E27FC236}">
                    <a16:creationId xmlns:a16="http://schemas.microsoft.com/office/drawing/2014/main" id="{C59969BE-7DA7-4822-951C-CDBE30F594E6}"/>
                  </a:ext>
                </a:extLst>
              </p:cNvPr>
              <p:cNvSpPr txBox="1"/>
              <p:nvPr/>
            </p:nvSpPr>
            <p:spPr>
              <a:xfrm>
                <a:off x="817880" y="3664120"/>
                <a:ext cx="10663759" cy="2039096"/>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Prueba Acida:</a:t>
                </a:r>
                <a:r>
                  <a:rPr lang="es-ES" sz="2400" dirty="0">
                    <a:solidFill>
                      <a:srgbClr val="131D3F"/>
                    </a:solidFill>
                    <a:latin typeface="Montserrat" panose="00000500000000000000" pitchFamily="2" charset="0"/>
                  </a:rPr>
                  <a:t> Es una medida más conservadora que la razón circulante, ya que excluye los inventarios, que pueden ser menos líquidos.</a:t>
                </a:r>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𝑃𝑟𝑢𝑒𝑏𝑎</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𝐴𝑐𝑖𝑑𝑎</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𝐴𝑐𝑡𝑖𝑣𝑜𝑠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𝐶𝑖𝑟𝑐𝑢𝑙𝑎𝑛𝑡𝑒𝑠</m:t>
                          </m:r>
                          <m:r>
                            <a:rPr lang="es-ES" sz="2400" b="0" i="1" smtClean="0">
                              <a:solidFill>
                                <a:srgbClr val="131D3F"/>
                              </a:solidFill>
                              <a:latin typeface="Cambria Math" panose="02040503050406030204" pitchFamily="18" charset="0"/>
                            </a:rPr>
                            <m:t>−</m:t>
                          </m:r>
                          <m:r>
                            <a:rPr lang="es-ES" sz="2400" b="0" i="1" smtClean="0">
                              <a:solidFill>
                                <a:srgbClr val="131D3F"/>
                              </a:solidFill>
                              <a:latin typeface="Cambria Math" panose="02040503050406030204" pitchFamily="18" charset="0"/>
                            </a:rPr>
                            <m:t>𝐼𝑛𝑣𝑒𝑛𝑡𝑎𝑟𝑖𝑜𝑠</m:t>
                          </m:r>
                        </m:num>
                        <m:den>
                          <m:r>
                            <a:rPr lang="es-ES" sz="2400" b="0" i="1" smtClean="0">
                              <a:solidFill>
                                <a:srgbClr val="131D3F"/>
                              </a:solidFill>
                              <a:latin typeface="Cambria Math" panose="02040503050406030204" pitchFamily="18" charset="0"/>
                            </a:rPr>
                            <m:t>𝑃𝑎𝑠𝑖𝑣𝑜𝑠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𝐶𝑖𝑟𝑐𝑢𝑙𝑎𝑛𝑡𝑒𝑠</m:t>
                          </m:r>
                        </m:den>
                      </m:f>
                    </m:oMath>
                  </m:oMathPara>
                </a14:m>
                <a:endParaRPr lang="es-ES" sz="2400" dirty="0">
                  <a:solidFill>
                    <a:srgbClr val="131D3F"/>
                  </a:solidFill>
                  <a:latin typeface="Montserrat" panose="00000500000000000000" pitchFamily="2" charset="0"/>
                </a:endParaRPr>
              </a:p>
            </p:txBody>
          </p:sp>
        </mc:Choice>
        <mc:Fallback xmlns="">
          <p:sp>
            <p:nvSpPr>
              <p:cNvPr id="10" name="Google Shape;112;p3">
                <a:extLst>
                  <a:ext uri="{FF2B5EF4-FFF2-40B4-BE49-F238E27FC236}">
                    <a16:creationId xmlns:a16="http://schemas.microsoft.com/office/drawing/2014/main" id="{C59969BE-7DA7-4822-951C-CDBE30F594E6}"/>
                  </a:ext>
                </a:extLst>
              </p:cNvPr>
              <p:cNvSpPr txBox="1">
                <a:spLocks noRot="1" noChangeAspect="1" noMove="1" noResize="1" noEditPoints="1" noAdjustHandles="1" noChangeArrowheads="1" noChangeShapeType="1" noTextEdit="1"/>
              </p:cNvSpPr>
              <p:nvPr/>
            </p:nvSpPr>
            <p:spPr>
              <a:xfrm>
                <a:off x="817880" y="3664120"/>
                <a:ext cx="10663759" cy="2039096"/>
              </a:xfrm>
              <a:prstGeom prst="rect">
                <a:avLst/>
              </a:prstGeom>
              <a:blipFill>
                <a:blip r:embed="rId6"/>
                <a:stretch>
                  <a:fillRect l="-858" t="-2090" r="-915"/>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22805616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76</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310530"/>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pPr lvl="2"/>
            <a:r>
              <a:rPr lang="es-ES" sz="2000" dirty="0">
                <a:solidFill>
                  <a:srgbClr val="131D3F"/>
                </a:solidFill>
                <a:latin typeface="Montserrat" panose="00000500000000000000" pitchFamily="2" charset="0"/>
              </a:rPr>
              <a:t>Solvencia</a:t>
            </a:r>
          </a:p>
        </p:txBody>
      </p:sp>
      <mc:AlternateContent xmlns:mc="http://schemas.openxmlformats.org/markup-compatibility/2006" xmlns:a14="http://schemas.microsoft.com/office/drawing/2010/main">
        <mc:Choice Requires="a14">
          <p:sp>
            <p:nvSpPr>
              <p:cNvPr id="6" name="Google Shape;112;p3">
                <a:extLst>
                  <a:ext uri="{FF2B5EF4-FFF2-40B4-BE49-F238E27FC236}">
                    <a16:creationId xmlns:a16="http://schemas.microsoft.com/office/drawing/2014/main" id="{534C6BB6-89F8-44D2-8E18-CC49AB8EACFA}"/>
                  </a:ext>
                </a:extLst>
              </p:cNvPr>
              <p:cNvSpPr txBox="1"/>
              <p:nvPr/>
            </p:nvSpPr>
            <p:spPr>
              <a:xfrm>
                <a:off x="421167" y="1682920"/>
                <a:ext cx="11349663" cy="1746080"/>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Razón de endeudamiento</a:t>
                </a:r>
                <a:r>
                  <a:rPr lang="es-ES" sz="2400" dirty="0">
                    <a:solidFill>
                      <a:srgbClr val="131D3F"/>
                    </a:solidFill>
                    <a:latin typeface="Montserrat" panose="00000500000000000000" pitchFamily="2" charset="0"/>
                  </a:rPr>
                  <a:t>: Mide el porcentaje de los activos que está financiado por deuda en lugar de por capital propio.</a:t>
                </a:r>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𝑅𝑎𝑧</m:t>
                      </m:r>
                      <m:r>
                        <a:rPr lang="es-ES" sz="2400" b="0" i="1" smtClean="0">
                          <a:solidFill>
                            <a:srgbClr val="131D3F"/>
                          </a:solidFill>
                          <a:latin typeface="Cambria Math" panose="02040503050406030204" pitchFamily="18" charset="0"/>
                        </a:rPr>
                        <m:t>ó</m:t>
                      </m:r>
                      <m:r>
                        <a:rPr lang="es-ES" sz="2400" b="0" i="1" smtClean="0">
                          <a:solidFill>
                            <a:srgbClr val="131D3F"/>
                          </a:solidFill>
                          <a:latin typeface="Cambria Math" panose="02040503050406030204" pitchFamily="18" charset="0"/>
                        </a:rPr>
                        <m:t>𝑛</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𝑒𝑛𝑑𝑒𝑢𝑑𝑎𝑚𝑖𝑒𝑛𝑡𝑜</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𝑃𝑎𝑠𝑖𝑣𝑜𝑠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𝑇𝑜𝑡𝑎𝑙𝑒𝑠</m:t>
                          </m:r>
                        </m:num>
                        <m:den>
                          <m:r>
                            <a:rPr lang="es-ES" sz="2400" b="0" i="1" smtClean="0">
                              <a:solidFill>
                                <a:srgbClr val="131D3F"/>
                              </a:solidFill>
                              <a:latin typeface="Cambria Math" panose="02040503050406030204" pitchFamily="18" charset="0"/>
                            </a:rPr>
                            <m:t>𝐴𝑐𝑡𝑖𝑣𝑜𝑠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𝑇𝑜𝑡𝑎𝑙𝑒𝑠</m:t>
                          </m:r>
                        </m:den>
                      </m:f>
                    </m:oMath>
                  </m:oMathPara>
                </a14:m>
                <a:endParaRPr lang="es-ES" sz="2400" dirty="0">
                  <a:solidFill>
                    <a:srgbClr val="131D3F"/>
                  </a:solidFill>
                  <a:latin typeface="Montserrat" panose="00000500000000000000" pitchFamily="2" charset="0"/>
                </a:endParaRPr>
              </a:p>
            </p:txBody>
          </p:sp>
        </mc:Choice>
        <mc:Fallback xmlns="">
          <p:sp>
            <p:nvSpPr>
              <p:cNvPr id="6" name="Google Shape;112;p3">
                <a:extLst>
                  <a:ext uri="{FF2B5EF4-FFF2-40B4-BE49-F238E27FC236}">
                    <a16:creationId xmlns:a16="http://schemas.microsoft.com/office/drawing/2014/main" id="{534C6BB6-89F8-44D2-8E18-CC49AB8EACFA}"/>
                  </a:ext>
                </a:extLst>
              </p:cNvPr>
              <p:cNvSpPr txBox="1">
                <a:spLocks noRot="1" noChangeAspect="1" noMove="1" noResize="1" noEditPoints="1" noAdjustHandles="1" noChangeArrowheads="1" noChangeShapeType="1" noTextEdit="1"/>
              </p:cNvSpPr>
              <p:nvPr/>
            </p:nvSpPr>
            <p:spPr>
              <a:xfrm>
                <a:off x="421167" y="1682920"/>
                <a:ext cx="11349663" cy="1746080"/>
              </a:xfrm>
              <a:prstGeom prst="rect">
                <a:avLst/>
              </a:prstGeom>
              <a:blipFill>
                <a:blip r:embed="rId5"/>
                <a:stretch>
                  <a:fillRect l="-806" t="-2439" r="-859"/>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Google Shape;112;p3">
                <a:extLst>
                  <a:ext uri="{FF2B5EF4-FFF2-40B4-BE49-F238E27FC236}">
                    <a16:creationId xmlns:a16="http://schemas.microsoft.com/office/drawing/2014/main" id="{C59969BE-7DA7-4822-951C-CDBE30F594E6}"/>
                  </a:ext>
                </a:extLst>
              </p:cNvPr>
              <p:cNvSpPr txBox="1"/>
              <p:nvPr/>
            </p:nvSpPr>
            <p:spPr>
              <a:xfrm>
                <a:off x="421167" y="3786668"/>
                <a:ext cx="11349664" cy="2039096"/>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Razón de Cobertura de Intereses:</a:t>
                </a:r>
                <a:r>
                  <a:rPr lang="es-ES" sz="2400" dirty="0">
                    <a:solidFill>
                      <a:srgbClr val="131D3F"/>
                    </a:solidFill>
                    <a:latin typeface="Montserrat" panose="00000500000000000000" pitchFamily="2" charset="0"/>
                  </a:rPr>
                  <a:t> Indica cuántas veces la empresa puede cubrir sus gastos por intereses con su EBIT.</a:t>
                </a: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𝑅𝑎𝑧</m:t>
                      </m:r>
                      <m:r>
                        <a:rPr lang="es-ES" sz="2400" b="0" i="1" smtClean="0">
                          <a:solidFill>
                            <a:srgbClr val="131D3F"/>
                          </a:solidFill>
                          <a:latin typeface="Cambria Math" panose="02040503050406030204" pitchFamily="18" charset="0"/>
                        </a:rPr>
                        <m:t>ó</m:t>
                      </m:r>
                      <m:r>
                        <a:rPr lang="es-ES" sz="2400" b="0" i="1" smtClean="0">
                          <a:solidFill>
                            <a:srgbClr val="131D3F"/>
                          </a:solidFill>
                          <a:latin typeface="Cambria Math" panose="02040503050406030204" pitchFamily="18" charset="0"/>
                        </a:rPr>
                        <m:t>𝑛</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𝐶𝑜𝑏𝑒𝑟𝑡𝑢𝑟𝑎</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𝑖𝑛𝑡𝑒𝑟𝑒𝑠𝑒𝑠</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i="1">
                              <a:solidFill>
                                <a:srgbClr val="131D3F"/>
                              </a:solidFill>
                              <a:latin typeface="Cambria Math" panose="02040503050406030204" pitchFamily="18" charset="0"/>
                            </a:rPr>
                            <m:t>𝐵𝑒𝑛𝑒𝑓𝑖𝑐𝑖𝑜</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𝐴𝑛𝑡𝑒𝑠</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𝑑𝑒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𝐼𝑛𝑡𝑒𝑟𝑒𝑠𝑒𝑠</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𝐼𝑚𝑝𝑢𝑒𝑠𝑡𝑜𝑠</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𝐸𝐵𝐼𝑇</m:t>
                          </m:r>
                          <m:r>
                            <a:rPr lang="es-ES" sz="2400" i="1">
                              <a:solidFill>
                                <a:srgbClr val="131D3F"/>
                              </a:solidFill>
                              <a:latin typeface="Cambria Math" panose="02040503050406030204" pitchFamily="18" charset="0"/>
                            </a:rPr>
                            <m:t>) </m:t>
                          </m:r>
                        </m:num>
                        <m:den>
                          <m:r>
                            <a:rPr lang="es-ES" sz="2400" b="0" i="1" smtClean="0">
                              <a:solidFill>
                                <a:srgbClr val="131D3F"/>
                              </a:solidFill>
                              <a:latin typeface="Cambria Math" panose="02040503050406030204" pitchFamily="18" charset="0"/>
                            </a:rPr>
                            <m:t>𝐺𝑎𝑠𝑡𝑜𝑠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𝑝𝑜𝑟</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𝑖𝑛𝑡𝑒𝑟𝑒𝑠𝑒𝑠</m:t>
                          </m:r>
                        </m:den>
                      </m:f>
                    </m:oMath>
                  </m:oMathPara>
                </a14:m>
                <a:endParaRPr lang="es-ES" sz="2400" dirty="0">
                  <a:solidFill>
                    <a:srgbClr val="131D3F"/>
                  </a:solidFill>
                  <a:latin typeface="Montserrat" panose="00000500000000000000" pitchFamily="2" charset="0"/>
                </a:endParaRPr>
              </a:p>
            </p:txBody>
          </p:sp>
        </mc:Choice>
        <mc:Fallback xmlns="">
          <p:sp>
            <p:nvSpPr>
              <p:cNvPr id="10" name="Google Shape;112;p3">
                <a:extLst>
                  <a:ext uri="{FF2B5EF4-FFF2-40B4-BE49-F238E27FC236}">
                    <a16:creationId xmlns:a16="http://schemas.microsoft.com/office/drawing/2014/main" id="{C59969BE-7DA7-4822-951C-CDBE30F594E6}"/>
                  </a:ext>
                </a:extLst>
              </p:cNvPr>
              <p:cNvSpPr txBox="1">
                <a:spLocks noRot="1" noChangeAspect="1" noMove="1" noResize="1" noEditPoints="1" noAdjustHandles="1" noChangeArrowheads="1" noChangeShapeType="1" noTextEdit="1"/>
              </p:cNvSpPr>
              <p:nvPr/>
            </p:nvSpPr>
            <p:spPr>
              <a:xfrm>
                <a:off x="421167" y="3786668"/>
                <a:ext cx="11349664" cy="2039096"/>
              </a:xfrm>
              <a:prstGeom prst="rect">
                <a:avLst/>
              </a:prstGeom>
              <a:blipFill>
                <a:blip r:embed="rId6"/>
                <a:stretch>
                  <a:fillRect l="-806" t="-2090" r="-1504"/>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34679202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77</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r>
              <a:rPr lang="es-ES" sz="3600" b="1" dirty="0">
                <a:solidFill>
                  <a:srgbClr val="131D3F"/>
                </a:solidFill>
                <a:latin typeface="Montserrat SemiBold" panose="00000700000000000000" pitchFamily="2" charset="0"/>
              </a:rPr>
              <a:t>	</a:t>
            </a:r>
            <a:r>
              <a:rPr lang="es-ES" sz="2600" dirty="0">
                <a:solidFill>
                  <a:srgbClr val="131D3F"/>
                </a:solidFill>
                <a:latin typeface="Montserrat" panose="00000500000000000000" pitchFamily="2" charset="0"/>
              </a:rPr>
              <a:t>Trabajo de investigación</a:t>
            </a:r>
            <a:endParaRPr lang="es-ES" sz="3600" dirty="0">
              <a:solidFill>
                <a:srgbClr val="131D3F"/>
              </a:solidFill>
              <a:latin typeface="Montserrat" panose="00000500000000000000" pitchFamily="2" charset="0"/>
            </a:endParaRP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2465345"/>
            <a:ext cx="10663759" cy="1889840"/>
          </a:xfrm>
          <a:prstGeom prst="rect">
            <a:avLst/>
          </a:prstGeom>
          <a:noFill/>
          <a:ln>
            <a:noFill/>
          </a:ln>
        </p:spPr>
        <p:txBody>
          <a:bodyPr spcFirstLastPara="1" wrap="square" lIns="91425" tIns="45700" rIns="91425" bIns="45700" anchor="t" anchorCtr="0">
            <a:noAutofit/>
          </a:bodyPr>
          <a:lstStyle/>
          <a:p>
            <a:pPr algn="just">
              <a:spcAft>
                <a:spcPts val="1800"/>
              </a:spcAft>
            </a:pPr>
            <a:r>
              <a:rPr lang="es-ES" sz="2400" dirty="0">
                <a:solidFill>
                  <a:srgbClr val="131D3F"/>
                </a:solidFill>
                <a:latin typeface="Montserrat" panose="00000500000000000000" pitchFamily="2" charset="0"/>
              </a:rPr>
              <a:t>Definir los principales indicadores financieros de:</a:t>
            </a:r>
          </a:p>
          <a:p>
            <a:pPr marL="800100" lvl="1" indent="-342900" algn="just">
              <a:spcAft>
                <a:spcPts val="1800"/>
              </a:spcAft>
              <a:buFont typeface="Arial" panose="020B0604020202020204" pitchFamily="34" charset="0"/>
              <a:buChar char="•"/>
            </a:pPr>
            <a:r>
              <a:rPr lang="es-ES" sz="2400" dirty="0">
                <a:solidFill>
                  <a:srgbClr val="131D3F"/>
                </a:solidFill>
                <a:latin typeface="Montserrat" panose="00000500000000000000" pitchFamily="2" charset="0"/>
              </a:rPr>
              <a:t>Eficiencia</a:t>
            </a:r>
          </a:p>
          <a:p>
            <a:pPr algn="just">
              <a:spcAft>
                <a:spcPts val="600"/>
              </a:spcAft>
            </a:pPr>
            <a:r>
              <a:rPr lang="es-ES" sz="2400" u="sng" dirty="0">
                <a:solidFill>
                  <a:srgbClr val="131D3F"/>
                </a:solidFill>
                <a:latin typeface="Montserrat" panose="00000500000000000000" pitchFamily="2" charset="0"/>
              </a:rPr>
              <a:t>Incluir fórmulas</a:t>
            </a:r>
            <a:r>
              <a:rPr lang="es-ES" sz="2400" dirty="0">
                <a:solidFill>
                  <a:srgbClr val="131D3F"/>
                </a:solidFill>
                <a:latin typeface="Montserrat" panose="00000500000000000000" pitchFamily="2" charset="0"/>
              </a:rPr>
              <a:t>.</a:t>
            </a:r>
          </a:p>
        </p:txBody>
      </p:sp>
    </p:spTree>
    <p:extLst>
      <p:ext uri="{BB962C8B-B14F-4D97-AF65-F5344CB8AC3E}">
        <p14:creationId xmlns:p14="http://schemas.microsoft.com/office/powerpoint/2010/main" val="15595293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78</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r>
              <a:rPr lang="es-ES" sz="3600" b="1" dirty="0">
                <a:solidFill>
                  <a:srgbClr val="131D3F"/>
                </a:solidFill>
                <a:latin typeface="Montserrat SemiBold" panose="00000700000000000000" pitchFamily="2" charset="0"/>
              </a:rPr>
              <a:t>	</a:t>
            </a:r>
            <a:r>
              <a:rPr lang="es-ES" sz="2600" dirty="0">
                <a:solidFill>
                  <a:srgbClr val="131D3F"/>
                </a:solidFill>
                <a:latin typeface="Montserrat" panose="00000500000000000000" pitchFamily="2" charset="0"/>
              </a:rPr>
              <a:t>Eficiencia en Costos</a:t>
            </a:r>
            <a:endParaRPr lang="es-ES" sz="3600"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9" name="Google Shape;112;p3">
                <a:extLst>
                  <a:ext uri="{FF2B5EF4-FFF2-40B4-BE49-F238E27FC236}">
                    <a16:creationId xmlns:a16="http://schemas.microsoft.com/office/drawing/2014/main" id="{F1B21E23-E7FF-4701-9FBE-97FB11889EE1}"/>
                  </a:ext>
                </a:extLst>
              </p:cNvPr>
              <p:cNvSpPr txBox="1"/>
              <p:nvPr/>
            </p:nvSpPr>
            <p:spPr>
              <a:xfrm>
                <a:off x="421168" y="1515721"/>
                <a:ext cx="11349663" cy="22208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Costo de producción por unidad</a:t>
                </a:r>
                <a:r>
                  <a:rPr lang="es-ES" sz="2400" dirty="0">
                    <a:solidFill>
                      <a:srgbClr val="131D3F"/>
                    </a:solidFill>
                    <a:latin typeface="Montserrat" panose="00000500000000000000" pitchFamily="2" charset="0"/>
                  </a:rPr>
                  <a:t>: Mide el costo promedio para producir una unidad de producto.</a:t>
                </a:r>
                <a:endParaRPr lang="es-ES" sz="240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i="1">
                          <a:solidFill>
                            <a:srgbClr val="131D3F"/>
                          </a:solidFill>
                          <a:latin typeface="Cambria Math" panose="02040503050406030204" pitchFamily="18" charset="0"/>
                        </a:rPr>
                        <m:t>𝐶𝑜𝑠𝑡𝑜</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𝑑𝑒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𝑝𝑟𝑜𝑑𝑢𝑐𝑐𝑖</m:t>
                      </m:r>
                      <m:r>
                        <a:rPr lang="es-ES" sz="2400" i="1">
                          <a:solidFill>
                            <a:srgbClr val="131D3F"/>
                          </a:solidFill>
                          <a:latin typeface="Cambria Math" panose="02040503050406030204" pitchFamily="18" charset="0"/>
                        </a:rPr>
                        <m:t>ó</m:t>
                      </m:r>
                      <m:r>
                        <a:rPr lang="es-ES" sz="2400" i="1">
                          <a:solidFill>
                            <a:srgbClr val="131D3F"/>
                          </a:solidFill>
                          <a:latin typeface="Cambria Math" panose="02040503050406030204" pitchFamily="18" charset="0"/>
                        </a:rPr>
                        <m:t>𝑛</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𝑝𝑜𝑟</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𝑢𝑛𝑖𝑑𝑎𝑑</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𝐶𝑜𝑠𝑡𝑜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𝑡𝑜𝑡𝑎𝑙</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𝑝𝑟𝑜𝑑𝑢𝑐𝑐𝑖</m:t>
                          </m:r>
                          <m:r>
                            <a:rPr lang="es-ES" sz="2400" b="0" i="1" smtClean="0">
                              <a:solidFill>
                                <a:srgbClr val="131D3F"/>
                              </a:solidFill>
                              <a:latin typeface="Cambria Math" panose="02040503050406030204" pitchFamily="18" charset="0"/>
                            </a:rPr>
                            <m:t>ó</m:t>
                          </m:r>
                          <m:r>
                            <a:rPr lang="es-ES" sz="2400" b="0" i="1" smtClean="0">
                              <a:solidFill>
                                <a:srgbClr val="131D3F"/>
                              </a:solidFill>
                              <a:latin typeface="Cambria Math" panose="02040503050406030204" pitchFamily="18" charset="0"/>
                            </a:rPr>
                            <m:t>𝑛</m:t>
                          </m:r>
                        </m:num>
                        <m:den>
                          <m:r>
                            <a:rPr lang="es-ES" sz="2400" b="0" i="1" smtClean="0">
                              <a:solidFill>
                                <a:srgbClr val="131D3F"/>
                              </a:solidFill>
                              <a:latin typeface="Cambria Math" panose="02040503050406030204" pitchFamily="18" charset="0"/>
                            </a:rPr>
                            <m:t>𝑈𝑛𝑖𝑑𝑎𝑑𝑒𝑠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𝑝𝑟𝑜𝑑𝑢𝑐𝑖𝑑𝑎𝑠</m:t>
                          </m:r>
                        </m:den>
                      </m:f>
                    </m:oMath>
                  </m:oMathPara>
                </a14:m>
                <a:endParaRPr lang="es-ES" sz="2400" dirty="0">
                  <a:solidFill>
                    <a:srgbClr val="131D3F"/>
                  </a:solidFill>
                  <a:latin typeface="Montserrat" panose="00000500000000000000" pitchFamily="2" charset="0"/>
                </a:endParaRPr>
              </a:p>
            </p:txBody>
          </p:sp>
        </mc:Choice>
        <mc:Fallback xmlns="">
          <p:sp>
            <p:nvSpPr>
              <p:cNvPr id="9" name="Google Shape;112;p3">
                <a:extLst>
                  <a:ext uri="{FF2B5EF4-FFF2-40B4-BE49-F238E27FC236}">
                    <a16:creationId xmlns:a16="http://schemas.microsoft.com/office/drawing/2014/main" id="{F1B21E23-E7FF-4701-9FBE-97FB11889EE1}"/>
                  </a:ext>
                </a:extLst>
              </p:cNvPr>
              <p:cNvSpPr txBox="1">
                <a:spLocks noRot="1" noChangeAspect="1" noMove="1" noResize="1" noEditPoints="1" noAdjustHandles="1" noChangeArrowheads="1" noChangeShapeType="1" noTextEdit="1"/>
              </p:cNvSpPr>
              <p:nvPr/>
            </p:nvSpPr>
            <p:spPr>
              <a:xfrm>
                <a:off x="421168" y="1515721"/>
                <a:ext cx="11349663" cy="2220865"/>
              </a:xfrm>
              <a:prstGeom prst="rect">
                <a:avLst/>
              </a:prstGeom>
              <a:blipFill>
                <a:blip r:embed="rId5"/>
                <a:stretch>
                  <a:fillRect l="-806" t="-1923" r="-859"/>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Google Shape;112;p3">
                <a:extLst>
                  <a:ext uri="{FF2B5EF4-FFF2-40B4-BE49-F238E27FC236}">
                    <a16:creationId xmlns:a16="http://schemas.microsoft.com/office/drawing/2014/main" id="{7250237A-8541-4461-8DEA-C8606380E693}"/>
                  </a:ext>
                </a:extLst>
              </p:cNvPr>
              <p:cNvSpPr txBox="1"/>
              <p:nvPr/>
            </p:nvSpPr>
            <p:spPr>
              <a:xfrm>
                <a:off x="421167" y="4015668"/>
                <a:ext cx="11349663" cy="22208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Gastos Generales y Administrativos sobre Ventas</a:t>
                </a:r>
                <a:r>
                  <a:rPr lang="es-ES" sz="2400" dirty="0">
                    <a:solidFill>
                      <a:srgbClr val="131D3F"/>
                    </a:solidFill>
                    <a:latin typeface="Montserrat" panose="00000500000000000000" pitchFamily="2" charset="0"/>
                  </a:rPr>
                  <a:t>: Mide qué proporción de las ventas se destina a gastos generales y administrativos.</a:t>
                </a:r>
                <a:endParaRPr lang="es-ES" sz="240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i="1">
                          <a:solidFill>
                            <a:srgbClr val="131D3F"/>
                          </a:solidFill>
                          <a:latin typeface="Cambria Math" panose="02040503050406030204" pitchFamily="18" charset="0"/>
                        </a:rPr>
                        <m:t>𝐺𝑎𝑠𝑡𝑜𝑠</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𝐺𝑒𝑛𝑒𝑟𝑎𝑙𝑒𝑠</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𝑦</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𝐴𝑑𝑚𝑖𝑛𝑖𝑠𝑡𝑟𝑎𝑡𝑖𝑣𝑜𝑠</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𝑠𝑜𝑏𝑟𝑒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𝑉𝑒𝑛𝑡𝑎𝑠</m:t>
                      </m:r>
                      <m:r>
                        <a:rPr lang="es-ES" sz="2400" b="0" i="1" smtClean="0">
                          <a:solidFill>
                            <a:srgbClr val="131D3F"/>
                          </a:solidFill>
                          <a:latin typeface="Cambria Math" panose="02040503050406030204" pitchFamily="18" charset="0"/>
                        </a:rPr>
                        <m:t>:</m:t>
                      </m:r>
                    </m:oMath>
                  </m:oMathPara>
                </a14:m>
                <a:endParaRPr lang="es-ES" sz="2400" b="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i="1">
                              <a:solidFill>
                                <a:srgbClr val="131D3F"/>
                              </a:solidFill>
                              <a:latin typeface="Cambria Math" panose="02040503050406030204" pitchFamily="18" charset="0"/>
                            </a:rPr>
                            <m:t>𝐺𝑎𝑠𝑡𝑜𝑠𝐺𝑒𝑛𝑒𝑟𝑎𝑙𝑒𝑠𝑦𝐴𝑑𝑚𝑖𝑛𝑖𝑠𝑡𝑟𝑎𝑡𝑖𝑣𝑜𝑠</m:t>
                          </m:r>
                        </m:num>
                        <m:den>
                          <m:r>
                            <a:rPr lang="es-ES" sz="2400" b="0" i="1" smtClean="0">
                              <a:solidFill>
                                <a:srgbClr val="131D3F"/>
                              </a:solidFill>
                              <a:latin typeface="Cambria Math" panose="02040503050406030204" pitchFamily="18" charset="0"/>
                            </a:rPr>
                            <m:t>𝑉𝑒𝑛𝑡𝑎𝑠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𝑡𝑜𝑡𝑎𝑙𝑒𝑠</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m:t>
                      </m:r>
                    </m:oMath>
                  </m:oMathPara>
                </a14:m>
                <a:endParaRPr lang="es-ES" sz="2400" dirty="0">
                  <a:solidFill>
                    <a:srgbClr val="131D3F"/>
                  </a:solidFill>
                  <a:latin typeface="Montserrat" panose="00000500000000000000" pitchFamily="2" charset="0"/>
                </a:endParaRPr>
              </a:p>
            </p:txBody>
          </p:sp>
        </mc:Choice>
        <mc:Fallback xmlns="">
          <p:sp>
            <p:nvSpPr>
              <p:cNvPr id="10" name="Google Shape;112;p3">
                <a:extLst>
                  <a:ext uri="{FF2B5EF4-FFF2-40B4-BE49-F238E27FC236}">
                    <a16:creationId xmlns:a16="http://schemas.microsoft.com/office/drawing/2014/main" id="{7250237A-8541-4461-8DEA-C8606380E693}"/>
                  </a:ext>
                </a:extLst>
              </p:cNvPr>
              <p:cNvSpPr txBox="1">
                <a:spLocks noRot="1" noChangeAspect="1" noMove="1" noResize="1" noEditPoints="1" noAdjustHandles="1" noChangeArrowheads="1" noChangeShapeType="1" noTextEdit="1"/>
              </p:cNvSpPr>
              <p:nvPr/>
            </p:nvSpPr>
            <p:spPr>
              <a:xfrm>
                <a:off x="421167" y="4015668"/>
                <a:ext cx="11349663" cy="2220865"/>
              </a:xfrm>
              <a:prstGeom prst="rect">
                <a:avLst/>
              </a:prstGeom>
              <a:blipFill>
                <a:blip r:embed="rId6"/>
                <a:stretch>
                  <a:fillRect l="-806" t="-1923" r="-859"/>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11828912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79</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r>
              <a:rPr lang="es-ES" sz="3600" b="1" dirty="0">
                <a:solidFill>
                  <a:srgbClr val="131D3F"/>
                </a:solidFill>
                <a:latin typeface="Montserrat SemiBold" panose="00000700000000000000" pitchFamily="2" charset="0"/>
              </a:rPr>
              <a:t>	</a:t>
            </a:r>
            <a:r>
              <a:rPr lang="es-ES" sz="2600" dirty="0">
                <a:solidFill>
                  <a:srgbClr val="131D3F"/>
                </a:solidFill>
                <a:latin typeface="Montserrat" panose="00000500000000000000" pitchFamily="2" charset="0"/>
              </a:rPr>
              <a:t>Eficiencia Operativa</a:t>
            </a:r>
            <a:endParaRPr lang="es-ES" sz="3600"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9" name="Google Shape;112;p3">
                <a:extLst>
                  <a:ext uri="{FF2B5EF4-FFF2-40B4-BE49-F238E27FC236}">
                    <a16:creationId xmlns:a16="http://schemas.microsoft.com/office/drawing/2014/main" id="{F1B21E23-E7FF-4701-9FBE-97FB11889EE1}"/>
                  </a:ext>
                </a:extLst>
              </p:cNvPr>
              <p:cNvSpPr txBox="1"/>
              <p:nvPr/>
            </p:nvSpPr>
            <p:spPr>
              <a:xfrm>
                <a:off x="429038" y="1656398"/>
                <a:ext cx="11349663" cy="22208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Rotación de Activos</a:t>
                </a:r>
                <a:r>
                  <a:rPr lang="es-ES" sz="2400" dirty="0">
                    <a:solidFill>
                      <a:srgbClr val="131D3F"/>
                    </a:solidFill>
                    <a:latin typeface="Montserrat" panose="00000500000000000000" pitchFamily="2" charset="0"/>
                  </a:rPr>
                  <a:t>: Mide la eficiencia con la que se utilizan los activos para generar ventas.</a:t>
                </a:r>
                <a:endParaRPr lang="es-ES" sz="240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i="1">
                          <a:solidFill>
                            <a:srgbClr val="131D3F"/>
                          </a:solidFill>
                          <a:latin typeface="Cambria Math" panose="02040503050406030204" pitchFamily="18" charset="0"/>
                        </a:rPr>
                        <m:t>𝑅𝑜𝑡𝑎𝑐𝑖</m:t>
                      </m:r>
                      <m:r>
                        <a:rPr lang="es-ES" sz="2400" i="1">
                          <a:solidFill>
                            <a:srgbClr val="131D3F"/>
                          </a:solidFill>
                          <a:latin typeface="Cambria Math" panose="02040503050406030204" pitchFamily="18" charset="0"/>
                        </a:rPr>
                        <m:t>ó</m:t>
                      </m:r>
                      <m:r>
                        <a:rPr lang="es-ES" sz="2400" i="1">
                          <a:solidFill>
                            <a:srgbClr val="131D3F"/>
                          </a:solidFill>
                          <a:latin typeface="Cambria Math" panose="02040503050406030204" pitchFamily="18" charset="0"/>
                        </a:rPr>
                        <m:t>𝑛</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𝑑𝑒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𝐴𝑐𝑡𝑖𝑣𝑜𝑠</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𝑉𝑒𝑛𝑡𝑎𝑠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𝑇𝑜𝑡𝑎𝑙𝑒𝑠</m:t>
                          </m:r>
                        </m:num>
                        <m:den>
                          <m:r>
                            <a:rPr lang="es-ES" sz="2400" b="0" i="1" smtClean="0">
                              <a:solidFill>
                                <a:srgbClr val="131D3F"/>
                              </a:solidFill>
                              <a:latin typeface="Cambria Math" panose="02040503050406030204" pitchFamily="18" charset="0"/>
                            </a:rPr>
                            <m:t>𝐴𝑐𝑡𝑖𝑣𝑜𝑠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𝑇𝑜𝑡𝑎𝑙𝑒𝑠</m:t>
                          </m:r>
                        </m:den>
                      </m:f>
                    </m:oMath>
                  </m:oMathPara>
                </a14:m>
                <a:endParaRPr lang="es-ES" sz="2400" dirty="0">
                  <a:solidFill>
                    <a:srgbClr val="131D3F"/>
                  </a:solidFill>
                  <a:latin typeface="Montserrat" panose="00000500000000000000" pitchFamily="2" charset="0"/>
                </a:endParaRPr>
              </a:p>
            </p:txBody>
          </p:sp>
        </mc:Choice>
        <mc:Fallback xmlns="">
          <p:sp>
            <p:nvSpPr>
              <p:cNvPr id="9" name="Google Shape;112;p3">
                <a:extLst>
                  <a:ext uri="{FF2B5EF4-FFF2-40B4-BE49-F238E27FC236}">
                    <a16:creationId xmlns:a16="http://schemas.microsoft.com/office/drawing/2014/main" id="{F1B21E23-E7FF-4701-9FBE-97FB11889EE1}"/>
                  </a:ext>
                </a:extLst>
              </p:cNvPr>
              <p:cNvSpPr txBox="1">
                <a:spLocks noRot="1" noChangeAspect="1" noMove="1" noResize="1" noEditPoints="1" noAdjustHandles="1" noChangeArrowheads="1" noChangeShapeType="1" noTextEdit="1"/>
              </p:cNvSpPr>
              <p:nvPr/>
            </p:nvSpPr>
            <p:spPr>
              <a:xfrm>
                <a:off x="429038" y="1656398"/>
                <a:ext cx="11349663" cy="2220865"/>
              </a:xfrm>
              <a:prstGeom prst="rect">
                <a:avLst/>
              </a:prstGeom>
              <a:blipFill>
                <a:blip r:embed="rId5"/>
                <a:stretch>
                  <a:fillRect l="-806" t="-1923" r="-859"/>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Google Shape;112;p3">
                <a:extLst>
                  <a:ext uri="{FF2B5EF4-FFF2-40B4-BE49-F238E27FC236}">
                    <a16:creationId xmlns:a16="http://schemas.microsoft.com/office/drawing/2014/main" id="{7250237A-8541-4461-8DEA-C8606380E693}"/>
                  </a:ext>
                </a:extLst>
              </p:cNvPr>
              <p:cNvSpPr txBox="1"/>
              <p:nvPr/>
            </p:nvSpPr>
            <p:spPr>
              <a:xfrm>
                <a:off x="421168" y="4091169"/>
                <a:ext cx="11349663" cy="22208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Rotación de Inventarios</a:t>
                </a:r>
                <a:r>
                  <a:rPr lang="es-ES" sz="2400" dirty="0">
                    <a:solidFill>
                      <a:srgbClr val="131D3F"/>
                    </a:solidFill>
                    <a:latin typeface="Montserrat" panose="00000500000000000000" pitchFamily="2" charset="0"/>
                  </a:rPr>
                  <a:t>: Mide cuántas veces se vende y repone el inventario en un período determinado.</a:t>
                </a:r>
                <a:endParaRPr lang="es-ES" sz="240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i="1">
                          <a:solidFill>
                            <a:srgbClr val="131D3F"/>
                          </a:solidFill>
                          <a:latin typeface="Cambria Math" panose="02040503050406030204" pitchFamily="18" charset="0"/>
                        </a:rPr>
                        <m:t>𝑅𝑜𝑡𝑎𝑐𝑖</m:t>
                      </m:r>
                      <m:r>
                        <a:rPr lang="es-ES" sz="2400" i="1">
                          <a:solidFill>
                            <a:srgbClr val="131D3F"/>
                          </a:solidFill>
                          <a:latin typeface="Cambria Math" panose="02040503050406030204" pitchFamily="18" charset="0"/>
                        </a:rPr>
                        <m:t>ó</m:t>
                      </m:r>
                      <m:r>
                        <a:rPr lang="es-ES" sz="2400" i="1">
                          <a:solidFill>
                            <a:srgbClr val="131D3F"/>
                          </a:solidFill>
                          <a:latin typeface="Cambria Math" panose="02040503050406030204" pitchFamily="18" charset="0"/>
                        </a:rPr>
                        <m:t>𝑛</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𝑑𝑒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𝐼𝑛𝑣𝑒𝑛𝑡𝑎𝑟𝑖𝑜𝑠</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𝐶𝑜𝑠𝑡𝑜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𝑏𝑖𝑒𝑛𝑒𝑠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𝑣𝑒𝑛𝑑𝑖𝑑𝑜𝑠</m:t>
                          </m:r>
                        </m:num>
                        <m:den>
                          <m:r>
                            <a:rPr lang="es-ES" sz="2400" b="0" i="1" smtClean="0">
                              <a:solidFill>
                                <a:srgbClr val="131D3F"/>
                              </a:solidFill>
                              <a:latin typeface="Cambria Math" panose="02040503050406030204" pitchFamily="18" charset="0"/>
                            </a:rPr>
                            <m:t>𝐼𝑛𝑣𝑒𝑛𝑡𝑎𝑟𝑖𝑜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𝑃𝑟𝑜𝑚𝑒𝑑𝑖𝑜</m:t>
                          </m:r>
                        </m:den>
                      </m:f>
                    </m:oMath>
                  </m:oMathPara>
                </a14:m>
                <a:endParaRPr lang="es-ES" sz="2400" dirty="0">
                  <a:solidFill>
                    <a:srgbClr val="131D3F"/>
                  </a:solidFill>
                  <a:latin typeface="Montserrat" panose="00000500000000000000" pitchFamily="2" charset="0"/>
                </a:endParaRPr>
              </a:p>
            </p:txBody>
          </p:sp>
        </mc:Choice>
        <mc:Fallback xmlns="">
          <p:sp>
            <p:nvSpPr>
              <p:cNvPr id="10" name="Google Shape;112;p3">
                <a:extLst>
                  <a:ext uri="{FF2B5EF4-FFF2-40B4-BE49-F238E27FC236}">
                    <a16:creationId xmlns:a16="http://schemas.microsoft.com/office/drawing/2014/main" id="{7250237A-8541-4461-8DEA-C8606380E693}"/>
                  </a:ext>
                </a:extLst>
              </p:cNvPr>
              <p:cNvSpPr txBox="1">
                <a:spLocks noRot="1" noChangeAspect="1" noMove="1" noResize="1" noEditPoints="1" noAdjustHandles="1" noChangeArrowheads="1" noChangeShapeType="1" noTextEdit="1"/>
              </p:cNvSpPr>
              <p:nvPr/>
            </p:nvSpPr>
            <p:spPr>
              <a:xfrm>
                <a:off x="421168" y="4091169"/>
                <a:ext cx="11349663" cy="2220865"/>
              </a:xfrm>
              <a:prstGeom prst="rect">
                <a:avLst/>
              </a:prstGeom>
              <a:blipFill>
                <a:blip r:embed="rId6"/>
                <a:stretch>
                  <a:fillRect l="-806" t="-1923" r="-859"/>
                </a:stretch>
              </a:blipFill>
              <a:ln>
                <a:noFill/>
              </a:ln>
            </p:spPr>
            <p:txBody>
              <a:bodyPr/>
              <a:lstStyle/>
              <a:p>
                <a:r>
                  <a:rPr lang="es-MX">
                    <a:noFill/>
                  </a:rPr>
                  <a:t> </a:t>
                </a:r>
              </a:p>
            </p:txBody>
          </p:sp>
        </mc:Fallback>
      </mc:AlternateContent>
    </p:spTree>
    <p:extLst>
      <p:ext uri="{BB962C8B-B14F-4D97-AF65-F5344CB8AC3E}">
        <p14:creationId xmlns:p14="http://schemas.microsoft.com/office/powerpoint/2010/main" val="23965074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80</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2.12 Medidas de Rendimiento</a:t>
            </a:r>
          </a:p>
          <a:p>
            <a:r>
              <a:rPr lang="es-ES" sz="3600" b="1" dirty="0">
                <a:solidFill>
                  <a:srgbClr val="131D3F"/>
                </a:solidFill>
                <a:latin typeface="Montserrat SemiBold" panose="00000700000000000000" pitchFamily="2" charset="0"/>
              </a:rPr>
              <a:t>	</a:t>
            </a:r>
            <a:r>
              <a:rPr lang="es-ES" sz="2600" dirty="0">
                <a:solidFill>
                  <a:srgbClr val="131D3F"/>
                </a:solidFill>
                <a:latin typeface="Montserrat" panose="00000500000000000000" pitchFamily="2" charset="0"/>
              </a:rPr>
              <a:t>Eficiencia Operativa</a:t>
            </a:r>
            <a:endParaRPr lang="es-ES" sz="3600"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9" name="Google Shape;112;p3">
                <a:extLst>
                  <a:ext uri="{FF2B5EF4-FFF2-40B4-BE49-F238E27FC236}">
                    <a16:creationId xmlns:a16="http://schemas.microsoft.com/office/drawing/2014/main" id="{F1B21E23-E7FF-4701-9FBE-97FB11889EE1}"/>
                  </a:ext>
                </a:extLst>
              </p:cNvPr>
              <p:cNvSpPr txBox="1"/>
              <p:nvPr/>
            </p:nvSpPr>
            <p:spPr>
              <a:xfrm>
                <a:off x="429038" y="1770698"/>
                <a:ext cx="11349663" cy="2220865"/>
              </a:xfrm>
              <a:prstGeom prst="rect">
                <a:avLst/>
              </a:prstGeom>
              <a:noFill/>
              <a:ln>
                <a:noFill/>
              </a:ln>
            </p:spPr>
            <p:txBody>
              <a:bodyPr spcFirstLastPara="1" wrap="square" lIns="91425" tIns="45700" rIns="91425" bIns="45700" anchor="t" anchorCtr="0">
                <a:noAutofit/>
              </a:bodyPr>
              <a:lstStyle/>
              <a:p>
                <a:pPr algn="just">
                  <a:spcAft>
                    <a:spcPts val="600"/>
                  </a:spcAft>
                </a:pPr>
                <a:r>
                  <a:rPr lang="es-ES" sz="2400" b="1" dirty="0">
                    <a:solidFill>
                      <a:srgbClr val="131D3F"/>
                    </a:solidFill>
                    <a:latin typeface="Montserrat" panose="00000500000000000000" pitchFamily="2" charset="0"/>
                  </a:rPr>
                  <a:t>Días de inventario en mano</a:t>
                </a:r>
                <a:r>
                  <a:rPr lang="es-ES" sz="2400" dirty="0">
                    <a:solidFill>
                      <a:srgbClr val="131D3F"/>
                    </a:solidFill>
                    <a:latin typeface="Montserrat" panose="00000500000000000000" pitchFamily="2" charset="0"/>
                  </a:rPr>
                  <a:t>: Mide el promedio de días que los inventarios permanecen en la empresa antes de ser vendidos o utilizados.</a:t>
                </a:r>
                <a:endParaRPr lang="es-ES" sz="2400" i="1" dirty="0">
                  <a:solidFill>
                    <a:srgbClr val="131D3F"/>
                  </a:solidFill>
                  <a:latin typeface="Cambria Math" panose="02040503050406030204" pitchFamily="18" charset="0"/>
                </a:endParaRPr>
              </a:p>
              <a:p>
                <a:pPr algn="just">
                  <a:spcAft>
                    <a:spcPts val="600"/>
                  </a:spcAft>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𝐷</m:t>
                      </m:r>
                      <m:r>
                        <a:rPr lang="es-ES" sz="2400" b="0" i="1" smtClean="0">
                          <a:solidFill>
                            <a:srgbClr val="131D3F"/>
                          </a:solidFill>
                          <a:latin typeface="Cambria Math" panose="02040503050406030204" pitchFamily="18" charset="0"/>
                        </a:rPr>
                        <m:t>í</m:t>
                      </m:r>
                      <m:r>
                        <a:rPr lang="es-ES" sz="2400" b="0" i="1" smtClean="0">
                          <a:solidFill>
                            <a:srgbClr val="131D3F"/>
                          </a:solidFill>
                          <a:latin typeface="Cambria Math" panose="02040503050406030204" pitchFamily="18" charset="0"/>
                        </a:rPr>
                        <m:t>𝑎𝑠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𝑖𝑛𝑣𝑒𝑛𝑡𝑎𝑟𝑖𝑜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𝑒𝑛</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𝑚𝑎𝑛𝑜</m:t>
                      </m:r>
                      <m:r>
                        <a:rPr lang="es-ES" sz="2400" b="0" i="1" smtClean="0">
                          <a:solidFill>
                            <a:srgbClr val="131D3F"/>
                          </a:solidFill>
                          <a:latin typeface="Cambria Math" panose="02040503050406030204" pitchFamily="18" charset="0"/>
                        </a:rPr>
                        <m:t>: </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365</m:t>
                          </m:r>
                        </m:num>
                        <m:den>
                          <m:r>
                            <a:rPr lang="es-ES" sz="2400" i="1">
                              <a:solidFill>
                                <a:srgbClr val="131D3F"/>
                              </a:solidFill>
                              <a:latin typeface="Cambria Math" panose="02040503050406030204" pitchFamily="18" charset="0"/>
                            </a:rPr>
                            <m:t>𝑅𝑜𝑡𝑎𝑐𝑖</m:t>
                          </m:r>
                          <m:r>
                            <a:rPr lang="es-ES" sz="2400" i="1">
                              <a:solidFill>
                                <a:srgbClr val="131D3F"/>
                              </a:solidFill>
                              <a:latin typeface="Cambria Math" panose="02040503050406030204" pitchFamily="18" charset="0"/>
                            </a:rPr>
                            <m:t>ó</m:t>
                          </m:r>
                          <m:r>
                            <a:rPr lang="es-ES" sz="2400" i="1">
                              <a:solidFill>
                                <a:srgbClr val="131D3F"/>
                              </a:solidFill>
                              <a:latin typeface="Cambria Math" panose="02040503050406030204" pitchFamily="18" charset="0"/>
                            </a:rPr>
                            <m:t>𝑛</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𝑑𝑒</m:t>
                          </m:r>
                          <m:r>
                            <a:rPr lang="es-ES" sz="2400" i="1">
                              <a:solidFill>
                                <a:srgbClr val="131D3F"/>
                              </a:solidFill>
                              <a:latin typeface="Cambria Math" panose="02040503050406030204" pitchFamily="18" charset="0"/>
                            </a:rPr>
                            <m:t> </m:t>
                          </m:r>
                          <m:r>
                            <a:rPr lang="es-ES" sz="2400" i="1">
                              <a:solidFill>
                                <a:srgbClr val="131D3F"/>
                              </a:solidFill>
                              <a:latin typeface="Cambria Math" panose="02040503050406030204" pitchFamily="18" charset="0"/>
                            </a:rPr>
                            <m:t>𝐴𝑐𝑡𝑖𝑣𝑜𝑠</m:t>
                          </m:r>
                        </m:den>
                      </m:f>
                    </m:oMath>
                  </m:oMathPara>
                </a14:m>
                <a:endParaRPr lang="es-ES" sz="2400" dirty="0">
                  <a:solidFill>
                    <a:srgbClr val="131D3F"/>
                  </a:solidFill>
                  <a:latin typeface="Montserrat" panose="00000500000000000000" pitchFamily="2" charset="0"/>
                </a:endParaRPr>
              </a:p>
            </p:txBody>
          </p:sp>
        </mc:Choice>
        <mc:Fallback xmlns="">
          <p:sp>
            <p:nvSpPr>
              <p:cNvPr id="9" name="Google Shape;112;p3">
                <a:extLst>
                  <a:ext uri="{FF2B5EF4-FFF2-40B4-BE49-F238E27FC236}">
                    <a16:creationId xmlns:a16="http://schemas.microsoft.com/office/drawing/2014/main" id="{F1B21E23-E7FF-4701-9FBE-97FB11889EE1}"/>
                  </a:ext>
                </a:extLst>
              </p:cNvPr>
              <p:cNvSpPr txBox="1">
                <a:spLocks noRot="1" noChangeAspect="1" noMove="1" noResize="1" noEditPoints="1" noAdjustHandles="1" noChangeArrowheads="1" noChangeShapeType="1" noTextEdit="1"/>
              </p:cNvSpPr>
              <p:nvPr/>
            </p:nvSpPr>
            <p:spPr>
              <a:xfrm>
                <a:off x="429038" y="1770698"/>
                <a:ext cx="11349663" cy="2220865"/>
              </a:xfrm>
              <a:prstGeom prst="rect">
                <a:avLst/>
              </a:prstGeom>
              <a:blipFill>
                <a:blip r:embed="rId5"/>
                <a:stretch>
                  <a:fillRect l="-806" t="-1918" r="-859"/>
                </a:stretch>
              </a:blipFill>
              <a:ln>
                <a:noFill/>
              </a:ln>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3F9E254C-11D0-4B89-B9CA-309C226BA941}"/>
              </a:ext>
            </a:extLst>
          </p:cNvPr>
          <p:cNvSpPr txBox="1"/>
          <p:nvPr/>
        </p:nvSpPr>
        <p:spPr>
          <a:xfrm>
            <a:off x="4998915" y="4596467"/>
            <a:ext cx="6923454" cy="1477328"/>
          </a:xfrm>
          <a:prstGeom prst="rect">
            <a:avLst/>
          </a:prstGeom>
          <a:noFill/>
        </p:spPr>
        <p:txBody>
          <a:bodyPr wrap="square">
            <a:spAutoFit/>
          </a:bodyPr>
          <a:lstStyle/>
          <a:p>
            <a:r>
              <a:rPr lang="es-MX" dirty="0">
                <a:latin typeface="Montserrat" panose="00000500000000000000" pitchFamily="2" charset="0"/>
                <a:hlinkClick r:id="rId6"/>
              </a:rPr>
              <a:t>https://generadorestudio.com/proyectos/walmart2023/pdf/valor_financiero_es.pdf</a:t>
            </a:r>
            <a:endParaRPr lang="es-MX" dirty="0">
              <a:latin typeface="Montserrat" panose="00000500000000000000" pitchFamily="2" charset="0"/>
            </a:endParaRPr>
          </a:p>
          <a:p>
            <a:endParaRPr lang="es-MX" dirty="0">
              <a:latin typeface="Montserrat" panose="00000500000000000000" pitchFamily="2" charset="0"/>
            </a:endParaRPr>
          </a:p>
          <a:p>
            <a:r>
              <a:rPr lang="es-MX" dirty="0">
                <a:latin typeface="Montserrat" panose="00000500000000000000" pitchFamily="2" charset="0"/>
                <a:hlinkClick r:id="rId7"/>
              </a:rPr>
              <a:t>https://www.bmv.com.mx/es/emisoras/informacionfinanciera/WALMEX-5214-CGEN_CAPIT</a:t>
            </a:r>
            <a:endParaRPr lang="es-MX" dirty="0">
              <a:latin typeface="Montserrat" panose="00000500000000000000" pitchFamily="2" charset="0"/>
            </a:endParaRPr>
          </a:p>
        </p:txBody>
      </p:sp>
      <p:pic>
        <p:nvPicPr>
          <p:cNvPr id="2050" name="Picture 2" descr="Cómo comprar en Walmart USA desde México? - Shopeando.mx">
            <a:extLst>
              <a:ext uri="{FF2B5EF4-FFF2-40B4-BE49-F238E27FC236}">
                <a16:creationId xmlns:a16="http://schemas.microsoft.com/office/drawing/2014/main" id="{FC1CC719-BB33-496B-9001-ADBEE3C710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800" y="4261176"/>
            <a:ext cx="4162479" cy="2342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844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8200" y="1138238"/>
            <a:ext cx="10515600" cy="840219"/>
          </a:xfrm>
        </p:spPr>
        <p:txBody>
          <a:bodyPr>
            <a:normAutofit/>
          </a:bodyPr>
          <a:lstStyle/>
          <a:p>
            <a:pPr algn="ctr"/>
            <a:r>
              <a:rPr lang="es-ES" sz="4800" b="1" dirty="0">
                <a:latin typeface="Montserrat" panose="00000500000000000000" pitchFamily="2" charset="0"/>
              </a:rPr>
              <a:t>Clase 6°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1136072" y="1988849"/>
            <a:ext cx="10515600" cy="35972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2</a:t>
            </a:r>
            <a:r>
              <a:rPr lang="es-ES" sz="4800" dirty="0">
                <a:latin typeface="Montserrat" panose="00000500000000000000" pitchFamily="2" charset="0"/>
              </a:rPr>
              <a:t> El ciclo de la vida económica</a:t>
            </a:r>
          </a:p>
          <a:p>
            <a:pPr marL="1800000"/>
            <a:r>
              <a:rPr lang="es-ES" sz="3200" dirty="0">
                <a:latin typeface="Montserrat" panose="00000500000000000000" pitchFamily="2" charset="0"/>
              </a:rPr>
              <a:t>2.13 	Administración del valor obtenido</a:t>
            </a:r>
          </a:p>
          <a:p>
            <a:pPr marL="1800000"/>
            <a:r>
              <a:rPr lang="es-ES" sz="3200" dirty="0">
                <a:latin typeface="Montserrat" panose="00000500000000000000" pitchFamily="2" charset="0"/>
              </a:rPr>
              <a:t>2.14 	Terminación de las decisiones</a:t>
            </a:r>
          </a:p>
          <a:p>
            <a:pPr marL="1800000"/>
            <a:r>
              <a:rPr lang="es-ES" sz="3200" dirty="0">
                <a:latin typeface="Montserrat" panose="00000500000000000000" pitchFamily="2" charset="0"/>
              </a:rPr>
              <a:t>2.15 	Decisión de reemplazo y retiro</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6000" y="5719762"/>
            <a:ext cx="4423063" cy="46340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12 de septiembre de 2024</a:t>
            </a:r>
            <a:endParaRPr lang="es-MX" sz="4800" dirty="0">
              <a:latin typeface="Montserrat" panose="00000500000000000000" pitchFamily="2" charset="0"/>
            </a:endParaRPr>
          </a:p>
        </p:txBody>
      </p:sp>
    </p:spTree>
    <p:extLst>
      <p:ext uri="{BB962C8B-B14F-4D97-AF65-F5344CB8AC3E}">
        <p14:creationId xmlns:p14="http://schemas.microsoft.com/office/powerpoint/2010/main" val="19418399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82</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2.13 Administración del valor obtenido</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2300937"/>
            <a:ext cx="10663759" cy="2256125"/>
          </a:xfrm>
          <a:prstGeom prst="rect">
            <a:avLst/>
          </a:prstGeom>
          <a:noFill/>
          <a:ln>
            <a:noFill/>
          </a:ln>
        </p:spPr>
        <p:txBody>
          <a:bodyPr spcFirstLastPara="1" wrap="square" lIns="91425" tIns="45700" rIns="91425" bIns="45700" anchor="t" anchorCtr="0">
            <a:noAutofit/>
          </a:bodyPr>
          <a:lstStyle/>
          <a:p>
            <a:pPr algn="just">
              <a:spcAft>
                <a:spcPts val="1800"/>
              </a:spcAft>
            </a:pPr>
            <a:r>
              <a:rPr lang="es-ES" sz="2400" dirty="0">
                <a:solidFill>
                  <a:srgbClr val="131D3F"/>
                </a:solidFill>
                <a:latin typeface="Montserrat" panose="00000500000000000000" pitchFamily="2" charset="0"/>
              </a:rPr>
              <a:t>Gestión eficiente y eficaz de los recursos y resultados generados.</a:t>
            </a:r>
          </a:p>
          <a:p>
            <a:pPr algn="just">
              <a:spcAft>
                <a:spcPts val="1800"/>
              </a:spcAft>
            </a:pPr>
            <a:endParaRPr lang="es-ES" sz="2400" dirty="0">
              <a:solidFill>
                <a:srgbClr val="131D3F"/>
              </a:solidFill>
              <a:latin typeface="Montserrat" panose="00000500000000000000" pitchFamily="2" charset="0"/>
            </a:endParaRPr>
          </a:p>
          <a:p>
            <a:pPr algn="just">
              <a:spcAft>
                <a:spcPts val="1800"/>
              </a:spcAft>
            </a:pPr>
            <a:r>
              <a:rPr lang="es-ES" sz="2400" dirty="0">
                <a:solidFill>
                  <a:srgbClr val="131D3F"/>
                </a:solidFill>
                <a:latin typeface="Montserrat" panose="00000500000000000000" pitchFamily="2" charset="0"/>
              </a:rPr>
              <a:t>Este concepto es clave para </a:t>
            </a:r>
            <a:r>
              <a:rPr lang="es-ES" sz="3600" dirty="0">
                <a:solidFill>
                  <a:srgbClr val="131D3F"/>
                </a:solidFill>
                <a:latin typeface="Montserrat" panose="00000500000000000000" pitchFamily="2" charset="0"/>
              </a:rPr>
              <a:t>maximizar</a:t>
            </a:r>
            <a:r>
              <a:rPr lang="es-ES" sz="2400" dirty="0">
                <a:solidFill>
                  <a:srgbClr val="131D3F"/>
                </a:solidFill>
                <a:latin typeface="Montserrat" panose="00000500000000000000" pitchFamily="2" charset="0"/>
              </a:rPr>
              <a:t> el valor creado y </a:t>
            </a:r>
            <a:r>
              <a:rPr lang="es-ES" sz="2400" u="sng" dirty="0">
                <a:solidFill>
                  <a:srgbClr val="131D3F"/>
                </a:solidFill>
                <a:latin typeface="Montserrat" panose="00000500000000000000" pitchFamily="2" charset="0"/>
              </a:rPr>
              <a:t>asegurar que los recursos se utilicen de manera que se optima</a:t>
            </a:r>
            <a:r>
              <a:rPr lang="es-ES" sz="2400" dirty="0">
                <a:solidFill>
                  <a:srgbClr val="131D3F"/>
                </a:solidFill>
                <a:latin typeface="Montserrat" panose="00000500000000000000" pitchFamily="2" charset="0"/>
              </a:rPr>
              <a:t>.</a:t>
            </a:r>
          </a:p>
        </p:txBody>
      </p:sp>
    </p:spTree>
    <p:extLst>
      <p:ext uri="{BB962C8B-B14F-4D97-AF65-F5344CB8AC3E}">
        <p14:creationId xmlns:p14="http://schemas.microsoft.com/office/powerpoint/2010/main" val="20208678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83</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2.13 Administración del valor obtenido</a:t>
            </a:r>
          </a:p>
        </p:txBody>
      </p:sp>
      <p:graphicFrame>
        <p:nvGraphicFramePr>
          <p:cNvPr id="9" name="Diagrama 8">
            <a:extLst>
              <a:ext uri="{FF2B5EF4-FFF2-40B4-BE49-F238E27FC236}">
                <a16:creationId xmlns:a16="http://schemas.microsoft.com/office/drawing/2014/main" id="{944F9907-67BB-4D6B-A679-6D8C6179F418}"/>
              </a:ext>
            </a:extLst>
          </p:cNvPr>
          <p:cNvGraphicFramePr>
            <a:graphicFrameLocks noChangeAspect="1"/>
          </p:cNvGraphicFramePr>
          <p:nvPr>
            <p:extLst>
              <p:ext uri="{D42A27DB-BD31-4B8C-83A1-F6EECF244321}">
                <p14:modId xmlns:p14="http://schemas.microsoft.com/office/powerpoint/2010/main" val="1436920793"/>
              </p:ext>
            </p:extLst>
          </p:nvPr>
        </p:nvGraphicFramePr>
        <p:xfrm>
          <a:off x="790917" y="1645797"/>
          <a:ext cx="10610166" cy="426554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CuadroTexto 9">
            <a:extLst>
              <a:ext uri="{FF2B5EF4-FFF2-40B4-BE49-F238E27FC236}">
                <a16:creationId xmlns:a16="http://schemas.microsoft.com/office/drawing/2014/main" id="{D883FAAE-3EE8-4C72-840D-6E25AE90C2BD}"/>
              </a:ext>
            </a:extLst>
          </p:cNvPr>
          <p:cNvSpPr txBox="1"/>
          <p:nvPr/>
        </p:nvSpPr>
        <p:spPr>
          <a:xfrm>
            <a:off x="790917" y="1626545"/>
            <a:ext cx="4234581" cy="1323439"/>
          </a:xfrm>
          <a:prstGeom prst="rect">
            <a:avLst/>
          </a:prstGeom>
          <a:noFill/>
        </p:spPr>
        <p:txBody>
          <a:bodyPr wrap="square">
            <a:spAutoFit/>
          </a:bodyPr>
          <a:lstStyle/>
          <a:p>
            <a:pPr algn="just"/>
            <a:r>
              <a:rPr lang="es-ES" sz="1600" b="1" dirty="0">
                <a:solidFill>
                  <a:srgbClr val="131D3F"/>
                </a:solidFill>
                <a:latin typeface="Montserrat" panose="00000500000000000000" pitchFamily="2" charset="0"/>
              </a:rPr>
              <a:t>Evaluación de valor:</a:t>
            </a:r>
            <a:r>
              <a:rPr lang="es-ES" sz="1600" dirty="0">
                <a:solidFill>
                  <a:srgbClr val="131D3F"/>
                </a:solidFill>
                <a:latin typeface="Montserrat" panose="00000500000000000000" pitchFamily="2" charset="0"/>
              </a:rPr>
              <a:t> Establecer una definición precisa de lo que constituye "valor" para la organización, incluyendo aspectos como rentabilidad, calidad, satisfacción del cliente y sostenibilidad.</a:t>
            </a:r>
            <a:endParaRPr lang="es-MX" sz="1600" dirty="0">
              <a:solidFill>
                <a:srgbClr val="131D3F"/>
              </a:solidFill>
              <a:latin typeface="Montserrat" panose="00000500000000000000" pitchFamily="2" charset="0"/>
            </a:endParaRPr>
          </a:p>
        </p:txBody>
      </p:sp>
      <p:sp>
        <p:nvSpPr>
          <p:cNvPr id="11" name="CuadroTexto 10">
            <a:extLst>
              <a:ext uri="{FF2B5EF4-FFF2-40B4-BE49-F238E27FC236}">
                <a16:creationId xmlns:a16="http://schemas.microsoft.com/office/drawing/2014/main" id="{DDD4D465-64E6-4CBB-A09C-2C1F965BB5B2}"/>
              </a:ext>
            </a:extLst>
          </p:cNvPr>
          <p:cNvSpPr txBox="1"/>
          <p:nvPr/>
        </p:nvSpPr>
        <p:spPr>
          <a:xfrm>
            <a:off x="7166502" y="4424299"/>
            <a:ext cx="4234581" cy="1569660"/>
          </a:xfrm>
          <a:prstGeom prst="rect">
            <a:avLst/>
          </a:prstGeom>
          <a:noFill/>
        </p:spPr>
        <p:txBody>
          <a:bodyPr wrap="square">
            <a:spAutoFit/>
          </a:bodyPr>
          <a:lstStyle/>
          <a:p>
            <a:pPr algn="just"/>
            <a:r>
              <a:rPr lang="es-ES" sz="1600" b="1" dirty="0">
                <a:solidFill>
                  <a:srgbClr val="131D3F"/>
                </a:solidFill>
                <a:latin typeface="Montserrat" panose="00000500000000000000" pitchFamily="2" charset="0"/>
              </a:rPr>
              <a:t>Comunicación y transparencia:</a:t>
            </a:r>
            <a:r>
              <a:rPr lang="es-ES" sz="1600" dirty="0">
                <a:solidFill>
                  <a:srgbClr val="131D3F"/>
                </a:solidFill>
                <a:latin typeface="Montserrat" panose="00000500000000000000" pitchFamily="2" charset="0"/>
              </a:rPr>
              <a:t> Garantiza que todos los inversionistas estén informados, alineados y comprometidos con los objetivos del proyecto. Temporalidad,</a:t>
            </a:r>
            <a:r>
              <a:rPr lang="es-MX" sz="1600" dirty="0">
                <a:solidFill>
                  <a:srgbClr val="131D3F"/>
                </a:solidFill>
                <a:latin typeface="Montserrat" panose="00000500000000000000" pitchFamily="2" charset="0"/>
              </a:rPr>
              <a:t> Medios, Transparencia y Claridad.</a:t>
            </a:r>
            <a:endParaRPr lang="es-ES" sz="16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42587708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84</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2.14 Terminación de las decisiones</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2300937"/>
            <a:ext cx="10663759" cy="2561209"/>
          </a:xfrm>
          <a:prstGeom prst="rect">
            <a:avLst/>
          </a:prstGeom>
          <a:noFill/>
          <a:ln>
            <a:noFill/>
          </a:ln>
        </p:spPr>
        <p:txBody>
          <a:bodyPr spcFirstLastPara="1" wrap="square" lIns="91425" tIns="45700" rIns="91425" bIns="45700" anchor="t" anchorCtr="0">
            <a:noAutofit/>
          </a:bodyPr>
          <a:lstStyle/>
          <a:p>
            <a:pPr algn="just">
              <a:spcAft>
                <a:spcPts val="1800"/>
              </a:spcAft>
            </a:pPr>
            <a:r>
              <a:rPr lang="es-ES" sz="2400" dirty="0">
                <a:solidFill>
                  <a:srgbClr val="131D3F"/>
                </a:solidFill>
                <a:latin typeface="Montserrat" panose="00000500000000000000" pitchFamily="2" charset="0"/>
              </a:rPr>
              <a:t>Se refiere al proceso de finalizar y cerrar una decisión una vez que ha sido tomada, asegurando que se implementen las acciones correspondientes y se gestione cualquier consecuencia. </a:t>
            </a:r>
          </a:p>
          <a:p>
            <a:pPr algn="just">
              <a:spcAft>
                <a:spcPts val="1800"/>
              </a:spcAft>
            </a:pPr>
            <a:r>
              <a:rPr lang="es-ES" sz="2400" dirty="0">
                <a:solidFill>
                  <a:srgbClr val="131D3F"/>
                </a:solidFill>
                <a:latin typeface="Montserrat" panose="00000500000000000000" pitchFamily="2" charset="0"/>
              </a:rPr>
              <a:t>Permite asegurar que las decisiones no solo se tomen de manera efectiva, sino que también se lleven a cabo de forma </a:t>
            </a:r>
            <a:r>
              <a:rPr lang="es-ES" sz="2400" b="1" dirty="0">
                <a:solidFill>
                  <a:srgbClr val="131D3F"/>
                </a:solidFill>
                <a:latin typeface="Montserrat" panose="00000500000000000000" pitchFamily="2" charset="0"/>
              </a:rPr>
              <a:t>adecuada y eficiente</a:t>
            </a:r>
            <a:r>
              <a:rPr lang="es-ES" sz="2400" dirty="0">
                <a:solidFill>
                  <a:srgbClr val="131D3F"/>
                </a:solidFill>
                <a:latin typeface="Montserrat" panose="00000500000000000000" pitchFamily="2" charset="0"/>
              </a:rPr>
              <a:t>.</a:t>
            </a:r>
          </a:p>
        </p:txBody>
      </p:sp>
    </p:spTree>
    <p:extLst>
      <p:ext uri="{BB962C8B-B14F-4D97-AF65-F5344CB8AC3E}">
        <p14:creationId xmlns:p14="http://schemas.microsoft.com/office/powerpoint/2010/main" val="11168413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85</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2.15 Decisión de reemplazo y retiro</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2020907"/>
            <a:ext cx="10663759" cy="1497340"/>
          </a:xfrm>
          <a:prstGeom prst="rect">
            <a:avLst/>
          </a:prstGeom>
          <a:noFill/>
          <a:ln>
            <a:noFill/>
          </a:ln>
        </p:spPr>
        <p:txBody>
          <a:bodyPr spcFirstLastPara="1" wrap="square" lIns="91425" tIns="45700" rIns="91425" bIns="45700" anchor="t" anchorCtr="0">
            <a:noAutofit/>
          </a:bodyPr>
          <a:lstStyle/>
          <a:p>
            <a:pPr algn="just">
              <a:spcAft>
                <a:spcPts val="1800"/>
              </a:spcAft>
            </a:pPr>
            <a:r>
              <a:rPr lang="es-ES" sz="2400" dirty="0">
                <a:solidFill>
                  <a:srgbClr val="131D3F"/>
                </a:solidFill>
                <a:latin typeface="Montserrat" panose="00000500000000000000" pitchFamily="2" charset="0"/>
              </a:rPr>
              <a:t>Son cruciales en la </a:t>
            </a:r>
            <a:r>
              <a:rPr lang="es-ES" sz="2400" b="1" dirty="0">
                <a:solidFill>
                  <a:srgbClr val="131D3F"/>
                </a:solidFill>
                <a:latin typeface="Montserrat" panose="00000500000000000000" pitchFamily="2" charset="0"/>
              </a:rPr>
              <a:t>gestión</a:t>
            </a:r>
            <a:r>
              <a:rPr lang="es-ES" sz="2400" dirty="0">
                <a:solidFill>
                  <a:srgbClr val="131D3F"/>
                </a:solidFill>
                <a:latin typeface="Montserrat" panose="00000500000000000000" pitchFamily="2" charset="0"/>
              </a:rPr>
              <a:t> de activos, recursos, personal, o productos dentro de una organización. Estas decisiones aseguran que los recursos sean óptimos y estén alineados con los objetivos estratégicos de la organización.</a:t>
            </a:r>
          </a:p>
        </p:txBody>
      </p:sp>
      <p:pic>
        <p:nvPicPr>
          <p:cNvPr id="1026" name="Picture 2" descr="Comprar y vender acciones ¿Cómo funciona el mercado de valores?">
            <a:extLst>
              <a:ext uri="{FF2B5EF4-FFF2-40B4-BE49-F238E27FC236}">
                <a16:creationId xmlns:a16="http://schemas.microsoft.com/office/drawing/2014/main" id="{2B048526-F808-40E1-B2B0-FF94C1E184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6566" y="3614962"/>
            <a:ext cx="6558866" cy="2662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57165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86</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Entrega del Proyecto</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764120" y="2150039"/>
            <a:ext cx="10663759" cy="3087425"/>
          </a:xfrm>
          <a:prstGeom prst="rect">
            <a:avLst/>
          </a:prstGeom>
          <a:noFill/>
          <a:ln>
            <a:noFill/>
          </a:ln>
        </p:spPr>
        <p:txBody>
          <a:bodyPr spcFirstLastPara="1" wrap="square" lIns="91425" tIns="45700" rIns="91425" bIns="45700" anchor="t" anchorCtr="0">
            <a:noAutofit/>
          </a:bodyPr>
          <a:lstStyle/>
          <a:p>
            <a:pPr algn="just"/>
            <a:r>
              <a:rPr lang="es-ES" sz="2400" dirty="0">
                <a:solidFill>
                  <a:srgbClr val="131D3F"/>
                </a:solidFill>
                <a:latin typeface="Montserrat" panose="00000500000000000000" pitchFamily="2" charset="0"/>
              </a:rPr>
              <a:t>El proyecto se deberá de desarrollar en equipo de máximo 4 alumnos, se presentará al final del semestre en un espacio de 10 minutos.</a:t>
            </a:r>
          </a:p>
          <a:p>
            <a:pPr algn="just"/>
            <a:endParaRPr lang="es-ES" sz="2400" dirty="0">
              <a:solidFill>
                <a:srgbClr val="131D3F"/>
              </a:solidFill>
              <a:latin typeface="Montserrat" panose="00000500000000000000" pitchFamily="2" charset="0"/>
            </a:endParaRPr>
          </a:p>
          <a:p>
            <a:pPr marL="342900" indent="-342900" algn="just">
              <a:buFont typeface="Arial" panose="020B0604020202020204" pitchFamily="34" charset="0"/>
              <a:buChar char="•"/>
            </a:pPr>
            <a:r>
              <a:rPr lang="es-ES" sz="2400" dirty="0">
                <a:solidFill>
                  <a:srgbClr val="131D3F"/>
                </a:solidFill>
                <a:latin typeface="Montserrat" panose="00000500000000000000" pitchFamily="2" charset="0"/>
              </a:rPr>
              <a:t>Reporte en PDF con la descripción cuantitativa y cualitativa del proyecto.</a:t>
            </a:r>
          </a:p>
          <a:p>
            <a:pPr marL="342900" indent="-342900" algn="just">
              <a:buFont typeface="Arial" panose="020B0604020202020204" pitchFamily="34" charset="0"/>
              <a:buChar char="•"/>
            </a:pPr>
            <a:r>
              <a:rPr lang="es-ES" sz="2400" dirty="0">
                <a:solidFill>
                  <a:srgbClr val="131D3F"/>
                </a:solidFill>
                <a:latin typeface="Montserrat" panose="00000500000000000000" pitchFamily="2" charset="0"/>
              </a:rPr>
              <a:t>Archivo de Excel con memoria de cálculo</a:t>
            </a:r>
          </a:p>
          <a:p>
            <a:pPr marL="342900" indent="-342900" algn="just">
              <a:buFont typeface="Arial" panose="020B0604020202020204" pitchFamily="34" charset="0"/>
              <a:buChar char="•"/>
            </a:pPr>
            <a:r>
              <a:rPr lang="es-ES" sz="2400" dirty="0">
                <a:solidFill>
                  <a:srgbClr val="131D3F"/>
                </a:solidFill>
                <a:latin typeface="Montserrat" panose="00000500000000000000" pitchFamily="2" charset="0"/>
              </a:rPr>
              <a:t>Presentación PPT</a:t>
            </a:r>
          </a:p>
        </p:txBody>
      </p:sp>
    </p:spTree>
    <p:extLst>
      <p:ext uri="{BB962C8B-B14F-4D97-AF65-F5344CB8AC3E}">
        <p14:creationId xmlns:p14="http://schemas.microsoft.com/office/powerpoint/2010/main" val="28406380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 name="Gráfico 24">
            <a:extLst>
              <a:ext uri="{FF2B5EF4-FFF2-40B4-BE49-F238E27FC236}">
                <a16:creationId xmlns:a16="http://schemas.microsoft.com/office/drawing/2014/main" id="{D45BF182-9765-498B-54B0-F928887351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26" name="Google Shape;86;p2">
            <a:extLst>
              <a:ext uri="{FF2B5EF4-FFF2-40B4-BE49-F238E27FC236}">
                <a16:creationId xmlns:a16="http://schemas.microsoft.com/office/drawing/2014/main" id="{17F1C0FB-BF4F-180F-E27D-051DEB983846}"/>
              </a:ext>
            </a:extLst>
          </p:cNvPr>
          <p:cNvSpPr txBox="1">
            <a:spLocks/>
          </p:cNvSpPr>
          <p:nvPr/>
        </p:nvSpPr>
        <p:spPr>
          <a:xfrm>
            <a:off x="-1" y="0"/>
            <a:ext cx="537329"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t>87</a:t>
            </a:fld>
            <a:endParaRPr lang="es-MX" sz="2400" b="1" dirty="0">
              <a:solidFill>
                <a:srgbClr val="BA955B"/>
              </a:solidFill>
              <a:latin typeface="Montserrat SemiBold" panose="00000700000000000000" pitchFamily="2" charset="0"/>
            </a:endParaRPr>
          </a:p>
        </p:txBody>
      </p:sp>
      <p:sp>
        <p:nvSpPr>
          <p:cNvPr id="2" name="Google Shape;118;p4">
            <a:extLst>
              <a:ext uri="{FF2B5EF4-FFF2-40B4-BE49-F238E27FC236}">
                <a16:creationId xmlns:a16="http://schemas.microsoft.com/office/drawing/2014/main" id="{0E982364-79BA-6D46-495F-E7C7AD4EC16F}"/>
              </a:ext>
            </a:extLst>
          </p:cNvPr>
          <p:cNvSpPr txBox="1">
            <a:spLocks/>
          </p:cNvSpPr>
          <p:nvPr/>
        </p:nvSpPr>
        <p:spPr>
          <a:xfrm>
            <a:off x="764948" y="1387381"/>
            <a:ext cx="10662103" cy="4083238"/>
          </a:xfrm>
          <a:prstGeom prst="rect">
            <a:avLst/>
          </a:prstGeom>
          <a:noFill/>
          <a:ln>
            <a:noFill/>
          </a:ln>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400"/>
              <a:buFont typeface="Montserrat SemiBold"/>
              <a:buNone/>
            </a:pPr>
            <a:r>
              <a:rPr lang="es-ES" sz="4800" dirty="0">
                <a:solidFill>
                  <a:srgbClr val="131D3F"/>
                </a:solidFill>
                <a:latin typeface="Montserrat SemiBold" panose="00000700000000000000" pitchFamily="2" charset="0"/>
              </a:rPr>
              <a:t>3 Riesgo e Incertidumbre</a:t>
            </a:r>
          </a:p>
          <a:p>
            <a:pPr>
              <a:spcBef>
                <a:spcPts val="0"/>
              </a:spcBef>
              <a:buClr>
                <a:schemeClr val="accent2"/>
              </a:buClr>
              <a:buSzPts val="4400"/>
              <a:buFont typeface="Montserrat SemiBold"/>
              <a:buNone/>
            </a:pPr>
            <a:endParaRPr lang="es-ES" sz="4800" dirty="0">
              <a:solidFill>
                <a:srgbClr val="131D3F"/>
              </a:solidFill>
              <a:latin typeface="Montserrat SemiBold" panose="00000700000000000000" pitchFamily="2" charset="0"/>
            </a:endParaRPr>
          </a:p>
          <a:p>
            <a:pPr algn="just">
              <a:spcBef>
                <a:spcPts val="0"/>
              </a:spcBef>
              <a:buClr>
                <a:schemeClr val="accent2"/>
              </a:buClr>
              <a:buSzPts val="4400"/>
              <a:buFont typeface="Montserrat SemiBold"/>
              <a:buNone/>
            </a:pPr>
            <a:r>
              <a:rPr lang="es-ES" sz="3200" dirty="0">
                <a:solidFill>
                  <a:srgbClr val="131D3F"/>
                </a:solidFill>
                <a:latin typeface="Montserrat" panose="00000500000000000000" pitchFamily="2" charset="0"/>
              </a:rPr>
              <a:t>El alumno resumirá decisiones e incertidumbre a través de metas y técnicas de estimación.</a:t>
            </a:r>
            <a:endParaRPr lang="es-MX" sz="3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7380864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8200" y="1138238"/>
            <a:ext cx="10515600" cy="840219"/>
          </a:xfrm>
        </p:spPr>
        <p:txBody>
          <a:bodyPr>
            <a:normAutofit/>
          </a:bodyPr>
          <a:lstStyle/>
          <a:p>
            <a:pPr algn="ctr"/>
            <a:r>
              <a:rPr lang="es-ES" sz="4800" b="1" dirty="0">
                <a:latin typeface="Montserrat" panose="00000500000000000000" pitchFamily="2" charset="0"/>
              </a:rPr>
              <a:t>Clase 7°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1136072" y="1988849"/>
            <a:ext cx="10515600" cy="9711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3</a:t>
            </a:r>
            <a:r>
              <a:rPr lang="es-ES" sz="4800" dirty="0">
                <a:latin typeface="Montserrat" panose="00000500000000000000" pitchFamily="2" charset="0"/>
              </a:rPr>
              <a:t> Riesgo e Incertidumbre</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6000" y="5719762"/>
            <a:ext cx="4423063" cy="46340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20 de septiembre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838200" y="2903949"/>
            <a:ext cx="10515600" cy="17434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00000"/>
            <a:r>
              <a:rPr lang="es-ES" sz="3600" dirty="0">
                <a:latin typeface="Montserrat" panose="00000500000000000000" pitchFamily="2" charset="0"/>
              </a:rPr>
              <a:t>3.1 Metas, estimados y planes.</a:t>
            </a:r>
          </a:p>
          <a:p>
            <a:pPr marL="2520000"/>
            <a:r>
              <a:rPr lang="es-ES" sz="3200" dirty="0">
                <a:latin typeface="Montserrat" panose="00000500000000000000" pitchFamily="2" charset="0"/>
              </a:rPr>
              <a:t>3.1.1 Concepto de mercado.</a:t>
            </a:r>
          </a:p>
          <a:p>
            <a:pPr marL="2520000"/>
            <a:r>
              <a:rPr lang="es-ES" sz="3200" dirty="0">
                <a:latin typeface="Montserrat" panose="00000500000000000000" pitchFamily="2" charset="0"/>
              </a:rPr>
              <a:t>3.1.2 Estudio de la oferta y la demanda.</a:t>
            </a:r>
          </a:p>
        </p:txBody>
      </p:sp>
    </p:spTree>
    <p:extLst>
      <p:ext uri="{BB962C8B-B14F-4D97-AF65-F5344CB8AC3E}">
        <p14:creationId xmlns:p14="http://schemas.microsoft.com/office/powerpoint/2010/main" val="33839413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89</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pic>
        <p:nvPicPr>
          <p:cNvPr id="2" name="Picture 2" descr="Senales de seguridad">
            <a:extLst>
              <a:ext uri="{FF2B5EF4-FFF2-40B4-BE49-F238E27FC236}">
                <a16:creationId xmlns:a16="http://schemas.microsoft.com/office/drawing/2014/main" id="{261695D4-0C0B-4E5D-98B4-B7D9F87105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838" t="23408" r="3756"/>
          <a:stretch/>
        </p:blipFill>
        <p:spPr bwMode="auto">
          <a:xfrm>
            <a:off x="1145801" y="1762813"/>
            <a:ext cx="9900398" cy="4102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7662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90</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817880" y="1845010"/>
            <a:ext cx="10663759" cy="3167979"/>
          </a:xfrm>
          <a:prstGeom prst="rect">
            <a:avLst/>
          </a:prstGeom>
          <a:noFill/>
          <a:ln>
            <a:noFill/>
          </a:ln>
        </p:spPr>
        <p:txBody>
          <a:bodyPr spcFirstLastPara="1" wrap="square" lIns="91425" tIns="45700" rIns="91425" bIns="45700" anchor="t" anchorCtr="0">
            <a:noAutofit/>
          </a:bodyPr>
          <a:lstStyle/>
          <a:p>
            <a:pPr algn="just">
              <a:spcAft>
                <a:spcPts val="1800"/>
              </a:spcAft>
            </a:pPr>
            <a:r>
              <a:rPr lang="es-ES" sz="3200" b="1" dirty="0">
                <a:solidFill>
                  <a:srgbClr val="131D3F"/>
                </a:solidFill>
                <a:latin typeface="Montserrat" panose="00000500000000000000" pitchFamily="2" charset="0"/>
              </a:rPr>
              <a:t>Riesgo: </a:t>
            </a:r>
          </a:p>
          <a:p>
            <a:pPr algn="just">
              <a:spcAft>
                <a:spcPts val="1800"/>
              </a:spcAft>
            </a:pPr>
            <a:r>
              <a:rPr lang="es-ES" sz="3200" b="1" dirty="0">
                <a:solidFill>
                  <a:srgbClr val="131D3F"/>
                </a:solidFill>
                <a:latin typeface="Montserrat" panose="00000500000000000000" pitchFamily="2" charset="0"/>
              </a:rPr>
              <a:t>Probabilidad</a:t>
            </a:r>
            <a:r>
              <a:rPr lang="es-ES" sz="3200" dirty="0">
                <a:solidFill>
                  <a:srgbClr val="131D3F"/>
                </a:solidFill>
                <a:latin typeface="Montserrat" panose="00000500000000000000" pitchFamily="2" charset="0"/>
              </a:rPr>
              <a:t> de que </a:t>
            </a:r>
            <a:r>
              <a:rPr lang="es-ES" sz="3200" b="1" dirty="0">
                <a:solidFill>
                  <a:srgbClr val="131D3F"/>
                </a:solidFill>
                <a:latin typeface="Montserrat" panose="00000500000000000000" pitchFamily="2" charset="0"/>
              </a:rPr>
              <a:t>ocurra un evento adverso</a:t>
            </a:r>
            <a:r>
              <a:rPr lang="es-ES" sz="3200" dirty="0">
                <a:solidFill>
                  <a:srgbClr val="131D3F"/>
                </a:solidFill>
                <a:latin typeface="Montserrat" panose="00000500000000000000" pitchFamily="2" charset="0"/>
              </a:rPr>
              <a:t> o no deseado, que puede resultar en </a:t>
            </a:r>
            <a:r>
              <a:rPr lang="es-ES" sz="3200" u="sng" dirty="0">
                <a:solidFill>
                  <a:srgbClr val="131D3F"/>
                </a:solidFill>
                <a:latin typeface="Montserrat" panose="00000500000000000000" pitchFamily="2" charset="0"/>
              </a:rPr>
              <a:t>pérdidas</a:t>
            </a:r>
            <a:r>
              <a:rPr lang="es-ES" sz="3200" dirty="0">
                <a:solidFill>
                  <a:srgbClr val="131D3F"/>
                </a:solidFill>
                <a:latin typeface="Montserrat" panose="00000500000000000000" pitchFamily="2" charset="0"/>
              </a:rPr>
              <a:t> o </a:t>
            </a:r>
            <a:r>
              <a:rPr lang="es-ES" sz="3200" u="sng" dirty="0">
                <a:solidFill>
                  <a:srgbClr val="131D3F"/>
                </a:solidFill>
                <a:latin typeface="Montserrat" panose="00000500000000000000" pitchFamily="2" charset="0"/>
              </a:rPr>
              <a:t>daños</a:t>
            </a:r>
            <a:r>
              <a:rPr lang="es-ES" sz="3200" dirty="0">
                <a:solidFill>
                  <a:srgbClr val="131D3F"/>
                </a:solidFill>
                <a:latin typeface="Montserrat" panose="00000500000000000000" pitchFamily="2" charset="0"/>
              </a:rPr>
              <a:t>. </a:t>
            </a:r>
          </a:p>
          <a:p>
            <a:pPr algn="just">
              <a:spcAft>
                <a:spcPts val="1800"/>
              </a:spcAft>
            </a:pPr>
            <a:r>
              <a:rPr lang="es-ES" sz="3200" dirty="0">
                <a:solidFill>
                  <a:srgbClr val="131D3F"/>
                </a:solidFill>
                <a:latin typeface="Montserrat" panose="00000500000000000000" pitchFamily="2" charset="0"/>
              </a:rPr>
              <a:t>En general, el riesgo implica la </a:t>
            </a:r>
            <a:r>
              <a:rPr lang="es-ES" sz="3200" b="1" u="sng" dirty="0">
                <a:solidFill>
                  <a:srgbClr val="131D3F"/>
                </a:solidFill>
                <a:latin typeface="Montserrat" panose="00000500000000000000" pitchFamily="2" charset="0"/>
              </a:rPr>
              <a:t>incertidumbre sobre el futuro</a:t>
            </a:r>
            <a:r>
              <a:rPr lang="es-ES" sz="3200" dirty="0">
                <a:solidFill>
                  <a:srgbClr val="131D3F"/>
                </a:solidFill>
                <a:latin typeface="Montserrat" panose="00000500000000000000" pitchFamily="2" charset="0"/>
              </a:rPr>
              <a:t> y la probabilidad de que una situación pueda tener consecuencias negativas.</a:t>
            </a:r>
          </a:p>
        </p:txBody>
      </p:sp>
    </p:spTree>
    <p:extLst>
      <p:ext uri="{BB962C8B-B14F-4D97-AF65-F5344CB8AC3E}">
        <p14:creationId xmlns:p14="http://schemas.microsoft.com/office/powerpoint/2010/main" val="1386571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91</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817880" y="1618768"/>
            <a:ext cx="5203047" cy="568252"/>
          </a:xfrm>
          <a:prstGeom prst="rect">
            <a:avLst/>
          </a:prstGeom>
          <a:noFill/>
          <a:ln>
            <a:noFill/>
          </a:ln>
        </p:spPr>
        <p:txBody>
          <a:bodyPr spcFirstLastPara="1" wrap="square" lIns="91425" tIns="45700" rIns="91425" bIns="45700" anchor="t" anchorCtr="0">
            <a:noAutofit/>
          </a:bodyPr>
          <a:lstStyle/>
          <a:p>
            <a:pPr algn="just">
              <a:spcAft>
                <a:spcPts val="1200"/>
              </a:spcAft>
            </a:pPr>
            <a:r>
              <a:rPr lang="es-ES" sz="2400" b="1" dirty="0">
                <a:solidFill>
                  <a:srgbClr val="131D3F"/>
                </a:solidFill>
                <a:latin typeface="Montserrat" panose="00000500000000000000" pitchFamily="2" charset="0"/>
              </a:rPr>
              <a:t>Riesgos Informáticos:</a:t>
            </a:r>
          </a:p>
        </p:txBody>
      </p:sp>
      <p:sp>
        <p:nvSpPr>
          <p:cNvPr id="9" name="Google Shape;112;p3">
            <a:extLst>
              <a:ext uri="{FF2B5EF4-FFF2-40B4-BE49-F238E27FC236}">
                <a16:creationId xmlns:a16="http://schemas.microsoft.com/office/drawing/2014/main" id="{A686DCE2-032A-4AD2-B189-D1072ABF3588}"/>
              </a:ext>
            </a:extLst>
          </p:cNvPr>
          <p:cNvSpPr txBox="1"/>
          <p:nvPr/>
        </p:nvSpPr>
        <p:spPr>
          <a:xfrm>
            <a:off x="6171073" y="1618767"/>
            <a:ext cx="5203047" cy="568253"/>
          </a:xfrm>
          <a:prstGeom prst="rect">
            <a:avLst/>
          </a:prstGeom>
          <a:noFill/>
          <a:ln>
            <a:noFill/>
          </a:ln>
        </p:spPr>
        <p:txBody>
          <a:bodyPr spcFirstLastPara="1" wrap="square" lIns="91425" tIns="45700" rIns="91425" bIns="45700" anchor="t" anchorCtr="0">
            <a:noAutofit/>
          </a:bodyPr>
          <a:lstStyle/>
          <a:p>
            <a:pPr algn="just">
              <a:spcAft>
                <a:spcPts val="1200"/>
              </a:spcAft>
            </a:pPr>
            <a:r>
              <a:rPr lang="es-ES" sz="2400" b="1" dirty="0">
                <a:solidFill>
                  <a:srgbClr val="131D3F"/>
                </a:solidFill>
                <a:latin typeface="Montserrat" panose="00000500000000000000" pitchFamily="2" charset="0"/>
              </a:rPr>
              <a:t>Riesgos Financieros:</a:t>
            </a:r>
          </a:p>
        </p:txBody>
      </p:sp>
      <p:sp>
        <p:nvSpPr>
          <p:cNvPr id="10" name="Google Shape;112;p3">
            <a:extLst>
              <a:ext uri="{FF2B5EF4-FFF2-40B4-BE49-F238E27FC236}">
                <a16:creationId xmlns:a16="http://schemas.microsoft.com/office/drawing/2014/main" id="{B753B7F6-6C6B-4D8B-B4CB-8481D874A0AB}"/>
              </a:ext>
            </a:extLst>
          </p:cNvPr>
          <p:cNvSpPr txBox="1"/>
          <p:nvPr/>
        </p:nvSpPr>
        <p:spPr>
          <a:xfrm>
            <a:off x="817199" y="2187021"/>
            <a:ext cx="5203047" cy="3808428"/>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r>
              <a:rPr lang="es-ES" sz="2400" dirty="0">
                <a:solidFill>
                  <a:srgbClr val="131D3F"/>
                </a:solidFill>
                <a:latin typeface="Montserrat" panose="00000500000000000000" pitchFamily="2" charset="0"/>
              </a:rPr>
              <a:t>Malware</a:t>
            </a:r>
          </a:p>
          <a:p>
            <a:pPr marL="342900" indent="-342900" algn="just">
              <a:buFont typeface="+mj-lt"/>
              <a:buAutoNum type="arabicPeriod"/>
            </a:pPr>
            <a:r>
              <a:rPr lang="es-ES" sz="2400" dirty="0">
                <a:solidFill>
                  <a:srgbClr val="131D3F"/>
                </a:solidFill>
                <a:latin typeface="Montserrat" panose="00000500000000000000" pitchFamily="2" charset="0"/>
              </a:rPr>
              <a:t>Phishing</a:t>
            </a:r>
          </a:p>
          <a:p>
            <a:pPr marL="342900" indent="-342900" algn="just">
              <a:buFont typeface="+mj-lt"/>
              <a:buAutoNum type="arabicPeriod"/>
            </a:pPr>
            <a:r>
              <a:rPr lang="es-ES" sz="2400" dirty="0" err="1">
                <a:solidFill>
                  <a:srgbClr val="131D3F"/>
                </a:solidFill>
                <a:latin typeface="Montserrat" panose="00000500000000000000" pitchFamily="2" charset="0"/>
              </a:rPr>
              <a:t>Ransomware</a:t>
            </a:r>
            <a:endParaRPr lang="es-ES" sz="2400" dirty="0">
              <a:solidFill>
                <a:srgbClr val="131D3F"/>
              </a:solidFill>
              <a:latin typeface="Montserrat" panose="00000500000000000000" pitchFamily="2" charset="0"/>
            </a:endParaRPr>
          </a:p>
          <a:p>
            <a:pPr marL="342900" indent="-342900" algn="just">
              <a:buFont typeface="+mj-lt"/>
              <a:buAutoNum type="arabicPeriod"/>
            </a:pPr>
            <a:r>
              <a:rPr lang="es-ES" sz="2400" dirty="0">
                <a:solidFill>
                  <a:srgbClr val="131D3F"/>
                </a:solidFill>
                <a:latin typeface="Montserrat" panose="00000500000000000000" pitchFamily="2" charset="0"/>
              </a:rPr>
              <a:t>Fugas de datos</a:t>
            </a:r>
          </a:p>
          <a:p>
            <a:pPr marL="342900" indent="-342900" algn="just">
              <a:buFont typeface="+mj-lt"/>
              <a:buAutoNum type="arabicPeriod"/>
            </a:pPr>
            <a:r>
              <a:rPr lang="es-ES" sz="2400" dirty="0">
                <a:solidFill>
                  <a:srgbClr val="131D3F"/>
                </a:solidFill>
                <a:latin typeface="Montserrat" panose="00000500000000000000" pitchFamily="2" charset="0"/>
              </a:rPr>
              <a:t>Ataques </a:t>
            </a:r>
            <a:r>
              <a:rPr lang="es-ES" sz="2400" dirty="0" err="1">
                <a:solidFill>
                  <a:srgbClr val="131D3F"/>
                </a:solidFill>
                <a:latin typeface="Montserrat" panose="00000500000000000000" pitchFamily="2" charset="0"/>
              </a:rPr>
              <a:t>DDoS</a:t>
            </a:r>
            <a:endParaRPr lang="es-ES" sz="2400" dirty="0">
              <a:solidFill>
                <a:srgbClr val="131D3F"/>
              </a:solidFill>
              <a:latin typeface="Montserrat" panose="00000500000000000000" pitchFamily="2" charset="0"/>
            </a:endParaRPr>
          </a:p>
          <a:p>
            <a:pPr marL="342900" indent="-342900" algn="just">
              <a:buFont typeface="+mj-lt"/>
              <a:buAutoNum type="arabicPeriod"/>
            </a:pPr>
            <a:r>
              <a:rPr lang="es-ES" sz="2400" dirty="0">
                <a:solidFill>
                  <a:srgbClr val="131D3F"/>
                </a:solidFill>
                <a:latin typeface="Montserrat" panose="00000500000000000000" pitchFamily="2" charset="0"/>
              </a:rPr>
              <a:t>Vulnerabilidades de software</a:t>
            </a:r>
          </a:p>
          <a:p>
            <a:pPr marL="342900" indent="-342900" algn="just">
              <a:buFont typeface="+mj-lt"/>
              <a:buAutoNum type="arabicPeriod"/>
            </a:pPr>
            <a:r>
              <a:rPr lang="es-ES" sz="2400" dirty="0">
                <a:solidFill>
                  <a:srgbClr val="131D3F"/>
                </a:solidFill>
                <a:latin typeface="Montserrat" panose="00000500000000000000" pitchFamily="2" charset="0"/>
              </a:rPr>
              <a:t>Ingeniería social</a:t>
            </a:r>
          </a:p>
          <a:p>
            <a:pPr marL="342900" indent="-342900" algn="just">
              <a:buFont typeface="+mj-lt"/>
              <a:buAutoNum type="arabicPeriod"/>
            </a:pPr>
            <a:r>
              <a:rPr lang="es-ES" sz="2400" dirty="0">
                <a:solidFill>
                  <a:srgbClr val="131D3F"/>
                </a:solidFill>
                <a:latin typeface="Montserrat" panose="00000500000000000000" pitchFamily="2" charset="0"/>
              </a:rPr>
              <a:t>Acceso no autorizado</a:t>
            </a:r>
          </a:p>
          <a:p>
            <a:pPr marL="342900" indent="-342900" algn="just">
              <a:buFont typeface="+mj-lt"/>
              <a:buAutoNum type="arabicPeriod"/>
            </a:pPr>
            <a:r>
              <a:rPr lang="es-ES" sz="2400" dirty="0">
                <a:solidFill>
                  <a:srgbClr val="131D3F"/>
                </a:solidFill>
                <a:latin typeface="Montserrat" panose="00000500000000000000" pitchFamily="2" charset="0"/>
              </a:rPr>
              <a:t>Pérdida de datos</a:t>
            </a:r>
          </a:p>
          <a:p>
            <a:pPr marL="342900" indent="-342900" algn="just">
              <a:buFont typeface="+mj-lt"/>
              <a:buAutoNum type="arabicPeriod"/>
            </a:pPr>
            <a:r>
              <a:rPr lang="es-ES" sz="2400" dirty="0">
                <a:solidFill>
                  <a:srgbClr val="131D3F"/>
                </a:solidFill>
                <a:latin typeface="Montserrat" panose="00000500000000000000" pitchFamily="2" charset="0"/>
              </a:rPr>
              <a:t>Interrupciones del servicio</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a:off x="6171073" y="2187020"/>
            <a:ext cx="5203047" cy="3808428"/>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r>
              <a:rPr lang="es-ES" sz="2400" dirty="0">
                <a:solidFill>
                  <a:srgbClr val="131D3F"/>
                </a:solidFill>
                <a:latin typeface="Montserrat" panose="00000500000000000000" pitchFamily="2" charset="0"/>
              </a:rPr>
              <a:t>Riesgo de crédito</a:t>
            </a:r>
          </a:p>
          <a:p>
            <a:pPr marL="342900" indent="-342900" algn="just">
              <a:buFont typeface="+mj-lt"/>
              <a:buAutoNum type="arabicPeriod"/>
            </a:pPr>
            <a:r>
              <a:rPr lang="es-ES" sz="2400" dirty="0">
                <a:solidFill>
                  <a:srgbClr val="131D3F"/>
                </a:solidFill>
                <a:latin typeface="Montserrat" panose="00000500000000000000" pitchFamily="2" charset="0"/>
              </a:rPr>
              <a:t>Riesgo de mercado</a:t>
            </a:r>
          </a:p>
          <a:p>
            <a:pPr marL="342900" indent="-342900" algn="just">
              <a:buFont typeface="+mj-lt"/>
              <a:buAutoNum type="arabicPeriod"/>
            </a:pPr>
            <a:r>
              <a:rPr lang="es-ES" sz="2400" dirty="0">
                <a:solidFill>
                  <a:srgbClr val="131D3F"/>
                </a:solidFill>
                <a:latin typeface="Montserrat" panose="00000500000000000000" pitchFamily="2" charset="0"/>
              </a:rPr>
              <a:t>Riesgo de liquidez</a:t>
            </a:r>
          </a:p>
          <a:p>
            <a:pPr marL="342900" indent="-342900" algn="just">
              <a:buFont typeface="+mj-lt"/>
              <a:buAutoNum type="arabicPeriod"/>
            </a:pPr>
            <a:r>
              <a:rPr lang="es-ES" sz="2400" dirty="0">
                <a:solidFill>
                  <a:srgbClr val="131D3F"/>
                </a:solidFill>
                <a:latin typeface="Montserrat" panose="00000500000000000000" pitchFamily="2" charset="0"/>
              </a:rPr>
              <a:t>Riesgo de tasa de interés</a:t>
            </a:r>
          </a:p>
          <a:p>
            <a:pPr marL="342900" indent="-342900" algn="just">
              <a:buFont typeface="+mj-lt"/>
              <a:buAutoNum type="arabicPeriod"/>
            </a:pPr>
            <a:r>
              <a:rPr lang="es-ES" sz="2400" dirty="0">
                <a:solidFill>
                  <a:srgbClr val="131D3F"/>
                </a:solidFill>
                <a:latin typeface="Montserrat" panose="00000500000000000000" pitchFamily="2" charset="0"/>
              </a:rPr>
              <a:t>Riesgo cambiario</a:t>
            </a:r>
          </a:p>
          <a:p>
            <a:pPr marL="342900" indent="-342900" algn="just">
              <a:buFont typeface="+mj-lt"/>
              <a:buAutoNum type="arabicPeriod"/>
            </a:pPr>
            <a:r>
              <a:rPr lang="es-ES" sz="2400" dirty="0">
                <a:solidFill>
                  <a:srgbClr val="131D3F"/>
                </a:solidFill>
                <a:latin typeface="Montserrat" panose="00000500000000000000" pitchFamily="2" charset="0"/>
              </a:rPr>
              <a:t>Riesgo operativo</a:t>
            </a:r>
          </a:p>
          <a:p>
            <a:pPr marL="342900" indent="-342900" algn="just">
              <a:buFont typeface="+mj-lt"/>
              <a:buAutoNum type="arabicPeriod"/>
            </a:pPr>
            <a:r>
              <a:rPr lang="es-ES" sz="2400" dirty="0">
                <a:solidFill>
                  <a:srgbClr val="131D3F"/>
                </a:solidFill>
                <a:latin typeface="Montserrat" panose="00000500000000000000" pitchFamily="2" charset="0"/>
              </a:rPr>
              <a:t>Riesgo reputacional</a:t>
            </a:r>
          </a:p>
          <a:p>
            <a:pPr marL="342900" indent="-342900" algn="just">
              <a:buFont typeface="+mj-lt"/>
              <a:buAutoNum type="arabicPeriod"/>
            </a:pPr>
            <a:r>
              <a:rPr lang="es-ES" sz="2400" dirty="0">
                <a:solidFill>
                  <a:srgbClr val="131D3F"/>
                </a:solidFill>
                <a:latin typeface="Montserrat" panose="00000500000000000000" pitchFamily="2" charset="0"/>
              </a:rPr>
              <a:t>Riesgo legal</a:t>
            </a:r>
          </a:p>
          <a:p>
            <a:pPr marL="342900" indent="-342900" algn="just">
              <a:buFont typeface="+mj-lt"/>
              <a:buAutoNum type="arabicPeriod"/>
            </a:pPr>
            <a:r>
              <a:rPr lang="es-ES" sz="2400" dirty="0">
                <a:solidFill>
                  <a:srgbClr val="131D3F"/>
                </a:solidFill>
                <a:latin typeface="Montserrat" panose="00000500000000000000" pitchFamily="2" charset="0"/>
              </a:rPr>
              <a:t>Riesgo sistémico</a:t>
            </a:r>
          </a:p>
          <a:p>
            <a:pPr marL="342900" indent="-342900" algn="just">
              <a:buFont typeface="+mj-lt"/>
              <a:buAutoNum type="arabicPeriod"/>
            </a:pPr>
            <a:r>
              <a:rPr lang="es-ES" sz="2400" dirty="0">
                <a:solidFill>
                  <a:srgbClr val="131D3F"/>
                </a:solidFill>
                <a:latin typeface="Montserrat" panose="00000500000000000000" pitchFamily="2" charset="0"/>
              </a:rPr>
              <a:t>Riesgo de inflación </a:t>
            </a:r>
          </a:p>
        </p:txBody>
      </p:sp>
    </p:spTree>
    <p:extLst>
      <p:ext uri="{BB962C8B-B14F-4D97-AF65-F5344CB8AC3E}">
        <p14:creationId xmlns:p14="http://schemas.microsoft.com/office/powerpoint/2010/main" val="22810337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92</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6" name="Google Shape;112;p3">
            <a:extLst>
              <a:ext uri="{FF2B5EF4-FFF2-40B4-BE49-F238E27FC236}">
                <a16:creationId xmlns:a16="http://schemas.microsoft.com/office/drawing/2014/main" id="{534C6BB6-89F8-44D2-8E18-CC49AB8EACFA}"/>
              </a:ext>
            </a:extLst>
          </p:cNvPr>
          <p:cNvSpPr txBox="1"/>
          <p:nvPr/>
        </p:nvSpPr>
        <p:spPr>
          <a:xfrm>
            <a:off x="450716" y="1429629"/>
            <a:ext cx="5203047" cy="568252"/>
          </a:xfrm>
          <a:prstGeom prst="rect">
            <a:avLst/>
          </a:prstGeom>
          <a:noFill/>
          <a:ln>
            <a:noFill/>
          </a:ln>
        </p:spPr>
        <p:txBody>
          <a:bodyPr spcFirstLastPara="1" wrap="square" lIns="91425" tIns="45700" rIns="91425" bIns="45700" anchor="t" anchorCtr="0">
            <a:noAutofit/>
          </a:bodyPr>
          <a:lstStyle/>
          <a:p>
            <a:pPr algn="just">
              <a:spcAft>
                <a:spcPts val="1200"/>
              </a:spcAft>
            </a:pPr>
            <a:r>
              <a:rPr lang="es-ES" sz="2400" b="1" dirty="0">
                <a:solidFill>
                  <a:srgbClr val="131D3F"/>
                </a:solidFill>
                <a:latin typeface="Montserrat" panose="00000500000000000000" pitchFamily="2" charset="0"/>
              </a:rPr>
              <a:t>Riesgos Financieros:</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50716" y="2051194"/>
            <a:ext cx="11066833" cy="4401205"/>
          </a:xfrm>
          <a:prstGeom prst="rect">
            <a:avLst/>
          </a:prstGeom>
          <a:noFill/>
        </p:spPr>
        <p:txBody>
          <a:bodyPr wrap="square">
            <a:spAutoFit/>
          </a:bodyPr>
          <a:lstStyle/>
          <a:p>
            <a:pPr marL="342900" indent="-342900" algn="just">
              <a:buFont typeface="+mj-lt"/>
              <a:buAutoNum type="arabicPeriod"/>
            </a:pPr>
            <a:r>
              <a:rPr lang="es-ES" sz="2000" b="1" dirty="0">
                <a:solidFill>
                  <a:srgbClr val="131D3F"/>
                </a:solidFill>
                <a:latin typeface="Montserrat" panose="00000500000000000000" pitchFamily="2" charset="0"/>
              </a:rPr>
              <a:t>Riesgo de crédito:</a:t>
            </a:r>
            <a:r>
              <a:rPr lang="es-ES" sz="2000" dirty="0">
                <a:solidFill>
                  <a:srgbClr val="131D3F"/>
                </a:solidFill>
                <a:latin typeface="Montserrat" panose="00000500000000000000" pitchFamily="2" charset="0"/>
              </a:rPr>
              <a:t> Posibilidad de incumplimiento de obligaciones de pago.</a:t>
            </a:r>
          </a:p>
          <a:p>
            <a:pPr marL="342900" indent="-342900" algn="just">
              <a:buFont typeface="+mj-lt"/>
              <a:buAutoNum type="arabicPeriod"/>
            </a:pPr>
            <a:r>
              <a:rPr lang="es-ES" sz="2000" b="1" dirty="0">
                <a:solidFill>
                  <a:srgbClr val="131D3F"/>
                </a:solidFill>
                <a:latin typeface="Montserrat" panose="00000500000000000000" pitchFamily="2" charset="0"/>
              </a:rPr>
              <a:t>Riesgo de mercado: </a:t>
            </a:r>
            <a:r>
              <a:rPr lang="es-ES" sz="2000" dirty="0">
                <a:solidFill>
                  <a:srgbClr val="131D3F"/>
                </a:solidFill>
                <a:latin typeface="Montserrat" panose="00000500000000000000" pitchFamily="2" charset="0"/>
              </a:rPr>
              <a:t>Pérdidas debido a cambios en los precios de activos financieros, (acciones).</a:t>
            </a:r>
          </a:p>
          <a:p>
            <a:pPr marL="342900" indent="-342900" algn="just">
              <a:buFont typeface="+mj-lt"/>
              <a:buAutoNum type="arabicPeriod"/>
            </a:pPr>
            <a:r>
              <a:rPr lang="es-ES" sz="2000" b="1" dirty="0">
                <a:solidFill>
                  <a:srgbClr val="131D3F"/>
                </a:solidFill>
                <a:latin typeface="Montserrat" panose="00000500000000000000" pitchFamily="2" charset="0"/>
              </a:rPr>
              <a:t>Riesgo de liquidez: </a:t>
            </a:r>
            <a:r>
              <a:rPr lang="es-ES" sz="2000" dirty="0">
                <a:solidFill>
                  <a:srgbClr val="131D3F"/>
                </a:solidFill>
                <a:latin typeface="Montserrat" panose="00000500000000000000" pitchFamily="2" charset="0"/>
              </a:rPr>
              <a:t>Dificultad para vender activos o acceder a efectivo.</a:t>
            </a:r>
          </a:p>
          <a:p>
            <a:pPr marL="342900" indent="-342900" algn="just">
              <a:buFont typeface="+mj-lt"/>
              <a:buAutoNum type="arabicPeriod"/>
            </a:pPr>
            <a:r>
              <a:rPr lang="es-ES" sz="2000" b="1" dirty="0">
                <a:solidFill>
                  <a:srgbClr val="131D3F"/>
                </a:solidFill>
                <a:latin typeface="Montserrat" panose="00000500000000000000" pitchFamily="2" charset="0"/>
              </a:rPr>
              <a:t>Riesgo de tasa de interés: </a:t>
            </a:r>
            <a:r>
              <a:rPr lang="es-ES" sz="2000" dirty="0">
                <a:solidFill>
                  <a:srgbClr val="131D3F"/>
                </a:solidFill>
                <a:latin typeface="Montserrat" panose="00000500000000000000" pitchFamily="2" charset="0"/>
              </a:rPr>
              <a:t>Fluctuaciones en las tasas de interés sobre los costos de financiación.</a:t>
            </a:r>
          </a:p>
          <a:p>
            <a:pPr marL="342900" indent="-342900" algn="just">
              <a:buFont typeface="+mj-lt"/>
              <a:buAutoNum type="arabicPeriod"/>
            </a:pPr>
            <a:r>
              <a:rPr lang="es-ES" sz="2000" b="1" dirty="0">
                <a:solidFill>
                  <a:srgbClr val="131D3F"/>
                </a:solidFill>
                <a:latin typeface="Montserrat" panose="00000500000000000000" pitchFamily="2" charset="0"/>
              </a:rPr>
              <a:t>Riesgo cambiario: </a:t>
            </a:r>
            <a:r>
              <a:rPr lang="es-ES" sz="2000" dirty="0">
                <a:solidFill>
                  <a:srgbClr val="131D3F"/>
                </a:solidFill>
                <a:latin typeface="Montserrat" panose="00000500000000000000" pitchFamily="2" charset="0"/>
              </a:rPr>
              <a:t>Variaciones en las tasas de cambio entre diferentes monedas.</a:t>
            </a:r>
          </a:p>
          <a:p>
            <a:pPr marL="342900" indent="-342900" algn="just">
              <a:buFont typeface="+mj-lt"/>
              <a:buAutoNum type="arabicPeriod"/>
            </a:pPr>
            <a:r>
              <a:rPr lang="es-ES" sz="2000" b="1" dirty="0">
                <a:solidFill>
                  <a:srgbClr val="131D3F"/>
                </a:solidFill>
                <a:latin typeface="Montserrat" panose="00000500000000000000" pitchFamily="2" charset="0"/>
              </a:rPr>
              <a:t>Riesgo operativo</a:t>
            </a:r>
            <a:r>
              <a:rPr lang="es-ES" sz="2000" dirty="0">
                <a:solidFill>
                  <a:srgbClr val="131D3F"/>
                </a:solidFill>
                <a:latin typeface="Montserrat" panose="00000500000000000000" pitchFamily="2" charset="0"/>
              </a:rPr>
              <a:t>: Fallos en procesos internos, sistemas o personal.</a:t>
            </a:r>
          </a:p>
          <a:p>
            <a:pPr marL="342900" indent="-342900" algn="just">
              <a:buFont typeface="+mj-lt"/>
              <a:buAutoNum type="arabicPeriod"/>
            </a:pPr>
            <a:r>
              <a:rPr lang="es-ES" sz="2000" b="1" dirty="0">
                <a:solidFill>
                  <a:srgbClr val="131D3F"/>
                </a:solidFill>
                <a:latin typeface="Montserrat" panose="00000500000000000000" pitchFamily="2" charset="0"/>
              </a:rPr>
              <a:t>Riesgo reputacional: </a:t>
            </a:r>
            <a:r>
              <a:rPr lang="es-ES" sz="2000" dirty="0">
                <a:solidFill>
                  <a:srgbClr val="131D3F"/>
                </a:solidFill>
                <a:latin typeface="Montserrat" panose="00000500000000000000" pitchFamily="2" charset="0"/>
              </a:rPr>
              <a:t>Daños a la reputación que pueden afectar su valor y operaciones.</a:t>
            </a:r>
          </a:p>
          <a:p>
            <a:pPr marL="342900" indent="-342900" algn="just">
              <a:buFont typeface="+mj-lt"/>
              <a:buAutoNum type="arabicPeriod"/>
            </a:pPr>
            <a:r>
              <a:rPr lang="es-ES" sz="2000" b="1" dirty="0">
                <a:solidFill>
                  <a:srgbClr val="131D3F"/>
                </a:solidFill>
                <a:latin typeface="Montserrat" panose="00000500000000000000" pitchFamily="2" charset="0"/>
              </a:rPr>
              <a:t>Riesgo legal: </a:t>
            </a:r>
            <a:r>
              <a:rPr lang="es-ES" sz="2000" dirty="0">
                <a:solidFill>
                  <a:srgbClr val="131D3F"/>
                </a:solidFill>
                <a:latin typeface="Montserrat" panose="00000500000000000000" pitchFamily="2" charset="0"/>
              </a:rPr>
              <a:t>Litigios o cumplimiento de normativas.</a:t>
            </a:r>
          </a:p>
          <a:p>
            <a:pPr marL="342900" indent="-342900" algn="just">
              <a:buFont typeface="+mj-lt"/>
              <a:buAutoNum type="arabicPeriod"/>
            </a:pPr>
            <a:r>
              <a:rPr lang="es-ES" sz="2000" b="1" dirty="0">
                <a:solidFill>
                  <a:srgbClr val="131D3F"/>
                </a:solidFill>
                <a:latin typeface="Montserrat" panose="00000500000000000000" pitchFamily="2" charset="0"/>
              </a:rPr>
              <a:t>Riesgo sistémico: </a:t>
            </a:r>
            <a:r>
              <a:rPr lang="es-ES" sz="2000" dirty="0">
                <a:solidFill>
                  <a:srgbClr val="131D3F"/>
                </a:solidFill>
                <a:latin typeface="Montserrat" panose="00000500000000000000" pitchFamily="2" charset="0"/>
              </a:rPr>
              <a:t>Colapso de un sistema financiero entero. Globalización.</a:t>
            </a:r>
          </a:p>
          <a:p>
            <a:pPr marL="342900" indent="-342900" algn="just">
              <a:buFont typeface="+mj-lt"/>
              <a:buAutoNum type="arabicPeriod"/>
            </a:pPr>
            <a:r>
              <a:rPr lang="es-ES" sz="2000" b="1" dirty="0">
                <a:solidFill>
                  <a:srgbClr val="131D3F"/>
                </a:solidFill>
                <a:latin typeface="Montserrat" panose="00000500000000000000" pitchFamily="2" charset="0"/>
              </a:rPr>
              <a:t>Riesgo de inflación: </a:t>
            </a:r>
            <a:r>
              <a:rPr lang="es-ES" sz="2000" dirty="0">
                <a:solidFill>
                  <a:srgbClr val="131D3F"/>
                </a:solidFill>
                <a:latin typeface="Montserrat" panose="00000500000000000000" pitchFamily="2" charset="0"/>
              </a:rPr>
              <a:t>Pérdidas de poder adquisitivo debido al aumento de precios en la economía.</a:t>
            </a:r>
            <a:endParaRPr lang="es-MX" sz="20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5917596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93</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58800" y="2198046"/>
            <a:ext cx="11066833" cy="3016210"/>
          </a:xfrm>
          <a:prstGeom prst="rect">
            <a:avLst/>
          </a:prstGeom>
          <a:noFill/>
        </p:spPr>
        <p:txBody>
          <a:bodyPr wrap="square">
            <a:spAutoFit/>
          </a:bodyPr>
          <a:lstStyle/>
          <a:p>
            <a:pPr algn="just">
              <a:spcAft>
                <a:spcPts val="1200"/>
              </a:spcAft>
            </a:pPr>
            <a:r>
              <a:rPr lang="es-ES" sz="3600" b="1" dirty="0">
                <a:solidFill>
                  <a:srgbClr val="131D3F"/>
                </a:solidFill>
                <a:latin typeface="Montserrat" panose="00000500000000000000" pitchFamily="2" charset="0"/>
              </a:rPr>
              <a:t>Incertidumbre:</a:t>
            </a:r>
          </a:p>
          <a:p>
            <a:pPr algn="just">
              <a:spcAft>
                <a:spcPts val="600"/>
              </a:spcAft>
            </a:pPr>
            <a:r>
              <a:rPr lang="es-ES" sz="3600" dirty="0">
                <a:solidFill>
                  <a:srgbClr val="131D3F"/>
                </a:solidFill>
                <a:latin typeface="Montserrat" panose="00000500000000000000" pitchFamily="2" charset="0"/>
              </a:rPr>
              <a:t>Se refiere a la falta de conocimiento o información sobre un evento futuro o una situación, lo que dificulta la toma de decisiones informadas. </a:t>
            </a:r>
          </a:p>
        </p:txBody>
      </p:sp>
    </p:spTree>
    <p:extLst>
      <p:ext uri="{BB962C8B-B14F-4D97-AF65-F5344CB8AC3E}">
        <p14:creationId xmlns:p14="http://schemas.microsoft.com/office/powerpoint/2010/main" val="3631086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94</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62583" y="1620517"/>
            <a:ext cx="11066833" cy="4262705"/>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Gestión del riesgo:</a:t>
            </a:r>
          </a:p>
          <a:p>
            <a:pPr algn="just">
              <a:spcAft>
                <a:spcPts val="600"/>
              </a:spcAft>
            </a:pPr>
            <a:r>
              <a:rPr lang="es-ES" sz="3200" dirty="0">
                <a:solidFill>
                  <a:srgbClr val="131D3F"/>
                </a:solidFill>
                <a:latin typeface="Montserrat" panose="00000500000000000000" pitchFamily="2" charset="0"/>
              </a:rPr>
              <a:t>Proceso de identificar, evaluar y priorizar riesgos, seguido de la implementación de estrategias para minimizar, controlar, mitigar o aprovechar dichos riesgos. </a:t>
            </a:r>
          </a:p>
          <a:p>
            <a:pPr algn="just">
              <a:spcAft>
                <a:spcPts val="600"/>
              </a:spcAft>
            </a:pPr>
            <a:r>
              <a:rPr lang="es-ES" sz="3200" dirty="0">
                <a:solidFill>
                  <a:srgbClr val="131D3F"/>
                </a:solidFill>
                <a:latin typeface="Montserrat" panose="00000500000000000000" pitchFamily="2" charset="0"/>
              </a:rPr>
              <a:t>Este enfoque busca proteger los activos, la reputación y los objetivos de una organización, garantizando así su continuidad y sostenibilidad. </a:t>
            </a:r>
          </a:p>
        </p:txBody>
      </p:sp>
    </p:spTree>
    <p:extLst>
      <p:ext uri="{BB962C8B-B14F-4D97-AF65-F5344CB8AC3E}">
        <p14:creationId xmlns:p14="http://schemas.microsoft.com/office/powerpoint/2010/main" val="3726297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95</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62581" y="1962380"/>
            <a:ext cx="11066833" cy="1877437"/>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Caso Comercial Mexicana</a:t>
            </a:r>
          </a:p>
          <a:p>
            <a:pPr algn="just">
              <a:spcAft>
                <a:spcPts val="1200"/>
              </a:spcAft>
            </a:pPr>
            <a:endParaRPr lang="es-ES" sz="3200" b="1" dirty="0">
              <a:solidFill>
                <a:srgbClr val="131D3F"/>
              </a:solidFill>
              <a:latin typeface="Montserrat" panose="00000500000000000000" pitchFamily="2" charset="0"/>
            </a:endParaRPr>
          </a:p>
          <a:p>
            <a:pPr algn="just">
              <a:spcAft>
                <a:spcPts val="1200"/>
              </a:spcAft>
            </a:pPr>
            <a:r>
              <a:rPr lang="es-ES" sz="3200" dirty="0">
                <a:solidFill>
                  <a:srgbClr val="131D3F"/>
                </a:solidFill>
                <a:latin typeface="Montserrat" panose="00000500000000000000" pitchFamily="2" charset="0"/>
              </a:rPr>
              <a:t>https://www.youtube.com/watch?v=6UkUVLQl-8Q</a:t>
            </a:r>
          </a:p>
        </p:txBody>
      </p:sp>
      <p:pic>
        <p:nvPicPr>
          <p:cNvPr id="3074" name="Picture 2" descr="Al cliente (o lector) lo que pida… - BAMF's Blog">
            <a:extLst>
              <a:ext uri="{FF2B5EF4-FFF2-40B4-BE49-F238E27FC236}">
                <a16:creationId xmlns:a16="http://schemas.microsoft.com/office/drawing/2014/main" id="{266350F9-F2A7-4267-AA19-48DFF293DF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6593" y="4344015"/>
            <a:ext cx="6078807" cy="1877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5555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96</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 Riesgo e Incertidumbre</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199643" y="1828714"/>
            <a:ext cx="5792713" cy="3754874"/>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Mitigación de riesgos</a:t>
            </a:r>
          </a:p>
          <a:p>
            <a:pPr marL="1428750" lvl="2" indent="-514350" algn="just">
              <a:buFont typeface="+mj-lt"/>
              <a:buAutoNum type="arabicPeriod"/>
            </a:pPr>
            <a:r>
              <a:rPr lang="es-ES" sz="2800" dirty="0">
                <a:solidFill>
                  <a:srgbClr val="131D3F"/>
                </a:solidFill>
                <a:latin typeface="Montserrat" panose="00000500000000000000" pitchFamily="2" charset="0"/>
              </a:rPr>
              <a:t>Diversificación</a:t>
            </a:r>
          </a:p>
          <a:p>
            <a:pPr marL="1428750" lvl="2" indent="-514350" algn="just">
              <a:buFont typeface="+mj-lt"/>
              <a:buAutoNum type="arabicPeriod"/>
            </a:pPr>
            <a:r>
              <a:rPr lang="es-ES" sz="2800" dirty="0">
                <a:solidFill>
                  <a:srgbClr val="131D3F"/>
                </a:solidFill>
                <a:latin typeface="Montserrat" panose="00000500000000000000" pitchFamily="2" charset="0"/>
              </a:rPr>
              <a:t>Seguros</a:t>
            </a:r>
          </a:p>
          <a:p>
            <a:pPr marL="1428750" lvl="2" indent="-514350" algn="just">
              <a:buFont typeface="+mj-lt"/>
              <a:buAutoNum type="arabicPeriod"/>
            </a:pPr>
            <a:r>
              <a:rPr lang="es-ES" sz="2800" dirty="0">
                <a:solidFill>
                  <a:srgbClr val="131D3F"/>
                </a:solidFill>
                <a:latin typeface="Montserrat" panose="00000500000000000000" pitchFamily="2" charset="0"/>
              </a:rPr>
              <a:t>Reaseguros</a:t>
            </a:r>
          </a:p>
          <a:p>
            <a:pPr marL="1428750" lvl="2" indent="-514350" algn="just">
              <a:buFont typeface="+mj-lt"/>
              <a:buAutoNum type="arabicPeriod"/>
            </a:pPr>
            <a:r>
              <a:rPr lang="es-ES" sz="2800" dirty="0">
                <a:solidFill>
                  <a:srgbClr val="131D3F"/>
                </a:solidFill>
                <a:latin typeface="Montserrat" panose="00000500000000000000" pitchFamily="2" charset="0"/>
              </a:rPr>
              <a:t>Fondo de Reserva</a:t>
            </a:r>
          </a:p>
          <a:p>
            <a:pPr marL="1428750" lvl="2" indent="-514350" algn="just">
              <a:buFont typeface="+mj-lt"/>
              <a:buAutoNum type="arabicPeriod"/>
            </a:pPr>
            <a:r>
              <a:rPr lang="es-ES" sz="2800" dirty="0">
                <a:solidFill>
                  <a:srgbClr val="131D3F"/>
                </a:solidFill>
                <a:latin typeface="Montserrat" panose="00000500000000000000" pitchFamily="2" charset="0"/>
              </a:rPr>
              <a:t>Gestión de Liquidez</a:t>
            </a:r>
          </a:p>
          <a:p>
            <a:pPr marL="1428750" lvl="2" indent="-514350" algn="just">
              <a:buFont typeface="+mj-lt"/>
              <a:buAutoNum type="arabicPeriod"/>
            </a:pPr>
            <a:r>
              <a:rPr lang="es-ES" sz="2800" dirty="0">
                <a:solidFill>
                  <a:srgbClr val="131D3F"/>
                </a:solidFill>
                <a:latin typeface="Montserrat" panose="00000500000000000000" pitchFamily="2" charset="0"/>
              </a:rPr>
              <a:t>Coberturas</a:t>
            </a:r>
          </a:p>
          <a:p>
            <a:pPr marL="1428750" lvl="2" indent="-514350" algn="just">
              <a:buFont typeface="+mj-lt"/>
              <a:buAutoNum type="arabicPeriod"/>
            </a:pPr>
            <a:r>
              <a:rPr lang="es-ES" sz="2800" dirty="0">
                <a:solidFill>
                  <a:srgbClr val="131D3F"/>
                </a:solidFill>
                <a:latin typeface="Montserrat" panose="00000500000000000000" pitchFamily="2" charset="0"/>
              </a:rPr>
              <a:t>Políticas de Crédito</a:t>
            </a:r>
          </a:p>
        </p:txBody>
      </p:sp>
    </p:spTree>
    <p:extLst>
      <p:ext uri="{BB962C8B-B14F-4D97-AF65-F5344CB8AC3E}">
        <p14:creationId xmlns:p14="http://schemas.microsoft.com/office/powerpoint/2010/main" val="31163456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97</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 Metas, estimados y planes</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632041" y="1828714"/>
            <a:ext cx="10927917" cy="3970318"/>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Metas </a:t>
            </a:r>
          </a:p>
          <a:p>
            <a:pPr algn="just">
              <a:spcAft>
                <a:spcPts val="1200"/>
              </a:spcAft>
            </a:pPr>
            <a:r>
              <a:rPr lang="es-ES" sz="3200" dirty="0">
                <a:solidFill>
                  <a:srgbClr val="131D3F"/>
                </a:solidFill>
                <a:latin typeface="Montserrat" panose="00000500000000000000" pitchFamily="2" charset="0"/>
              </a:rPr>
              <a:t>Objetivo // resultado deseado</a:t>
            </a:r>
          </a:p>
          <a:p>
            <a:pPr marL="1428750" lvl="2" indent="-514350" algn="just">
              <a:buFont typeface="+mj-lt"/>
              <a:buAutoNum type="arabicPeriod"/>
            </a:pPr>
            <a:r>
              <a:rPr lang="es-ES" sz="2400" b="1" dirty="0">
                <a:solidFill>
                  <a:srgbClr val="131D3F"/>
                </a:solidFill>
                <a:latin typeface="Montserrat" panose="00000500000000000000" pitchFamily="2" charset="0"/>
              </a:rPr>
              <a:t>Específicas:</a:t>
            </a:r>
            <a:r>
              <a:rPr lang="es-ES" sz="2400" dirty="0">
                <a:solidFill>
                  <a:srgbClr val="131D3F"/>
                </a:solidFill>
                <a:latin typeface="Montserrat" panose="00000500000000000000" pitchFamily="2" charset="0"/>
              </a:rPr>
              <a:t> Deben ser claras y concretas.</a:t>
            </a:r>
          </a:p>
          <a:p>
            <a:pPr marL="1428750" lvl="2" indent="-514350" algn="just">
              <a:buFont typeface="+mj-lt"/>
              <a:buAutoNum type="arabicPeriod"/>
            </a:pPr>
            <a:r>
              <a:rPr lang="es-ES" sz="2400" b="1" dirty="0">
                <a:solidFill>
                  <a:srgbClr val="131D3F"/>
                </a:solidFill>
                <a:latin typeface="Montserrat" panose="00000500000000000000" pitchFamily="2" charset="0"/>
              </a:rPr>
              <a:t>Medibles: </a:t>
            </a:r>
            <a:r>
              <a:rPr lang="es-ES" sz="2400" dirty="0">
                <a:solidFill>
                  <a:srgbClr val="131D3F"/>
                </a:solidFill>
                <a:latin typeface="Montserrat" panose="00000500000000000000" pitchFamily="2" charset="0"/>
              </a:rPr>
              <a:t>Deben permitir la evaluación del progreso.</a:t>
            </a:r>
          </a:p>
          <a:p>
            <a:pPr marL="1428750" lvl="2" indent="-514350" algn="just">
              <a:buFont typeface="+mj-lt"/>
              <a:buAutoNum type="arabicPeriod"/>
            </a:pPr>
            <a:r>
              <a:rPr lang="es-ES" sz="2400" b="1" dirty="0">
                <a:solidFill>
                  <a:srgbClr val="131D3F"/>
                </a:solidFill>
                <a:latin typeface="Montserrat" panose="00000500000000000000" pitchFamily="2" charset="0"/>
              </a:rPr>
              <a:t>Alcanzables: </a:t>
            </a:r>
            <a:r>
              <a:rPr lang="es-ES" sz="2400" dirty="0">
                <a:solidFill>
                  <a:srgbClr val="131D3F"/>
                </a:solidFill>
                <a:latin typeface="Montserrat" panose="00000500000000000000" pitchFamily="2" charset="0"/>
              </a:rPr>
              <a:t>Deben ser realistas y alcanzables.</a:t>
            </a:r>
          </a:p>
          <a:p>
            <a:pPr marL="1428750" lvl="2" indent="-514350" algn="just">
              <a:buFont typeface="+mj-lt"/>
              <a:buAutoNum type="arabicPeriod"/>
            </a:pPr>
            <a:r>
              <a:rPr lang="es-ES" sz="2400" b="1" dirty="0">
                <a:solidFill>
                  <a:srgbClr val="131D3F"/>
                </a:solidFill>
                <a:latin typeface="Montserrat" panose="00000500000000000000" pitchFamily="2" charset="0"/>
              </a:rPr>
              <a:t>Relevantes: </a:t>
            </a:r>
            <a:r>
              <a:rPr lang="es-ES" sz="2400" dirty="0">
                <a:solidFill>
                  <a:srgbClr val="131D3F"/>
                </a:solidFill>
                <a:latin typeface="Montserrat" panose="00000500000000000000" pitchFamily="2" charset="0"/>
              </a:rPr>
              <a:t>Deben estar alineadas con otros objetivos más amplios.</a:t>
            </a:r>
          </a:p>
          <a:p>
            <a:pPr marL="1428750" lvl="2" indent="-514350" algn="just">
              <a:buFont typeface="+mj-lt"/>
              <a:buAutoNum type="arabicPeriod"/>
            </a:pPr>
            <a:r>
              <a:rPr lang="es-ES" sz="2400" b="1" dirty="0">
                <a:solidFill>
                  <a:srgbClr val="131D3F"/>
                </a:solidFill>
                <a:latin typeface="Montserrat" panose="00000500000000000000" pitchFamily="2" charset="0"/>
              </a:rPr>
              <a:t>Temporales: </a:t>
            </a:r>
            <a:r>
              <a:rPr lang="es-ES" sz="2400" dirty="0">
                <a:solidFill>
                  <a:srgbClr val="131D3F"/>
                </a:solidFill>
                <a:latin typeface="Montserrat" panose="00000500000000000000" pitchFamily="2" charset="0"/>
              </a:rPr>
              <a:t>Deben tener un plazo definido para su consecución</a:t>
            </a:r>
          </a:p>
        </p:txBody>
      </p:sp>
    </p:spTree>
    <p:extLst>
      <p:ext uri="{BB962C8B-B14F-4D97-AF65-F5344CB8AC3E}">
        <p14:creationId xmlns:p14="http://schemas.microsoft.com/office/powerpoint/2010/main" val="1032261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98</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 Metas, estimados y planes</a:t>
            </a:r>
          </a:p>
        </p:txBody>
      </p:sp>
      <p:sp>
        <p:nvSpPr>
          <p:cNvPr id="12" name="Google Shape;112;p3">
            <a:extLst>
              <a:ext uri="{FF2B5EF4-FFF2-40B4-BE49-F238E27FC236}">
                <a16:creationId xmlns:a16="http://schemas.microsoft.com/office/drawing/2014/main" id="{01054001-5185-4B11-B51E-D2C81D8E3264}"/>
              </a:ext>
            </a:extLst>
          </p:cNvPr>
          <p:cNvSpPr txBox="1"/>
          <p:nvPr/>
        </p:nvSpPr>
        <p:spPr>
          <a:xfrm flipV="1">
            <a:off x="2194193" y="3706151"/>
            <a:ext cx="10777089" cy="45719"/>
          </a:xfrm>
          <a:prstGeom prst="rect">
            <a:avLst/>
          </a:prstGeom>
          <a:noFill/>
          <a:ln>
            <a:noFill/>
          </a:ln>
        </p:spPr>
        <p:txBody>
          <a:bodyPr spcFirstLastPara="1" wrap="square" lIns="91425" tIns="45700" rIns="91425" bIns="45700" anchor="t" anchorCtr="0">
            <a:noAutofit/>
          </a:bodyPr>
          <a:lstStyle/>
          <a:p>
            <a:pPr marL="342900" indent="-342900" algn="just">
              <a:buFont typeface="+mj-lt"/>
              <a:buAutoNum type="arabicPeriod"/>
            </a:pPr>
            <a:endParaRPr lang="es-ES" sz="2400" dirty="0">
              <a:solidFill>
                <a:srgbClr val="131D3F"/>
              </a:solidFill>
              <a:latin typeface="Montserrat" panose="000005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632041" y="1376316"/>
            <a:ext cx="10927917" cy="4955203"/>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Estimados </a:t>
            </a:r>
          </a:p>
          <a:p>
            <a:pPr algn="just">
              <a:spcAft>
                <a:spcPts val="1200"/>
              </a:spcAft>
            </a:pPr>
            <a:r>
              <a:rPr lang="es-ES" sz="3200" dirty="0">
                <a:solidFill>
                  <a:srgbClr val="131D3F"/>
                </a:solidFill>
                <a:latin typeface="Montserrat" panose="00000500000000000000" pitchFamily="2" charset="0"/>
              </a:rPr>
              <a:t>Evaluaciones </a:t>
            </a:r>
            <a:r>
              <a:rPr lang="es-ES" sz="3200" b="1" dirty="0">
                <a:solidFill>
                  <a:srgbClr val="131D3F"/>
                </a:solidFill>
                <a:latin typeface="Montserrat" panose="00000500000000000000" pitchFamily="2" charset="0"/>
              </a:rPr>
              <a:t>aproximadas</a:t>
            </a:r>
            <a:r>
              <a:rPr lang="es-ES" sz="3200" dirty="0">
                <a:solidFill>
                  <a:srgbClr val="131D3F"/>
                </a:solidFill>
                <a:latin typeface="Montserrat" panose="00000500000000000000" pitchFamily="2" charset="0"/>
              </a:rPr>
              <a:t> de un valor, cantidad o tiempo, basadas en datos disponibles, experiencia previa o análisis. </a:t>
            </a:r>
          </a:p>
          <a:p>
            <a:pPr marL="1428750" lvl="2" indent="-514350" algn="just">
              <a:buFont typeface="+mj-lt"/>
              <a:buAutoNum type="arabicPeriod"/>
            </a:pPr>
            <a:r>
              <a:rPr lang="es-ES" sz="2400" b="1" dirty="0">
                <a:solidFill>
                  <a:srgbClr val="131D3F"/>
                </a:solidFill>
                <a:latin typeface="Montserrat" panose="00000500000000000000" pitchFamily="2" charset="0"/>
              </a:rPr>
              <a:t>Proximidad: </a:t>
            </a:r>
            <a:r>
              <a:rPr lang="es-ES" sz="2400" dirty="0">
                <a:solidFill>
                  <a:srgbClr val="131D3F"/>
                </a:solidFill>
                <a:latin typeface="Montserrat" panose="00000500000000000000" pitchFamily="2" charset="0"/>
              </a:rPr>
              <a:t>No son exactas, pero deben estar lo más cerca posible de la realidad.</a:t>
            </a:r>
          </a:p>
          <a:p>
            <a:pPr marL="1428750" lvl="2" indent="-514350" algn="just">
              <a:buFont typeface="+mj-lt"/>
              <a:buAutoNum type="arabicPeriod"/>
            </a:pPr>
            <a:r>
              <a:rPr lang="es-ES" sz="2400" b="1" dirty="0">
                <a:solidFill>
                  <a:srgbClr val="131D3F"/>
                </a:solidFill>
                <a:latin typeface="Montserrat" panose="00000500000000000000" pitchFamily="2" charset="0"/>
              </a:rPr>
              <a:t>Basadas en Datos: </a:t>
            </a:r>
            <a:r>
              <a:rPr lang="es-ES" sz="2400" dirty="0">
                <a:solidFill>
                  <a:srgbClr val="131D3F"/>
                </a:solidFill>
                <a:latin typeface="Montserrat" panose="00000500000000000000" pitchFamily="2" charset="0"/>
              </a:rPr>
              <a:t>Se fundamentan en información existente, aunque puede ser limitada.</a:t>
            </a:r>
          </a:p>
          <a:p>
            <a:pPr marL="1428750" lvl="2" indent="-514350" algn="just">
              <a:buFont typeface="+mj-lt"/>
              <a:buAutoNum type="arabicPeriod"/>
            </a:pPr>
            <a:r>
              <a:rPr lang="es-ES" sz="2400" b="1" dirty="0">
                <a:solidFill>
                  <a:srgbClr val="131D3F"/>
                </a:solidFill>
                <a:latin typeface="Montserrat" panose="00000500000000000000" pitchFamily="2" charset="0"/>
              </a:rPr>
              <a:t>Variabilidad: </a:t>
            </a:r>
            <a:r>
              <a:rPr lang="es-ES" sz="2400" dirty="0">
                <a:solidFill>
                  <a:srgbClr val="131D3F"/>
                </a:solidFill>
                <a:latin typeface="Montserrat" panose="00000500000000000000" pitchFamily="2" charset="0"/>
              </a:rPr>
              <a:t>Pueden cambiar a medida que se obtienen más datos o se desarrolla el proyecto.</a:t>
            </a:r>
          </a:p>
          <a:p>
            <a:pPr marL="1428750" lvl="2" indent="-514350" algn="just">
              <a:buFont typeface="+mj-lt"/>
              <a:buAutoNum type="arabicPeriod"/>
            </a:pPr>
            <a:r>
              <a:rPr lang="es-ES" sz="2400" b="1" dirty="0">
                <a:solidFill>
                  <a:srgbClr val="131D3F"/>
                </a:solidFill>
                <a:latin typeface="Montserrat" panose="00000500000000000000" pitchFamily="2" charset="0"/>
              </a:rPr>
              <a:t>Utilidad: </a:t>
            </a:r>
            <a:r>
              <a:rPr lang="es-ES" sz="2400" dirty="0">
                <a:solidFill>
                  <a:srgbClr val="131D3F"/>
                </a:solidFill>
                <a:latin typeface="Montserrat" panose="00000500000000000000" pitchFamily="2" charset="0"/>
              </a:rPr>
              <a:t>Ayudan en la planificación y toma de decisiones</a:t>
            </a:r>
            <a:r>
              <a:rPr lang="es-ES" sz="2400" b="1" dirty="0">
                <a:solidFill>
                  <a:srgbClr val="131D3F"/>
                </a:solidFill>
                <a:latin typeface="Montserrat" panose="00000500000000000000" pitchFamily="2" charset="0"/>
              </a:rPr>
              <a:t>.</a:t>
            </a:r>
            <a:endParaRPr lang="es-ES" sz="24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9005792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99</a:t>
            </a:fld>
            <a:endParaRPr lang="es-MX" sz="24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 Metas, estimados y planes</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58800" y="2050471"/>
            <a:ext cx="10927917" cy="1723549"/>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Planes</a:t>
            </a:r>
          </a:p>
          <a:p>
            <a:pPr algn="just">
              <a:spcAft>
                <a:spcPts val="1200"/>
              </a:spcAft>
            </a:pPr>
            <a:r>
              <a:rPr lang="es-ES" sz="3200" dirty="0">
                <a:solidFill>
                  <a:srgbClr val="131D3F"/>
                </a:solidFill>
                <a:latin typeface="Montserrat" panose="00000500000000000000" pitchFamily="2" charset="0"/>
              </a:rPr>
              <a:t>Estrategias o guías que se desarrollan para alcanzar objetivos específicos.  </a:t>
            </a:r>
          </a:p>
        </p:txBody>
      </p:sp>
      <p:sp>
        <p:nvSpPr>
          <p:cNvPr id="2" name="Elipse 1">
            <a:hlinkClick r:id="rId5" action="ppaction://hlinksldjump"/>
            <a:extLst>
              <a:ext uri="{FF2B5EF4-FFF2-40B4-BE49-F238E27FC236}">
                <a16:creationId xmlns:a16="http://schemas.microsoft.com/office/drawing/2014/main" id="{3FD0AAFA-BD4A-47C2-ABB8-56B367727B3A}"/>
              </a:ext>
            </a:extLst>
          </p:cNvPr>
          <p:cNvSpPr/>
          <p:nvPr/>
        </p:nvSpPr>
        <p:spPr>
          <a:xfrm>
            <a:off x="10078720" y="4637988"/>
            <a:ext cx="1572809" cy="1437692"/>
          </a:xfrm>
          <a:prstGeom prst="ellipse">
            <a:avLst/>
          </a:prstGeom>
          <a:solidFill>
            <a:srgbClr val="84A98C"/>
          </a:solidFill>
          <a:ln>
            <a:solidFill>
              <a:srgbClr val="84A98C"/>
            </a:solidFill>
          </a:ln>
          <a:scene3d>
            <a:camera prst="orthographicFront">
              <a:rot lat="0" lon="0" rev="0"/>
            </a:camera>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sz="2400" b="1" dirty="0">
                <a:solidFill>
                  <a:srgbClr val="131D3F"/>
                </a:solidFill>
                <a:latin typeface="Montserrat" panose="00000500000000000000" pitchFamily="2" charset="0"/>
                <a:ea typeface="MS PGothic" panose="020B0600070205080204" pitchFamily="34" charset="-128"/>
              </a:rPr>
              <a:t>Planes</a:t>
            </a:r>
            <a:endParaRPr lang="es-MX" sz="2400" b="1" dirty="0">
              <a:solidFill>
                <a:srgbClr val="131D3F"/>
              </a:solidFill>
              <a:latin typeface="Montserrat" panose="00000500000000000000" pitchFamily="2" charset="0"/>
              <a:ea typeface="MS PGothic" panose="020B0600070205080204" pitchFamily="34" charset="-128"/>
            </a:endParaRPr>
          </a:p>
        </p:txBody>
      </p:sp>
    </p:spTree>
    <p:extLst>
      <p:ext uri="{BB962C8B-B14F-4D97-AF65-F5344CB8AC3E}">
        <p14:creationId xmlns:p14="http://schemas.microsoft.com/office/powerpoint/2010/main" val="18161799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100</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3.1.1 Concepto de mercado</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632041" y="1491445"/>
            <a:ext cx="10927917" cy="2215991"/>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Mercado</a:t>
            </a:r>
          </a:p>
          <a:p>
            <a:pPr algn="just">
              <a:spcAft>
                <a:spcPts val="1200"/>
              </a:spcAft>
            </a:pPr>
            <a:r>
              <a:rPr lang="es-ES" sz="3200" dirty="0">
                <a:solidFill>
                  <a:srgbClr val="131D3F"/>
                </a:solidFill>
                <a:latin typeface="Montserrat" panose="00000500000000000000" pitchFamily="2" charset="0"/>
              </a:rPr>
              <a:t>Espacio, físico o virtual, donde oferta y demanda interactúan para intercambiar bienes, servicios o activos. </a:t>
            </a:r>
          </a:p>
        </p:txBody>
      </p:sp>
      <p:pic>
        <p:nvPicPr>
          <p:cNvPr id="1026" name="Picture 2" descr="Guía para conocer los mercados de Cusco">
            <a:extLst>
              <a:ext uri="{FF2B5EF4-FFF2-40B4-BE49-F238E27FC236}">
                <a16:creationId xmlns:a16="http://schemas.microsoft.com/office/drawing/2014/main" id="{E413925F-5075-4F48-B733-DC4DCCFA12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042" y="3902603"/>
            <a:ext cx="4790388" cy="2395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é son los mercados finacieros? ISEFi">
            <a:extLst>
              <a:ext uri="{FF2B5EF4-FFF2-40B4-BE49-F238E27FC236}">
                <a16:creationId xmlns:a16="http://schemas.microsoft.com/office/drawing/2014/main" id="{0C831A0B-BAB8-4542-8692-17EE9AEB4F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9571" y="3902603"/>
            <a:ext cx="4790387" cy="2395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3583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101</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3.1.1 Concepto de mercado</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632041" y="1505396"/>
            <a:ext cx="10927917" cy="3847207"/>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Estudio de Mercado</a:t>
            </a:r>
          </a:p>
          <a:p>
            <a:pPr algn="just">
              <a:spcAft>
                <a:spcPts val="1200"/>
              </a:spcAft>
            </a:pPr>
            <a:r>
              <a:rPr lang="es-ES" sz="3200" dirty="0">
                <a:solidFill>
                  <a:srgbClr val="131D3F"/>
                </a:solidFill>
                <a:latin typeface="Montserrat" panose="00000500000000000000" pitchFamily="2" charset="0"/>
              </a:rPr>
              <a:t>Es el proceso de investigación y análisis de un mercado específico para entender sus características, dinámicas y comportamientos.</a:t>
            </a:r>
          </a:p>
          <a:p>
            <a:pPr algn="just">
              <a:spcAft>
                <a:spcPts val="1200"/>
              </a:spcAft>
            </a:pPr>
            <a:r>
              <a:rPr lang="es-ES" sz="3200" dirty="0">
                <a:solidFill>
                  <a:srgbClr val="131D3F"/>
                </a:solidFill>
                <a:latin typeface="Montserrat" panose="00000500000000000000" pitchFamily="2" charset="0"/>
              </a:rPr>
              <a:t>Su objetivo principal es recopilar información que ayude a las empresas a tomar decisiones informadas sobre sus productos o servicios. </a:t>
            </a:r>
          </a:p>
        </p:txBody>
      </p:sp>
    </p:spTree>
    <p:extLst>
      <p:ext uri="{BB962C8B-B14F-4D97-AF65-F5344CB8AC3E}">
        <p14:creationId xmlns:p14="http://schemas.microsoft.com/office/powerpoint/2010/main" val="41135127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102</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3.1.1 Concepto de mercado</a:t>
            </a:r>
          </a:p>
        </p:txBody>
      </p:sp>
      <p:sp>
        <p:nvSpPr>
          <p:cNvPr id="10" name="CuadroTexto 9">
            <a:extLst>
              <a:ext uri="{FF2B5EF4-FFF2-40B4-BE49-F238E27FC236}">
                <a16:creationId xmlns:a16="http://schemas.microsoft.com/office/drawing/2014/main" id="{D2E663CB-BD4B-4140-A499-5B2EE6C42A5C}"/>
              </a:ext>
            </a:extLst>
          </p:cNvPr>
          <p:cNvSpPr txBox="1"/>
          <p:nvPr/>
        </p:nvSpPr>
        <p:spPr>
          <a:xfrm>
            <a:off x="632041" y="1728175"/>
            <a:ext cx="10927917" cy="4370427"/>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Objetivos Estudio de Mercado</a:t>
            </a:r>
          </a:p>
          <a:p>
            <a:pPr algn="just"/>
            <a:r>
              <a:rPr lang="es-ES" sz="2400" b="1" dirty="0">
                <a:solidFill>
                  <a:srgbClr val="131D3F"/>
                </a:solidFill>
                <a:latin typeface="Montserrat" panose="00000500000000000000" pitchFamily="2" charset="0"/>
              </a:rPr>
              <a:t>Identificación de Oportunidades: </a:t>
            </a:r>
            <a:r>
              <a:rPr lang="es-ES" sz="2400" dirty="0">
                <a:solidFill>
                  <a:srgbClr val="131D3F"/>
                </a:solidFill>
                <a:latin typeface="Montserrat" panose="00000500000000000000" pitchFamily="2" charset="0"/>
              </a:rPr>
              <a:t>Detectar nichos de mercado o áreas de crecimiento. </a:t>
            </a:r>
          </a:p>
          <a:p>
            <a:pPr algn="just"/>
            <a:r>
              <a:rPr lang="es-ES" sz="2400" b="1" dirty="0">
                <a:solidFill>
                  <a:srgbClr val="131D3F"/>
                </a:solidFill>
                <a:latin typeface="Montserrat" panose="00000500000000000000" pitchFamily="2" charset="0"/>
              </a:rPr>
              <a:t>Comprensión del Consumidor: </a:t>
            </a:r>
            <a:r>
              <a:rPr lang="es-ES" sz="2400" dirty="0">
                <a:solidFill>
                  <a:srgbClr val="131D3F"/>
                </a:solidFill>
                <a:latin typeface="Montserrat" panose="00000500000000000000" pitchFamily="2" charset="0"/>
              </a:rPr>
              <a:t>Analizar las preferencias, necesidades y comportamientos de los consumidores.</a:t>
            </a:r>
          </a:p>
          <a:p>
            <a:pPr algn="just"/>
            <a:r>
              <a:rPr lang="es-ES" sz="2400" b="1" dirty="0">
                <a:solidFill>
                  <a:srgbClr val="131D3F"/>
                </a:solidFill>
                <a:latin typeface="Montserrat" panose="00000500000000000000" pitchFamily="2" charset="0"/>
              </a:rPr>
              <a:t>Evaluación de la Competencia: </a:t>
            </a:r>
            <a:r>
              <a:rPr lang="es-ES" sz="2400" dirty="0">
                <a:solidFill>
                  <a:srgbClr val="131D3F"/>
                </a:solidFill>
                <a:latin typeface="Montserrat" panose="00000500000000000000" pitchFamily="2" charset="0"/>
              </a:rPr>
              <a:t>Estudiar a los competidores y sus estrategias para identificar fortalezas y debilidades.</a:t>
            </a:r>
          </a:p>
          <a:p>
            <a:pPr algn="just"/>
            <a:r>
              <a:rPr lang="es-ES" sz="2400" b="1" dirty="0">
                <a:solidFill>
                  <a:srgbClr val="131D3F"/>
                </a:solidFill>
                <a:latin typeface="Montserrat" panose="00000500000000000000" pitchFamily="2" charset="0"/>
              </a:rPr>
              <a:t>Determinación de Precios: </a:t>
            </a:r>
            <a:r>
              <a:rPr lang="es-ES" sz="2400" dirty="0">
                <a:solidFill>
                  <a:srgbClr val="131D3F"/>
                </a:solidFill>
                <a:latin typeface="Montserrat" panose="00000500000000000000" pitchFamily="2" charset="0"/>
              </a:rPr>
              <a:t>Establecer precios competitivos basados en la percepción de valor del consumidor.</a:t>
            </a:r>
          </a:p>
          <a:p>
            <a:pPr algn="just"/>
            <a:r>
              <a:rPr lang="es-ES" sz="2400" b="1" dirty="0">
                <a:solidFill>
                  <a:srgbClr val="131D3F"/>
                </a:solidFill>
                <a:latin typeface="Montserrat" panose="00000500000000000000" pitchFamily="2" charset="0"/>
              </a:rPr>
              <a:t>Validación de Productos: </a:t>
            </a:r>
            <a:r>
              <a:rPr lang="es-ES" sz="2400" dirty="0">
                <a:solidFill>
                  <a:srgbClr val="131D3F"/>
                </a:solidFill>
                <a:latin typeface="Montserrat" panose="00000500000000000000" pitchFamily="2" charset="0"/>
              </a:rPr>
              <a:t>Probar conceptos de productos o servicios antes de lanzarlos al mercado.</a:t>
            </a:r>
          </a:p>
        </p:txBody>
      </p:sp>
    </p:spTree>
    <p:extLst>
      <p:ext uri="{BB962C8B-B14F-4D97-AF65-F5344CB8AC3E}">
        <p14:creationId xmlns:p14="http://schemas.microsoft.com/office/powerpoint/2010/main" val="38922966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103</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3.1.1 Concepto de mercado</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09047" y="1510299"/>
            <a:ext cx="10927917" cy="4585871"/>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Métodos de Estudio de Mercado</a:t>
            </a:r>
          </a:p>
          <a:p>
            <a:pPr algn="just"/>
            <a:r>
              <a:rPr lang="es-ES" sz="2000" b="1" dirty="0">
                <a:solidFill>
                  <a:srgbClr val="131D3F"/>
                </a:solidFill>
                <a:latin typeface="Montserrat" panose="00000500000000000000" pitchFamily="2" charset="0"/>
              </a:rPr>
              <a:t>Investigación Cuantitativa: </a:t>
            </a:r>
            <a:r>
              <a:rPr lang="es-ES" sz="2000" dirty="0">
                <a:solidFill>
                  <a:srgbClr val="131D3F"/>
                </a:solidFill>
                <a:latin typeface="Montserrat" panose="00000500000000000000" pitchFamily="2" charset="0"/>
              </a:rPr>
              <a:t>Utiliza encuestas y datos estadísticos para obtener resultados numéricos. </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Encuestas en línea.</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Cuestionarios telefónicos.</a:t>
            </a:r>
          </a:p>
          <a:p>
            <a:pPr marL="342900"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Análisis de datos de ventas.</a:t>
            </a:r>
          </a:p>
          <a:p>
            <a:pPr algn="just"/>
            <a:r>
              <a:rPr lang="es-ES" sz="2000" b="1" dirty="0">
                <a:solidFill>
                  <a:srgbClr val="131D3F"/>
                </a:solidFill>
                <a:latin typeface="Montserrat" panose="00000500000000000000" pitchFamily="2" charset="0"/>
              </a:rPr>
              <a:t>Investigación Cualitativa: </a:t>
            </a:r>
            <a:r>
              <a:rPr lang="es-ES" sz="2000" dirty="0">
                <a:solidFill>
                  <a:srgbClr val="131D3F"/>
                </a:solidFill>
                <a:latin typeface="Montserrat" panose="00000500000000000000" pitchFamily="2" charset="0"/>
              </a:rPr>
              <a:t>Se centra en obtener información más profunda sobre actitudes y comportamientos a través de métodos como:</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Entrevistas en profundidad.</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Grupos focales.</a:t>
            </a:r>
          </a:p>
          <a:p>
            <a:pPr marL="342900"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Observación.</a:t>
            </a:r>
          </a:p>
          <a:p>
            <a:pPr algn="just"/>
            <a:r>
              <a:rPr lang="es-ES" sz="2000" b="1" dirty="0">
                <a:solidFill>
                  <a:srgbClr val="131D3F"/>
                </a:solidFill>
                <a:latin typeface="Montserrat" panose="00000500000000000000" pitchFamily="2" charset="0"/>
              </a:rPr>
              <a:t>Análisis de Datos Secundarios: </a:t>
            </a:r>
            <a:r>
              <a:rPr lang="es-ES" sz="2000" dirty="0">
                <a:solidFill>
                  <a:srgbClr val="131D3F"/>
                </a:solidFill>
                <a:latin typeface="Montserrat" panose="00000500000000000000" pitchFamily="2" charset="0"/>
              </a:rPr>
              <a:t>Utiliza información ya existente, como informes de la industria, estudios de mercado previos y estadísticas gubernamentales.</a:t>
            </a:r>
          </a:p>
        </p:txBody>
      </p:sp>
    </p:spTree>
    <p:extLst>
      <p:ext uri="{BB962C8B-B14F-4D97-AF65-F5344CB8AC3E}">
        <p14:creationId xmlns:p14="http://schemas.microsoft.com/office/powerpoint/2010/main" val="42684063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104</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3.1.2 Estudio de la oferta y la demanda</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09047" y="1510299"/>
            <a:ext cx="10927917" cy="1354217"/>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Estudio de oferta y demanda</a:t>
            </a:r>
          </a:p>
          <a:p>
            <a:pPr algn="just">
              <a:spcAft>
                <a:spcPts val="1200"/>
              </a:spcAft>
            </a:pPr>
            <a:r>
              <a:rPr lang="es-ES" sz="2000" dirty="0">
                <a:solidFill>
                  <a:srgbClr val="131D3F"/>
                </a:solidFill>
                <a:latin typeface="Montserrat" panose="00000500000000000000" pitchFamily="2" charset="0"/>
              </a:rPr>
              <a:t>Analiza cómo interactúan los compradores y vendedores en un mercado para determinar el precio y la cantidad de bienes y servicios.</a:t>
            </a:r>
          </a:p>
        </p:txBody>
      </p:sp>
      <p:sp>
        <p:nvSpPr>
          <p:cNvPr id="10" name="CuadroTexto 9">
            <a:extLst>
              <a:ext uri="{FF2B5EF4-FFF2-40B4-BE49-F238E27FC236}">
                <a16:creationId xmlns:a16="http://schemas.microsoft.com/office/drawing/2014/main" id="{2E12EEF7-0889-4EC4-BA0C-09F424FB59D8}"/>
              </a:ext>
            </a:extLst>
          </p:cNvPr>
          <p:cNvSpPr txBox="1"/>
          <p:nvPr/>
        </p:nvSpPr>
        <p:spPr>
          <a:xfrm>
            <a:off x="1216950" y="3257120"/>
            <a:ext cx="3977668" cy="2893100"/>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Oferta</a:t>
            </a:r>
          </a:p>
          <a:p>
            <a:pPr algn="just">
              <a:spcAft>
                <a:spcPts val="1200"/>
              </a:spcAft>
            </a:pPr>
            <a:r>
              <a:rPr lang="es-ES" sz="2000" dirty="0">
                <a:solidFill>
                  <a:srgbClr val="131D3F"/>
                </a:solidFill>
                <a:latin typeface="Montserrat" panose="00000500000000000000" pitchFamily="2" charset="0"/>
              </a:rPr>
              <a:t>Se refiere a la cantidad de un bien o servicio que los productores están </a:t>
            </a:r>
            <a:r>
              <a:rPr lang="es-ES" sz="2000" b="1" dirty="0">
                <a:solidFill>
                  <a:srgbClr val="131D3F"/>
                </a:solidFill>
                <a:latin typeface="Montserrat" panose="00000500000000000000" pitchFamily="2" charset="0"/>
              </a:rPr>
              <a:t>dispuestos y son capaces de vender</a:t>
            </a:r>
            <a:r>
              <a:rPr lang="es-ES" sz="2000" dirty="0">
                <a:solidFill>
                  <a:srgbClr val="131D3F"/>
                </a:solidFill>
                <a:latin typeface="Montserrat" panose="00000500000000000000" pitchFamily="2" charset="0"/>
              </a:rPr>
              <a:t> a diferentes precios durante un período específico.</a:t>
            </a:r>
          </a:p>
        </p:txBody>
      </p:sp>
      <p:sp>
        <p:nvSpPr>
          <p:cNvPr id="12" name="CuadroTexto 11">
            <a:extLst>
              <a:ext uri="{FF2B5EF4-FFF2-40B4-BE49-F238E27FC236}">
                <a16:creationId xmlns:a16="http://schemas.microsoft.com/office/drawing/2014/main" id="{7A24567A-4413-4222-BEB3-600905ECBD5B}"/>
              </a:ext>
            </a:extLst>
          </p:cNvPr>
          <p:cNvSpPr txBox="1"/>
          <p:nvPr/>
        </p:nvSpPr>
        <p:spPr>
          <a:xfrm>
            <a:off x="6997382" y="3257121"/>
            <a:ext cx="3977668" cy="2585323"/>
          </a:xfrm>
          <a:prstGeom prst="rect">
            <a:avLst/>
          </a:prstGeom>
          <a:noFill/>
        </p:spPr>
        <p:txBody>
          <a:bodyPr wrap="square">
            <a:spAutoFit/>
          </a:bodyPr>
          <a:lstStyle/>
          <a:p>
            <a:pPr algn="just">
              <a:spcAft>
                <a:spcPts val="1200"/>
              </a:spcAft>
            </a:pPr>
            <a:r>
              <a:rPr lang="es-ES" sz="3200" b="1" dirty="0">
                <a:solidFill>
                  <a:srgbClr val="131D3F"/>
                </a:solidFill>
                <a:latin typeface="Montserrat" panose="00000500000000000000" pitchFamily="2" charset="0"/>
              </a:rPr>
              <a:t>Demanda</a:t>
            </a:r>
          </a:p>
          <a:p>
            <a:pPr algn="just">
              <a:spcAft>
                <a:spcPts val="1200"/>
              </a:spcAft>
            </a:pPr>
            <a:r>
              <a:rPr lang="es-ES" sz="2000" dirty="0">
                <a:solidFill>
                  <a:srgbClr val="131D3F"/>
                </a:solidFill>
                <a:latin typeface="Montserrat" panose="00000500000000000000" pitchFamily="2" charset="0"/>
              </a:rPr>
              <a:t>Se refiere a la cantidad de un bien o servicio que los consumidores están </a:t>
            </a:r>
            <a:r>
              <a:rPr lang="es-ES" sz="2000" b="1" dirty="0">
                <a:solidFill>
                  <a:srgbClr val="131D3F"/>
                </a:solidFill>
                <a:latin typeface="Montserrat" panose="00000500000000000000" pitchFamily="2" charset="0"/>
              </a:rPr>
              <a:t>dispuestos y son capaces de comprar</a:t>
            </a:r>
            <a:r>
              <a:rPr lang="es-ES" sz="2000" dirty="0">
                <a:solidFill>
                  <a:srgbClr val="131D3F"/>
                </a:solidFill>
                <a:latin typeface="Montserrat" panose="00000500000000000000" pitchFamily="2" charset="0"/>
              </a:rPr>
              <a:t> a diferentes precios en un período determinado.</a:t>
            </a:r>
          </a:p>
        </p:txBody>
      </p:sp>
    </p:spTree>
    <p:extLst>
      <p:ext uri="{BB962C8B-B14F-4D97-AF65-F5344CB8AC3E}">
        <p14:creationId xmlns:p14="http://schemas.microsoft.com/office/powerpoint/2010/main" val="12517147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105</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3.1.2 Estudio de la oferta y la demanda</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214518" y="1638763"/>
            <a:ext cx="6591635" cy="4370427"/>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Factores que Afectan la Oferta:</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Precio del Bien:</a:t>
            </a:r>
            <a:r>
              <a:rPr lang="es-ES" sz="2000" dirty="0">
                <a:solidFill>
                  <a:srgbClr val="131D3F"/>
                </a:solidFill>
                <a:latin typeface="Montserrat" panose="00000500000000000000" pitchFamily="2" charset="0"/>
              </a:rPr>
              <a:t> A medida que el precio aumenta, la oferta tiende a aumentar (ley de la oferta).</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Costos de Producción: </a:t>
            </a:r>
            <a:r>
              <a:rPr lang="es-ES" sz="2000" dirty="0">
                <a:solidFill>
                  <a:srgbClr val="131D3F"/>
                </a:solidFill>
                <a:latin typeface="Montserrat" panose="00000500000000000000" pitchFamily="2" charset="0"/>
              </a:rPr>
              <a:t>Si los costos disminuyen, la oferta puede aumentar.</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Tecnología: </a:t>
            </a:r>
            <a:r>
              <a:rPr lang="es-ES" sz="2000" dirty="0">
                <a:solidFill>
                  <a:srgbClr val="131D3F"/>
                </a:solidFill>
                <a:latin typeface="Montserrat" panose="00000500000000000000" pitchFamily="2" charset="0"/>
              </a:rPr>
              <a:t>Mejoras tecnológicas pueden incrementar la eficiencia y, por ende, la oferta.</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Número de Productores: </a:t>
            </a:r>
            <a:r>
              <a:rPr lang="es-ES" sz="2000" dirty="0">
                <a:solidFill>
                  <a:srgbClr val="131D3F"/>
                </a:solidFill>
                <a:latin typeface="Montserrat" panose="00000500000000000000" pitchFamily="2" charset="0"/>
              </a:rPr>
              <a:t>Más competidores en el mercado pueden aumentar la oferta total.</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Expectativas: </a:t>
            </a:r>
            <a:r>
              <a:rPr lang="es-ES" sz="2000" dirty="0">
                <a:solidFill>
                  <a:srgbClr val="131D3F"/>
                </a:solidFill>
                <a:latin typeface="Montserrat" panose="00000500000000000000" pitchFamily="2" charset="0"/>
              </a:rPr>
              <a:t>Si los productores esperan que los precios suban en el futuro, pueden retener parte de su oferta actual.</a:t>
            </a:r>
          </a:p>
        </p:txBody>
      </p:sp>
      <p:pic>
        <p:nvPicPr>
          <p:cNvPr id="4098" name="Picture 2" descr="Mercado, demanda y oferta | Principios e Instrumentos">
            <a:extLst>
              <a:ext uri="{FF2B5EF4-FFF2-40B4-BE49-F238E27FC236}">
                <a16:creationId xmlns:a16="http://schemas.microsoft.com/office/drawing/2014/main" id="{86D87E01-DBCB-49AE-9906-23989C23C8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5919" y="2300238"/>
            <a:ext cx="4862370" cy="3355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9946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106</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3.1.2 Estudio de la oferta y la demanda</a:t>
            </a:r>
          </a:p>
        </p:txBody>
      </p:sp>
      <p:pic>
        <p:nvPicPr>
          <p:cNvPr id="5122" name="Picture 2" descr="Reventa de Rosca de Reyes de Costco llega hasta los 700 pesos| Telediario  México">
            <a:extLst>
              <a:ext uri="{FF2B5EF4-FFF2-40B4-BE49-F238E27FC236}">
                <a16:creationId xmlns:a16="http://schemas.microsoft.com/office/drawing/2014/main" id="{2888F121-525A-4989-B962-D11AFABC36B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814"/>
          <a:stretch/>
        </p:blipFill>
        <p:spPr bwMode="auto">
          <a:xfrm>
            <a:off x="2196445" y="1376316"/>
            <a:ext cx="7183453" cy="4958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4732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107</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3.1.2 Estudio de la oferta y la demanda</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1588838" y="1610483"/>
            <a:ext cx="9014323" cy="4678204"/>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Factores que Afectan la Demanda:</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Precio del Bien: </a:t>
            </a:r>
            <a:r>
              <a:rPr lang="es-ES" sz="2000" dirty="0">
                <a:solidFill>
                  <a:srgbClr val="131D3F"/>
                </a:solidFill>
                <a:latin typeface="Montserrat" panose="00000500000000000000" pitchFamily="2" charset="0"/>
              </a:rPr>
              <a:t>A medida que el precio disminuye, la demanda tiende a aumentar (ley de la demanda).</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Ingreso de los Consumidores: </a:t>
            </a:r>
            <a:r>
              <a:rPr lang="es-ES" sz="2000" dirty="0">
                <a:solidFill>
                  <a:srgbClr val="131D3F"/>
                </a:solidFill>
                <a:latin typeface="Montserrat" panose="00000500000000000000" pitchFamily="2" charset="0"/>
              </a:rPr>
              <a:t>Un aumento en el ingreso puede aumentar la demanda, especialmente para bienes normales.</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Preferencias y Gustos: </a:t>
            </a:r>
            <a:r>
              <a:rPr lang="es-ES" sz="2000" dirty="0">
                <a:solidFill>
                  <a:srgbClr val="131D3F"/>
                </a:solidFill>
                <a:latin typeface="Montserrat" panose="00000500000000000000" pitchFamily="2" charset="0"/>
              </a:rPr>
              <a:t>Cambios en las tendencias o preferencias pueden afectar la demanda de ciertos productos.</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Precios de Bienes Sustitutos y Complementarios:</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Sustitutos: </a:t>
            </a:r>
            <a:r>
              <a:rPr lang="es-ES" sz="2000" dirty="0">
                <a:solidFill>
                  <a:srgbClr val="131D3F"/>
                </a:solidFill>
                <a:latin typeface="Montserrat" panose="00000500000000000000" pitchFamily="2" charset="0"/>
              </a:rPr>
              <a:t>Si el precio de un sustituto baja, la demanda del bien original puede disminuir.</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Complementarios: </a:t>
            </a:r>
            <a:r>
              <a:rPr lang="es-ES" sz="2000" dirty="0">
                <a:solidFill>
                  <a:srgbClr val="131D3F"/>
                </a:solidFill>
                <a:latin typeface="Montserrat" panose="00000500000000000000" pitchFamily="2" charset="0"/>
              </a:rPr>
              <a:t>Si el precio de un complemento baja, la demanda del bien original puede aumentar.</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Expectativas: </a:t>
            </a:r>
            <a:r>
              <a:rPr lang="es-ES" sz="2000" dirty="0">
                <a:solidFill>
                  <a:srgbClr val="131D3F"/>
                </a:solidFill>
                <a:latin typeface="Montserrat" panose="00000500000000000000" pitchFamily="2" charset="0"/>
              </a:rPr>
              <a:t>Si los consumidores esperan que los precios suban, pueden aumentar la demanda actual.</a:t>
            </a:r>
            <a:endParaRPr lang="es-ES" sz="16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5996049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8200" y="883713"/>
            <a:ext cx="10515600" cy="840219"/>
          </a:xfrm>
        </p:spPr>
        <p:txBody>
          <a:bodyPr>
            <a:normAutofit/>
          </a:bodyPr>
          <a:lstStyle/>
          <a:p>
            <a:pPr algn="ctr"/>
            <a:r>
              <a:rPr lang="es-ES" sz="4800" b="1" dirty="0">
                <a:latin typeface="Montserrat" panose="00000500000000000000" pitchFamily="2" charset="0"/>
              </a:rPr>
              <a:t>Clase 8°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1136072" y="1734324"/>
            <a:ext cx="10515600" cy="9711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3</a:t>
            </a:r>
            <a:r>
              <a:rPr lang="es-ES" sz="4800" dirty="0">
                <a:latin typeface="Montserrat" panose="00000500000000000000" pitchFamily="2" charset="0"/>
              </a:rPr>
              <a:t> Riesgo e Incertidumbre</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6000" y="5710335"/>
            <a:ext cx="4423063" cy="46340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27 de septiembre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838200" y="2649423"/>
            <a:ext cx="10515600" cy="3006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0000">
              <a:spcAft>
                <a:spcPts val="1200"/>
              </a:spcAft>
            </a:pPr>
            <a:r>
              <a:rPr lang="es-ES" sz="3600" b="1" dirty="0">
                <a:latin typeface="Montserrat" panose="00000500000000000000" pitchFamily="2" charset="0"/>
              </a:rPr>
              <a:t>3.2 Técnicas de Estimación.</a:t>
            </a:r>
          </a:p>
          <a:p>
            <a:pPr marL="900000"/>
            <a:r>
              <a:rPr lang="es-ES" sz="3200" dirty="0">
                <a:latin typeface="Montserrat" panose="00000500000000000000" pitchFamily="2" charset="0"/>
              </a:rPr>
              <a:t>3.2.1 Opinión de Expertos.</a:t>
            </a:r>
          </a:p>
          <a:p>
            <a:pPr marL="900000"/>
            <a:r>
              <a:rPr lang="es-ES" sz="3200" dirty="0">
                <a:latin typeface="Montserrat" panose="00000500000000000000" pitchFamily="2" charset="0"/>
              </a:rPr>
              <a:t>3.2.2 Analogía.</a:t>
            </a:r>
          </a:p>
          <a:p>
            <a:pPr marL="900000"/>
            <a:r>
              <a:rPr lang="es-ES" sz="3200" dirty="0">
                <a:latin typeface="Montserrat" panose="00000500000000000000" pitchFamily="2" charset="0"/>
              </a:rPr>
              <a:t>3.2.3 Descomposición.</a:t>
            </a:r>
          </a:p>
          <a:p>
            <a:pPr marL="900000"/>
            <a:r>
              <a:rPr lang="es-ES" sz="3200" dirty="0">
                <a:latin typeface="Montserrat" panose="00000500000000000000" pitchFamily="2" charset="0"/>
              </a:rPr>
              <a:t>3.2.4 Métodos estadísticos (o paramétrica).</a:t>
            </a:r>
          </a:p>
        </p:txBody>
      </p:sp>
    </p:spTree>
    <p:extLst>
      <p:ext uri="{BB962C8B-B14F-4D97-AF65-F5344CB8AC3E}">
        <p14:creationId xmlns:p14="http://schemas.microsoft.com/office/powerpoint/2010/main" val="26489881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109</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43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1124131" y="2013228"/>
            <a:ext cx="9943738" cy="2831544"/>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Herramientas utilizadas para estimar con precisión el </a:t>
            </a:r>
            <a:r>
              <a:rPr lang="es-ES" sz="2800" b="1" dirty="0">
                <a:solidFill>
                  <a:srgbClr val="131D3F"/>
                </a:solidFill>
                <a:latin typeface="Montserrat" panose="00000500000000000000" pitchFamily="2" charset="0"/>
              </a:rPr>
              <a:t>tiempo</a:t>
            </a:r>
            <a:r>
              <a:rPr lang="es-ES" sz="2800" dirty="0">
                <a:solidFill>
                  <a:srgbClr val="131D3F"/>
                </a:solidFill>
                <a:latin typeface="Montserrat" panose="00000500000000000000" pitchFamily="2" charset="0"/>
              </a:rPr>
              <a:t>, </a:t>
            </a:r>
            <a:r>
              <a:rPr lang="es-ES" sz="2800" b="1" dirty="0">
                <a:solidFill>
                  <a:srgbClr val="131D3F"/>
                </a:solidFill>
                <a:latin typeface="Montserrat" panose="00000500000000000000" pitchFamily="2" charset="0"/>
              </a:rPr>
              <a:t>presupuesto</a:t>
            </a:r>
            <a:r>
              <a:rPr lang="es-ES" sz="2800" dirty="0">
                <a:solidFill>
                  <a:srgbClr val="131D3F"/>
                </a:solidFill>
                <a:latin typeface="Montserrat" panose="00000500000000000000" pitchFamily="2" charset="0"/>
              </a:rPr>
              <a:t> (costo) y </a:t>
            </a:r>
            <a:r>
              <a:rPr lang="es-ES" sz="2800" b="1" dirty="0">
                <a:solidFill>
                  <a:srgbClr val="131D3F"/>
                </a:solidFill>
                <a:latin typeface="Montserrat" panose="00000500000000000000" pitchFamily="2" charset="0"/>
              </a:rPr>
              <a:t>recursos</a:t>
            </a:r>
            <a:r>
              <a:rPr lang="es-ES" sz="2800" dirty="0">
                <a:solidFill>
                  <a:srgbClr val="131D3F"/>
                </a:solidFill>
                <a:latin typeface="Montserrat" panose="00000500000000000000" pitchFamily="2" charset="0"/>
              </a:rPr>
              <a:t> necesarios para completar un proyecto con éxito. </a:t>
            </a:r>
          </a:p>
          <a:p>
            <a:pPr algn="just">
              <a:spcAft>
                <a:spcPts val="1200"/>
              </a:spcAft>
            </a:pPr>
            <a:r>
              <a:rPr lang="es-ES" sz="2800" dirty="0">
                <a:solidFill>
                  <a:srgbClr val="131D3F"/>
                </a:solidFill>
                <a:latin typeface="Montserrat" panose="00000500000000000000" pitchFamily="2" charset="0"/>
              </a:rPr>
              <a:t>Son fundamentales en la planificación y gestión de proyectos, ya que </a:t>
            </a:r>
            <a:r>
              <a:rPr lang="es-ES" sz="2800" b="1" dirty="0">
                <a:solidFill>
                  <a:srgbClr val="131D3F"/>
                </a:solidFill>
                <a:latin typeface="Montserrat" panose="00000500000000000000" pitchFamily="2" charset="0"/>
              </a:rPr>
              <a:t>permiten</a:t>
            </a:r>
            <a:r>
              <a:rPr lang="es-ES" sz="2800" dirty="0">
                <a:solidFill>
                  <a:srgbClr val="131D3F"/>
                </a:solidFill>
                <a:latin typeface="Montserrat" panose="00000500000000000000" pitchFamily="2" charset="0"/>
              </a:rPr>
              <a:t> </a:t>
            </a:r>
            <a:r>
              <a:rPr lang="es-ES" sz="2800" b="1" dirty="0">
                <a:solidFill>
                  <a:srgbClr val="131D3F"/>
                </a:solidFill>
                <a:latin typeface="Montserrat" panose="00000500000000000000" pitchFamily="2" charset="0"/>
              </a:rPr>
              <a:t>anticipar necesidades y tomar decisiones informadas</a:t>
            </a:r>
            <a:r>
              <a:rPr lang="es-ES" sz="2800" dirty="0">
                <a:solidFill>
                  <a:srgbClr val="131D3F"/>
                </a:solidFill>
                <a:latin typeface="Montserrat" panose="00000500000000000000" pitchFamily="2" charset="0"/>
              </a:rPr>
              <a:t>.</a:t>
            </a:r>
            <a:endParaRPr lang="es-ES" sz="16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16708613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110</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3.2.1 Opinión de Expertos</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1124131" y="2013228"/>
            <a:ext cx="9943738" cy="2831544"/>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También conocida como "estimación basada en expertos" o "estimación por juicio de expertos", es un método utilizado en proyectos donde la información disponible es limitada o incierta. </a:t>
            </a:r>
          </a:p>
          <a:p>
            <a:pPr algn="just">
              <a:spcAft>
                <a:spcPts val="1200"/>
              </a:spcAft>
            </a:pPr>
            <a:r>
              <a:rPr lang="es-ES" sz="2800" dirty="0">
                <a:solidFill>
                  <a:srgbClr val="131D3F"/>
                </a:solidFill>
                <a:latin typeface="Montserrat" panose="00000500000000000000" pitchFamily="2" charset="0"/>
              </a:rPr>
              <a:t>Esta técnica </a:t>
            </a:r>
            <a:r>
              <a:rPr lang="es-ES" sz="2800" b="1" dirty="0">
                <a:solidFill>
                  <a:srgbClr val="131D3F"/>
                </a:solidFill>
                <a:latin typeface="Montserrat" panose="00000500000000000000" pitchFamily="2" charset="0"/>
              </a:rPr>
              <a:t>se basa en el conocimiento y la experiencia</a:t>
            </a:r>
            <a:r>
              <a:rPr lang="es-ES" sz="2800" dirty="0">
                <a:solidFill>
                  <a:srgbClr val="131D3F"/>
                </a:solidFill>
                <a:latin typeface="Montserrat" panose="00000500000000000000" pitchFamily="2" charset="0"/>
              </a:rPr>
              <a:t> en el área de interés.</a:t>
            </a:r>
            <a:endParaRPr lang="es-ES" sz="16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4022781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111</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3.2.1 Opinión de Expertos</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33059" y="1828562"/>
            <a:ext cx="11125881" cy="3200876"/>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Características Clave</a:t>
            </a:r>
          </a:p>
          <a:p>
            <a:pPr algn="just">
              <a:spcAft>
                <a:spcPts val="1200"/>
              </a:spcAft>
            </a:pPr>
            <a:r>
              <a:rPr lang="es-ES" sz="2400" b="1" dirty="0">
                <a:solidFill>
                  <a:srgbClr val="131D3F"/>
                </a:solidFill>
                <a:latin typeface="Montserrat" panose="00000500000000000000" pitchFamily="2" charset="0"/>
              </a:rPr>
              <a:t>Fuentes de Información:</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Expertos:</a:t>
            </a:r>
            <a:r>
              <a:rPr lang="es-ES" sz="2400" dirty="0">
                <a:solidFill>
                  <a:srgbClr val="131D3F"/>
                </a:solidFill>
                <a:latin typeface="Montserrat" panose="00000500000000000000" pitchFamily="2" charset="0"/>
              </a:rPr>
              <a:t> Pueden ser individuos con amplia experiencia en el sector, académicos, o profesionales que han trabajado en proyectos similares.</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Grupos de Expertos: </a:t>
            </a:r>
            <a:r>
              <a:rPr lang="es-ES" sz="2400" dirty="0">
                <a:solidFill>
                  <a:srgbClr val="131D3F"/>
                </a:solidFill>
                <a:latin typeface="Montserrat" panose="00000500000000000000" pitchFamily="2" charset="0"/>
              </a:rPr>
              <a:t>En algunos casos, se forman paneles o grupos de discusión para reunir múltiples perspectivas.</a:t>
            </a:r>
          </a:p>
        </p:txBody>
      </p:sp>
    </p:spTree>
    <p:extLst>
      <p:ext uri="{BB962C8B-B14F-4D97-AF65-F5344CB8AC3E}">
        <p14:creationId xmlns:p14="http://schemas.microsoft.com/office/powerpoint/2010/main" val="973438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112</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3.2.1 Opinión de Expertos</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594332" y="1824692"/>
            <a:ext cx="11125881" cy="4093428"/>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Características Clave</a:t>
            </a:r>
          </a:p>
          <a:p>
            <a:pPr algn="just">
              <a:spcAft>
                <a:spcPts val="1200"/>
              </a:spcAft>
            </a:pPr>
            <a:r>
              <a:rPr lang="es-ES" sz="2400" b="1" dirty="0">
                <a:solidFill>
                  <a:srgbClr val="131D3F"/>
                </a:solidFill>
                <a:latin typeface="Montserrat" panose="00000500000000000000" pitchFamily="2" charset="0"/>
              </a:rPr>
              <a:t>Métodos de Recopilación:</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Entrevistas: </a:t>
            </a:r>
            <a:r>
              <a:rPr lang="es-ES" sz="2400" dirty="0">
                <a:solidFill>
                  <a:srgbClr val="131D3F"/>
                </a:solidFill>
                <a:latin typeface="Montserrat" panose="00000500000000000000" pitchFamily="2" charset="0"/>
              </a:rPr>
              <a:t>Conversaciones individuales o en grupo donde se plantean preguntas específicas para obtener estimaciones.</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Técnicas Delphi: </a:t>
            </a:r>
            <a:r>
              <a:rPr lang="es-ES" sz="2400" dirty="0">
                <a:solidFill>
                  <a:srgbClr val="131D3F"/>
                </a:solidFill>
                <a:latin typeface="Montserrat" panose="00000500000000000000" pitchFamily="2" charset="0"/>
              </a:rPr>
              <a:t>Un proceso donde los expertos responden encuestas de forma anónima y las respuestas se revisan y discuten en rondas sucesivas para llegar a un consenso.</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Lluvia de ideas: </a:t>
            </a:r>
            <a:r>
              <a:rPr lang="es-ES" sz="2400" dirty="0">
                <a:solidFill>
                  <a:srgbClr val="131D3F"/>
                </a:solidFill>
                <a:latin typeface="Montserrat" panose="00000500000000000000" pitchFamily="2" charset="0"/>
              </a:rPr>
              <a:t>Reuniones informales donde los expertos comparten ideas y estimaciones de manera libre.</a:t>
            </a:r>
            <a:endParaRPr lang="es-ES" sz="14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53204754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113</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3.2.1 Opinión de Expertos</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678167" y="1554603"/>
            <a:ext cx="10835666" cy="4462760"/>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algn="just">
              <a:spcAft>
                <a:spcPts val="1200"/>
              </a:spcAft>
            </a:pPr>
            <a:r>
              <a:rPr lang="es-ES" sz="2000" b="1" dirty="0">
                <a:solidFill>
                  <a:srgbClr val="131D3F"/>
                </a:solidFill>
                <a:latin typeface="Montserrat" panose="00000500000000000000" pitchFamily="2" charset="0"/>
              </a:rPr>
              <a:t>Aplicaciones:</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Planificación de proyectos, desarrollo de software, investigación de mercado, evaluación de riesgos, entre otros.</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Es particularmente útil en situaciones donde los datos históricos son escasos o no aplicables.</a:t>
            </a:r>
          </a:p>
          <a:p>
            <a:pPr algn="just">
              <a:spcBef>
                <a:spcPts val="1200"/>
              </a:spcBef>
              <a:spcAft>
                <a:spcPts val="1200"/>
              </a:spcAft>
            </a:pPr>
            <a:r>
              <a:rPr lang="es-ES" sz="2000" b="1" dirty="0">
                <a:solidFill>
                  <a:srgbClr val="131D3F"/>
                </a:solidFill>
                <a:latin typeface="Montserrat" panose="00000500000000000000" pitchFamily="2" charset="0"/>
              </a:rPr>
              <a:t>Ventajas:</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Flexibilidad:</a:t>
            </a:r>
            <a:r>
              <a:rPr lang="es-ES" sz="2000" dirty="0">
                <a:solidFill>
                  <a:srgbClr val="131D3F"/>
                </a:solidFill>
                <a:latin typeface="Montserrat" panose="00000500000000000000" pitchFamily="2" charset="0"/>
              </a:rPr>
              <a:t> Se puede aplicar en distintos contextos y diferentes tipos de proyectos.</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Perspectiva Cualitativa: </a:t>
            </a:r>
            <a:r>
              <a:rPr lang="es-ES" sz="2000" dirty="0">
                <a:solidFill>
                  <a:srgbClr val="131D3F"/>
                </a:solidFill>
                <a:latin typeface="Montserrat" panose="00000500000000000000" pitchFamily="2" charset="0"/>
              </a:rPr>
              <a:t>Complementa datos cuantitativos con juicios informados que pueden captar matices que los datos por sí solos no reflejan.</a:t>
            </a:r>
          </a:p>
          <a:p>
            <a:pPr marL="342900" indent="-342900" algn="just">
              <a:buFont typeface="Arial" panose="020B0604020202020204" pitchFamily="34" charset="0"/>
              <a:buChar char="•"/>
            </a:pPr>
            <a:r>
              <a:rPr lang="es-ES" sz="2000" b="1" dirty="0">
                <a:solidFill>
                  <a:srgbClr val="131D3F"/>
                </a:solidFill>
                <a:latin typeface="Montserrat" panose="00000500000000000000" pitchFamily="2" charset="0"/>
              </a:rPr>
              <a:t>Rapidez: </a:t>
            </a:r>
            <a:r>
              <a:rPr lang="es-ES" sz="2000" dirty="0">
                <a:solidFill>
                  <a:srgbClr val="131D3F"/>
                </a:solidFill>
                <a:latin typeface="Montserrat" panose="00000500000000000000" pitchFamily="2" charset="0"/>
              </a:rPr>
              <a:t>Puede ser más rápido que métodos más analíticos o basados en datos.</a:t>
            </a:r>
            <a:endParaRPr lang="es-ES" sz="1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42843084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114</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3.2.1 Opinión de Expertos</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774569" y="1843546"/>
            <a:ext cx="10642861" cy="3724096"/>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Características Clave</a:t>
            </a:r>
          </a:p>
          <a:p>
            <a:pPr algn="just">
              <a:spcAft>
                <a:spcPts val="1200"/>
              </a:spcAft>
            </a:pPr>
            <a:r>
              <a:rPr lang="es-ES" sz="2400" b="1" dirty="0">
                <a:solidFill>
                  <a:srgbClr val="131D3F"/>
                </a:solidFill>
                <a:latin typeface="Montserrat" panose="00000500000000000000" pitchFamily="2" charset="0"/>
              </a:rPr>
              <a:t>Desafíos:</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Subjetividad: </a:t>
            </a:r>
            <a:r>
              <a:rPr lang="es-ES" sz="2400" dirty="0">
                <a:solidFill>
                  <a:srgbClr val="131D3F"/>
                </a:solidFill>
                <a:latin typeface="Montserrat" panose="00000500000000000000" pitchFamily="2" charset="0"/>
              </a:rPr>
              <a:t>La estimación puede estar influenciada por sesgos personales, como optimismo o pesimismo.</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Dependencia de Expertos: </a:t>
            </a:r>
            <a:r>
              <a:rPr lang="es-ES" sz="2400" dirty="0">
                <a:solidFill>
                  <a:srgbClr val="131D3F"/>
                </a:solidFill>
                <a:latin typeface="Montserrat" panose="00000500000000000000" pitchFamily="2" charset="0"/>
              </a:rPr>
              <a:t>La calidad de la estimación depende de la experiencia y competencia de los expertos elegidos.</a:t>
            </a:r>
          </a:p>
          <a:p>
            <a:pPr marL="342900" indent="-342900" algn="just">
              <a:spcAft>
                <a:spcPts val="1200"/>
              </a:spcAft>
              <a:buFont typeface="Arial" panose="020B0604020202020204" pitchFamily="34" charset="0"/>
              <a:buChar char="•"/>
            </a:pPr>
            <a:r>
              <a:rPr lang="es-ES" sz="2400" b="1" dirty="0">
                <a:solidFill>
                  <a:srgbClr val="131D3F"/>
                </a:solidFill>
                <a:latin typeface="Montserrat" panose="00000500000000000000" pitchFamily="2" charset="0"/>
              </a:rPr>
              <a:t>Falta de Consenso: </a:t>
            </a:r>
            <a:r>
              <a:rPr lang="es-ES" sz="2400" dirty="0">
                <a:solidFill>
                  <a:srgbClr val="131D3F"/>
                </a:solidFill>
                <a:latin typeface="Montserrat" panose="00000500000000000000" pitchFamily="2" charset="0"/>
              </a:rPr>
              <a:t>Puede ser difícil llegar a un acuerdo entre varios expertos, especialmente si tienen opiniones divergentes</a:t>
            </a:r>
            <a:endParaRPr lang="es-ES" sz="14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5984210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115</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3.2.2 Analogía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02211" y="1644955"/>
            <a:ext cx="11296454" cy="4585871"/>
          </a:xfrm>
          <a:prstGeom prst="rect">
            <a:avLst/>
          </a:prstGeom>
          <a:noFill/>
        </p:spPr>
        <p:txBody>
          <a:bodyPr wrap="square">
            <a:spAutoFit/>
          </a:bodyPr>
          <a:lstStyle/>
          <a:p>
            <a:pPr algn="just"/>
            <a:r>
              <a:rPr lang="es-ES" sz="2200" dirty="0">
                <a:solidFill>
                  <a:srgbClr val="131D3F"/>
                </a:solidFill>
                <a:latin typeface="Montserrat" panose="00000500000000000000" pitchFamily="2" charset="0"/>
              </a:rPr>
              <a:t>La técnica de estimación por analogía se basa en datos de proyectos anteriores que son similares (</a:t>
            </a:r>
            <a:r>
              <a:rPr lang="es-ES" sz="2200" b="1" dirty="0">
                <a:solidFill>
                  <a:srgbClr val="131D3F"/>
                </a:solidFill>
                <a:latin typeface="Montserrat" panose="00000500000000000000" pitchFamily="2" charset="0"/>
              </a:rPr>
              <a:t>proyectos espejo</a:t>
            </a:r>
            <a:r>
              <a:rPr lang="es-ES" sz="2200" dirty="0">
                <a:solidFill>
                  <a:srgbClr val="131D3F"/>
                </a:solidFill>
                <a:latin typeface="Montserrat" panose="00000500000000000000" pitchFamily="2" charset="0"/>
              </a:rPr>
              <a:t>). Este enfoque se basa en la premisa de que las condiciones, características y resultados de proyectos pasados pueden proporcionar información valiosa para estimar nuevos proyectos.</a:t>
            </a:r>
          </a:p>
          <a:p>
            <a:pPr algn="just">
              <a:spcBef>
                <a:spcPts val="1200"/>
              </a:spcBef>
              <a:spcAft>
                <a:spcPts val="1200"/>
              </a:spcAft>
            </a:pPr>
            <a:r>
              <a:rPr lang="es-ES" sz="2200" b="1" dirty="0">
                <a:solidFill>
                  <a:srgbClr val="131D3F"/>
                </a:solidFill>
                <a:latin typeface="Montserrat" panose="00000500000000000000" pitchFamily="2" charset="0"/>
              </a:rPr>
              <a:t>Características Clave</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Basada en Experiencia: </a:t>
            </a:r>
            <a:r>
              <a:rPr lang="es-ES" sz="2200" dirty="0">
                <a:solidFill>
                  <a:srgbClr val="131D3F"/>
                </a:solidFill>
                <a:latin typeface="Montserrat" panose="00000500000000000000" pitchFamily="2" charset="0"/>
              </a:rPr>
              <a:t>Utiliza datos históricos de proyectos que son comparables en términos de alcance, tamaño, complejidad y contexto.</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Simplicidad: </a:t>
            </a:r>
            <a:r>
              <a:rPr lang="es-ES" sz="2200" dirty="0">
                <a:solidFill>
                  <a:srgbClr val="131D3F"/>
                </a:solidFill>
                <a:latin typeface="Montserrat" panose="00000500000000000000" pitchFamily="2" charset="0"/>
              </a:rPr>
              <a:t>Es un método que no requiere cálculos complejos ni análisis exhaustivos, lo que lo hace accesible para muchos equipos de trabajo. </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Adaptabilidad: </a:t>
            </a:r>
            <a:r>
              <a:rPr lang="es-ES" sz="2200" dirty="0">
                <a:solidFill>
                  <a:srgbClr val="131D3F"/>
                </a:solidFill>
                <a:latin typeface="Montserrat" panose="00000500000000000000" pitchFamily="2" charset="0"/>
              </a:rPr>
              <a:t>Se puede aplicar en diversas industrias y tipos de proyectos, desde la construcción hasta el desarrollo de software.</a:t>
            </a:r>
          </a:p>
        </p:txBody>
      </p:sp>
    </p:spTree>
    <p:extLst>
      <p:ext uri="{BB962C8B-B14F-4D97-AF65-F5344CB8AC3E}">
        <p14:creationId xmlns:p14="http://schemas.microsoft.com/office/powerpoint/2010/main" val="260594873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116</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3.2.2 Analogía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993747"/>
            <a:ext cx="11296454" cy="3447098"/>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algn="just">
              <a:spcAft>
                <a:spcPts val="1200"/>
              </a:spcAft>
            </a:pPr>
            <a:r>
              <a:rPr lang="es-ES" sz="2200" b="1" dirty="0">
                <a:solidFill>
                  <a:srgbClr val="131D3F"/>
                </a:solidFill>
                <a:latin typeface="Montserrat" panose="00000500000000000000" pitchFamily="2" charset="0"/>
              </a:rPr>
              <a:t>Ventajas</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Rapidez: </a:t>
            </a:r>
            <a:r>
              <a:rPr lang="es-ES" sz="2200" dirty="0">
                <a:solidFill>
                  <a:srgbClr val="131D3F"/>
                </a:solidFill>
                <a:latin typeface="Montserrat" panose="00000500000000000000" pitchFamily="2" charset="0"/>
              </a:rPr>
              <a:t>La estimación por analogía es más rápida que otros métodos que requieren análisis exhaustivos.</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Menor Requerimiento de Datos: </a:t>
            </a:r>
            <a:r>
              <a:rPr lang="es-ES" sz="2200" dirty="0">
                <a:solidFill>
                  <a:srgbClr val="131D3F"/>
                </a:solidFill>
                <a:latin typeface="Montserrat" panose="00000500000000000000" pitchFamily="2" charset="0"/>
              </a:rPr>
              <a:t>Requiere menos información detallada en comparación con enfoques más cuantitativos.</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Aprendizaje Continuo: </a:t>
            </a:r>
            <a:r>
              <a:rPr lang="es-ES" sz="2200" dirty="0">
                <a:solidFill>
                  <a:srgbClr val="131D3F"/>
                </a:solidFill>
                <a:latin typeface="Montserrat" panose="00000500000000000000" pitchFamily="2" charset="0"/>
              </a:rPr>
              <a:t>Fomenta el aprendizaje organizacional al permitir que las lecciones de proyectos anteriores se apliquen a nuevos esfuerzos.</a:t>
            </a:r>
          </a:p>
        </p:txBody>
      </p:sp>
    </p:spTree>
    <p:extLst>
      <p:ext uri="{BB962C8B-B14F-4D97-AF65-F5344CB8AC3E}">
        <p14:creationId xmlns:p14="http://schemas.microsoft.com/office/powerpoint/2010/main" val="15798322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117</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3.2.2 Analogía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550687"/>
            <a:ext cx="11296454" cy="4185761"/>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algn="just">
              <a:spcAft>
                <a:spcPts val="1200"/>
              </a:spcAft>
            </a:pPr>
            <a:r>
              <a:rPr lang="es-ES" sz="2200" b="1" dirty="0">
                <a:solidFill>
                  <a:srgbClr val="131D3F"/>
                </a:solidFill>
                <a:latin typeface="Montserrat" panose="00000500000000000000" pitchFamily="2" charset="0"/>
              </a:rPr>
              <a:t>Desafíos</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Subjetividad: </a:t>
            </a:r>
            <a:r>
              <a:rPr lang="es-ES" sz="2200" dirty="0">
                <a:solidFill>
                  <a:srgbClr val="131D3F"/>
                </a:solidFill>
                <a:latin typeface="Montserrat" panose="00000500000000000000" pitchFamily="2" charset="0"/>
              </a:rPr>
              <a:t>La elección de los proyectos análogos y la interpretación de los datos pueden ser subjetivas, lo que puede llevar a sesgos en las estimaciones.</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Limitaciones de la Comparabilidad: </a:t>
            </a:r>
            <a:r>
              <a:rPr lang="es-ES" sz="2200" dirty="0">
                <a:solidFill>
                  <a:srgbClr val="131D3F"/>
                </a:solidFill>
                <a:latin typeface="Montserrat" panose="00000500000000000000" pitchFamily="2" charset="0"/>
              </a:rPr>
              <a:t>Si los proyectos análogos no son verdaderamente comparables, las estimaciones pueden ser inexactas.</a:t>
            </a:r>
          </a:p>
          <a:p>
            <a:pPr marL="342900" indent="-342900" algn="just">
              <a:spcAft>
                <a:spcPts val="1200"/>
              </a:spcAft>
              <a:buFont typeface="Arial" panose="020B0604020202020204" pitchFamily="34" charset="0"/>
              <a:buChar char="•"/>
            </a:pPr>
            <a:r>
              <a:rPr lang="es-ES" sz="2200" b="1" dirty="0">
                <a:solidFill>
                  <a:srgbClr val="131D3F"/>
                </a:solidFill>
                <a:latin typeface="Montserrat" panose="00000500000000000000" pitchFamily="2" charset="0"/>
              </a:rPr>
              <a:t>Cambio en Condiciones: </a:t>
            </a:r>
            <a:r>
              <a:rPr lang="es-ES" sz="2200" dirty="0">
                <a:solidFill>
                  <a:srgbClr val="131D3F"/>
                </a:solidFill>
                <a:latin typeface="Montserrat" panose="00000500000000000000" pitchFamily="2" charset="0"/>
              </a:rPr>
              <a:t>Factores como cambios tecnológicos, regulaciones o condiciones económicas pueden hacer que las estimaciones basadas en el pasado no sean relevantes para el futuro.</a:t>
            </a:r>
          </a:p>
        </p:txBody>
      </p:sp>
    </p:spTree>
    <p:extLst>
      <p:ext uri="{BB962C8B-B14F-4D97-AF65-F5344CB8AC3E}">
        <p14:creationId xmlns:p14="http://schemas.microsoft.com/office/powerpoint/2010/main" val="190895476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118</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3.2.3 Descomposición</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2145046"/>
            <a:ext cx="11296454" cy="3416320"/>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También conocida como "estimación de trabajo desglosado", es un método utilizado en la </a:t>
            </a:r>
            <a:r>
              <a:rPr lang="es-ES" sz="2400" b="1" dirty="0">
                <a:solidFill>
                  <a:srgbClr val="131D3F"/>
                </a:solidFill>
                <a:latin typeface="Montserrat" panose="00000500000000000000" pitchFamily="2" charset="0"/>
              </a:rPr>
              <a:t>gestión de proyectos en partes más pequeñas y manejables.</a:t>
            </a:r>
            <a:r>
              <a:rPr lang="es-ES" sz="2400" dirty="0">
                <a:solidFill>
                  <a:srgbClr val="131D3F"/>
                </a:solidFill>
                <a:latin typeface="Montserrat" panose="00000500000000000000" pitchFamily="2" charset="0"/>
              </a:rPr>
              <a:t> </a:t>
            </a:r>
          </a:p>
          <a:p>
            <a:pPr algn="just">
              <a:spcAft>
                <a:spcPts val="1200"/>
              </a:spcAft>
            </a:pPr>
            <a:r>
              <a:rPr lang="es-ES" sz="2400" dirty="0">
                <a:solidFill>
                  <a:srgbClr val="131D3F"/>
                </a:solidFill>
                <a:latin typeface="Montserrat" panose="00000500000000000000" pitchFamily="2" charset="0"/>
              </a:rPr>
              <a:t>Esta técnica se basa en el principio de que es más fácil estimar componentes individuales que abordar un proyecto completo de manera holística.</a:t>
            </a:r>
          </a:p>
          <a:p>
            <a:pPr algn="just">
              <a:spcAft>
                <a:spcPts val="1200"/>
              </a:spcAft>
            </a:pPr>
            <a:endParaRPr lang="es-ES" sz="2400" dirty="0">
              <a:solidFill>
                <a:srgbClr val="131D3F"/>
              </a:solidFill>
              <a:latin typeface="Montserrat" panose="00000500000000000000" pitchFamily="2" charset="0"/>
            </a:endParaRPr>
          </a:p>
          <a:p>
            <a:pPr algn="ctr">
              <a:spcAft>
                <a:spcPts val="1200"/>
              </a:spcAft>
            </a:pPr>
            <a:r>
              <a:rPr lang="es-ES" b="1" dirty="0">
                <a:solidFill>
                  <a:srgbClr val="131D3F"/>
                </a:solidFill>
                <a:latin typeface="Montserrat" panose="00000500000000000000" pitchFamily="2" charset="0"/>
              </a:rPr>
              <a:t>MVP: Producto Mínimo Viable.</a:t>
            </a:r>
          </a:p>
        </p:txBody>
      </p:sp>
    </p:spTree>
    <p:extLst>
      <p:ext uri="{BB962C8B-B14F-4D97-AF65-F5344CB8AC3E}">
        <p14:creationId xmlns:p14="http://schemas.microsoft.com/office/powerpoint/2010/main" val="8107475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119</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3.2.3 Descomposición</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73235"/>
            <a:ext cx="11296454" cy="4154984"/>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marL="457200" indent="-457200" algn="just">
              <a:spcAft>
                <a:spcPts val="1200"/>
              </a:spcAft>
              <a:buFont typeface="+mj-lt"/>
              <a:buAutoNum type="arabicPeriod"/>
            </a:pPr>
            <a:r>
              <a:rPr lang="es-ES" sz="2000" dirty="0">
                <a:solidFill>
                  <a:srgbClr val="131D3F"/>
                </a:solidFill>
                <a:latin typeface="Montserrat" panose="00000500000000000000" pitchFamily="2" charset="0"/>
              </a:rPr>
              <a:t>Estructura de Descomposición.</a:t>
            </a:r>
          </a:p>
          <a:p>
            <a:pPr lvl="1" algn="just">
              <a:spcAft>
                <a:spcPts val="1200"/>
              </a:spcAft>
            </a:pPr>
            <a:r>
              <a:rPr lang="es-ES" sz="2000" dirty="0">
                <a:solidFill>
                  <a:srgbClr val="131D3F"/>
                </a:solidFill>
                <a:latin typeface="Montserrat" panose="00000500000000000000" pitchFamily="2" charset="0"/>
              </a:rPr>
              <a:t>El proyecto se descompone en entregables y tareas más pequeñas, creando una jerarquía que facilita la comprensión y el análisis del trabajo necesario.</a:t>
            </a:r>
          </a:p>
          <a:p>
            <a:pPr marL="457200" indent="-457200" algn="just">
              <a:spcAft>
                <a:spcPts val="1200"/>
              </a:spcAft>
              <a:buFont typeface="+mj-lt"/>
              <a:buAutoNum type="arabicPeriod"/>
            </a:pPr>
            <a:r>
              <a:rPr lang="es-ES" sz="2000" dirty="0">
                <a:solidFill>
                  <a:srgbClr val="131D3F"/>
                </a:solidFill>
                <a:latin typeface="Montserrat" panose="00000500000000000000" pitchFamily="2" charset="0"/>
              </a:rPr>
              <a:t>Claridad y Detalle:</a:t>
            </a:r>
          </a:p>
          <a:p>
            <a:pPr lvl="1" algn="just">
              <a:spcAft>
                <a:spcPts val="1200"/>
              </a:spcAft>
            </a:pPr>
            <a:r>
              <a:rPr lang="es-ES" sz="2000" dirty="0">
                <a:solidFill>
                  <a:srgbClr val="131D3F"/>
                </a:solidFill>
                <a:latin typeface="Montserrat" panose="00000500000000000000" pitchFamily="2" charset="0"/>
              </a:rPr>
              <a:t>Al dividir el proyecto, se pueden identificar claramente las actividades requeridas, lo que permite una mejor planificación y asignación de recursos.</a:t>
            </a:r>
          </a:p>
          <a:p>
            <a:pPr marL="457200" indent="-457200" algn="just">
              <a:spcAft>
                <a:spcPts val="1200"/>
              </a:spcAft>
              <a:buFont typeface="+mj-lt"/>
              <a:buAutoNum type="arabicPeriod"/>
            </a:pPr>
            <a:r>
              <a:rPr lang="es-ES" sz="2000" dirty="0">
                <a:solidFill>
                  <a:srgbClr val="131D3F"/>
                </a:solidFill>
                <a:latin typeface="Montserrat" panose="00000500000000000000" pitchFamily="2" charset="0"/>
              </a:rPr>
              <a:t>Visibilidad de Riesgos:</a:t>
            </a:r>
          </a:p>
          <a:p>
            <a:pPr lvl="1" algn="just">
              <a:spcAft>
                <a:spcPts val="1200"/>
              </a:spcAft>
            </a:pPr>
            <a:r>
              <a:rPr lang="es-ES" sz="2000" dirty="0">
                <a:solidFill>
                  <a:srgbClr val="131D3F"/>
                </a:solidFill>
                <a:latin typeface="Montserrat" panose="00000500000000000000" pitchFamily="2" charset="0"/>
              </a:rPr>
              <a:t>La descomposición permite identificar y evaluar riesgos específicos en cada componente del proyecto, facilitando la gestión proactiva de los mismos.</a:t>
            </a:r>
          </a:p>
        </p:txBody>
      </p:sp>
    </p:spTree>
    <p:extLst>
      <p:ext uri="{BB962C8B-B14F-4D97-AF65-F5344CB8AC3E}">
        <p14:creationId xmlns:p14="http://schemas.microsoft.com/office/powerpoint/2010/main" val="19641577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120</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3.2.3 Descomposición</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07247"/>
            <a:ext cx="11296454" cy="4308872"/>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algn="just">
              <a:spcAft>
                <a:spcPts val="1200"/>
              </a:spcAft>
            </a:pPr>
            <a:r>
              <a:rPr lang="es-ES" sz="2000" b="1" dirty="0">
                <a:solidFill>
                  <a:srgbClr val="131D3F"/>
                </a:solidFill>
                <a:latin typeface="Montserrat" panose="00000500000000000000" pitchFamily="2" charset="0"/>
              </a:rPr>
              <a:t>Ventajas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Precisión Mejorada: </a:t>
            </a:r>
            <a:r>
              <a:rPr lang="es-ES" sz="2000" dirty="0">
                <a:solidFill>
                  <a:srgbClr val="131D3F"/>
                </a:solidFill>
                <a:latin typeface="Montserrat" panose="00000500000000000000" pitchFamily="2" charset="0"/>
              </a:rPr>
              <a:t>Al descomponer el proyecto en partes más pequeñas, es más fácil realizar estimaciones precisas y evitar sorpresas.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Facilita la Asignación de Recursos: </a:t>
            </a:r>
            <a:r>
              <a:rPr lang="es-ES" sz="2000" dirty="0">
                <a:solidFill>
                  <a:srgbClr val="131D3F"/>
                </a:solidFill>
                <a:latin typeface="Montserrat" panose="00000500000000000000" pitchFamily="2" charset="0"/>
              </a:rPr>
              <a:t>Permite identificar de manera más clara qué recursos se necesitan para cada tarea, facilitando la planificación.</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Mejor Gestión de Riesgos: </a:t>
            </a:r>
            <a:r>
              <a:rPr lang="es-ES" sz="2000" dirty="0">
                <a:solidFill>
                  <a:srgbClr val="131D3F"/>
                </a:solidFill>
                <a:latin typeface="Montserrat" panose="00000500000000000000" pitchFamily="2" charset="0"/>
              </a:rPr>
              <a:t>Al evaluar los componentes individualmente, se pueden identificar y gestionar riesgos de manera más efectiva.</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Claridad en la Comunicación: </a:t>
            </a:r>
            <a:r>
              <a:rPr lang="es-ES" sz="2000" dirty="0">
                <a:solidFill>
                  <a:srgbClr val="131D3F"/>
                </a:solidFill>
                <a:latin typeface="Montserrat" panose="00000500000000000000" pitchFamily="2" charset="0"/>
              </a:rPr>
              <a:t>La estructura jerárquica facilita la comunicación entre miembros del equipo y partes interesadas sobre el progreso y el estado del proyecto.</a:t>
            </a:r>
          </a:p>
        </p:txBody>
      </p:sp>
    </p:spTree>
    <p:extLst>
      <p:ext uri="{BB962C8B-B14F-4D97-AF65-F5344CB8AC3E}">
        <p14:creationId xmlns:p14="http://schemas.microsoft.com/office/powerpoint/2010/main" val="341918575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121</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3.2.3 Descomposición</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59285"/>
            <a:ext cx="11296454" cy="3539430"/>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algn="just">
              <a:spcAft>
                <a:spcPts val="1200"/>
              </a:spcAft>
            </a:pPr>
            <a:r>
              <a:rPr lang="es-ES" sz="2000" b="1" dirty="0">
                <a:solidFill>
                  <a:srgbClr val="131D3F"/>
                </a:solidFill>
                <a:latin typeface="Montserrat" panose="00000500000000000000" pitchFamily="2" charset="0"/>
              </a:rPr>
              <a:t>Desafíos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Tiempo y Esfuerzo: </a:t>
            </a:r>
            <a:r>
              <a:rPr lang="es-ES" sz="2000" dirty="0">
                <a:solidFill>
                  <a:srgbClr val="131D3F"/>
                </a:solidFill>
                <a:latin typeface="Montserrat" panose="00000500000000000000" pitchFamily="2" charset="0"/>
              </a:rPr>
              <a:t>La descomposición puede requerir tiempo y esfuerzo significativos, especialmente en proyectos grandes y complejos.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Dependencia de la Calidad de los Datos: </a:t>
            </a:r>
            <a:r>
              <a:rPr lang="es-ES" sz="2000" dirty="0">
                <a:solidFill>
                  <a:srgbClr val="131D3F"/>
                </a:solidFill>
                <a:latin typeface="Montserrat" panose="00000500000000000000" pitchFamily="2" charset="0"/>
              </a:rPr>
              <a:t>La precisión de las estimaciones depende de la calidad de la información disponible y de la experiencia del equipo en tareas similares.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Complejidad: </a:t>
            </a:r>
            <a:r>
              <a:rPr lang="es-ES" sz="2000" dirty="0">
                <a:solidFill>
                  <a:srgbClr val="131D3F"/>
                </a:solidFill>
                <a:latin typeface="Montserrat" panose="00000500000000000000" pitchFamily="2" charset="0"/>
              </a:rPr>
              <a:t>En algunos casos, la descomposición excesiva puede llevar a una complejidad innecesaria, dificultando la gestión y seguimiento del proyecto.</a:t>
            </a:r>
          </a:p>
        </p:txBody>
      </p:sp>
    </p:spTree>
    <p:extLst>
      <p:ext uri="{BB962C8B-B14F-4D97-AF65-F5344CB8AC3E}">
        <p14:creationId xmlns:p14="http://schemas.microsoft.com/office/powerpoint/2010/main" val="356889887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122</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2197893"/>
            <a:ext cx="11296454" cy="2462213"/>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La técnica de estimación por métodos estadísticos, también conocida como estimación paramétrica, basándose en análisis cuantitativos y modelos estadísticos. </a:t>
            </a:r>
          </a:p>
          <a:p>
            <a:pPr algn="just">
              <a:spcAft>
                <a:spcPts val="1200"/>
              </a:spcAft>
            </a:pPr>
            <a:r>
              <a:rPr lang="es-ES" sz="2400" dirty="0">
                <a:solidFill>
                  <a:srgbClr val="131D3F"/>
                </a:solidFill>
                <a:latin typeface="Montserrat" panose="00000500000000000000" pitchFamily="2" charset="0"/>
              </a:rPr>
              <a:t>Este método se apoya en datos históricos y variables clave que han demostrado correlación en proyectos anteriores, permitiendo así realizar proyecciones más precisas.</a:t>
            </a:r>
          </a:p>
        </p:txBody>
      </p:sp>
    </p:spTree>
    <p:extLst>
      <p:ext uri="{BB962C8B-B14F-4D97-AF65-F5344CB8AC3E}">
        <p14:creationId xmlns:p14="http://schemas.microsoft.com/office/powerpoint/2010/main" val="208501648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123</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59285"/>
            <a:ext cx="11296454" cy="3477875"/>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Análisis Estadístico:</a:t>
            </a:r>
          </a:p>
          <a:p>
            <a:pPr algn="just">
              <a:spcAft>
                <a:spcPts val="1200"/>
              </a:spcAft>
            </a:pPr>
            <a:r>
              <a:rPr lang="es-ES" sz="2000" dirty="0">
                <a:solidFill>
                  <a:srgbClr val="131D3F"/>
                </a:solidFill>
                <a:latin typeface="Montserrat" panose="00000500000000000000" pitchFamily="2" charset="0"/>
              </a:rPr>
              <a:t>Aplicar técnicas estadísticas para analizar los datos recopilados. Esto puede incluir:</a:t>
            </a:r>
          </a:p>
          <a:p>
            <a:pPr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Regresión Lineal: </a:t>
            </a:r>
            <a:r>
              <a:rPr lang="es-ES" sz="2000" dirty="0">
                <a:solidFill>
                  <a:srgbClr val="131D3F"/>
                </a:solidFill>
                <a:latin typeface="Montserrat" panose="00000500000000000000" pitchFamily="2" charset="0"/>
              </a:rPr>
              <a:t>Usar modelos de regresión para establecer relaciones entre variables independientes (como tamaño o complejidad) y una variable dependiente (como costo o duración).</a:t>
            </a:r>
          </a:p>
          <a:p>
            <a:pPr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Análisis de Varianza (ANOVA): </a:t>
            </a:r>
            <a:r>
              <a:rPr lang="es-ES" sz="2000" dirty="0">
                <a:solidFill>
                  <a:srgbClr val="131D3F"/>
                </a:solidFill>
                <a:latin typeface="Montserrat" panose="00000500000000000000" pitchFamily="2" charset="0"/>
              </a:rPr>
              <a:t>Comparar la media de diferentes grupos para entender cómo varían los costos o tiempos en función de diferentes factores.</a:t>
            </a:r>
          </a:p>
          <a:p>
            <a:pPr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Modelos de Monte Carlo: </a:t>
            </a:r>
            <a:r>
              <a:rPr lang="es-ES" sz="2000" dirty="0">
                <a:solidFill>
                  <a:srgbClr val="131D3F"/>
                </a:solidFill>
                <a:latin typeface="Montserrat" panose="00000500000000000000" pitchFamily="2" charset="0"/>
              </a:rPr>
              <a:t>Simular múltiples escenarios utilizando variables aleatorias para evaluar la incertidumbre y el riesgo.</a:t>
            </a:r>
          </a:p>
        </p:txBody>
      </p:sp>
    </p:spTree>
    <p:extLst>
      <p:ext uri="{BB962C8B-B14F-4D97-AF65-F5344CB8AC3E}">
        <p14:creationId xmlns:p14="http://schemas.microsoft.com/office/powerpoint/2010/main" val="156701979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124</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07247"/>
            <a:ext cx="11296454" cy="4308872"/>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Características Clave</a:t>
            </a:r>
          </a:p>
          <a:p>
            <a:pPr algn="just">
              <a:spcAft>
                <a:spcPts val="1200"/>
              </a:spcAft>
            </a:pPr>
            <a:r>
              <a:rPr lang="es-ES" sz="2000" b="1" dirty="0">
                <a:solidFill>
                  <a:srgbClr val="131D3F"/>
                </a:solidFill>
                <a:latin typeface="Montserrat" panose="00000500000000000000" pitchFamily="2" charset="0"/>
              </a:rPr>
              <a:t>Ventajas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Precisión Mejorada: </a:t>
            </a:r>
            <a:r>
              <a:rPr lang="es-ES" sz="2000" dirty="0">
                <a:solidFill>
                  <a:srgbClr val="131D3F"/>
                </a:solidFill>
                <a:latin typeface="Montserrat" panose="00000500000000000000" pitchFamily="2" charset="0"/>
              </a:rPr>
              <a:t>Al basarse en datos históricos y análisis cuantitativos, puede ofrecer estimaciones más precisas que los métodos cualitativos.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Identificación de Patrones: </a:t>
            </a:r>
            <a:r>
              <a:rPr lang="es-ES" sz="2000" dirty="0">
                <a:solidFill>
                  <a:srgbClr val="131D3F"/>
                </a:solidFill>
                <a:latin typeface="Montserrat" panose="00000500000000000000" pitchFamily="2" charset="0"/>
              </a:rPr>
              <a:t>Permite identificar patrones y tendencias que pueden no ser evidentes a través de la observación directa.</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Adaptabilidad: </a:t>
            </a:r>
            <a:r>
              <a:rPr lang="es-ES" sz="2000" dirty="0">
                <a:solidFill>
                  <a:srgbClr val="131D3F"/>
                </a:solidFill>
                <a:latin typeface="Montserrat" panose="00000500000000000000" pitchFamily="2" charset="0"/>
              </a:rPr>
              <a:t>Puede ajustarse a diferentes tipos de proyectos y sectores, siempre que haya datos suficientes disponibles.</a:t>
            </a:r>
          </a:p>
          <a:p>
            <a:pPr marL="457200" indent="-457200" algn="just">
              <a:spcAft>
                <a:spcPts val="1200"/>
              </a:spcAft>
              <a:buFont typeface="+mj-lt"/>
              <a:buAutoNum type="arabicPeriod"/>
            </a:pPr>
            <a:r>
              <a:rPr lang="es-ES" sz="2000" b="1" dirty="0">
                <a:solidFill>
                  <a:srgbClr val="131D3F"/>
                </a:solidFill>
                <a:latin typeface="Montserrat" panose="00000500000000000000" pitchFamily="2" charset="0"/>
              </a:rPr>
              <a:t>Soporte para la Toma de Decisiones: </a:t>
            </a:r>
            <a:r>
              <a:rPr lang="es-ES" sz="2000" dirty="0">
                <a:solidFill>
                  <a:srgbClr val="131D3F"/>
                </a:solidFill>
                <a:latin typeface="Montserrat" panose="00000500000000000000" pitchFamily="2" charset="0"/>
              </a:rPr>
              <a:t>Proporciona una base objetiva para la planificación y gestión de proyectos, lo que puede facilitar la comunicación con partes interesadas.</a:t>
            </a:r>
          </a:p>
        </p:txBody>
      </p:sp>
    </p:spTree>
    <p:extLst>
      <p:ext uri="{BB962C8B-B14F-4D97-AF65-F5344CB8AC3E}">
        <p14:creationId xmlns:p14="http://schemas.microsoft.com/office/powerpoint/2010/main" val="176852176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125</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59285"/>
            <a:ext cx="11296454" cy="1169551"/>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a:t>
            </a:r>
          </a:p>
          <a:p>
            <a:pPr algn="just">
              <a:spcAft>
                <a:spcPts val="1200"/>
              </a:spcAft>
            </a:pPr>
            <a:r>
              <a:rPr lang="es-ES" sz="2000" dirty="0">
                <a:solidFill>
                  <a:srgbClr val="131D3F"/>
                </a:solidFill>
                <a:latin typeface="Montserrat" panose="00000500000000000000" pitchFamily="2" charset="0"/>
              </a:rPr>
              <a:t>Método estadístico utilizado </a:t>
            </a:r>
            <a:r>
              <a:rPr lang="es-ES" sz="2000" b="1" dirty="0">
                <a:solidFill>
                  <a:srgbClr val="131D3F"/>
                </a:solidFill>
                <a:latin typeface="Montserrat" panose="00000500000000000000" pitchFamily="2" charset="0"/>
              </a:rPr>
              <a:t>predecir (estimar)</a:t>
            </a:r>
            <a:r>
              <a:rPr lang="es-ES" sz="2000" dirty="0">
                <a:solidFill>
                  <a:srgbClr val="131D3F"/>
                </a:solidFill>
                <a:latin typeface="Montserrat" panose="00000500000000000000" pitchFamily="2" charset="0"/>
              </a:rPr>
              <a:t> una </a:t>
            </a:r>
            <a:r>
              <a:rPr lang="es-ES" sz="2000" u="sng" dirty="0">
                <a:solidFill>
                  <a:srgbClr val="131D3F"/>
                </a:solidFill>
                <a:latin typeface="Montserrat" panose="00000500000000000000" pitchFamily="2" charset="0"/>
              </a:rPr>
              <a:t>variable cuantitativa</a:t>
            </a:r>
            <a:r>
              <a:rPr lang="es-ES" sz="2000" dirty="0">
                <a:solidFill>
                  <a:srgbClr val="131D3F"/>
                </a:solidFill>
                <a:latin typeface="Montserrat" panose="00000500000000000000" pitchFamily="2" charset="0"/>
              </a:rPr>
              <a:t> en función de </a:t>
            </a:r>
            <a:r>
              <a:rPr lang="es-ES" sz="2000" u="sng" dirty="0">
                <a:solidFill>
                  <a:srgbClr val="131D3F"/>
                </a:solidFill>
                <a:latin typeface="Montserrat" panose="00000500000000000000" pitchFamily="2" charset="0"/>
              </a:rPr>
              <a:t>otra variable cuantitativa</a:t>
            </a:r>
            <a:r>
              <a:rPr lang="es-ES" sz="2000" dirty="0">
                <a:solidFill>
                  <a:srgbClr val="131D3F"/>
                </a:solidFill>
                <a:latin typeface="Montserrat" panose="00000500000000000000" pitchFamily="2" charset="0"/>
              </a:rPr>
              <a:t>. </a:t>
            </a:r>
          </a:p>
        </p:txBody>
      </p:sp>
      <p:sp>
        <p:nvSpPr>
          <p:cNvPr id="6" name="CuadroTexto 5">
            <a:extLst>
              <a:ext uri="{FF2B5EF4-FFF2-40B4-BE49-F238E27FC236}">
                <a16:creationId xmlns:a16="http://schemas.microsoft.com/office/drawing/2014/main" id="{D60C98B3-154B-4B45-84D6-9EF8DFD26CFE}"/>
              </a:ext>
            </a:extLst>
          </p:cNvPr>
          <p:cNvSpPr txBox="1"/>
          <p:nvPr/>
        </p:nvSpPr>
        <p:spPr>
          <a:xfrm>
            <a:off x="3531384" y="2867109"/>
            <a:ext cx="908116" cy="1200329"/>
          </a:xfrm>
          <a:prstGeom prst="rect">
            <a:avLst/>
          </a:prstGeom>
          <a:noFill/>
        </p:spPr>
        <p:txBody>
          <a:bodyPr wrap="square">
            <a:spAutoFit/>
          </a:bodyPr>
          <a:lstStyle/>
          <a:p>
            <a:pPr algn="ctr">
              <a:spcAft>
                <a:spcPts val="1200"/>
              </a:spcAft>
            </a:pPr>
            <a:r>
              <a:rPr lang="es-ES" sz="7200" b="1" dirty="0">
                <a:solidFill>
                  <a:srgbClr val="131D3F"/>
                </a:solidFill>
                <a:latin typeface="Montserrat" panose="00000500000000000000" pitchFamily="2" charset="0"/>
              </a:rPr>
              <a:t>Y</a:t>
            </a:r>
            <a:endParaRPr lang="es-ES" sz="7200" dirty="0">
              <a:solidFill>
                <a:srgbClr val="131D3F"/>
              </a:solidFill>
              <a:latin typeface="Montserrat" panose="00000500000000000000" pitchFamily="2" charset="0"/>
            </a:endParaRPr>
          </a:p>
        </p:txBody>
      </p:sp>
      <p:sp>
        <p:nvSpPr>
          <p:cNvPr id="9" name="CuadroTexto 8">
            <a:extLst>
              <a:ext uri="{FF2B5EF4-FFF2-40B4-BE49-F238E27FC236}">
                <a16:creationId xmlns:a16="http://schemas.microsoft.com/office/drawing/2014/main" id="{2C461964-A95E-4EFD-834E-CAD4F92FF811}"/>
              </a:ext>
            </a:extLst>
          </p:cNvPr>
          <p:cNvSpPr txBox="1"/>
          <p:nvPr/>
        </p:nvSpPr>
        <p:spPr>
          <a:xfrm>
            <a:off x="7748603" y="2867110"/>
            <a:ext cx="908116" cy="1200329"/>
          </a:xfrm>
          <a:prstGeom prst="rect">
            <a:avLst/>
          </a:prstGeom>
          <a:noFill/>
        </p:spPr>
        <p:txBody>
          <a:bodyPr wrap="square">
            <a:spAutoFit/>
          </a:bodyPr>
          <a:lstStyle/>
          <a:p>
            <a:pPr algn="ctr">
              <a:spcAft>
                <a:spcPts val="1200"/>
              </a:spcAft>
            </a:pPr>
            <a:r>
              <a:rPr lang="es-ES" sz="7200" b="1" dirty="0">
                <a:solidFill>
                  <a:srgbClr val="131D3F"/>
                </a:solidFill>
                <a:latin typeface="Montserrat" panose="00000500000000000000" pitchFamily="2" charset="0"/>
              </a:rPr>
              <a:t>X</a:t>
            </a:r>
          </a:p>
        </p:txBody>
      </p:sp>
      <p:sp>
        <p:nvSpPr>
          <p:cNvPr id="10" name="CuadroTexto 9">
            <a:extLst>
              <a:ext uri="{FF2B5EF4-FFF2-40B4-BE49-F238E27FC236}">
                <a16:creationId xmlns:a16="http://schemas.microsoft.com/office/drawing/2014/main" id="{CE75ADE7-E51C-406C-AFCA-B1ED70144BBF}"/>
              </a:ext>
            </a:extLst>
          </p:cNvPr>
          <p:cNvSpPr txBox="1"/>
          <p:nvPr/>
        </p:nvSpPr>
        <p:spPr>
          <a:xfrm>
            <a:off x="2331824" y="4609323"/>
            <a:ext cx="3307238" cy="400110"/>
          </a:xfrm>
          <a:prstGeom prst="rect">
            <a:avLst/>
          </a:prstGeom>
          <a:noFill/>
        </p:spPr>
        <p:txBody>
          <a:bodyPr wrap="square">
            <a:spAutoFit/>
          </a:bodyPr>
          <a:lstStyle/>
          <a:p>
            <a:pPr algn="ctr">
              <a:spcAft>
                <a:spcPts val="1200"/>
              </a:spcAft>
            </a:pPr>
            <a:r>
              <a:rPr lang="es-ES" sz="2000" dirty="0">
                <a:solidFill>
                  <a:srgbClr val="131D3F"/>
                </a:solidFill>
                <a:latin typeface="Montserrat" panose="00000500000000000000" pitchFamily="2" charset="0"/>
              </a:rPr>
              <a:t>Variable Dependiente</a:t>
            </a:r>
          </a:p>
        </p:txBody>
      </p:sp>
      <p:sp>
        <p:nvSpPr>
          <p:cNvPr id="11" name="CuadroTexto 10">
            <a:extLst>
              <a:ext uri="{FF2B5EF4-FFF2-40B4-BE49-F238E27FC236}">
                <a16:creationId xmlns:a16="http://schemas.microsoft.com/office/drawing/2014/main" id="{FB75E430-BDC9-47FE-B09C-8F57E4B46650}"/>
              </a:ext>
            </a:extLst>
          </p:cNvPr>
          <p:cNvSpPr txBox="1"/>
          <p:nvPr/>
        </p:nvSpPr>
        <p:spPr>
          <a:xfrm>
            <a:off x="6534988" y="4609323"/>
            <a:ext cx="3335348" cy="400110"/>
          </a:xfrm>
          <a:prstGeom prst="rect">
            <a:avLst/>
          </a:prstGeom>
          <a:noFill/>
        </p:spPr>
        <p:txBody>
          <a:bodyPr wrap="square">
            <a:spAutoFit/>
          </a:bodyPr>
          <a:lstStyle/>
          <a:p>
            <a:pPr algn="ctr">
              <a:spcAft>
                <a:spcPts val="1200"/>
              </a:spcAft>
            </a:pPr>
            <a:r>
              <a:rPr lang="es-ES" sz="2000" dirty="0">
                <a:solidFill>
                  <a:srgbClr val="131D3F"/>
                </a:solidFill>
                <a:latin typeface="Montserrat" panose="00000500000000000000" pitchFamily="2" charset="0"/>
              </a:rPr>
              <a:t>Variable Independiente</a:t>
            </a:r>
          </a:p>
        </p:txBody>
      </p:sp>
      <p:sp>
        <p:nvSpPr>
          <p:cNvPr id="15" name="CuadroTexto 14">
            <a:extLst>
              <a:ext uri="{FF2B5EF4-FFF2-40B4-BE49-F238E27FC236}">
                <a16:creationId xmlns:a16="http://schemas.microsoft.com/office/drawing/2014/main" id="{AC64FA47-0A6A-4511-8442-2E7B8E17654A}"/>
              </a:ext>
            </a:extLst>
          </p:cNvPr>
          <p:cNvSpPr txBox="1"/>
          <p:nvPr/>
        </p:nvSpPr>
        <p:spPr>
          <a:xfrm>
            <a:off x="2331824" y="5678418"/>
            <a:ext cx="3307238" cy="400110"/>
          </a:xfrm>
          <a:prstGeom prst="rect">
            <a:avLst/>
          </a:prstGeom>
          <a:noFill/>
          <a:ln w="28575">
            <a:solidFill>
              <a:schemeClr val="tx1"/>
            </a:solidFill>
            <a:prstDash val="sysDash"/>
          </a:ln>
        </p:spPr>
        <p:txBody>
          <a:bodyPr wrap="square">
            <a:spAutoFit/>
          </a:bodyPr>
          <a:lstStyle/>
          <a:p>
            <a:pPr algn="ctr">
              <a:spcAft>
                <a:spcPts val="1200"/>
              </a:spcAft>
            </a:pPr>
            <a:r>
              <a:rPr lang="es-ES" sz="2000" dirty="0">
                <a:solidFill>
                  <a:srgbClr val="131D3F"/>
                </a:solidFill>
                <a:latin typeface="Montserrat" panose="00000500000000000000" pitchFamily="2" charset="0"/>
              </a:rPr>
              <a:t>Depende de X</a:t>
            </a:r>
          </a:p>
        </p:txBody>
      </p:sp>
      <p:sp>
        <p:nvSpPr>
          <p:cNvPr id="16" name="CuadroTexto 15">
            <a:extLst>
              <a:ext uri="{FF2B5EF4-FFF2-40B4-BE49-F238E27FC236}">
                <a16:creationId xmlns:a16="http://schemas.microsoft.com/office/drawing/2014/main" id="{49D7E3AE-EE44-4FEE-BABB-4A991DB1C23C}"/>
              </a:ext>
            </a:extLst>
          </p:cNvPr>
          <p:cNvSpPr txBox="1"/>
          <p:nvPr/>
        </p:nvSpPr>
        <p:spPr>
          <a:xfrm>
            <a:off x="6563098" y="5678418"/>
            <a:ext cx="3307238" cy="400110"/>
          </a:xfrm>
          <a:prstGeom prst="rect">
            <a:avLst/>
          </a:prstGeom>
          <a:noFill/>
          <a:ln w="28575">
            <a:solidFill>
              <a:schemeClr val="tx1"/>
            </a:solidFill>
            <a:prstDash val="sysDash"/>
          </a:ln>
        </p:spPr>
        <p:txBody>
          <a:bodyPr wrap="square">
            <a:spAutoFit/>
          </a:bodyPr>
          <a:lstStyle/>
          <a:p>
            <a:pPr algn="ctr">
              <a:spcAft>
                <a:spcPts val="1200"/>
              </a:spcAft>
            </a:pPr>
            <a:r>
              <a:rPr lang="es-ES" sz="2000" dirty="0">
                <a:solidFill>
                  <a:srgbClr val="131D3F"/>
                </a:solidFill>
                <a:latin typeface="Montserrat" panose="00000500000000000000" pitchFamily="2" charset="0"/>
              </a:rPr>
              <a:t>Explica a Y</a:t>
            </a:r>
          </a:p>
        </p:txBody>
      </p:sp>
      <p:sp>
        <p:nvSpPr>
          <p:cNvPr id="2" name="Flecha: hacia abajo 1">
            <a:extLst>
              <a:ext uri="{FF2B5EF4-FFF2-40B4-BE49-F238E27FC236}">
                <a16:creationId xmlns:a16="http://schemas.microsoft.com/office/drawing/2014/main" id="{A108DADC-7D9A-4027-BD0A-7168D973274A}"/>
              </a:ext>
            </a:extLst>
          </p:cNvPr>
          <p:cNvSpPr/>
          <p:nvPr/>
        </p:nvSpPr>
        <p:spPr>
          <a:xfrm>
            <a:off x="3801620" y="4194543"/>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Flecha: hacia abajo 16">
            <a:extLst>
              <a:ext uri="{FF2B5EF4-FFF2-40B4-BE49-F238E27FC236}">
                <a16:creationId xmlns:a16="http://schemas.microsoft.com/office/drawing/2014/main" id="{C2446175-B684-4350-8A46-5CD45F0C648D}"/>
              </a:ext>
            </a:extLst>
          </p:cNvPr>
          <p:cNvSpPr/>
          <p:nvPr/>
        </p:nvSpPr>
        <p:spPr>
          <a:xfrm>
            <a:off x="8018839" y="4194544"/>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Flecha: hacia abajo 17">
            <a:extLst>
              <a:ext uri="{FF2B5EF4-FFF2-40B4-BE49-F238E27FC236}">
                <a16:creationId xmlns:a16="http://schemas.microsoft.com/office/drawing/2014/main" id="{57A1CE79-F937-4022-94A5-CFE5F1229EF4}"/>
              </a:ext>
            </a:extLst>
          </p:cNvPr>
          <p:cNvSpPr/>
          <p:nvPr/>
        </p:nvSpPr>
        <p:spPr>
          <a:xfrm>
            <a:off x="3801620" y="5136535"/>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Flecha: hacia abajo 18">
            <a:extLst>
              <a:ext uri="{FF2B5EF4-FFF2-40B4-BE49-F238E27FC236}">
                <a16:creationId xmlns:a16="http://schemas.microsoft.com/office/drawing/2014/main" id="{F653787D-A4CF-4522-AFE9-3C43C4DC5400}"/>
              </a:ext>
            </a:extLst>
          </p:cNvPr>
          <p:cNvSpPr/>
          <p:nvPr/>
        </p:nvSpPr>
        <p:spPr>
          <a:xfrm>
            <a:off x="8018839" y="5136536"/>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CuadroTexto 20">
            <a:extLst>
              <a:ext uri="{FF2B5EF4-FFF2-40B4-BE49-F238E27FC236}">
                <a16:creationId xmlns:a16="http://schemas.microsoft.com/office/drawing/2014/main" id="{DE6A0C75-DB92-434B-8484-4F828BAFE985}"/>
              </a:ext>
            </a:extLst>
          </p:cNvPr>
          <p:cNvSpPr txBox="1"/>
          <p:nvPr/>
        </p:nvSpPr>
        <p:spPr>
          <a:xfrm>
            <a:off x="222281" y="3600000"/>
            <a:ext cx="2823747" cy="707886"/>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Variable que deseamos predecir</a:t>
            </a:r>
            <a:endParaRPr lang="es-ES" sz="2000" dirty="0">
              <a:solidFill>
                <a:srgbClr val="131D3F"/>
              </a:solidFill>
              <a:latin typeface="Montserrat" panose="00000500000000000000" pitchFamily="2" charset="0"/>
            </a:endParaRPr>
          </a:p>
        </p:txBody>
      </p:sp>
      <p:sp>
        <p:nvSpPr>
          <p:cNvPr id="22" name="CuadroTexto 21">
            <a:extLst>
              <a:ext uri="{FF2B5EF4-FFF2-40B4-BE49-F238E27FC236}">
                <a16:creationId xmlns:a16="http://schemas.microsoft.com/office/drawing/2014/main" id="{E076B9EB-ABC6-406A-AAD0-70F9206B6FDB}"/>
              </a:ext>
            </a:extLst>
          </p:cNvPr>
          <p:cNvSpPr txBox="1"/>
          <p:nvPr/>
        </p:nvSpPr>
        <p:spPr>
          <a:xfrm>
            <a:off x="9142075" y="3663354"/>
            <a:ext cx="2823747"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Variable Explicativa</a:t>
            </a:r>
            <a:endParaRPr lang="es-ES" sz="20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47103492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126</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1477328"/>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a:t>
            </a:r>
          </a:p>
          <a:p>
            <a:pPr algn="just">
              <a:spcAft>
                <a:spcPts val="1200"/>
              </a:spcAft>
            </a:pPr>
            <a:r>
              <a:rPr lang="es-ES" sz="2000" dirty="0">
                <a:solidFill>
                  <a:srgbClr val="131D3F"/>
                </a:solidFill>
                <a:latin typeface="Montserrat" panose="00000500000000000000" pitchFamily="2" charset="0"/>
              </a:rPr>
              <a:t>El método consiste en </a:t>
            </a:r>
            <a:r>
              <a:rPr lang="es-ES" sz="2000" b="1" dirty="0">
                <a:solidFill>
                  <a:srgbClr val="131D3F"/>
                </a:solidFill>
                <a:latin typeface="Montserrat" panose="00000500000000000000" pitchFamily="2" charset="0"/>
              </a:rPr>
              <a:t>encontrar la línea recta</a:t>
            </a:r>
            <a:r>
              <a:rPr lang="es-ES" sz="2000" dirty="0">
                <a:solidFill>
                  <a:srgbClr val="131D3F"/>
                </a:solidFill>
                <a:latin typeface="Montserrat" panose="00000500000000000000" pitchFamily="2" charset="0"/>
              </a:rPr>
              <a:t> que mejor se </a:t>
            </a:r>
            <a:r>
              <a:rPr lang="es-ES" sz="2000" u="sng" dirty="0">
                <a:solidFill>
                  <a:srgbClr val="131D3F"/>
                </a:solidFill>
                <a:latin typeface="Montserrat" panose="00000500000000000000" pitchFamily="2" charset="0"/>
              </a:rPr>
              <a:t>ajusta</a:t>
            </a:r>
            <a:r>
              <a:rPr lang="es-ES" sz="2000" dirty="0">
                <a:solidFill>
                  <a:srgbClr val="131D3F"/>
                </a:solidFill>
                <a:latin typeface="Montserrat" panose="00000500000000000000" pitchFamily="2" charset="0"/>
              </a:rPr>
              <a:t> al conjunto de datos </a:t>
            </a:r>
            <a:r>
              <a:rPr lang="es-ES" sz="2000" i="1" u="sng" dirty="0">
                <a:solidFill>
                  <a:srgbClr val="131D3F"/>
                </a:solidFill>
                <a:effectLst>
                  <a:outerShdw blurRad="38100" dist="38100" dir="2700000" algn="tl">
                    <a:srgbClr val="000000">
                      <a:alpha val="43137"/>
                    </a:srgbClr>
                  </a:outerShdw>
                </a:effectLst>
                <a:latin typeface="Montserrat" panose="00000500000000000000" pitchFamily="2" charset="0"/>
              </a:rPr>
              <a:t>minimizando la suma de los errores cuadráticos</a:t>
            </a:r>
            <a:r>
              <a:rPr lang="es-ES" sz="2000" dirty="0">
                <a:solidFill>
                  <a:srgbClr val="131D3F"/>
                </a:solidFill>
                <a:latin typeface="Montserrat" panose="00000500000000000000" pitchFamily="2" charset="0"/>
              </a:rPr>
              <a:t> (la diferencia entre los valores observados y los predichos).</a:t>
            </a:r>
          </a:p>
        </p:txBody>
      </p:sp>
      <p:pic>
        <p:nvPicPr>
          <p:cNvPr id="1026" name="Picture 2" descr="Regresión lineal - Wikipedia, la enciclopedia libre">
            <a:extLst>
              <a:ext uri="{FF2B5EF4-FFF2-40B4-BE49-F238E27FC236}">
                <a16:creationId xmlns:a16="http://schemas.microsoft.com/office/drawing/2014/main" id="{8240E0FE-F306-43D2-A0C1-179B9A3367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5682" y="3357880"/>
            <a:ext cx="5080635" cy="2971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31185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127</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2862322"/>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a:t>
            </a:r>
          </a:p>
          <a:p>
            <a:pPr algn="just">
              <a:spcAft>
                <a:spcPts val="1200"/>
              </a:spcAft>
            </a:pPr>
            <a:r>
              <a:rPr lang="es-ES" sz="2000" dirty="0">
                <a:solidFill>
                  <a:srgbClr val="131D3F"/>
                </a:solidFill>
                <a:latin typeface="Montserrat" panose="00000500000000000000" pitchFamily="2" charset="0"/>
              </a:rPr>
              <a:t>Algunas de las aplicaciones de este método son:</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Peso de una persona en relación a su altura</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Estatura de una persona en relación a su edad</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Rendimiento de cultivo respecto a la lluvia</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Resultado en el examen vs las horas de estudio</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Tiempo de construcción respecto al número de trabajadores</a:t>
            </a:r>
          </a:p>
        </p:txBody>
      </p:sp>
      <p:sp>
        <p:nvSpPr>
          <p:cNvPr id="9" name="Flecha: hacia abajo 8">
            <a:extLst>
              <a:ext uri="{FF2B5EF4-FFF2-40B4-BE49-F238E27FC236}">
                <a16:creationId xmlns:a16="http://schemas.microsoft.com/office/drawing/2014/main" id="{0F5DC651-9A29-42F4-8B66-4F3A1F56B2A7}"/>
              </a:ext>
            </a:extLst>
          </p:cNvPr>
          <p:cNvSpPr/>
          <p:nvPr/>
        </p:nvSpPr>
        <p:spPr>
          <a:xfrm>
            <a:off x="2887220" y="5362943"/>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Flecha: hacia abajo 9">
            <a:extLst>
              <a:ext uri="{FF2B5EF4-FFF2-40B4-BE49-F238E27FC236}">
                <a16:creationId xmlns:a16="http://schemas.microsoft.com/office/drawing/2014/main" id="{A494A0EE-9785-417B-A2CE-D1D818EF2718}"/>
              </a:ext>
            </a:extLst>
          </p:cNvPr>
          <p:cNvSpPr/>
          <p:nvPr/>
        </p:nvSpPr>
        <p:spPr>
          <a:xfrm>
            <a:off x="3710180" y="5362943"/>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Flecha: hacia abajo 10">
            <a:extLst>
              <a:ext uri="{FF2B5EF4-FFF2-40B4-BE49-F238E27FC236}">
                <a16:creationId xmlns:a16="http://schemas.microsoft.com/office/drawing/2014/main" id="{DDA1AEDA-EDE8-4A47-8A7A-59250F13CB66}"/>
              </a:ext>
            </a:extLst>
          </p:cNvPr>
          <p:cNvSpPr/>
          <p:nvPr/>
        </p:nvSpPr>
        <p:spPr>
          <a:xfrm>
            <a:off x="8126878" y="5362943"/>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Flecha: hacia abajo 11">
            <a:extLst>
              <a:ext uri="{FF2B5EF4-FFF2-40B4-BE49-F238E27FC236}">
                <a16:creationId xmlns:a16="http://schemas.microsoft.com/office/drawing/2014/main" id="{96B6513A-8A6D-4E74-84DB-2A5045422EB5}"/>
              </a:ext>
            </a:extLst>
          </p:cNvPr>
          <p:cNvSpPr/>
          <p:nvPr/>
        </p:nvSpPr>
        <p:spPr>
          <a:xfrm rot="10800000">
            <a:off x="8949838" y="5362943"/>
            <a:ext cx="367645" cy="414779"/>
          </a:xfrm>
          <a:prstGeom prst="downArrow">
            <a:avLst/>
          </a:prstGeom>
          <a:solidFill>
            <a:srgbClr val="52796F"/>
          </a:solidFill>
          <a:ln>
            <a:solidFill>
              <a:srgbClr val="52796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CuadroTexto 12">
            <a:extLst>
              <a:ext uri="{FF2B5EF4-FFF2-40B4-BE49-F238E27FC236}">
                <a16:creationId xmlns:a16="http://schemas.microsoft.com/office/drawing/2014/main" id="{281FD660-7839-46EF-BFC9-CA20F9E275A3}"/>
              </a:ext>
            </a:extLst>
          </p:cNvPr>
          <p:cNvSpPr txBox="1"/>
          <p:nvPr/>
        </p:nvSpPr>
        <p:spPr>
          <a:xfrm>
            <a:off x="2616984" y="4593502"/>
            <a:ext cx="908116" cy="769441"/>
          </a:xfrm>
          <a:prstGeom prst="rect">
            <a:avLst/>
          </a:prstGeom>
          <a:noFill/>
        </p:spPr>
        <p:txBody>
          <a:bodyPr wrap="square">
            <a:spAutoFit/>
          </a:bodyPr>
          <a:lstStyle/>
          <a:p>
            <a:pPr algn="ctr">
              <a:spcAft>
                <a:spcPts val="1200"/>
              </a:spcAft>
            </a:pPr>
            <a:r>
              <a:rPr lang="es-ES" sz="4400" b="1" dirty="0">
                <a:solidFill>
                  <a:srgbClr val="131D3F"/>
                </a:solidFill>
                <a:latin typeface="Montserrat" panose="00000500000000000000" pitchFamily="2" charset="0"/>
              </a:rPr>
              <a:t>Y</a:t>
            </a:r>
            <a:endParaRPr lang="es-ES" sz="4400" dirty="0">
              <a:solidFill>
                <a:srgbClr val="131D3F"/>
              </a:solidFill>
              <a:latin typeface="Montserrat" panose="00000500000000000000" pitchFamily="2" charset="0"/>
            </a:endParaRPr>
          </a:p>
        </p:txBody>
      </p:sp>
      <p:sp>
        <p:nvSpPr>
          <p:cNvPr id="15" name="CuadroTexto 14">
            <a:extLst>
              <a:ext uri="{FF2B5EF4-FFF2-40B4-BE49-F238E27FC236}">
                <a16:creationId xmlns:a16="http://schemas.microsoft.com/office/drawing/2014/main" id="{069B46F1-27B0-4246-BF22-8182431FD042}"/>
              </a:ext>
            </a:extLst>
          </p:cNvPr>
          <p:cNvSpPr txBox="1"/>
          <p:nvPr/>
        </p:nvSpPr>
        <p:spPr>
          <a:xfrm>
            <a:off x="3439944" y="4593501"/>
            <a:ext cx="908116" cy="769441"/>
          </a:xfrm>
          <a:prstGeom prst="rect">
            <a:avLst/>
          </a:prstGeom>
          <a:noFill/>
        </p:spPr>
        <p:txBody>
          <a:bodyPr wrap="square">
            <a:spAutoFit/>
          </a:bodyPr>
          <a:lstStyle/>
          <a:p>
            <a:pPr algn="ctr">
              <a:spcAft>
                <a:spcPts val="1200"/>
              </a:spcAft>
            </a:pPr>
            <a:r>
              <a:rPr lang="es-ES" sz="4400" b="1" dirty="0">
                <a:solidFill>
                  <a:srgbClr val="131D3F"/>
                </a:solidFill>
                <a:latin typeface="Montserrat" panose="00000500000000000000" pitchFamily="2" charset="0"/>
              </a:rPr>
              <a:t>X</a:t>
            </a:r>
            <a:endParaRPr lang="es-ES" sz="4400" dirty="0">
              <a:solidFill>
                <a:srgbClr val="131D3F"/>
              </a:solidFill>
              <a:latin typeface="Montserrat" panose="00000500000000000000" pitchFamily="2" charset="0"/>
            </a:endParaRPr>
          </a:p>
        </p:txBody>
      </p:sp>
      <p:sp>
        <p:nvSpPr>
          <p:cNvPr id="16" name="CuadroTexto 15">
            <a:extLst>
              <a:ext uri="{FF2B5EF4-FFF2-40B4-BE49-F238E27FC236}">
                <a16:creationId xmlns:a16="http://schemas.microsoft.com/office/drawing/2014/main" id="{87BE1306-64B5-4B35-9393-9942FCF2F67B}"/>
              </a:ext>
            </a:extLst>
          </p:cNvPr>
          <p:cNvSpPr txBox="1"/>
          <p:nvPr/>
        </p:nvSpPr>
        <p:spPr>
          <a:xfrm>
            <a:off x="7843942" y="4599584"/>
            <a:ext cx="908116" cy="769441"/>
          </a:xfrm>
          <a:prstGeom prst="rect">
            <a:avLst/>
          </a:prstGeom>
          <a:noFill/>
        </p:spPr>
        <p:txBody>
          <a:bodyPr wrap="square">
            <a:spAutoFit/>
          </a:bodyPr>
          <a:lstStyle/>
          <a:p>
            <a:pPr algn="ctr">
              <a:spcAft>
                <a:spcPts val="1200"/>
              </a:spcAft>
            </a:pPr>
            <a:r>
              <a:rPr lang="es-ES" sz="4400" b="1" dirty="0">
                <a:solidFill>
                  <a:srgbClr val="131D3F"/>
                </a:solidFill>
                <a:latin typeface="Montserrat" panose="00000500000000000000" pitchFamily="2" charset="0"/>
              </a:rPr>
              <a:t>Y</a:t>
            </a:r>
            <a:endParaRPr lang="es-ES" sz="4400" dirty="0">
              <a:solidFill>
                <a:srgbClr val="131D3F"/>
              </a:solidFill>
              <a:latin typeface="Montserrat" panose="00000500000000000000" pitchFamily="2" charset="0"/>
            </a:endParaRPr>
          </a:p>
        </p:txBody>
      </p:sp>
      <p:sp>
        <p:nvSpPr>
          <p:cNvPr id="17" name="CuadroTexto 16">
            <a:extLst>
              <a:ext uri="{FF2B5EF4-FFF2-40B4-BE49-F238E27FC236}">
                <a16:creationId xmlns:a16="http://schemas.microsoft.com/office/drawing/2014/main" id="{B70DE336-D897-4F77-90A0-8EC2BDBAE0DA}"/>
              </a:ext>
            </a:extLst>
          </p:cNvPr>
          <p:cNvSpPr txBox="1"/>
          <p:nvPr/>
        </p:nvSpPr>
        <p:spPr>
          <a:xfrm>
            <a:off x="8666902" y="4599583"/>
            <a:ext cx="908116" cy="769441"/>
          </a:xfrm>
          <a:prstGeom prst="rect">
            <a:avLst/>
          </a:prstGeom>
          <a:noFill/>
        </p:spPr>
        <p:txBody>
          <a:bodyPr wrap="square">
            <a:spAutoFit/>
          </a:bodyPr>
          <a:lstStyle/>
          <a:p>
            <a:pPr algn="ctr">
              <a:spcAft>
                <a:spcPts val="1200"/>
              </a:spcAft>
            </a:pPr>
            <a:r>
              <a:rPr lang="es-ES" sz="4400" b="1" dirty="0">
                <a:solidFill>
                  <a:srgbClr val="131D3F"/>
                </a:solidFill>
                <a:latin typeface="Montserrat" panose="00000500000000000000" pitchFamily="2" charset="0"/>
              </a:rPr>
              <a:t>X</a:t>
            </a:r>
            <a:endParaRPr lang="es-ES" sz="4400" dirty="0">
              <a:solidFill>
                <a:srgbClr val="131D3F"/>
              </a:solidFill>
              <a:latin typeface="Montserrat" panose="00000500000000000000" pitchFamily="2" charset="0"/>
            </a:endParaRPr>
          </a:p>
        </p:txBody>
      </p:sp>
      <p:sp>
        <p:nvSpPr>
          <p:cNvPr id="18" name="CuadroTexto 17">
            <a:extLst>
              <a:ext uri="{FF2B5EF4-FFF2-40B4-BE49-F238E27FC236}">
                <a16:creationId xmlns:a16="http://schemas.microsoft.com/office/drawing/2014/main" id="{8D3C3C30-BFDA-4C86-AD9D-2DE3F9EE5677}"/>
              </a:ext>
            </a:extLst>
          </p:cNvPr>
          <p:cNvSpPr txBox="1"/>
          <p:nvPr/>
        </p:nvSpPr>
        <p:spPr>
          <a:xfrm>
            <a:off x="1871481" y="6024809"/>
            <a:ext cx="3307238" cy="400110"/>
          </a:xfrm>
          <a:prstGeom prst="rect">
            <a:avLst/>
          </a:prstGeom>
          <a:noFill/>
          <a:ln w="28575">
            <a:solidFill>
              <a:schemeClr val="tx1"/>
            </a:solidFill>
            <a:prstDash val="sysDash"/>
          </a:ln>
        </p:spPr>
        <p:txBody>
          <a:bodyPr wrap="square">
            <a:spAutoFit/>
          </a:bodyPr>
          <a:lstStyle/>
          <a:p>
            <a:pPr algn="ctr">
              <a:spcAft>
                <a:spcPts val="1200"/>
              </a:spcAft>
            </a:pPr>
            <a:r>
              <a:rPr lang="es-ES" sz="2000" dirty="0">
                <a:solidFill>
                  <a:srgbClr val="131D3F"/>
                </a:solidFill>
                <a:latin typeface="Montserrat" panose="00000500000000000000" pitchFamily="2" charset="0"/>
              </a:rPr>
              <a:t>Relación Directa</a:t>
            </a:r>
          </a:p>
        </p:txBody>
      </p:sp>
      <p:sp>
        <p:nvSpPr>
          <p:cNvPr id="19" name="CuadroTexto 18">
            <a:extLst>
              <a:ext uri="{FF2B5EF4-FFF2-40B4-BE49-F238E27FC236}">
                <a16:creationId xmlns:a16="http://schemas.microsoft.com/office/drawing/2014/main" id="{D421DB1E-E67B-4EAE-A706-DA1AE7AED877}"/>
              </a:ext>
            </a:extLst>
          </p:cNvPr>
          <p:cNvSpPr txBox="1"/>
          <p:nvPr/>
        </p:nvSpPr>
        <p:spPr>
          <a:xfrm>
            <a:off x="7013281" y="6024809"/>
            <a:ext cx="3307238" cy="400110"/>
          </a:xfrm>
          <a:prstGeom prst="rect">
            <a:avLst/>
          </a:prstGeom>
          <a:noFill/>
          <a:ln w="28575">
            <a:solidFill>
              <a:schemeClr val="tx1"/>
            </a:solidFill>
            <a:prstDash val="sysDash"/>
          </a:ln>
        </p:spPr>
        <p:txBody>
          <a:bodyPr wrap="square">
            <a:spAutoFit/>
          </a:bodyPr>
          <a:lstStyle/>
          <a:p>
            <a:pPr algn="ctr">
              <a:spcAft>
                <a:spcPts val="1200"/>
              </a:spcAft>
            </a:pPr>
            <a:r>
              <a:rPr lang="es-ES" sz="2000" dirty="0">
                <a:solidFill>
                  <a:srgbClr val="131D3F"/>
                </a:solidFill>
                <a:latin typeface="Montserrat" panose="00000500000000000000" pitchFamily="2" charset="0"/>
              </a:rPr>
              <a:t>Relación Indirecta</a:t>
            </a:r>
          </a:p>
        </p:txBody>
      </p:sp>
    </p:spTree>
    <p:extLst>
      <p:ext uri="{BB962C8B-B14F-4D97-AF65-F5344CB8AC3E}">
        <p14:creationId xmlns:p14="http://schemas.microsoft.com/office/powerpoint/2010/main" val="221156618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128</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85DD660-7DDF-4F11-AA3A-5F782E874B91}"/>
                  </a:ext>
                </a:extLst>
              </p:cNvPr>
              <p:cNvSpPr txBox="1"/>
              <p:nvPr/>
            </p:nvSpPr>
            <p:spPr>
              <a:xfrm>
                <a:off x="2005015" y="3026835"/>
                <a:ext cx="334687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600" b="0" i="1" smtClean="0">
                          <a:solidFill>
                            <a:srgbClr val="131D3F"/>
                          </a:solidFill>
                          <a:latin typeface="Cambria Math" panose="02040503050406030204" pitchFamily="18" charset="0"/>
                        </a:rPr>
                        <m:t>𝑏</m:t>
                      </m:r>
                      <m:r>
                        <a:rPr lang="es-ES" sz="3600" b="0" i="1" smtClean="0">
                          <a:solidFill>
                            <a:srgbClr val="131D3F"/>
                          </a:solidFill>
                          <a:latin typeface="Cambria Math" panose="02040503050406030204" pitchFamily="18" charset="0"/>
                        </a:rPr>
                        <m:t>=</m:t>
                      </m:r>
                      <m:acc>
                        <m:accPr>
                          <m:chr m:val="̅"/>
                          <m:ctrlPr>
                            <a:rPr lang="es-ES" sz="3600" i="1">
                              <a:solidFill>
                                <a:srgbClr val="131D3F"/>
                              </a:solidFill>
                              <a:latin typeface="Cambria Math" panose="02040503050406030204" pitchFamily="18" charset="0"/>
                              <a:ea typeface="Cambria Math" panose="02040503050406030204" pitchFamily="18" charset="0"/>
                            </a:rPr>
                          </m:ctrlPr>
                        </m:accPr>
                        <m:e>
                          <m:r>
                            <a:rPr lang="es-ES" sz="3600" i="1">
                              <a:solidFill>
                                <a:srgbClr val="131D3F"/>
                              </a:solidFill>
                              <a:latin typeface="Cambria Math" panose="02040503050406030204" pitchFamily="18" charset="0"/>
                              <a:ea typeface="Cambria Math" panose="02040503050406030204" pitchFamily="18" charset="0"/>
                            </a:rPr>
                            <m:t>𝑦</m:t>
                          </m:r>
                        </m:e>
                      </m:acc>
                      <m:r>
                        <a:rPr lang="es-ES" sz="3600" b="0" i="1" smtClean="0">
                          <a:solidFill>
                            <a:srgbClr val="131D3F"/>
                          </a:solidFill>
                          <a:latin typeface="Cambria Math" panose="02040503050406030204" pitchFamily="18" charset="0"/>
                          <a:ea typeface="Cambria Math" panose="02040503050406030204" pitchFamily="18" charset="0"/>
                        </a:rPr>
                        <m:t>−(</m:t>
                      </m:r>
                      <m:r>
                        <a:rPr lang="es-ES" sz="3600" b="0" i="1" smtClean="0">
                          <a:solidFill>
                            <a:srgbClr val="131D3F"/>
                          </a:solidFill>
                          <a:latin typeface="Cambria Math" panose="02040503050406030204" pitchFamily="18" charset="0"/>
                        </a:rPr>
                        <m:t>𝑚</m:t>
                      </m:r>
                      <m:r>
                        <a:rPr lang="es-ES" sz="3600" b="0" i="1" smtClean="0">
                          <a:solidFill>
                            <a:srgbClr val="131D3F"/>
                          </a:solidFill>
                          <a:latin typeface="Cambria Math" panose="02040503050406030204" pitchFamily="18" charset="0"/>
                        </a:rPr>
                        <m:t>∗ </m:t>
                      </m:r>
                      <m:acc>
                        <m:accPr>
                          <m:chr m:val="̅"/>
                          <m:ctrlPr>
                            <a:rPr lang="es-ES" sz="3600" i="1">
                              <a:solidFill>
                                <a:srgbClr val="131D3F"/>
                              </a:solidFill>
                              <a:latin typeface="Cambria Math" panose="02040503050406030204" pitchFamily="18" charset="0"/>
                              <a:ea typeface="Cambria Math" panose="02040503050406030204" pitchFamily="18" charset="0"/>
                            </a:rPr>
                          </m:ctrlPr>
                        </m:accPr>
                        <m:e>
                          <m:r>
                            <a:rPr lang="es-ES" sz="3600" i="1">
                              <a:solidFill>
                                <a:srgbClr val="131D3F"/>
                              </a:solidFill>
                              <a:latin typeface="Cambria Math" panose="02040503050406030204" pitchFamily="18" charset="0"/>
                              <a:ea typeface="Cambria Math" panose="02040503050406030204" pitchFamily="18" charset="0"/>
                            </a:rPr>
                            <m:t>𝑥</m:t>
                          </m:r>
                        </m:e>
                      </m:acc>
                      <m:r>
                        <a:rPr lang="es-ES" sz="3600" b="0" i="1" smtClean="0">
                          <a:solidFill>
                            <a:srgbClr val="131D3F"/>
                          </a:solidFill>
                          <a:latin typeface="Cambria Math" panose="02040503050406030204" pitchFamily="18" charset="0"/>
                          <a:ea typeface="Cambria Math" panose="02040503050406030204" pitchFamily="18" charset="0"/>
                        </a:rPr>
                        <m:t>)</m:t>
                      </m:r>
                    </m:oMath>
                  </m:oMathPara>
                </a14:m>
                <a:endParaRPr lang="es-MX" sz="3600" dirty="0">
                  <a:solidFill>
                    <a:srgbClr val="131D3F"/>
                  </a:solidFill>
                </a:endParaRPr>
              </a:p>
            </p:txBody>
          </p:sp>
        </mc:Choice>
        <mc:Fallback xmlns="">
          <p:sp>
            <p:nvSpPr>
              <p:cNvPr id="2" name="CuadroTexto 1">
                <a:extLst>
                  <a:ext uri="{FF2B5EF4-FFF2-40B4-BE49-F238E27FC236}">
                    <a16:creationId xmlns:a16="http://schemas.microsoft.com/office/drawing/2014/main" id="{D85DD660-7DDF-4F11-AA3A-5F782E874B91}"/>
                  </a:ext>
                </a:extLst>
              </p:cNvPr>
              <p:cNvSpPr txBox="1">
                <a:spLocks noRot="1" noChangeAspect="1" noMove="1" noResize="1" noEditPoints="1" noAdjustHandles="1" noChangeArrowheads="1" noChangeShapeType="1" noTextEdit="1"/>
              </p:cNvSpPr>
              <p:nvPr/>
            </p:nvSpPr>
            <p:spPr>
              <a:xfrm>
                <a:off x="2005015" y="3026835"/>
                <a:ext cx="3346878" cy="553998"/>
              </a:xfrm>
              <a:prstGeom prst="rect">
                <a:avLst/>
              </a:prstGeom>
              <a:blipFill>
                <a:blip r:embed="rId5"/>
                <a:stretch>
                  <a:fillRect/>
                </a:stretch>
              </a:blipFill>
            </p:spPr>
            <p:txBody>
              <a:bodyPr/>
              <a:lstStyle/>
              <a:p>
                <a:r>
                  <a:rPr lang="es-MX">
                    <a:noFill/>
                  </a:rPr>
                  <a:t> </a:t>
                </a:r>
              </a:p>
            </p:txBody>
          </p:sp>
        </mc:Fallback>
      </mc:AlternateContent>
      <p:sp>
        <p:nvSpPr>
          <p:cNvPr id="20" name="CuadroTexto 19">
            <a:extLst>
              <a:ext uri="{FF2B5EF4-FFF2-40B4-BE49-F238E27FC236}">
                <a16:creationId xmlns:a16="http://schemas.microsoft.com/office/drawing/2014/main" id="{6E17B857-9EFF-4340-AAD6-01514F0026D3}"/>
              </a:ext>
            </a:extLst>
          </p:cNvPr>
          <p:cNvSpPr txBox="1"/>
          <p:nvPr/>
        </p:nvSpPr>
        <p:spPr>
          <a:xfrm>
            <a:off x="4892710" y="2366979"/>
            <a:ext cx="1744434" cy="523220"/>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Donde:</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9535632-AEE0-48D0-921A-FD1D1A45416A}"/>
                  </a:ext>
                </a:extLst>
              </p:cNvPr>
              <p:cNvSpPr txBox="1"/>
              <p:nvPr/>
            </p:nvSpPr>
            <p:spPr>
              <a:xfrm>
                <a:off x="6637144" y="2366979"/>
                <a:ext cx="407188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1" i="1" smtClean="0">
                          <a:solidFill>
                            <a:srgbClr val="131D3F"/>
                          </a:solidFill>
                          <a:latin typeface="Cambria Math" panose="02040503050406030204" pitchFamily="18" charset="0"/>
                        </a:rPr>
                        <m:t>𝒚</m:t>
                      </m:r>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𝑉𝑎𝑖𝑎𝑏𝑙𝑒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𝑑𝑒𝑝𝑒𝑛𝑑𝑖𝑒𝑛𝑡𝑒</m:t>
                      </m:r>
                    </m:oMath>
                  </m:oMathPara>
                </a14:m>
                <a:endParaRPr lang="es-MX" sz="2800" dirty="0">
                  <a:solidFill>
                    <a:srgbClr val="131D3F"/>
                  </a:solidFill>
                </a:endParaRPr>
              </a:p>
            </p:txBody>
          </p:sp>
        </mc:Choice>
        <mc:Fallback xmlns="">
          <p:sp>
            <p:nvSpPr>
              <p:cNvPr id="21" name="CuadroTexto 20">
                <a:extLst>
                  <a:ext uri="{FF2B5EF4-FFF2-40B4-BE49-F238E27FC236}">
                    <a16:creationId xmlns:a16="http://schemas.microsoft.com/office/drawing/2014/main" id="{79535632-AEE0-48D0-921A-FD1D1A45416A}"/>
                  </a:ext>
                </a:extLst>
              </p:cNvPr>
              <p:cNvSpPr txBox="1">
                <a:spLocks noRot="1" noChangeAspect="1" noMove="1" noResize="1" noEditPoints="1" noAdjustHandles="1" noChangeArrowheads="1" noChangeShapeType="1" noTextEdit="1"/>
              </p:cNvSpPr>
              <p:nvPr/>
            </p:nvSpPr>
            <p:spPr>
              <a:xfrm>
                <a:off x="6637144" y="2366979"/>
                <a:ext cx="4071884" cy="430887"/>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89DC250-C36B-4B92-8812-5C595FCE6188}"/>
                  </a:ext>
                </a:extLst>
              </p:cNvPr>
              <p:cNvSpPr txBox="1"/>
              <p:nvPr/>
            </p:nvSpPr>
            <p:spPr>
              <a:xfrm>
                <a:off x="6637144" y="2872947"/>
                <a:ext cx="438761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1" i="1" smtClean="0">
                          <a:solidFill>
                            <a:srgbClr val="131D3F"/>
                          </a:solidFill>
                          <a:latin typeface="Cambria Math" panose="02040503050406030204" pitchFamily="18" charset="0"/>
                        </a:rPr>
                        <m:t>𝒙</m:t>
                      </m:r>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𝑉𝑎𝑖𝑎𝑏𝑙𝑒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𝑖𝑛𝑑𝑒𝑝𝑒𝑛𝑑𝑖𝑒𝑛𝑡𝑒</m:t>
                      </m:r>
                    </m:oMath>
                  </m:oMathPara>
                </a14:m>
                <a:endParaRPr lang="es-MX" sz="2800" dirty="0">
                  <a:solidFill>
                    <a:srgbClr val="131D3F"/>
                  </a:solidFill>
                </a:endParaRPr>
              </a:p>
            </p:txBody>
          </p:sp>
        </mc:Choice>
        <mc:Fallback xmlns="">
          <p:sp>
            <p:nvSpPr>
              <p:cNvPr id="22" name="CuadroTexto 21">
                <a:extLst>
                  <a:ext uri="{FF2B5EF4-FFF2-40B4-BE49-F238E27FC236}">
                    <a16:creationId xmlns:a16="http://schemas.microsoft.com/office/drawing/2014/main" id="{389DC250-C36B-4B92-8812-5C595FCE6188}"/>
                  </a:ext>
                </a:extLst>
              </p:cNvPr>
              <p:cNvSpPr txBox="1">
                <a:spLocks noRot="1" noChangeAspect="1" noMove="1" noResize="1" noEditPoints="1" noAdjustHandles="1" noChangeArrowheads="1" noChangeShapeType="1" noTextEdit="1"/>
              </p:cNvSpPr>
              <p:nvPr/>
            </p:nvSpPr>
            <p:spPr>
              <a:xfrm>
                <a:off x="6637144" y="2872947"/>
                <a:ext cx="4387611" cy="430887"/>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8A5F894-19C1-4C9B-984D-461CFD0025D9}"/>
                  </a:ext>
                </a:extLst>
              </p:cNvPr>
              <p:cNvSpPr txBox="1"/>
              <p:nvPr/>
            </p:nvSpPr>
            <p:spPr>
              <a:xfrm>
                <a:off x="6637144" y="3378915"/>
                <a:ext cx="42577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1" i="1" smtClean="0">
                          <a:solidFill>
                            <a:srgbClr val="131D3F"/>
                          </a:solidFill>
                          <a:latin typeface="Cambria Math" panose="02040503050406030204" pitchFamily="18" charset="0"/>
                        </a:rPr>
                        <m:t>𝒎</m:t>
                      </m:r>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𝑃𝑒𝑛𝑑𝑖𝑒𝑛𝑡𝑒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𝑑𝑒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𝑙𝑎</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𝑙</m:t>
                      </m:r>
                      <m:r>
                        <a:rPr lang="es-ES" sz="2800" b="0" i="1" smtClean="0">
                          <a:solidFill>
                            <a:srgbClr val="131D3F"/>
                          </a:solidFill>
                          <a:latin typeface="Cambria Math" panose="02040503050406030204" pitchFamily="18" charset="0"/>
                        </a:rPr>
                        <m:t>í</m:t>
                      </m:r>
                      <m:r>
                        <a:rPr lang="es-ES" sz="2800" b="0" i="1" smtClean="0">
                          <a:solidFill>
                            <a:srgbClr val="131D3F"/>
                          </a:solidFill>
                          <a:latin typeface="Cambria Math" panose="02040503050406030204" pitchFamily="18" charset="0"/>
                        </a:rPr>
                        <m:t>𝑛𝑒𝑎</m:t>
                      </m:r>
                    </m:oMath>
                  </m:oMathPara>
                </a14:m>
                <a:endParaRPr lang="es-MX" sz="2800" dirty="0">
                  <a:solidFill>
                    <a:srgbClr val="131D3F"/>
                  </a:solidFill>
                </a:endParaRPr>
              </a:p>
            </p:txBody>
          </p:sp>
        </mc:Choice>
        <mc:Fallback xmlns="">
          <p:sp>
            <p:nvSpPr>
              <p:cNvPr id="23" name="CuadroTexto 22">
                <a:extLst>
                  <a:ext uri="{FF2B5EF4-FFF2-40B4-BE49-F238E27FC236}">
                    <a16:creationId xmlns:a16="http://schemas.microsoft.com/office/drawing/2014/main" id="{B8A5F894-19C1-4C9B-984D-461CFD0025D9}"/>
                  </a:ext>
                </a:extLst>
              </p:cNvPr>
              <p:cNvSpPr txBox="1">
                <a:spLocks noRot="1" noChangeAspect="1" noMove="1" noResize="1" noEditPoints="1" noAdjustHandles="1" noChangeArrowheads="1" noChangeShapeType="1" noTextEdit="1"/>
              </p:cNvSpPr>
              <p:nvPr/>
            </p:nvSpPr>
            <p:spPr>
              <a:xfrm>
                <a:off x="6637144" y="3378915"/>
                <a:ext cx="4257768" cy="430887"/>
              </a:xfrm>
              <a:prstGeom prst="rect">
                <a:avLst/>
              </a:prstGeom>
              <a:blipFill>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BF9A79B-625C-4C3C-9872-49592E8644B1}"/>
                  </a:ext>
                </a:extLst>
              </p:cNvPr>
              <p:cNvSpPr txBox="1"/>
              <p:nvPr/>
            </p:nvSpPr>
            <p:spPr>
              <a:xfrm>
                <a:off x="6637144" y="3884883"/>
                <a:ext cx="46801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1" i="1" smtClean="0">
                          <a:solidFill>
                            <a:srgbClr val="131D3F"/>
                          </a:solidFill>
                          <a:latin typeface="Cambria Math" panose="02040503050406030204" pitchFamily="18" charset="0"/>
                        </a:rPr>
                        <m:t>𝒃</m:t>
                      </m:r>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𝐼𝑛𝑡𝑒𝑟𝑠𝑒𝑐𝑐𝑖</m:t>
                      </m:r>
                      <m:r>
                        <a:rPr lang="es-ES" sz="2800" b="0" i="1" smtClean="0">
                          <a:solidFill>
                            <a:srgbClr val="131D3F"/>
                          </a:solidFill>
                          <a:latin typeface="Cambria Math" panose="02040503050406030204" pitchFamily="18" charset="0"/>
                        </a:rPr>
                        <m:t>ó</m:t>
                      </m:r>
                      <m:r>
                        <a:rPr lang="es-ES" sz="2800" b="0" i="1" smtClean="0">
                          <a:solidFill>
                            <a:srgbClr val="131D3F"/>
                          </a:solidFill>
                          <a:latin typeface="Cambria Math" panose="02040503050406030204" pitchFamily="18" charset="0"/>
                        </a:rPr>
                        <m:t>𝑛</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𝑐𝑜𝑛</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𝑒𝑙</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𝑒𝑗𝑒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𝑌</m:t>
                      </m:r>
                    </m:oMath>
                  </m:oMathPara>
                </a14:m>
                <a:endParaRPr lang="es-MX" sz="2800" dirty="0">
                  <a:solidFill>
                    <a:srgbClr val="131D3F"/>
                  </a:solidFill>
                </a:endParaRPr>
              </a:p>
            </p:txBody>
          </p:sp>
        </mc:Choice>
        <mc:Fallback xmlns="">
          <p:sp>
            <p:nvSpPr>
              <p:cNvPr id="24" name="CuadroTexto 23">
                <a:extLst>
                  <a:ext uri="{FF2B5EF4-FFF2-40B4-BE49-F238E27FC236}">
                    <a16:creationId xmlns:a16="http://schemas.microsoft.com/office/drawing/2014/main" id="{9BF9A79B-625C-4C3C-9872-49592E8644B1}"/>
                  </a:ext>
                </a:extLst>
              </p:cNvPr>
              <p:cNvSpPr txBox="1">
                <a:spLocks noRot="1" noChangeAspect="1" noMove="1" noResize="1" noEditPoints="1" noAdjustHandles="1" noChangeArrowheads="1" noChangeShapeType="1" noTextEdit="1"/>
              </p:cNvSpPr>
              <p:nvPr/>
            </p:nvSpPr>
            <p:spPr>
              <a:xfrm>
                <a:off x="6637144" y="3884883"/>
                <a:ext cx="4680127" cy="430887"/>
              </a:xfrm>
              <a:prstGeom prst="rect">
                <a:avLst/>
              </a:prstGeom>
              <a:blipFill>
                <a:blip r:embed="rId9"/>
                <a:stretch>
                  <a:fillRect/>
                </a:stretch>
              </a:blipFill>
            </p:spPr>
            <p:txBody>
              <a:bodyPr/>
              <a:lstStyle/>
              <a:p>
                <a:r>
                  <a:rPr lang="es-MX">
                    <a:noFill/>
                  </a:rPr>
                  <a:t> </a:t>
                </a:r>
              </a:p>
            </p:txBody>
          </p:sp>
        </mc:Fallback>
      </mc:AlternateContent>
      <p:sp>
        <p:nvSpPr>
          <p:cNvPr id="26" name="CuadroTexto 25">
            <a:extLst>
              <a:ext uri="{FF2B5EF4-FFF2-40B4-BE49-F238E27FC236}">
                <a16:creationId xmlns:a16="http://schemas.microsoft.com/office/drawing/2014/main" id="{C944B4C1-0588-48CA-B6C0-1F8F79607032}"/>
              </a:ext>
            </a:extLst>
          </p:cNvPr>
          <p:cNvSpPr txBox="1"/>
          <p:nvPr/>
        </p:nvSpPr>
        <p:spPr>
          <a:xfrm>
            <a:off x="1019347" y="2367253"/>
            <a:ext cx="1971336" cy="523220"/>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Ecuación:</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5B527925-00ED-47E9-8520-E468FB4C2A9A}"/>
                  </a:ext>
                </a:extLst>
              </p:cNvPr>
              <p:cNvSpPr txBox="1"/>
              <p:nvPr/>
            </p:nvSpPr>
            <p:spPr>
              <a:xfrm>
                <a:off x="529258" y="4543657"/>
                <a:ext cx="5376792" cy="11534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600" b="0" i="1" smtClean="0">
                          <a:solidFill>
                            <a:srgbClr val="131D3F"/>
                          </a:solidFill>
                          <a:latin typeface="Cambria Math" panose="02040503050406030204" pitchFamily="18" charset="0"/>
                        </a:rPr>
                        <m:t>𝑚</m:t>
                      </m:r>
                      <m:r>
                        <a:rPr lang="es-ES" sz="3600" b="0" i="1" smtClean="0">
                          <a:solidFill>
                            <a:srgbClr val="131D3F"/>
                          </a:solidFill>
                          <a:latin typeface="Cambria Math" panose="02040503050406030204" pitchFamily="18" charset="0"/>
                        </a:rPr>
                        <m:t>=</m:t>
                      </m:r>
                      <m:f>
                        <m:fPr>
                          <m:ctrlPr>
                            <a:rPr lang="es-ES" sz="3600" b="0" i="1" smtClean="0">
                              <a:solidFill>
                                <a:srgbClr val="131D3F"/>
                              </a:solidFill>
                              <a:latin typeface="Cambria Math" panose="02040503050406030204" pitchFamily="18" charset="0"/>
                              <a:ea typeface="Cambria Math" panose="02040503050406030204" pitchFamily="18" charset="0"/>
                            </a:rPr>
                          </m:ctrlPr>
                        </m:fPr>
                        <m:num>
                          <m:r>
                            <m:rPr>
                              <m:sty m:val="p"/>
                            </m:rPr>
                            <a:rPr lang="el-GR" sz="3600" b="0" i="1" smtClean="0">
                              <a:solidFill>
                                <a:srgbClr val="131D3F"/>
                              </a:solidFill>
                              <a:latin typeface="Cambria Math" panose="02040503050406030204" pitchFamily="18" charset="0"/>
                              <a:ea typeface="Cambria Math" panose="02040503050406030204" pitchFamily="18" charset="0"/>
                            </a:rPr>
                            <m:t>Σ</m:t>
                          </m:r>
                          <m:r>
                            <a:rPr lang="es-ES" sz="3600" i="1">
                              <a:solidFill>
                                <a:srgbClr val="131D3F"/>
                              </a:solidFill>
                              <a:latin typeface="Cambria Math" panose="02040503050406030204" pitchFamily="18" charset="0"/>
                              <a:ea typeface="Cambria Math" panose="02040503050406030204" pitchFamily="18" charset="0"/>
                            </a:rPr>
                            <m:t>(</m:t>
                          </m:r>
                          <m:r>
                            <a:rPr lang="es-ES" sz="3600" i="1">
                              <a:solidFill>
                                <a:srgbClr val="131D3F"/>
                              </a:solidFill>
                              <a:latin typeface="Cambria Math" panose="02040503050406030204" pitchFamily="18" charset="0"/>
                              <a:ea typeface="Cambria Math" panose="02040503050406030204" pitchFamily="18" charset="0"/>
                            </a:rPr>
                            <m:t>𝑥𝑖</m:t>
                          </m:r>
                          <m:r>
                            <a:rPr lang="es-ES" sz="3600" b="0" i="1" smtClean="0">
                              <a:solidFill>
                                <a:srgbClr val="131D3F"/>
                              </a:solidFill>
                              <a:latin typeface="Cambria Math" panose="02040503050406030204" pitchFamily="18" charset="0"/>
                              <a:ea typeface="Cambria Math" panose="02040503050406030204" pitchFamily="18" charset="0"/>
                            </a:rPr>
                            <m:t>−</m:t>
                          </m:r>
                          <m:acc>
                            <m:accPr>
                              <m:chr m:val="̅"/>
                              <m:ctrlPr>
                                <a:rPr lang="es-ES" sz="3600" i="1">
                                  <a:solidFill>
                                    <a:srgbClr val="131D3F"/>
                                  </a:solidFill>
                                  <a:latin typeface="Cambria Math" panose="02040503050406030204" pitchFamily="18" charset="0"/>
                                  <a:ea typeface="Cambria Math" panose="02040503050406030204" pitchFamily="18" charset="0"/>
                                </a:rPr>
                              </m:ctrlPr>
                            </m:accPr>
                            <m:e>
                              <m:r>
                                <a:rPr lang="es-ES" sz="3600" i="1">
                                  <a:solidFill>
                                    <a:srgbClr val="131D3F"/>
                                  </a:solidFill>
                                  <a:latin typeface="Cambria Math" panose="02040503050406030204" pitchFamily="18" charset="0"/>
                                  <a:ea typeface="Cambria Math" panose="02040503050406030204" pitchFamily="18" charset="0"/>
                                </a:rPr>
                                <m:t>𝑥</m:t>
                              </m:r>
                            </m:e>
                          </m:acc>
                          <m:r>
                            <a:rPr lang="es-ES" sz="3600" b="0" i="1" smtClean="0">
                              <a:solidFill>
                                <a:srgbClr val="131D3F"/>
                              </a:solidFill>
                              <a:latin typeface="Cambria Math" panose="02040503050406030204" pitchFamily="18" charset="0"/>
                              <a:ea typeface="Cambria Math" panose="02040503050406030204" pitchFamily="18" charset="0"/>
                            </a:rPr>
                            <m:t>)(</m:t>
                          </m:r>
                          <m:r>
                            <a:rPr lang="es-ES" sz="3600" b="0" i="1" smtClean="0">
                              <a:solidFill>
                                <a:srgbClr val="131D3F"/>
                              </a:solidFill>
                              <a:latin typeface="Cambria Math" panose="02040503050406030204" pitchFamily="18" charset="0"/>
                              <a:ea typeface="Cambria Math" panose="02040503050406030204" pitchFamily="18" charset="0"/>
                            </a:rPr>
                            <m:t>𝑦𝑖</m:t>
                          </m:r>
                          <m:r>
                            <a:rPr lang="es-ES" sz="3600" b="0" i="1" smtClean="0">
                              <a:solidFill>
                                <a:srgbClr val="131D3F"/>
                              </a:solidFill>
                              <a:latin typeface="Cambria Math" panose="02040503050406030204" pitchFamily="18" charset="0"/>
                              <a:ea typeface="Cambria Math" panose="02040503050406030204" pitchFamily="18" charset="0"/>
                            </a:rPr>
                            <m:t>−</m:t>
                          </m:r>
                          <m:acc>
                            <m:accPr>
                              <m:chr m:val="̅"/>
                              <m:ctrlPr>
                                <a:rPr lang="es-ES" sz="3600" b="0" i="1" smtClean="0">
                                  <a:solidFill>
                                    <a:srgbClr val="131D3F"/>
                                  </a:solidFill>
                                  <a:latin typeface="Cambria Math" panose="02040503050406030204" pitchFamily="18" charset="0"/>
                                  <a:ea typeface="Cambria Math" panose="02040503050406030204" pitchFamily="18" charset="0"/>
                                </a:rPr>
                              </m:ctrlPr>
                            </m:accPr>
                            <m:e>
                              <m:r>
                                <a:rPr lang="es-ES" sz="3600" b="0" i="1" smtClean="0">
                                  <a:solidFill>
                                    <a:srgbClr val="131D3F"/>
                                  </a:solidFill>
                                  <a:latin typeface="Cambria Math" panose="02040503050406030204" pitchFamily="18" charset="0"/>
                                  <a:ea typeface="Cambria Math" panose="02040503050406030204" pitchFamily="18" charset="0"/>
                                </a:rPr>
                                <m:t>𝑦</m:t>
                              </m:r>
                            </m:e>
                          </m:acc>
                          <m:r>
                            <a:rPr lang="es-ES" sz="3600" b="0" i="1" smtClean="0">
                              <a:solidFill>
                                <a:srgbClr val="131D3F"/>
                              </a:solidFill>
                              <a:latin typeface="Cambria Math" panose="02040503050406030204" pitchFamily="18" charset="0"/>
                            </a:rPr>
                            <m:t>)</m:t>
                          </m:r>
                        </m:num>
                        <m:den>
                          <m:sSup>
                            <m:sSupPr>
                              <m:ctrlPr>
                                <a:rPr lang="es-ES" sz="3600" b="0" i="1" smtClean="0">
                                  <a:solidFill>
                                    <a:srgbClr val="131D3F"/>
                                  </a:solidFill>
                                  <a:latin typeface="Cambria Math" panose="02040503050406030204" pitchFamily="18" charset="0"/>
                                  <a:ea typeface="Cambria Math" panose="02040503050406030204" pitchFamily="18" charset="0"/>
                                </a:rPr>
                              </m:ctrlPr>
                            </m:sSupPr>
                            <m:e>
                              <m:r>
                                <m:rPr>
                                  <m:sty m:val="p"/>
                                </m:rPr>
                                <a:rPr lang="el-GR" sz="3600" i="1">
                                  <a:solidFill>
                                    <a:srgbClr val="131D3F"/>
                                  </a:solidFill>
                                  <a:latin typeface="Cambria Math" panose="02040503050406030204" pitchFamily="18" charset="0"/>
                                  <a:ea typeface="Cambria Math" panose="02040503050406030204" pitchFamily="18" charset="0"/>
                                </a:rPr>
                                <m:t>Σ</m:t>
                              </m:r>
                              <m:r>
                                <a:rPr lang="es-ES" sz="3600" i="1">
                                  <a:solidFill>
                                    <a:srgbClr val="131D3F"/>
                                  </a:solidFill>
                                  <a:latin typeface="Cambria Math" panose="02040503050406030204" pitchFamily="18" charset="0"/>
                                  <a:ea typeface="Cambria Math" panose="02040503050406030204" pitchFamily="18" charset="0"/>
                                </a:rPr>
                                <m:t>(</m:t>
                              </m:r>
                              <m:r>
                                <a:rPr lang="es-ES" sz="3600" i="1">
                                  <a:solidFill>
                                    <a:srgbClr val="131D3F"/>
                                  </a:solidFill>
                                  <a:latin typeface="Cambria Math" panose="02040503050406030204" pitchFamily="18" charset="0"/>
                                  <a:ea typeface="Cambria Math" panose="02040503050406030204" pitchFamily="18" charset="0"/>
                                </a:rPr>
                                <m:t>𝑥𝑖</m:t>
                              </m:r>
                              <m:r>
                                <a:rPr lang="es-ES" sz="3600" i="1">
                                  <a:solidFill>
                                    <a:srgbClr val="131D3F"/>
                                  </a:solidFill>
                                  <a:latin typeface="Cambria Math" panose="02040503050406030204" pitchFamily="18" charset="0"/>
                                  <a:ea typeface="Cambria Math" panose="02040503050406030204" pitchFamily="18" charset="0"/>
                                </a:rPr>
                                <m:t>−</m:t>
                              </m:r>
                              <m:acc>
                                <m:accPr>
                                  <m:chr m:val="̅"/>
                                  <m:ctrlPr>
                                    <a:rPr lang="es-ES" sz="3600" i="1">
                                      <a:solidFill>
                                        <a:srgbClr val="131D3F"/>
                                      </a:solidFill>
                                      <a:latin typeface="Cambria Math" panose="02040503050406030204" pitchFamily="18" charset="0"/>
                                      <a:ea typeface="Cambria Math" panose="02040503050406030204" pitchFamily="18" charset="0"/>
                                    </a:rPr>
                                  </m:ctrlPr>
                                </m:accPr>
                                <m:e>
                                  <m:r>
                                    <a:rPr lang="es-ES" sz="3600" i="1">
                                      <a:solidFill>
                                        <a:srgbClr val="131D3F"/>
                                      </a:solidFill>
                                      <a:latin typeface="Cambria Math" panose="02040503050406030204" pitchFamily="18" charset="0"/>
                                      <a:ea typeface="Cambria Math" panose="02040503050406030204" pitchFamily="18" charset="0"/>
                                    </a:rPr>
                                    <m:t>𝑥</m:t>
                                  </m:r>
                                </m:e>
                              </m:acc>
                              <m:r>
                                <a:rPr lang="es-ES" sz="3600" i="1">
                                  <a:solidFill>
                                    <a:srgbClr val="131D3F"/>
                                  </a:solidFill>
                                  <a:latin typeface="Cambria Math" panose="02040503050406030204" pitchFamily="18" charset="0"/>
                                  <a:ea typeface="Cambria Math" panose="02040503050406030204" pitchFamily="18" charset="0"/>
                                </a:rPr>
                                <m:t>)</m:t>
                              </m:r>
                            </m:e>
                            <m:sup>
                              <m:r>
                                <a:rPr lang="es-ES" sz="3600" b="0" i="1" smtClean="0">
                                  <a:solidFill>
                                    <a:srgbClr val="131D3F"/>
                                  </a:solidFill>
                                  <a:latin typeface="Cambria Math" panose="02040503050406030204" pitchFamily="18" charset="0"/>
                                  <a:ea typeface="Cambria Math" panose="02040503050406030204" pitchFamily="18" charset="0"/>
                                </a:rPr>
                                <m:t>2</m:t>
                              </m:r>
                            </m:sup>
                          </m:sSup>
                        </m:den>
                      </m:f>
                      <m:r>
                        <a:rPr lang="es-ES" sz="3600" b="0" i="1" smtClean="0">
                          <a:solidFill>
                            <a:srgbClr val="131D3F"/>
                          </a:solidFill>
                          <a:latin typeface="Cambria Math" panose="02040503050406030204" pitchFamily="18" charset="0"/>
                        </a:rPr>
                        <m:t>+</m:t>
                      </m:r>
                      <m:r>
                        <a:rPr lang="es-ES" sz="3600" b="0" i="1" smtClean="0">
                          <a:solidFill>
                            <a:srgbClr val="131D3F"/>
                          </a:solidFill>
                          <a:latin typeface="Cambria Math" panose="02040503050406030204" pitchFamily="18" charset="0"/>
                        </a:rPr>
                        <m:t>𝑏</m:t>
                      </m:r>
                    </m:oMath>
                  </m:oMathPara>
                </a14:m>
                <a:endParaRPr lang="es-MX" sz="3600" dirty="0">
                  <a:solidFill>
                    <a:srgbClr val="131D3F"/>
                  </a:solidFill>
                  <a:latin typeface="Cambria" panose="02040503050406030204" pitchFamily="18" charset="0"/>
                  <a:ea typeface="Cambria" panose="02040503050406030204" pitchFamily="18" charset="0"/>
                </a:endParaRPr>
              </a:p>
            </p:txBody>
          </p:sp>
        </mc:Choice>
        <mc:Fallback xmlns="">
          <p:sp>
            <p:nvSpPr>
              <p:cNvPr id="28" name="CuadroTexto 27">
                <a:extLst>
                  <a:ext uri="{FF2B5EF4-FFF2-40B4-BE49-F238E27FC236}">
                    <a16:creationId xmlns:a16="http://schemas.microsoft.com/office/drawing/2014/main" id="{5B527925-00ED-47E9-8520-E468FB4C2A9A}"/>
                  </a:ext>
                </a:extLst>
              </p:cNvPr>
              <p:cNvSpPr txBox="1">
                <a:spLocks noRot="1" noChangeAspect="1" noMove="1" noResize="1" noEditPoints="1" noAdjustHandles="1" noChangeArrowheads="1" noChangeShapeType="1" noTextEdit="1"/>
              </p:cNvSpPr>
              <p:nvPr/>
            </p:nvSpPr>
            <p:spPr>
              <a:xfrm>
                <a:off x="529258" y="4543657"/>
                <a:ext cx="5376792" cy="1153457"/>
              </a:xfrm>
              <a:prstGeom prst="rect">
                <a:avLst/>
              </a:prstGeom>
              <a:blipFill>
                <a:blip r:embed="rId10"/>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8F662CA7-CA53-4AFC-B1F2-97383276CE7F}"/>
                  </a:ext>
                </a:extLst>
              </p:cNvPr>
              <p:cNvSpPr txBox="1"/>
              <p:nvPr/>
            </p:nvSpPr>
            <p:spPr>
              <a:xfrm>
                <a:off x="6637143" y="4424036"/>
                <a:ext cx="495058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ES" sz="2800" b="1" i="1" smtClean="0">
                              <a:solidFill>
                                <a:srgbClr val="131D3F"/>
                              </a:solidFill>
                              <a:latin typeface="Cambria Math" panose="02040503050406030204" pitchFamily="18" charset="0"/>
                            </a:rPr>
                          </m:ctrlPr>
                        </m:accPr>
                        <m:e>
                          <m:r>
                            <a:rPr lang="es-ES" sz="2800" b="1" i="1" smtClean="0">
                              <a:solidFill>
                                <a:srgbClr val="131D3F"/>
                              </a:solidFill>
                              <a:latin typeface="Cambria Math" panose="02040503050406030204" pitchFamily="18" charset="0"/>
                            </a:rPr>
                            <m:t>𝒙</m:t>
                          </m:r>
                        </m:e>
                      </m:acc>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𝑃𝑟𝑜𝑚𝑒𝑑𝑖𝑜</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𝑑𝑒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𝑙𝑜𝑠</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𝑣𝑎𝑙𝑜𝑟𝑒𝑠</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𝑥</m:t>
                      </m:r>
                    </m:oMath>
                  </m:oMathPara>
                </a14:m>
                <a:endParaRPr lang="es-MX" sz="2800" dirty="0">
                  <a:solidFill>
                    <a:srgbClr val="131D3F"/>
                  </a:solidFill>
                </a:endParaRPr>
              </a:p>
            </p:txBody>
          </p:sp>
        </mc:Choice>
        <mc:Fallback xmlns="">
          <p:sp>
            <p:nvSpPr>
              <p:cNvPr id="29" name="CuadroTexto 28">
                <a:extLst>
                  <a:ext uri="{FF2B5EF4-FFF2-40B4-BE49-F238E27FC236}">
                    <a16:creationId xmlns:a16="http://schemas.microsoft.com/office/drawing/2014/main" id="{8F662CA7-CA53-4AFC-B1F2-97383276CE7F}"/>
                  </a:ext>
                </a:extLst>
              </p:cNvPr>
              <p:cNvSpPr txBox="1">
                <a:spLocks noRot="1" noChangeAspect="1" noMove="1" noResize="1" noEditPoints="1" noAdjustHandles="1" noChangeArrowheads="1" noChangeShapeType="1" noTextEdit="1"/>
              </p:cNvSpPr>
              <p:nvPr/>
            </p:nvSpPr>
            <p:spPr>
              <a:xfrm>
                <a:off x="6637143" y="4424036"/>
                <a:ext cx="4950586" cy="430887"/>
              </a:xfrm>
              <a:prstGeom prst="rect">
                <a:avLst/>
              </a:prstGeom>
              <a:blipFill>
                <a:blip r:embed="rId11"/>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C2320E57-6CAD-4688-B9EA-1DF5B212F984}"/>
                  </a:ext>
                </a:extLst>
              </p:cNvPr>
              <p:cNvSpPr txBox="1"/>
              <p:nvPr/>
            </p:nvSpPr>
            <p:spPr>
              <a:xfrm>
                <a:off x="6637143" y="5410638"/>
                <a:ext cx="5158976" cy="430887"/>
              </a:xfrm>
              <a:prstGeom prst="rect">
                <a:avLst/>
              </a:prstGeom>
              <a:noFill/>
            </p:spPr>
            <p:txBody>
              <a:bodyPr wrap="none" lIns="0" tIns="0" rIns="0" bIns="0" rtlCol="0">
                <a:spAutoFit/>
              </a:bodyPr>
              <a:lstStyle/>
              <a:p>
                <a:r>
                  <a:rPr lang="es-ES" sz="2800" b="1" dirty="0">
                    <a:solidFill>
                      <a:srgbClr val="131D3F"/>
                    </a:solidFill>
                  </a:rPr>
                  <a:t> </a:t>
                </a:r>
                <a14:m>
                  <m:oMath xmlns:m="http://schemas.openxmlformats.org/officeDocument/2006/math">
                    <m:acc>
                      <m:accPr>
                        <m:chr m:val="̅"/>
                        <m:ctrlPr>
                          <a:rPr lang="es-ES" sz="2800" b="1" i="1" smtClean="0">
                            <a:solidFill>
                              <a:srgbClr val="131D3F"/>
                            </a:solidFill>
                            <a:latin typeface="Cambria Math" panose="02040503050406030204" pitchFamily="18" charset="0"/>
                          </a:rPr>
                        </m:ctrlPr>
                      </m:accPr>
                      <m:e>
                        <m:r>
                          <a:rPr lang="es-ES" sz="2800" b="1" i="1" smtClean="0">
                            <a:solidFill>
                              <a:srgbClr val="131D3F"/>
                            </a:solidFill>
                            <a:latin typeface="Cambria Math" panose="02040503050406030204" pitchFamily="18" charset="0"/>
                          </a:rPr>
                          <m:t>𝒚</m:t>
                        </m:r>
                      </m:e>
                    </m:acc>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𝑃𝑟𝑜𝑚𝑒𝑑𝑖𝑜</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𝑑𝑒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𝑙𝑜𝑠</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𝑣𝑎𝑙𝑜𝑟𝑒𝑠</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𝑦</m:t>
                    </m:r>
                  </m:oMath>
                </a14:m>
                <a:endParaRPr lang="es-MX" sz="2800" dirty="0">
                  <a:solidFill>
                    <a:srgbClr val="131D3F"/>
                  </a:solidFill>
                </a:endParaRPr>
              </a:p>
            </p:txBody>
          </p:sp>
        </mc:Choice>
        <mc:Fallback xmlns="">
          <p:sp>
            <p:nvSpPr>
              <p:cNvPr id="30" name="CuadroTexto 29">
                <a:extLst>
                  <a:ext uri="{FF2B5EF4-FFF2-40B4-BE49-F238E27FC236}">
                    <a16:creationId xmlns:a16="http://schemas.microsoft.com/office/drawing/2014/main" id="{C2320E57-6CAD-4688-B9EA-1DF5B212F984}"/>
                  </a:ext>
                </a:extLst>
              </p:cNvPr>
              <p:cNvSpPr txBox="1">
                <a:spLocks noRot="1" noChangeAspect="1" noMove="1" noResize="1" noEditPoints="1" noAdjustHandles="1" noChangeArrowheads="1" noChangeShapeType="1" noTextEdit="1"/>
              </p:cNvSpPr>
              <p:nvPr/>
            </p:nvSpPr>
            <p:spPr>
              <a:xfrm>
                <a:off x="6637143" y="5410638"/>
                <a:ext cx="5158976" cy="430887"/>
              </a:xfrm>
              <a:prstGeom prst="rect">
                <a:avLst/>
              </a:prstGeom>
              <a:blipFill>
                <a:blip r:embed="rId12"/>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9A758CED-F33F-4681-B67A-5EDEA80D42D5}"/>
                  </a:ext>
                </a:extLst>
              </p:cNvPr>
              <p:cNvSpPr txBox="1"/>
              <p:nvPr/>
            </p:nvSpPr>
            <p:spPr>
              <a:xfrm>
                <a:off x="6637143" y="4930004"/>
                <a:ext cx="28931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1" i="1" smtClean="0">
                          <a:solidFill>
                            <a:srgbClr val="131D3F"/>
                          </a:solidFill>
                          <a:latin typeface="Cambria Math" panose="02040503050406030204" pitchFamily="18" charset="0"/>
                        </a:rPr>
                        <m:t>𝒙𝒊</m:t>
                      </m:r>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𝑉𝑎𝑙𝑜𝑟𝑒𝑠</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𝑑𝑒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𝑥</m:t>
                      </m:r>
                    </m:oMath>
                  </m:oMathPara>
                </a14:m>
                <a:endParaRPr lang="es-MX" sz="2800" dirty="0">
                  <a:solidFill>
                    <a:srgbClr val="131D3F"/>
                  </a:solidFill>
                </a:endParaRPr>
              </a:p>
            </p:txBody>
          </p:sp>
        </mc:Choice>
        <mc:Fallback xmlns="">
          <p:sp>
            <p:nvSpPr>
              <p:cNvPr id="31" name="CuadroTexto 30">
                <a:extLst>
                  <a:ext uri="{FF2B5EF4-FFF2-40B4-BE49-F238E27FC236}">
                    <a16:creationId xmlns:a16="http://schemas.microsoft.com/office/drawing/2014/main" id="{9A758CED-F33F-4681-B67A-5EDEA80D42D5}"/>
                  </a:ext>
                </a:extLst>
              </p:cNvPr>
              <p:cNvSpPr txBox="1">
                <a:spLocks noRot="1" noChangeAspect="1" noMove="1" noResize="1" noEditPoints="1" noAdjustHandles="1" noChangeArrowheads="1" noChangeShapeType="1" noTextEdit="1"/>
              </p:cNvSpPr>
              <p:nvPr/>
            </p:nvSpPr>
            <p:spPr>
              <a:xfrm>
                <a:off x="6637143" y="4930004"/>
                <a:ext cx="2893100" cy="430887"/>
              </a:xfrm>
              <a:prstGeom prst="rect">
                <a:avLst/>
              </a:prstGeom>
              <a:blipFill>
                <a:blip r:embed="rId13"/>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85A7531D-70C3-4E50-982B-DD5E2FA9EC99}"/>
                  </a:ext>
                </a:extLst>
              </p:cNvPr>
              <p:cNvSpPr txBox="1"/>
              <p:nvPr/>
            </p:nvSpPr>
            <p:spPr>
              <a:xfrm>
                <a:off x="6637143" y="5893642"/>
                <a:ext cx="29059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800" b="1" i="1" smtClean="0">
                          <a:solidFill>
                            <a:srgbClr val="131D3F"/>
                          </a:solidFill>
                          <a:latin typeface="Cambria Math" panose="02040503050406030204" pitchFamily="18" charset="0"/>
                        </a:rPr>
                        <m:t>𝒚𝒊</m:t>
                      </m:r>
                      <m:r>
                        <a:rPr lang="es-ES" sz="2800" b="1" i="1" smtClean="0">
                          <a:solidFill>
                            <a:srgbClr val="131D3F"/>
                          </a:solidFill>
                          <a:latin typeface="Cambria Math" panose="02040503050406030204" pitchFamily="18" charset="0"/>
                        </a:rPr>
                        <m:t>=</m:t>
                      </m:r>
                      <m:r>
                        <a:rPr lang="es-ES" sz="2800" b="0" i="1" smtClean="0">
                          <a:solidFill>
                            <a:srgbClr val="131D3F"/>
                          </a:solidFill>
                          <a:latin typeface="Cambria Math" panose="02040503050406030204" pitchFamily="18" charset="0"/>
                        </a:rPr>
                        <m:t>𝑉𝑎𝑙𝑜𝑟𝑒𝑠</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𝑑𝑒</m:t>
                      </m:r>
                      <m:r>
                        <a:rPr lang="es-ES" sz="2800" b="0" i="1" smtClean="0">
                          <a:solidFill>
                            <a:srgbClr val="131D3F"/>
                          </a:solidFill>
                          <a:latin typeface="Cambria Math" panose="02040503050406030204" pitchFamily="18" charset="0"/>
                        </a:rPr>
                        <m:t> </m:t>
                      </m:r>
                      <m:r>
                        <a:rPr lang="es-ES" sz="2800" b="0" i="1" smtClean="0">
                          <a:solidFill>
                            <a:srgbClr val="131D3F"/>
                          </a:solidFill>
                          <a:latin typeface="Cambria Math" panose="02040503050406030204" pitchFamily="18" charset="0"/>
                        </a:rPr>
                        <m:t>𝑦</m:t>
                      </m:r>
                    </m:oMath>
                  </m:oMathPara>
                </a14:m>
                <a:endParaRPr lang="es-MX" sz="2800" dirty="0">
                  <a:solidFill>
                    <a:srgbClr val="131D3F"/>
                  </a:solidFill>
                </a:endParaRPr>
              </a:p>
            </p:txBody>
          </p:sp>
        </mc:Choice>
        <mc:Fallback xmlns="">
          <p:sp>
            <p:nvSpPr>
              <p:cNvPr id="32" name="CuadroTexto 31">
                <a:extLst>
                  <a:ext uri="{FF2B5EF4-FFF2-40B4-BE49-F238E27FC236}">
                    <a16:creationId xmlns:a16="http://schemas.microsoft.com/office/drawing/2014/main" id="{85A7531D-70C3-4E50-982B-DD5E2FA9EC99}"/>
                  </a:ext>
                </a:extLst>
              </p:cNvPr>
              <p:cNvSpPr txBox="1">
                <a:spLocks noRot="1" noChangeAspect="1" noMove="1" noResize="1" noEditPoints="1" noAdjustHandles="1" noChangeArrowheads="1" noChangeShapeType="1" noTextEdit="1"/>
              </p:cNvSpPr>
              <p:nvPr/>
            </p:nvSpPr>
            <p:spPr>
              <a:xfrm>
                <a:off x="6637143" y="5893642"/>
                <a:ext cx="2905988" cy="430887"/>
              </a:xfrm>
              <a:prstGeom prst="rect">
                <a:avLst/>
              </a:prstGeom>
              <a:blipFill>
                <a:blip r:embed="rId14"/>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4815663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129</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861774"/>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 - Ejemplo</a:t>
            </a:r>
          </a:p>
          <a:p>
            <a:pPr lvl="1" algn="just">
              <a:spcAft>
                <a:spcPts val="1200"/>
              </a:spcAft>
            </a:pPr>
            <a:r>
              <a:rPr lang="es-ES" sz="2000" dirty="0">
                <a:solidFill>
                  <a:srgbClr val="131D3F"/>
                </a:solidFill>
                <a:latin typeface="Montserrat" panose="00000500000000000000" pitchFamily="2" charset="0"/>
              </a:rPr>
              <a:t>Relación de edad vs Estatura</a:t>
            </a:r>
          </a:p>
        </p:txBody>
      </p:sp>
      <p:graphicFrame>
        <p:nvGraphicFramePr>
          <p:cNvPr id="36" name="Tabla 35">
            <a:extLst>
              <a:ext uri="{FF2B5EF4-FFF2-40B4-BE49-F238E27FC236}">
                <a16:creationId xmlns:a16="http://schemas.microsoft.com/office/drawing/2014/main" id="{8EF0A618-FDFF-4845-96F4-898410127375}"/>
              </a:ext>
            </a:extLst>
          </p:cNvPr>
          <p:cNvGraphicFramePr>
            <a:graphicFrameLocks noGrp="1"/>
          </p:cNvGraphicFramePr>
          <p:nvPr>
            <p:extLst>
              <p:ext uri="{D42A27DB-BD31-4B8C-83A1-F6EECF244321}">
                <p14:modId xmlns:p14="http://schemas.microsoft.com/office/powerpoint/2010/main" val="1627546640"/>
              </p:ext>
            </p:extLst>
          </p:nvPr>
        </p:nvGraphicFramePr>
        <p:xfrm>
          <a:off x="634761" y="3217613"/>
          <a:ext cx="10922477" cy="861774"/>
        </p:xfrm>
        <a:graphic>
          <a:graphicData uri="http://schemas.openxmlformats.org/drawingml/2006/table">
            <a:tbl>
              <a:tblPr>
                <a:tableStyleId>{5C22544A-7EE6-4342-B048-85BDC9FD1C3A}</a:tableStyleId>
              </a:tblPr>
              <a:tblGrid>
                <a:gridCol w="1341357">
                  <a:extLst>
                    <a:ext uri="{9D8B030D-6E8A-4147-A177-3AD203B41FA5}">
                      <a16:colId xmlns:a16="http://schemas.microsoft.com/office/drawing/2014/main" val="3143135648"/>
                    </a:ext>
                  </a:extLst>
                </a:gridCol>
                <a:gridCol w="479056">
                  <a:extLst>
                    <a:ext uri="{9D8B030D-6E8A-4147-A177-3AD203B41FA5}">
                      <a16:colId xmlns:a16="http://schemas.microsoft.com/office/drawing/2014/main" val="4219665444"/>
                    </a:ext>
                  </a:extLst>
                </a:gridCol>
                <a:gridCol w="479056">
                  <a:extLst>
                    <a:ext uri="{9D8B030D-6E8A-4147-A177-3AD203B41FA5}">
                      <a16:colId xmlns:a16="http://schemas.microsoft.com/office/drawing/2014/main" val="1514915022"/>
                    </a:ext>
                  </a:extLst>
                </a:gridCol>
                <a:gridCol w="479056">
                  <a:extLst>
                    <a:ext uri="{9D8B030D-6E8A-4147-A177-3AD203B41FA5}">
                      <a16:colId xmlns:a16="http://schemas.microsoft.com/office/drawing/2014/main" val="633054701"/>
                    </a:ext>
                  </a:extLst>
                </a:gridCol>
                <a:gridCol w="479056">
                  <a:extLst>
                    <a:ext uri="{9D8B030D-6E8A-4147-A177-3AD203B41FA5}">
                      <a16:colId xmlns:a16="http://schemas.microsoft.com/office/drawing/2014/main" val="4043390728"/>
                    </a:ext>
                  </a:extLst>
                </a:gridCol>
                <a:gridCol w="479056">
                  <a:extLst>
                    <a:ext uri="{9D8B030D-6E8A-4147-A177-3AD203B41FA5}">
                      <a16:colId xmlns:a16="http://schemas.microsoft.com/office/drawing/2014/main" val="1770807165"/>
                    </a:ext>
                  </a:extLst>
                </a:gridCol>
                <a:gridCol w="479056">
                  <a:extLst>
                    <a:ext uri="{9D8B030D-6E8A-4147-A177-3AD203B41FA5}">
                      <a16:colId xmlns:a16="http://schemas.microsoft.com/office/drawing/2014/main" val="442960467"/>
                    </a:ext>
                  </a:extLst>
                </a:gridCol>
                <a:gridCol w="479056">
                  <a:extLst>
                    <a:ext uri="{9D8B030D-6E8A-4147-A177-3AD203B41FA5}">
                      <a16:colId xmlns:a16="http://schemas.microsoft.com/office/drawing/2014/main" val="1168244135"/>
                    </a:ext>
                  </a:extLst>
                </a:gridCol>
                <a:gridCol w="479056">
                  <a:extLst>
                    <a:ext uri="{9D8B030D-6E8A-4147-A177-3AD203B41FA5}">
                      <a16:colId xmlns:a16="http://schemas.microsoft.com/office/drawing/2014/main" val="1161565289"/>
                    </a:ext>
                  </a:extLst>
                </a:gridCol>
                <a:gridCol w="479056">
                  <a:extLst>
                    <a:ext uri="{9D8B030D-6E8A-4147-A177-3AD203B41FA5}">
                      <a16:colId xmlns:a16="http://schemas.microsoft.com/office/drawing/2014/main" val="2047867600"/>
                    </a:ext>
                  </a:extLst>
                </a:gridCol>
                <a:gridCol w="479056">
                  <a:extLst>
                    <a:ext uri="{9D8B030D-6E8A-4147-A177-3AD203B41FA5}">
                      <a16:colId xmlns:a16="http://schemas.microsoft.com/office/drawing/2014/main" val="4060364344"/>
                    </a:ext>
                  </a:extLst>
                </a:gridCol>
                <a:gridCol w="479056">
                  <a:extLst>
                    <a:ext uri="{9D8B030D-6E8A-4147-A177-3AD203B41FA5}">
                      <a16:colId xmlns:a16="http://schemas.microsoft.com/office/drawing/2014/main" val="324401611"/>
                    </a:ext>
                  </a:extLst>
                </a:gridCol>
                <a:gridCol w="479056">
                  <a:extLst>
                    <a:ext uri="{9D8B030D-6E8A-4147-A177-3AD203B41FA5}">
                      <a16:colId xmlns:a16="http://schemas.microsoft.com/office/drawing/2014/main" val="1307988716"/>
                    </a:ext>
                  </a:extLst>
                </a:gridCol>
                <a:gridCol w="479056">
                  <a:extLst>
                    <a:ext uri="{9D8B030D-6E8A-4147-A177-3AD203B41FA5}">
                      <a16:colId xmlns:a16="http://schemas.microsoft.com/office/drawing/2014/main" val="1323458934"/>
                    </a:ext>
                  </a:extLst>
                </a:gridCol>
                <a:gridCol w="479056">
                  <a:extLst>
                    <a:ext uri="{9D8B030D-6E8A-4147-A177-3AD203B41FA5}">
                      <a16:colId xmlns:a16="http://schemas.microsoft.com/office/drawing/2014/main" val="2665215371"/>
                    </a:ext>
                  </a:extLst>
                </a:gridCol>
                <a:gridCol w="479056">
                  <a:extLst>
                    <a:ext uri="{9D8B030D-6E8A-4147-A177-3AD203B41FA5}">
                      <a16:colId xmlns:a16="http://schemas.microsoft.com/office/drawing/2014/main" val="3894593990"/>
                    </a:ext>
                  </a:extLst>
                </a:gridCol>
                <a:gridCol w="479056">
                  <a:extLst>
                    <a:ext uri="{9D8B030D-6E8A-4147-A177-3AD203B41FA5}">
                      <a16:colId xmlns:a16="http://schemas.microsoft.com/office/drawing/2014/main" val="1450418854"/>
                    </a:ext>
                  </a:extLst>
                </a:gridCol>
                <a:gridCol w="479056">
                  <a:extLst>
                    <a:ext uri="{9D8B030D-6E8A-4147-A177-3AD203B41FA5}">
                      <a16:colId xmlns:a16="http://schemas.microsoft.com/office/drawing/2014/main" val="1037501118"/>
                    </a:ext>
                  </a:extLst>
                </a:gridCol>
                <a:gridCol w="479056">
                  <a:extLst>
                    <a:ext uri="{9D8B030D-6E8A-4147-A177-3AD203B41FA5}">
                      <a16:colId xmlns:a16="http://schemas.microsoft.com/office/drawing/2014/main" val="3927163215"/>
                    </a:ext>
                  </a:extLst>
                </a:gridCol>
                <a:gridCol w="479056">
                  <a:extLst>
                    <a:ext uri="{9D8B030D-6E8A-4147-A177-3AD203B41FA5}">
                      <a16:colId xmlns:a16="http://schemas.microsoft.com/office/drawing/2014/main" val="820200458"/>
                    </a:ext>
                  </a:extLst>
                </a:gridCol>
                <a:gridCol w="479056">
                  <a:extLst>
                    <a:ext uri="{9D8B030D-6E8A-4147-A177-3AD203B41FA5}">
                      <a16:colId xmlns:a16="http://schemas.microsoft.com/office/drawing/2014/main" val="748908422"/>
                    </a:ext>
                  </a:extLst>
                </a:gridCol>
              </a:tblGrid>
              <a:tr h="430887">
                <a:tc>
                  <a:txBody>
                    <a:bodyPr/>
                    <a:lstStyle/>
                    <a:p>
                      <a:pPr algn="l" fontAlgn="b"/>
                      <a:r>
                        <a:rPr lang="es-MX" sz="1600" b="1" u="none" strike="noStrike" dirty="0">
                          <a:effectLst/>
                          <a:latin typeface="Montserrat" panose="00000500000000000000" pitchFamily="2" charset="0"/>
                        </a:rPr>
                        <a:t>Edad (x)</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13</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14</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14</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16</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16</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19</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19</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19</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20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20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20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20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4246"/>
                  </a:ext>
                </a:extLst>
              </a:tr>
              <a:tr h="430887">
                <a:tc>
                  <a:txBody>
                    <a:bodyPr/>
                    <a:lstStyle/>
                    <a:p>
                      <a:pPr algn="l" fontAlgn="b"/>
                      <a:r>
                        <a:rPr lang="es-MX" sz="1600" b="1" u="none" strike="noStrike" dirty="0">
                          <a:effectLst/>
                          <a:latin typeface="Montserrat" panose="00000500000000000000" pitchFamily="2" charset="0"/>
                        </a:rPr>
                        <a:t>Estatura (y)</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150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155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dirty="0">
                          <a:effectLst/>
                          <a:latin typeface="Montserrat" panose="00000500000000000000" pitchFamily="2" charset="0"/>
                        </a:rPr>
                        <a:t>158</a:t>
                      </a:r>
                      <a:endParaRPr lang="es-MX" sz="16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160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162</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165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168</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172</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178</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182</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183</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187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190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192</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a:effectLst/>
                          <a:latin typeface="Montserrat" panose="00000500000000000000" pitchFamily="2" charset="0"/>
                        </a:rPr>
                        <a:t>195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600" u="none" strike="noStrike" dirty="0">
                          <a:effectLst/>
                          <a:latin typeface="Montserrat" panose="00000500000000000000" pitchFamily="2" charset="0"/>
                        </a:rPr>
                        <a:t>198</a:t>
                      </a:r>
                      <a:endParaRPr lang="es-MX" sz="16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8130263"/>
                  </a:ext>
                </a:extLst>
              </a:tr>
            </a:tbl>
          </a:graphicData>
        </a:graphic>
      </p:graphicFrame>
      <p:sp>
        <p:nvSpPr>
          <p:cNvPr id="37" name="CuadroTexto 36">
            <a:extLst>
              <a:ext uri="{FF2B5EF4-FFF2-40B4-BE49-F238E27FC236}">
                <a16:creationId xmlns:a16="http://schemas.microsoft.com/office/drawing/2014/main" id="{4C245646-D293-45AA-B7A2-6487EA8CA5D5}"/>
              </a:ext>
            </a:extLst>
          </p:cNvPr>
          <p:cNvSpPr txBox="1"/>
          <p:nvPr/>
        </p:nvSpPr>
        <p:spPr>
          <a:xfrm>
            <a:off x="447773" y="2544266"/>
            <a:ext cx="11296454"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Datos:</a:t>
            </a:r>
            <a:endParaRPr lang="es-ES" sz="2000" dirty="0">
              <a:solidFill>
                <a:srgbClr val="131D3F"/>
              </a:solidFill>
              <a:latin typeface="Montserrat" panose="00000500000000000000" pitchFamily="2" charset="0"/>
            </a:endParaRPr>
          </a:p>
        </p:txBody>
      </p:sp>
      <p:sp>
        <p:nvSpPr>
          <p:cNvPr id="39" name="CuadroTexto 38">
            <a:extLst>
              <a:ext uri="{FF2B5EF4-FFF2-40B4-BE49-F238E27FC236}">
                <a16:creationId xmlns:a16="http://schemas.microsoft.com/office/drawing/2014/main" id="{F217B163-B93C-4C43-8BAF-66F0F86F78F8}"/>
              </a:ext>
            </a:extLst>
          </p:cNvPr>
          <p:cNvSpPr txBox="1"/>
          <p:nvPr/>
        </p:nvSpPr>
        <p:spPr>
          <a:xfrm>
            <a:off x="429038" y="4283174"/>
            <a:ext cx="1971336"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Ecuación:</a:t>
            </a:r>
          </a:p>
        </p:txBody>
      </p:sp>
      <p:sp>
        <p:nvSpPr>
          <p:cNvPr id="40" name="CuadroTexto 39">
            <a:extLst>
              <a:ext uri="{FF2B5EF4-FFF2-40B4-BE49-F238E27FC236}">
                <a16:creationId xmlns:a16="http://schemas.microsoft.com/office/drawing/2014/main" id="{258BB318-AB28-466F-BF45-67110F5BA968}"/>
              </a:ext>
            </a:extLst>
          </p:cNvPr>
          <p:cNvSpPr txBox="1"/>
          <p:nvPr/>
        </p:nvSpPr>
        <p:spPr>
          <a:xfrm>
            <a:off x="447773" y="5437939"/>
            <a:ext cx="11296454"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Paso 1: </a:t>
            </a:r>
            <a:r>
              <a:rPr lang="es-ES" sz="2000" dirty="0">
                <a:solidFill>
                  <a:srgbClr val="131D3F"/>
                </a:solidFill>
                <a:latin typeface="Montserrat" panose="00000500000000000000" pitchFamily="2" charset="0"/>
              </a:rPr>
              <a:t>Calcular el promedio de “X” y “Y”</a:t>
            </a:r>
          </a:p>
        </p:txBody>
      </p:sp>
      <p:sp>
        <p:nvSpPr>
          <p:cNvPr id="41" name="CuadroTexto 40">
            <a:extLst>
              <a:ext uri="{FF2B5EF4-FFF2-40B4-BE49-F238E27FC236}">
                <a16:creationId xmlns:a16="http://schemas.microsoft.com/office/drawing/2014/main" id="{54241E16-15FA-4FC8-AF24-810A8ABDD2AD}"/>
              </a:ext>
            </a:extLst>
          </p:cNvPr>
          <p:cNvSpPr txBox="1"/>
          <p:nvPr/>
        </p:nvSpPr>
        <p:spPr>
          <a:xfrm>
            <a:off x="447773" y="5951311"/>
            <a:ext cx="3619293" cy="400110"/>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Promedio de X: 17.1</a:t>
            </a:r>
          </a:p>
        </p:txBody>
      </p:sp>
      <p:sp>
        <p:nvSpPr>
          <p:cNvPr id="42" name="CuadroTexto 41">
            <a:extLst>
              <a:ext uri="{FF2B5EF4-FFF2-40B4-BE49-F238E27FC236}">
                <a16:creationId xmlns:a16="http://schemas.microsoft.com/office/drawing/2014/main" id="{7E91BE28-2EB8-471C-8905-A8B627F148F1}"/>
              </a:ext>
            </a:extLst>
          </p:cNvPr>
          <p:cNvSpPr txBox="1"/>
          <p:nvPr/>
        </p:nvSpPr>
        <p:spPr>
          <a:xfrm>
            <a:off x="4286353" y="5951311"/>
            <a:ext cx="3619293" cy="400110"/>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Promedio de Y: 175.25</a:t>
            </a:r>
          </a:p>
        </p:txBody>
      </p: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6FC3DAE4-9840-4FE0-A737-7CB49F3B829A}"/>
                  </a:ext>
                </a:extLst>
              </p:cNvPr>
              <p:cNvSpPr txBox="1"/>
              <p:nvPr/>
            </p:nvSpPr>
            <p:spPr>
              <a:xfrm>
                <a:off x="1414706" y="4610072"/>
                <a:ext cx="3346878"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600" b="0" i="1" smtClean="0">
                          <a:solidFill>
                            <a:srgbClr val="131D3F"/>
                          </a:solidFill>
                          <a:latin typeface="Cambria Math" panose="02040503050406030204" pitchFamily="18" charset="0"/>
                        </a:rPr>
                        <m:t>𝑏</m:t>
                      </m:r>
                      <m:r>
                        <a:rPr lang="es-ES" sz="3600" b="0" i="1" smtClean="0">
                          <a:solidFill>
                            <a:srgbClr val="131D3F"/>
                          </a:solidFill>
                          <a:latin typeface="Cambria Math" panose="02040503050406030204" pitchFamily="18" charset="0"/>
                        </a:rPr>
                        <m:t>=</m:t>
                      </m:r>
                      <m:acc>
                        <m:accPr>
                          <m:chr m:val="̅"/>
                          <m:ctrlPr>
                            <a:rPr lang="es-ES" sz="3600" i="1">
                              <a:solidFill>
                                <a:srgbClr val="131D3F"/>
                              </a:solidFill>
                              <a:latin typeface="Cambria Math" panose="02040503050406030204" pitchFamily="18" charset="0"/>
                              <a:ea typeface="Cambria Math" panose="02040503050406030204" pitchFamily="18" charset="0"/>
                            </a:rPr>
                          </m:ctrlPr>
                        </m:accPr>
                        <m:e>
                          <m:r>
                            <a:rPr lang="es-ES" sz="3600" i="1">
                              <a:solidFill>
                                <a:srgbClr val="131D3F"/>
                              </a:solidFill>
                              <a:latin typeface="Cambria Math" panose="02040503050406030204" pitchFamily="18" charset="0"/>
                              <a:ea typeface="Cambria Math" panose="02040503050406030204" pitchFamily="18" charset="0"/>
                            </a:rPr>
                            <m:t>𝑦</m:t>
                          </m:r>
                        </m:e>
                      </m:acc>
                      <m:r>
                        <a:rPr lang="es-ES" sz="3600" b="0" i="1" smtClean="0">
                          <a:solidFill>
                            <a:srgbClr val="131D3F"/>
                          </a:solidFill>
                          <a:latin typeface="Cambria Math" panose="02040503050406030204" pitchFamily="18" charset="0"/>
                          <a:ea typeface="Cambria Math" panose="02040503050406030204" pitchFamily="18" charset="0"/>
                        </a:rPr>
                        <m:t>−(</m:t>
                      </m:r>
                      <m:r>
                        <a:rPr lang="es-ES" sz="3600" b="0" i="1" smtClean="0">
                          <a:solidFill>
                            <a:srgbClr val="131D3F"/>
                          </a:solidFill>
                          <a:latin typeface="Cambria Math" panose="02040503050406030204" pitchFamily="18" charset="0"/>
                        </a:rPr>
                        <m:t>𝑚</m:t>
                      </m:r>
                      <m:r>
                        <a:rPr lang="es-ES" sz="3600" b="0" i="1" smtClean="0">
                          <a:solidFill>
                            <a:srgbClr val="131D3F"/>
                          </a:solidFill>
                          <a:latin typeface="Cambria Math" panose="02040503050406030204" pitchFamily="18" charset="0"/>
                        </a:rPr>
                        <m:t>∗ </m:t>
                      </m:r>
                      <m:acc>
                        <m:accPr>
                          <m:chr m:val="̅"/>
                          <m:ctrlPr>
                            <a:rPr lang="es-ES" sz="3600" i="1">
                              <a:solidFill>
                                <a:srgbClr val="131D3F"/>
                              </a:solidFill>
                              <a:latin typeface="Cambria Math" panose="02040503050406030204" pitchFamily="18" charset="0"/>
                              <a:ea typeface="Cambria Math" panose="02040503050406030204" pitchFamily="18" charset="0"/>
                            </a:rPr>
                          </m:ctrlPr>
                        </m:accPr>
                        <m:e>
                          <m:r>
                            <a:rPr lang="es-ES" sz="3600" i="1">
                              <a:solidFill>
                                <a:srgbClr val="131D3F"/>
                              </a:solidFill>
                              <a:latin typeface="Cambria Math" panose="02040503050406030204" pitchFamily="18" charset="0"/>
                              <a:ea typeface="Cambria Math" panose="02040503050406030204" pitchFamily="18" charset="0"/>
                            </a:rPr>
                            <m:t>𝑥</m:t>
                          </m:r>
                        </m:e>
                      </m:acc>
                      <m:r>
                        <a:rPr lang="es-ES" sz="3600" b="0" i="1" smtClean="0">
                          <a:solidFill>
                            <a:srgbClr val="131D3F"/>
                          </a:solidFill>
                          <a:latin typeface="Cambria Math" panose="02040503050406030204" pitchFamily="18" charset="0"/>
                          <a:ea typeface="Cambria Math" panose="02040503050406030204" pitchFamily="18" charset="0"/>
                        </a:rPr>
                        <m:t>)</m:t>
                      </m:r>
                    </m:oMath>
                  </m:oMathPara>
                </a14:m>
                <a:endParaRPr lang="es-MX" sz="3600" dirty="0">
                  <a:solidFill>
                    <a:srgbClr val="131D3F"/>
                  </a:solidFill>
                </a:endParaRPr>
              </a:p>
            </p:txBody>
          </p:sp>
        </mc:Choice>
        <mc:Fallback xmlns="">
          <p:sp>
            <p:nvSpPr>
              <p:cNvPr id="43" name="CuadroTexto 42">
                <a:extLst>
                  <a:ext uri="{FF2B5EF4-FFF2-40B4-BE49-F238E27FC236}">
                    <a16:creationId xmlns:a16="http://schemas.microsoft.com/office/drawing/2014/main" id="{6FC3DAE4-9840-4FE0-A737-7CB49F3B829A}"/>
                  </a:ext>
                </a:extLst>
              </p:cNvPr>
              <p:cNvSpPr txBox="1">
                <a:spLocks noRot="1" noChangeAspect="1" noMove="1" noResize="1" noEditPoints="1" noAdjustHandles="1" noChangeArrowheads="1" noChangeShapeType="1" noTextEdit="1"/>
              </p:cNvSpPr>
              <p:nvPr/>
            </p:nvSpPr>
            <p:spPr>
              <a:xfrm>
                <a:off x="1414706" y="4610072"/>
                <a:ext cx="3346878" cy="553998"/>
              </a:xfrm>
              <a:prstGeom prst="rect">
                <a:avLst/>
              </a:prstGeom>
              <a:blipFill>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5338532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130</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2941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mc:AlternateContent xmlns:mc="http://schemas.openxmlformats.org/markup-compatibility/2006" xmlns:a14="http://schemas.microsoft.com/office/drawing/2010/main">
        <mc:Choice Requires="a14">
          <p:graphicFrame>
            <p:nvGraphicFramePr>
              <p:cNvPr id="6" name="Tabla 5">
                <a:extLst>
                  <a:ext uri="{FF2B5EF4-FFF2-40B4-BE49-F238E27FC236}">
                    <a16:creationId xmlns:a16="http://schemas.microsoft.com/office/drawing/2014/main" id="{A2D47F4B-7AEA-4B8E-BC51-9B5198F7F5C7}"/>
                  </a:ext>
                </a:extLst>
              </p:cNvPr>
              <p:cNvGraphicFramePr>
                <a:graphicFrameLocks noGrp="1"/>
              </p:cNvGraphicFramePr>
              <p:nvPr>
                <p:extLst>
                  <p:ext uri="{D42A27DB-BD31-4B8C-83A1-F6EECF244321}">
                    <p14:modId xmlns:p14="http://schemas.microsoft.com/office/powerpoint/2010/main" val="766342640"/>
                  </p:ext>
                </p:extLst>
              </p:nvPr>
            </p:nvGraphicFramePr>
            <p:xfrm>
              <a:off x="341840" y="1198886"/>
              <a:ext cx="8277069" cy="5195672"/>
            </p:xfrm>
            <a:graphic>
              <a:graphicData uri="http://schemas.openxmlformats.org/drawingml/2006/table">
                <a:tbl>
                  <a:tblPr>
                    <a:tableStyleId>{5C22544A-7EE6-4342-B048-85BDC9FD1C3A}</a:tableStyleId>
                  </a:tblPr>
                  <a:tblGrid>
                    <a:gridCol w="581662">
                      <a:extLst>
                        <a:ext uri="{9D8B030D-6E8A-4147-A177-3AD203B41FA5}">
                          <a16:colId xmlns:a16="http://schemas.microsoft.com/office/drawing/2014/main" val="1658814254"/>
                        </a:ext>
                      </a:extLst>
                    </a:gridCol>
                    <a:gridCol w="893264">
                      <a:extLst>
                        <a:ext uri="{9D8B030D-6E8A-4147-A177-3AD203B41FA5}">
                          <a16:colId xmlns:a16="http://schemas.microsoft.com/office/drawing/2014/main" val="4125893715"/>
                        </a:ext>
                      </a:extLst>
                    </a:gridCol>
                    <a:gridCol w="137106">
                      <a:extLst>
                        <a:ext uri="{9D8B030D-6E8A-4147-A177-3AD203B41FA5}">
                          <a16:colId xmlns:a16="http://schemas.microsoft.com/office/drawing/2014/main" val="324857427"/>
                        </a:ext>
                      </a:extLst>
                    </a:gridCol>
                    <a:gridCol w="274211">
                      <a:extLst>
                        <a:ext uri="{9D8B030D-6E8A-4147-A177-3AD203B41FA5}">
                          <a16:colId xmlns:a16="http://schemas.microsoft.com/office/drawing/2014/main" val="1107142128"/>
                        </a:ext>
                      </a:extLst>
                    </a:gridCol>
                    <a:gridCol w="149572">
                      <a:extLst>
                        <a:ext uri="{9D8B030D-6E8A-4147-A177-3AD203B41FA5}">
                          <a16:colId xmlns:a16="http://schemas.microsoft.com/office/drawing/2014/main" val="3490824915"/>
                        </a:ext>
                      </a:extLst>
                    </a:gridCol>
                    <a:gridCol w="448710">
                      <a:extLst>
                        <a:ext uri="{9D8B030D-6E8A-4147-A177-3AD203B41FA5}">
                          <a16:colId xmlns:a16="http://schemas.microsoft.com/office/drawing/2014/main" val="3566098906"/>
                        </a:ext>
                      </a:extLst>
                    </a:gridCol>
                    <a:gridCol w="224354">
                      <a:extLst>
                        <a:ext uri="{9D8B030D-6E8A-4147-A177-3AD203B41FA5}">
                          <a16:colId xmlns:a16="http://schemas.microsoft.com/office/drawing/2014/main" val="2541588811"/>
                        </a:ext>
                      </a:extLst>
                    </a:gridCol>
                    <a:gridCol w="361460">
                      <a:extLst>
                        <a:ext uri="{9D8B030D-6E8A-4147-A177-3AD203B41FA5}">
                          <a16:colId xmlns:a16="http://schemas.microsoft.com/office/drawing/2014/main" val="42943968"/>
                        </a:ext>
                      </a:extLst>
                    </a:gridCol>
                    <a:gridCol w="149572">
                      <a:extLst>
                        <a:ext uri="{9D8B030D-6E8A-4147-A177-3AD203B41FA5}">
                          <a16:colId xmlns:a16="http://schemas.microsoft.com/office/drawing/2014/main" val="1027980023"/>
                        </a:ext>
                      </a:extLst>
                    </a:gridCol>
                    <a:gridCol w="610744">
                      <a:extLst>
                        <a:ext uri="{9D8B030D-6E8A-4147-A177-3AD203B41FA5}">
                          <a16:colId xmlns:a16="http://schemas.microsoft.com/office/drawing/2014/main" val="2993834776"/>
                        </a:ext>
                      </a:extLst>
                    </a:gridCol>
                    <a:gridCol w="274211">
                      <a:extLst>
                        <a:ext uri="{9D8B030D-6E8A-4147-A177-3AD203B41FA5}">
                          <a16:colId xmlns:a16="http://schemas.microsoft.com/office/drawing/2014/main" val="1188052195"/>
                        </a:ext>
                      </a:extLst>
                    </a:gridCol>
                    <a:gridCol w="423782">
                      <a:extLst>
                        <a:ext uri="{9D8B030D-6E8A-4147-A177-3AD203B41FA5}">
                          <a16:colId xmlns:a16="http://schemas.microsoft.com/office/drawing/2014/main" val="3254054493"/>
                        </a:ext>
                      </a:extLst>
                    </a:gridCol>
                    <a:gridCol w="174498">
                      <a:extLst>
                        <a:ext uri="{9D8B030D-6E8A-4147-A177-3AD203B41FA5}">
                          <a16:colId xmlns:a16="http://schemas.microsoft.com/office/drawing/2014/main" val="2444432059"/>
                        </a:ext>
                      </a:extLst>
                    </a:gridCol>
                    <a:gridCol w="598280">
                      <a:extLst>
                        <a:ext uri="{9D8B030D-6E8A-4147-A177-3AD203B41FA5}">
                          <a16:colId xmlns:a16="http://schemas.microsoft.com/office/drawing/2014/main" val="3882176073"/>
                        </a:ext>
                      </a:extLst>
                    </a:gridCol>
                    <a:gridCol w="174498">
                      <a:extLst>
                        <a:ext uri="{9D8B030D-6E8A-4147-A177-3AD203B41FA5}">
                          <a16:colId xmlns:a16="http://schemas.microsoft.com/office/drawing/2014/main" val="3666725773"/>
                        </a:ext>
                      </a:extLst>
                    </a:gridCol>
                    <a:gridCol w="704222">
                      <a:extLst>
                        <a:ext uri="{9D8B030D-6E8A-4147-A177-3AD203B41FA5}">
                          <a16:colId xmlns:a16="http://schemas.microsoft.com/office/drawing/2014/main" val="3089102953"/>
                        </a:ext>
                      </a:extLst>
                    </a:gridCol>
                    <a:gridCol w="102656">
                      <a:extLst>
                        <a:ext uri="{9D8B030D-6E8A-4147-A177-3AD203B41FA5}">
                          <a16:colId xmlns:a16="http://schemas.microsoft.com/office/drawing/2014/main" val="1352870102"/>
                        </a:ext>
                      </a:extLst>
                    </a:gridCol>
                    <a:gridCol w="137106">
                      <a:extLst>
                        <a:ext uri="{9D8B030D-6E8A-4147-A177-3AD203B41FA5}">
                          <a16:colId xmlns:a16="http://schemas.microsoft.com/office/drawing/2014/main" val="3250063147"/>
                        </a:ext>
                      </a:extLst>
                    </a:gridCol>
                    <a:gridCol w="274211">
                      <a:extLst>
                        <a:ext uri="{9D8B030D-6E8A-4147-A177-3AD203B41FA5}">
                          <a16:colId xmlns:a16="http://schemas.microsoft.com/office/drawing/2014/main" val="2578668659"/>
                        </a:ext>
                      </a:extLst>
                    </a:gridCol>
                    <a:gridCol w="149572">
                      <a:extLst>
                        <a:ext uri="{9D8B030D-6E8A-4147-A177-3AD203B41FA5}">
                          <a16:colId xmlns:a16="http://schemas.microsoft.com/office/drawing/2014/main" val="3710848616"/>
                        </a:ext>
                      </a:extLst>
                    </a:gridCol>
                    <a:gridCol w="448710">
                      <a:extLst>
                        <a:ext uri="{9D8B030D-6E8A-4147-A177-3AD203B41FA5}">
                          <a16:colId xmlns:a16="http://schemas.microsoft.com/office/drawing/2014/main" val="1658252758"/>
                        </a:ext>
                      </a:extLst>
                    </a:gridCol>
                    <a:gridCol w="224354">
                      <a:extLst>
                        <a:ext uri="{9D8B030D-6E8A-4147-A177-3AD203B41FA5}">
                          <a16:colId xmlns:a16="http://schemas.microsoft.com/office/drawing/2014/main" val="1456139143"/>
                        </a:ext>
                      </a:extLst>
                    </a:gridCol>
                    <a:gridCol w="174498">
                      <a:extLst>
                        <a:ext uri="{9D8B030D-6E8A-4147-A177-3AD203B41FA5}">
                          <a16:colId xmlns:a16="http://schemas.microsoft.com/office/drawing/2014/main" val="589969894"/>
                        </a:ext>
                      </a:extLst>
                    </a:gridCol>
                    <a:gridCol w="585816">
                      <a:extLst>
                        <a:ext uri="{9D8B030D-6E8A-4147-A177-3AD203B41FA5}">
                          <a16:colId xmlns:a16="http://schemas.microsoft.com/office/drawing/2014/main" val="1986547194"/>
                        </a:ext>
                      </a:extLst>
                    </a:gridCol>
                  </a:tblGrid>
                  <a:tr h="319984">
                    <a:tc rowSpan="2">
                      <a:txBody>
                        <a:bodyPr/>
                        <a:lstStyle/>
                        <a:p>
                          <a:pPr algn="ctr" fontAlgn="ctr"/>
                          <a:r>
                            <a:rPr lang="es-MX" sz="1400" b="1" u="none" strike="noStrike" dirty="0">
                              <a:effectLst/>
                              <a:latin typeface="Montserrat" panose="00000500000000000000" pitchFamily="2" charset="0"/>
                            </a:rPr>
                            <a:t>Edad </a:t>
                          </a:r>
                          <a:br>
                            <a:rPr lang="es-MX" sz="1400" b="1" u="none" strike="noStrike" dirty="0">
                              <a:effectLst/>
                              <a:latin typeface="Montserrat" panose="00000500000000000000" pitchFamily="2" charset="0"/>
                            </a:rPr>
                          </a:br>
                          <a:r>
                            <a:rPr lang="es-MX" sz="1400" b="1" u="none" strike="noStrike" dirty="0">
                              <a:effectLst/>
                              <a:latin typeface="Montserrat" panose="00000500000000000000" pitchFamily="2" charset="0"/>
                            </a:rPr>
                            <a:t>(x)</a:t>
                          </a: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s-MX" sz="1400" b="1" u="none" strike="noStrike" dirty="0">
                              <a:effectLst/>
                              <a:latin typeface="Montserrat" panose="00000500000000000000" pitchFamily="2" charset="0"/>
                            </a:rPr>
                            <a:t>Estatura </a:t>
                          </a:r>
                          <a:br>
                            <a:rPr lang="es-MX" sz="1400" b="1" u="none" strike="noStrike" dirty="0">
                              <a:effectLst/>
                              <a:latin typeface="Montserrat" panose="00000500000000000000" pitchFamily="2" charset="0"/>
                            </a:rPr>
                          </a:br>
                          <a:r>
                            <a:rPr lang="es-MX" sz="1400" b="1" u="none" strike="noStrike" dirty="0">
                              <a:effectLst/>
                              <a:latin typeface="Montserrat" panose="00000500000000000000" pitchFamily="2" charset="0"/>
                            </a:rPr>
                            <a:t>(y)</a:t>
                          </a: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gridSpan="14">
                      <a:txBody>
                        <a:bodyPr/>
                        <a:lstStyle/>
                        <a:p>
                          <a:pPr algn="ctr" fontAlgn="b"/>
                          <a14:m>
                            <m:oMathPara xmlns:m="http://schemas.openxmlformats.org/officeDocument/2006/math">
                              <m:oMathParaPr>
                                <m:jc m:val="centerGroup"/>
                              </m:oMathParaPr>
                              <m:oMath xmlns:m="http://schemas.openxmlformats.org/officeDocument/2006/math">
                                <m:r>
                                  <a:rPr lang="el-GR" sz="2000" b="1" i="1" smtClean="0">
                                    <a:solidFill>
                                      <a:srgbClr val="131D3F"/>
                                    </a:solidFill>
                                    <a:latin typeface="Cambria Math" panose="02040503050406030204" pitchFamily="18" charset="0"/>
                                    <a:ea typeface="Cambria Math" panose="02040503050406030204" pitchFamily="18" charset="0"/>
                                  </a:rPr>
                                  <m:t>𝜮</m:t>
                                </m:r>
                                <m:r>
                                  <a:rPr lang="es-ES" sz="2000" b="1" i="1">
                                    <a:solidFill>
                                      <a:srgbClr val="131D3F"/>
                                    </a:solidFill>
                                    <a:latin typeface="Cambria Math" panose="02040503050406030204" pitchFamily="18" charset="0"/>
                                    <a:ea typeface="Cambria Math" panose="02040503050406030204" pitchFamily="18" charset="0"/>
                                  </a:rPr>
                                  <m:t>(</m:t>
                                </m:r>
                                <m:r>
                                  <a:rPr lang="es-ES" sz="2000" b="1" i="1">
                                    <a:solidFill>
                                      <a:srgbClr val="131D3F"/>
                                    </a:solidFill>
                                    <a:latin typeface="Cambria Math" panose="02040503050406030204" pitchFamily="18" charset="0"/>
                                    <a:ea typeface="Cambria Math" panose="02040503050406030204" pitchFamily="18" charset="0"/>
                                  </a:rPr>
                                  <m:t>𝒙𝒊</m:t>
                                </m:r>
                                <m:r>
                                  <a:rPr lang="es-ES" sz="2000" b="1" i="1" smtClean="0">
                                    <a:solidFill>
                                      <a:srgbClr val="131D3F"/>
                                    </a:solidFill>
                                    <a:latin typeface="Cambria Math" panose="02040503050406030204" pitchFamily="18" charset="0"/>
                                    <a:ea typeface="Cambria Math" panose="02040503050406030204" pitchFamily="18" charset="0"/>
                                  </a:rPr>
                                  <m:t>−</m:t>
                                </m:r>
                                <m:acc>
                                  <m:accPr>
                                    <m:chr m:val="̅"/>
                                    <m:ctrlPr>
                                      <a:rPr lang="es-ES" sz="2000" b="1" i="1">
                                        <a:solidFill>
                                          <a:srgbClr val="131D3F"/>
                                        </a:solidFill>
                                        <a:latin typeface="Cambria Math" panose="02040503050406030204" pitchFamily="18" charset="0"/>
                                        <a:ea typeface="Cambria Math" panose="02040503050406030204" pitchFamily="18" charset="0"/>
                                      </a:rPr>
                                    </m:ctrlPr>
                                  </m:accPr>
                                  <m:e>
                                    <m:r>
                                      <a:rPr lang="es-ES" sz="2000" b="1" i="1">
                                        <a:solidFill>
                                          <a:srgbClr val="131D3F"/>
                                        </a:solidFill>
                                        <a:latin typeface="Cambria Math" panose="02040503050406030204" pitchFamily="18" charset="0"/>
                                        <a:ea typeface="Cambria Math" panose="02040503050406030204" pitchFamily="18" charset="0"/>
                                      </a:rPr>
                                      <m:t>𝒙</m:t>
                                    </m:r>
                                  </m:e>
                                </m:acc>
                                <m:r>
                                  <a:rPr lang="es-ES" sz="2000" b="1" i="1" smtClean="0">
                                    <a:solidFill>
                                      <a:srgbClr val="131D3F"/>
                                    </a:solidFill>
                                    <a:latin typeface="Cambria Math" panose="02040503050406030204" pitchFamily="18" charset="0"/>
                                    <a:ea typeface="Cambria Math" panose="02040503050406030204" pitchFamily="18" charset="0"/>
                                  </a:rPr>
                                  <m:t>)(</m:t>
                                </m:r>
                                <m:r>
                                  <a:rPr lang="es-ES" sz="2000" b="1" i="1" smtClean="0">
                                    <a:solidFill>
                                      <a:srgbClr val="131D3F"/>
                                    </a:solidFill>
                                    <a:latin typeface="Cambria Math" panose="02040503050406030204" pitchFamily="18" charset="0"/>
                                    <a:ea typeface="Cambria Math" panose="02040503050406030204" pitchFamily="18" charset="0"/>
                                  </a:rPr>
                                  <m:t>𝒚𝒊</m:t>
                                </m:r>
                                <m:r>
                                  <a:rPr lang="es-ES" sz="2000" b="1" i="1" smtClean="0">
                                    <a:solidFill>
                                      <a:srgbClr val="131D3F"/>
                                    </a:solidFill>
                                    <a:latin typeface="Cambria Math" panose="02040503050406030204" pitchFamily="18" charset="0"/>
                                    <a:ea typeface="Cambria Math" panose="02040503050406030204" pitchFamily="18" charset="0"/>
                                  </a:rPr>
                                  <m:t>−</m:t>
                                </m:r>
                                <m:acc>
                                  <m:accPr>
                                    <m:chr m:val="̅"/>
                                    <m:ctrlPr>
                                      <a:rPr lang="es-ES" sz="2000" b="1" i="1" smtClean="0">
                                        <a:solidFill>
                                          <a:srgbClr val="131D3F"/>
                                        </a:solidFill>
                                        <a:latin typeface="Cambria Math" panose="02040503050406030204" pitchFamily="18" charset="0"/>
                                        <a:ea typeface="Cambria Math" panose="02040503050406030204" pitchFamily="18" charset="0"/>
                                      </a:rPr>
                                    </m:ctrlPr>
                                  </m:accPr>
                                  <m:e>
                                    <m:r>
                                      <a:rPr lang="es-ES" sz="2000" b="1" i="1" smtClean="0">
                                        <a:solidFill>
                                          <a:srgbClr val="131D3F"/>
                                        </a:solidFill>
                                        <a:latin typeface="Cambria Math" panose="02040503050406030204" pitchFamily="18" charset="0"/>
                                        <a:ea typeface="Cambria Math" panose="02040503050406030204" pitchFamily="18" charset="0"/>
                                      </a:rPr>
                                      <m:t>𝒚</m:t>
                                    </m:r>
                                  </m:e>
                                </m:acc>
                                <m:r>
                                  <a:rPr lang="es-ES" sz="2000" b="1" i="1" smtClean="0">
                                    <a:solidFill>
                                      <a:srgbClr val="131D3F"/>
                                    </a:solidFill>
                                    <a:latin typeface="Cambria Math" panose="02040503050406030204" pitchFamily="18" charset="0"/>
                                  </a:rPr>
                                  <m:t>)</m:t>
                                </m:r>
                              </m:oMath>
                            </m:oMathPara>
                          </a14:m>
                          <a:endParaRPr lang="es-MX" sz="20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a:txBody>
                        <a:bodyPr/>
                        <a:lstStyle/>
                        <a:p>
                          <a:pPr algn="l" fontAlgn="b"/>
                          <a:endParaRPr lang="es-MX" sz="16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rowSpan="2" gridSpan="7">
                      <a:txBody>
                        <a:bodyPr/>
                        <a:lstStyle/>
                        <a:p>
                          <a:pPr algn="ctr" fontAlgn="b"/>
                          <a14:m>
                            <m:oMathPara xmlns:m="http://schemas.openxmlformats.org/officeDocument/2006/math">
                              <m:oMathParaPr>
                                <m:jc m:val="centerGroup"/>
                              </m:oMathParaPr>
                              <m:oMath xmlns:m="http://schemas.openxmlformats.org/officeDocument/2006/math">
                                <m:sSup>
                                  <m:sSupPr>
                                    <m:ctrlPr>
                                      <a:rPr lang="es-ES" sz="2000" b="1" i="1" smtClean="0">
                                        <a:solidFill>
                                          <a:srgbClr val="131D3F"/>
                                        </a:solidFill>
                                        <a:latin typeface="Cambria Math" panose="02040503050406030204" pitchFamily="18" charset="0"/>
                                        <a:ea typeface="Cambria Math" panose="02040503050406030204" pitchFamily="18" charset="0"/>
                                      </a:rPr>
                                    </m:ctrlPr>
                                  </m:sSupPr>
                                  <m:e>
                                    <m:r>
                                      <a:rPr lang="el-GR" sz="2000" b="1" i="1">
                                        <a:solidFill>
                                          <a:srgbClr val="131D3F"/>
                                        </a:solidFill>
                                        <a:latin typeface="Cambria Math" panose="02040503050406030204" pitchFamily="18" charset="0"/>
                                        <a:ea typeface="Cambria Math" panose="02040503050406030204" pitchFamily="18" charset="0"/>
                                      </a:rPr>
                                      <m:t>𝜮</m:t>
                                    </m:r>
                                    <m:r>
                                      <a:rPr lang="es-ES" sz="2000" b="1" i="1">
                                        <a:solidFill>
                                          <a:srgbClr val="131D3F"/>
                                        </a:solidFill>
                                        <a:latin typeface="Cambria Math" panose="02040503050406030204" pitchFamily="18" charset="0"/>
                                        <a:ea typeface="Cambria Math" panose="02040503050406030204" pitchFamily="18" charset="0"/>
                                      </a:rPr>
                                      <m:t>(</m:t>
                                    </m:r>
                                    <m:r>
                                      <a:rPr lang="es-ES" sz="2000" b="1" i="1">
                                        <a:solidFill>
                                          <a:srgbClr val="131D3F"/>
                                        </a:solidFill>
                                        <a:latin typeface="Cambria Math" panose="02040503050406030204" pitchFamily="18" charset="0"/>
                                        <a:ea typeface="Cambria Math" panose="02040503050406030204" pitchFamily="18" charset="0"/>
                                      </a:rPr>
                                      <m:t>𝒙𝒊</m:t>
                                    </m:r>
                                    <m:r>
                                      <a:rPr lang="es-ES" sz="2000" b="1" i="1">
                                        <a:solidFill>
                                          <a:srgbClr val="131D3F"/>
                                        </a:solidFill>
                                        <a:latin typeface="Cambria Math" panose="02040503050406030204" pitchFamily="18" charset="0"/>
                                        <a:ea typeface="Cambria Math" panose="02040503050406030204" pitchFamily="18" charset="0"/>
                                      </a:rPr>
                                      <m:t>−</m:t>
                                    </m:r>
                                    <m:acc>
                                      <m:accPr>
                                        <m:chr m:val="̅"/>
                                        <m:ctrlPr>
                                          <a:rPr lang="es-ES" sz="2000" b="1" i="1">
                                            <a:solidFill>
                                              <a:srgbClr val="131D3F"/>
                                            </a:solidFill>
                                            <a:latin typeface="Cambria Math" panose="02040503050406030204" pitchFamily="18" charset="0"/>
                                            <a:ea typeface="Cambria Math" panose="02040503050406030204" pitchFamily="18" charset="0"/>
                                          </a:rPr>
                                        </m:ctrlPr>
                                      </m:accPr>
                                      <m:e>
                                        <m:r>
                                          <a:rPr lang="es-ES" sz="2000" b="1" i="1">
                                            <a:solidFill>
                                              <a:srgbClr val="131D3F"/>
                                            </a:solidFill>
                                            <a:latin typeface="Cambria Math" panose="02040503050406030204" pitchFamily="18" charset="0"/>
                                            <a:ea typeface="Cambria Math" panose="02040503050406030204" pitchFamily="18" charset="0"/>
                                          </a:rPr>
                                          <m:t>𝒙</m:t>
                                        </m:r>
                                      </m:e>
                                    </m:acc>
                                    <m:r>
                                      <a:rPr lang="es-ES" sz="2000" b="1" i="1">
                                        <a:solidFill>
                                          <a:srgbClr val="131D3F"/>
                                        </a:solidFill>
                                        <a:latin typeface="Cambria Math" panose="02040503050406030204" pitchFamily="18" charset="0"/>
                                        <a:ea typeface="Cambria Math" panose="02040503050406030204" pitchFamily="18" charset="0"/>
                                      </a:rPr>
                                      <m:t>)</m:t>
                                    </m:r>
                                  </m:e>
                                  <m:sup>
                                    <m:r>
                                      <a:rPr lang="es-ES" sz="2000" b="1" i="1" smtClean="0">
                                        <a:solidFill>
                                          <a:srgbClr val="131D3F"/>
                                        </a:solidFill>
                                        <a:latin typeface="Cambria Math" panose="02040503050406030204" pitchFamily="18" charset="0"/>
                                        <a:ea typeface="Cambria Math" panose="02040503050406030204" pitchFamily="18" charset="0"/>
                                      </a:rPr>
                                      <m:t>𝟐</m:t>
                                    </m:r>
                                  </m:sup>
                                </m:sSup>
                              </m:oMath>
                            </m:oMathPara>
                          </a14:m>
                          <a:endParaRPr lang="es-MX" sz="20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extLst>
                      <a:ext uri="{0D108BD9-81ED-4DB2-BD59-A6C34878D82A}">
                        <a16:rowId xmlns:a16="http://schemas.microsoft.com/office/drawing/2014/main" val="2132989453"/>
                      </a:ext>
                    </a:extLst>
                  </a:tr>
                  <a:tr h="245818">
                    <a:tc vMerge="1">
                      <a:txBody>
                        <a:bodyPr/>
                        <a:lstStyle/>
                        <a:p>
                          <a:pPr algn="ctr" fontAlgn="ct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14" vMerge="1">
                      <a:txBody>
                        <a:bodyPr/>
                        <a:lstStyle/>
                        <a:p>
                          <a:pPr algn="ctr" fontAlgn="b"/>
                          <a:endParaRPr lang="es-MX" sz="20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7" vMerge="1">
                      <a:txBody>
                        <a:bodyPr/>
                        <a:lstStyle/>
                        <a:p>
                          <a:pPr algn="ctr" fontAlgn="b"/>
                          <a:endParaRPr lang="es-MX" sz="20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extLst>
                      <a:ext uri="{0D108BD9-81ED-4DB2-BD59-A6C34878D82A}">
                        <a16:rowId xmlns:a16="http://schemas.microsoft.com/office/drawing/2014/main" val="3468074648"/>
                      </a:ext>
                    </a:extLst>
                  </a:tr>
                  <a:tr h="214853">
                    <a:tc>
                      <a:txBody>
                        <a:bodyPr/>
                        <a:lstStyle/>
                        <a:p>
                          <a:pPr algn="ctr" fontAlgn="ctr"/>
                          <a:r>
                            <a:rPr lang="es-MX" sz="1400" u="none" strike="noStrike" dirty="0">
                              <a:effectLst/>
                              <a:latin typeface="Montserrat" panose="00000500000000000000" pitchFamily="2" charset="0"/>
                            </a:rPr>
                            <a:t>13</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150</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13</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-4.1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103.53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13</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16.81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711230"/>
                      </a:ext>
                    </a:extLst>
                  </a:tr>
                  <a:tr h="214853">
                    <a:tc>
                      <a:txBody>
                        <a:bodyPr/>
                        <a:lstStyle/>
                        <a:p>
                          <a:pPr algn="ctr" fontAlgn="ctr"/>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155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-3.1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-20.25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62.78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r>
                            <a:rPr lang="es-MX" sz="1400" u="none" strike="noStrike" baseline="30000" dirty="0">
                              <a:effectLst/>
                              <a:latin typeface="Montserrat" panose="00000500000000000000" pitchFamily="2" charset="0"/>
                            </a:rPr>
                            <a:t>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9.61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5468723"/>
                      </a:ext>
                    </a:extLst>
                  </a:tr>
                  <a:tr h="214853">
                    <a:tc>
                      <a:txBody>
                        <a:bodyPr/>
                        <a:lstStyle/>
                        <a:p>
                          <a:pPr algn="ctr" fontAlgn="ctr"/>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158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14</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-3.1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53.48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14</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9.61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5785945"/>
                      </a:ext>
                    </a:extLst>
                  </a:tr>
                  <a:tr h="214853">
                    <a:tc>
                      <a:txBody>
                        <a:bodyPr/>
                        <a:lstStyle/>
                        <a:p>
                          <a:pPr algn="ctr" fontAlgn="ctr"/>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160</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32.03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1292772"/>
                      </a:ext>
                    </a:extLst>
                  </a:tr>
                  <a:tr h="214853">
                    <a:tc>
                      <a:txBody>
                        <a:bodyPr/>
                        <a:lstStyle/>
                        <a:p>
                          <a:pPr algn="ctr" fontAlgn="ctr"/>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162</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-13.25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27.83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4.41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1758404"/>
                      </a:ext>
                    </a:extLst>
                  </a:tr>
                  <a:tr h="214853">
                    <a:tc>
                      <a:txBody>
                        <a:bodyPr/>
                        <a:lstStyle/>
                        <a:p>
                          <a:pPr algn="ctr" fontAlgn="ctr"/>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-10.25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21.53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7946511"/>
                      </a:ext>
                    </a:extLst>
                  </a:tr>
                  <a:tr h="214853">
                    <a:tc>
                      <a:txBody>
                        <a:bodyPr/>
                        <a:lstStyle/>
                        <a:p>
                          <a:pPr algn="ctr" fontAlgn="ctr"/>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-7.25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7.98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1.21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2927648"/>
                      </a:ext>
                    </a:extLst>
                  </a:tr>
                  <a:tr h="214853">
                    <a:tc>
                      <a:txBody>
                        <a:bodyPr/>
                        <a:lstStyle/>
                        <a:p>
                          <a:pPr algn="ctr" fontAlgn="ctr"/>
                          <a:r>
                            <a:rPr lang="es-MX" sz="1400" u="none" strike="noStrike" dirty="0">
                              <a:effectLst/>
                              <a:latin typeface="Montserrat" panose="00000500000000000000" pitchFamily="2" charset="0"/>
                            </a:rPr>
                            <a:t>16</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170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5.78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2554342"/>
                      </a:ext>
                    </a:extLst>
                  </a:tr>
                  <a:tr h="214853">
                    <a:tc>
                      <a:txBody>
                        <a:bodyPr/>
                        <a:lstStyle/>
                        <a:p>
                          <a:pPr algn="ctr" fontAlgn="ctr"/>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172</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-3.25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0.33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0.01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0699358"/>
                      </a:ext>
                    </a:extLst>
                  </a:tr>
                  <a:tr h="214853">
                    <a:tc>
                      <a:txBody>
                        <a:bodyPr/>
                        <a:lstStyle/>
                        <a:p>
                          <a:pPr algn="ctr" fontAlgn="ctr"/>
                          <a:r>
                            <a:rPr lang="es-MX" sz="1400" u="none" strike="noStrike" dirty="0">
                              <a:effectLst/>
                              <a:latin typeface="Montserrat" panose="00000500000000000000" pitchFamily="2" charset="0"/>
                            </a:rPr>
                            <a:t>17</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175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-0.1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-0.25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0.03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0.01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894515"/>
                      </a:ext>
                    </a:extLst>
                  </a:tr>
                  <a:tr h="214853">
                    <a:tc>
                      <a:txBody>
                        <a:bodyPr/>
                        <a:lstStyle/>
                        <a:p>
                          <a:pPr algn="ctr" fontAlgn="ctr"/>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178</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-0.28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r>
                            <a:rPr lang="es-MX" sz="1400" u="none" strike="noStrike" baseline="30000" dirty="0">
                              <a:effectLst/>
                              <a:latin typeface="Montserrat" panose="00000500000000000000" pitchFamily="2" charset="0"/>
                            </a:rPr>
                            <a:t>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0.01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4169986"/>
                      </a:ext>
                    </a:extLst>
                  </a:tr>
                  <a:tr h="214853">
                    <a:tc>
                      <a:txBody>
                        <a:bodyPr/>
                        <a:lstStyle/>
                        <a:p>
                          <a:pPr algn="ctr" fontAlgn="ctr"/>
                          <a:r>
                            <a:rPr lang="es-MX" sz="1400" u="none" strike="noStrike" dirty="0">
                              <a:effectLst/>
                              <a:latin typeface="Montserrat" panose="00000500000000000000" pitchFamily="2" charset="0"/>
                            </a:rPr>
                            <a:t>18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180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180</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0.9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4.75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4.27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0.81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570645"/>
                      </a:ext>
                    </a:extLst>
                  </a:tr>
                  <a:tr h="214853">
                    <a:tc>
                      <a:txBody>
                        <a:bodyPr/>
                        <a:lstStyle/>
                        <a:p>
                          <a:pPr algn="ctr" fontAlgn="ctr"/>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182</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0.9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6.75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6.07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0.81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563997"/>
                      </a:ext>
                    </a:extLst>
                  </a:tr>
                  <a:tr h="214853">
                    <a:tc>
                      <a:txBody>
                        <a:bodyPr/>
                        <a:lstStyle/>
                        <a:p>
                          <a:pPr algn="ctr" fontAlgn="ctr"/>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183</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183</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7.75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14.73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3.61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695691"/>
                      </a:ext>
                    </a:extLst>
                  </a:tr>
                  <a:tr h="214853">
                    <a:tc>
                      <a:txBody>
                        <a:bodyPr/>
                        <a:lstStyle/>
                        <a:p>
                          <a:pPr algn="ctr" fontAlgn="ctr"/>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185</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9.75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18.53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3.61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969162"/>
                      </a:ext>
                    </a:extLst>
                  </a:tr>
                  <a:tr h="214853">
                    <a:tc>
                      <a:txBody>
                        <a:bodyPr/>
                        <a:lstStyle/>
                        <a:p>
                          <a:pPr algn="ctr" fontAlgn="ctr"/>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187</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187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11.75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22.33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3.61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6406727"/>
                      </a:ext>
                    </a:extLst>
                  </a:tr>
                  <a:tr h="214853">
                    <a:tc>
                      <a:txBody>
                        <a:bodyPr/>
                        <a:lstStyle/>
                        <a:p>
                          <a:pPr algn="ctr" fontAlgn="ctr"/>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190</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14.75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42.78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007849"/>
                      </a:ext>
                    </a:extLst>
                  </a:tr>
                  <a:tr h="214853">
                    <a:tc>
                      <a:txBody>
                        <a:bodyPr/>
                        <a:lstStyle/>
                        <a:p>
                          <a:pPr algn="ctr" fontAlgn="ctr"/>
                          <a:r>
                            <a:rPr lang="es-MX" sz="1400" u="none" strike="noStrike" dirty="0">
                              <a:effectLst/>
                              <a:latin typeface="Montserrat" panose="00000500000000000000" pitchFamily="2" charset="0"/>
                            </a:rPr>
                            <a:t>20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192</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20</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192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48.58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5307928"/>
                      </a:ext>
                    </a:extLst>
                  </a:tr>
                  <a:tr h="214853">
                    <a:tc>
                      <a:txBody>
                        <a:bodyPr/>
                        <a:lstStyle/>
                        <a:p>
                          <a:pPr algn="ctr" fontAlgn="ctr"/>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195</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57.28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3431837"/>
                      </a:ext>
                    </a:extLst>
                  </a:tr>
                  <a:tr h="214853">
                    <a:tc>
                      <a:txBody>
                        <a:bodyPr/>
                        <a:lstStyle/>
                        <a:p>
                          <a:pPr algn="ctr" fontAlgn="ctr"/>
                          <a:r>
                            <a:rPr lang="es-MX" sz="1400" u="none" strike="noStrike" dirty="0">
                              <a:effectLst/>
                              <a:latin typeface="Montserrat" panose="00000500000000000000" pitchFamily="2" charset="0"/>
                            </a:rPr>
                            <a:t>20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198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22.75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65.98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8332614"/>
                      </a:ext>
                    </a:extLst>
                  </a:tr>
                  <a:tr h="214853">
                    <a:tc>
                      <a:txBody>
                        <a:bodyPr/>
                        <a:lstStyle/>
                        <a:p>
                          <a:pPr algn="ctr" fontAlgn="b"/>
                          <a:r>
                            <a:rPr lang="es-MX" sz="1400" b="1" u="none" strike="noStrike" dirty="0">
                              <a:effectLst/>
                              <a:latin typeface="Montserrat" panose="00000500000000000000" pitchFamily="2" charset="0"/>
                            </a:rPr>
                            <a:t>17.1</a:t>
                          </a:r>
                          <a:endParaRPr lang="es-MX" sz="1400" b="1"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b="1" u="none" strike="noStrike" dirty="0">
                              <a:effectLst/>
                              <a:latin typeface="Montserrat" panose="00000500000000000000" pitchFamily="2" charset="0"/>
                            </a:rPr>
                            <a:t>175.25</a:t>
                          </a:r>
                          <a:endParaRPr lang="es-MX" sz="1400" b="1"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1400" b="1" i="1" smtClean="0">
                                    <a:solidFill>
                                      <a:srgbClr val="131D3F"/>
                                    </a:solidFill>
                                    <a:latin typeface="Cambria Math" panose="02040503050406030204" pitchFamily="18" charset="0"/>
                                    <a:ea typeface="Cambria Math" panose="02040503050406030204" pitchFamily="18" charset="0"/>
                                  </a:rPr>
                                  <m:t>(</m:t>
                                </m:r>
                                <m:r>
                                  <a:rPr lang="es-ES" sz="1400" b="1" i="1" smtClean="0">
                                    <a:solidFill>
                                      <a:srgbClr val="131D3F"/>
                                    </a:solidFill>
                                    <a:latin typeface="Cambria Math" panose="02040503050406030204" pitchFamily="18" charset="0"/>
                                    <a:ea typeface="Cambria Math" panose="02040503050406030204" pitchFamily="18" charset="0"/>
                                  </a:rPr>
                                  <m:t>𝒙𝒊</m:t>
                                </m:r>
                                <m:r>
                                  <a:rPr lang="es-ES" sz="1400" b="1" i="1" smtClean="0">
                                    <a:solidFill>
                                      <a:srgbClr val="131D3F"/>
                                    </a:solidFill>
                                    <a:latin typeface="Cambria Math" panose="02040503050406030204" pitchFamily="18" charset="0"/>
                                    <a:ea typeface="Cambria Math" panose="02040503050406030204" pitchFamily="18" charset="0"/>
                                  </a:rPr>
                                  <m:t>−</m:t>
                                </m:r>
                                <m:acc>
                                  <m:accPr>
                                    <m:chr m:val="̅"/>
                                    <m:ctrlPr>
                                      <a:rPr lang="es-ES" sz="1400" b="1" i="1">
                                        <a:solidFill>
                                          <a:srgbClr val="131D3F"/>
                                        </a:solidFill>
                                        <a:latin typeface="Cambria Math" panose="02040503050406030204" pitchFamily="18" charset="0"/>
                                        <a:ea typeface="Cambria Math" panose="02040503050406030204" pitchFamily="18" charset="0"/>
                                      </a:rPr>
                                    </m:ctrlPr>
                                  </m:accPr>
                                  <m:e>
                                    <m:r>
                                      <a:rPr lang="es-ES" sz="1400" b="1" i="1">
                                        <a:solidFill>
                                          <a:srgbClr val="131D3F"/>
                                        </a:solidFill>
                                        <a:latin typeface="Cambria Math" panose="02040503050406030204" pitchFamily="18" charset="0"/>
                                        <a:ea typeface="Cambria Math" panose="02040503050406030204" pitchFamily="18" charset="0"/>
                                      </a:rPr>
                                      <m:t>𝒙</m:t>
                                    </m:r>
                                  </m:e>
                                </m:acc>
                                <m:r>
                                  <a:rPr lang="es-ES" sz="1400" b="1" i="1" smtClean="0">
                                    <a:solidFill>
                                      <a:srgbClr val="131D3F"/>
                                    </a:solidFill>
                                    <a:latin typeface="Cambria Math" panose="02040503050406030204" pitchFamily="18" charset="0"/>
                                    <a:ea typeface="Cambria Math" panose="02040503050406030204" pitchFamily="18" charset="0"/>
                                  </a:rPr>
                                  <m:t>)</m:t>
                                </m:r>
                              </m:oMath>
                            </m:oMathPara>
                          </a14:m>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b"/>
                          <a:endParaRPr lang="es-MX" sz="1400" b="0" i="0" u="none" strike="noStrike">
                            <a:solidFill>
                              <a:srgbClr val="000000"/>
                            </a:solidFill>
                            <a:effectLst/>
                            <a:latin typeface="Montserrat" panose="00000500000000000000" pitchFamily="2" charset="0"/>
                          </a:endParaRPr>
                        </a:p>
                      </a:txBody>
                      <a:tcPr marL="7110" marR="7110" marT="7110" marB="0" anchor="b"/>
                    </a:tc>
                    <a:tc hMerge="1">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tc>
                    <a:tc>
                      <a:txBody>
                        <a:bodyPr/>
                        <a:lstStyle/>
                        <a:p>
                          <a:pPr algn="ctr"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1400" b="1" i="1" smtClean="0">
                                    <a:solidFill>
                                      <a:srgbClr val="131D3F"/>
                                    </a:solidFill>
                                    <a:latin typeface="Cambria Math" panose="02040503050406030204" pitchFamily="18" charset="0"/>
                                    <a:ea typeface="Cambria Math" panose="02040503050406030204" pitchFamily="18" charset="0"/>
                                  </a:rPr>
                                  <m:t>(</m:t>
                                </m:r>
                                <m:r>
                                  <a:rPr lang="es-ES" sz="1400" b="1" i="1" smtClean="0">
                                    <a:solidFill>
                                      <a:srgbClr val="131D3F"/>
                                    </a:solidFill>
                                    <a:latin typeface="Cambria Math" panose="02040503050406030204" pitchFamily="18" charset="0"/>
                                    <a:ea typeface="Cambria Math" panose="02040503050406030204" pitchFamily="18" charset="0"/>
                                  </a:rPr>
                                  <m:t>𝒚𝒊</m:t>
                                </m:r>
                                <m:r>
                                  <a:rPr lang="es-ES" sz="1400" b="1" i="1" smtClean="0">
                                    <a:solidFill>
                                      <a:srgbClr val="131D3F"/>
                                    </a:solidFill>
                                    <a:latin typeface="Cambria Math" panose="02040503050406030204" pitchFamily="18" charset="0"/>
                                    <a:ea typeface="Cambria Math" panose="02040503050406030204" pitchFamily="18" charset="0"/>
                                  </a:rPr>
                                  <m:t>−</m:t>
                                </m:r>
                                <m:acc>
                                  <m:accPr>
                                    <m:chr m:val="̅"/>
                                    <m:ctrlPr>
                                      <a:rPr lang="es-ES" sz="1400" b="1" i="1" smtClean="0">
                                        <a:solidFill>
                                          <a:srgbClr val="131D3F"/>
                                        </a:solidFill>
                                        <a:latin typeface="Cambria Math" panose="02040503050406030204" pitchFamily="18" charset="0"/>
                                        <a:ea typeface="Cambria Math" panose="02040503050406030204" pitchFamily="18" charset="0"/>
                                      </a:rPr>
                                    </m:ctrlPr>
                                  </m:accPr>
                                  <m:e>
                                    <m:r>
                                      <a:rPr lang="es-ES" sz="1400" b="1" i="1" smtClean="0">
                                        <a:solidFill>
                                          <a:srgbClr val="131D3F"/>
                                        </a:solidFill>
                                        <a:latin typeface="Cambria Math" panose="02040503050406030204" pitchFamily="18" charset="0"/>
                                        <a:ea typeface="Cambria Math" panose="02040503050406030204" pitchFamily="18" charset="0"/>
                                      </a:rPr>
                                      <m:t>𝒚</m:t>
                                    </m:r>
                                  </m:e>
                                </m:acc>
                                <m:r>
                                  <a:rPr lang="es-ES" sz="1400" b="1" i="1" smtClean="0">
                                    <a:solidFill>
                                      <a:srgbClr val="131D3F"/>
                                    </a:solidFill>
                                    <a:latin typeface="Cambria Math" panose="02040503050406030204" pitchFamily="18" charset="0"/>
                                  </a:rPr>
                                  <m:t>)</m:t>
                                </m:r>
                              </m:oMath>
                            </m:oMathPara>
                          </a14:m>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b"/>
                          <a:endParaRPr lang="es-MX" sz="1400" b="0" i="0" u="none" strike="noStrike">
                            <a:solidFill>
                              <a:srgbClr val="000000"/>
                            </a:solidFill>
                            <a:effectLst/>
                            <a:latin typeface="Montserrat" panose="00000500000000000000" pitchFamily="2" charset="0"/>
                          </a:endParaRPr>
                        </a:p>
                      </a:txBody>
                      <a:tcPr marL="7110" marR="7110" marT="7110" marB="0" anchor="b"/>
                    </a:tc>
                    <a:tc hMerge="1">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b="1" u="none" strike="noStrike" dirty="0">
                              <a:effectLst/>
                              <a:latin typeface="Montserrat" panose="00000500000000000000" pitchFamily="2" charset="0"/>
                            </a:rPr>
                            <a:t>595.50</a:t>
                          </a:r>
                          <a:endParaRPr lang="es-MX" sz="1400" b="1"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6">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a:txBody>
                        <a:bodyPr/>
                        <a:lstStyle/>
                        <a:p>
                          <a:pPr algn="r" fontAlgn="b"/>
                          <a:r>
                            <a:rPr lang="es-MX" sz="1400" b="1" u="none" strike="noStrike" dirty="0">
                              <a:effectLst/>
                              <a:latin typeface="Montserrat" panose="00000500000000000000" pitchFamily="2" charset="0"/>
                            </a:rPr>
                            <a:t>97.80</a:t>
                          </a:r>
                          <a:endParaRPr lang="es-MX" sz="1400" b="1"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757622"/>
                      </a:ext>
                    </a:extLst>
                  </a:tr>
                </a:tbl>
              </a:graphicData>
            </a:graphic>
          </p:graphicFrame>
        </mc:Choice>
        <mc:Fallback xmlns="">
          <p:graphicFrame>
            <p:nvGraphicFramePr>
              <p:cNvPr id="6" name="Tabla 5">
                <a:extLst>
                  <a:ext uri="{FF2B5EF4-FFF2-40B4-BE49-F238E27FC236}">
                    <a16:creationId xmlns:a16="http://schemas.microsoft.com/office/drawing/2014/main" id="{A2D47F4B-7AEA-4B8E-BC51-9B5198F7F5C7}"/>
                  </a:ext>
                </a:extLst>
              </p:cNvPr>
              <p:cNvGraphicFramePr>
                <a:graphicFrameLocks noGrp="1"/>
              </p:cNvGraphicFramePr>
              <p:nvPr>
                <p:extLst>
                  <p:ext uri="{D42A27DB-BD31-4B8C-83A1-F6EECF244321}">
                    <p14:modId xmlns:p14="http://schemas.microsoft.com/office/powerpoint/2010/main" val="766342640"/>
                  </p:ext>
                </p:extLst>
              </p:nvPr>
            </p:nvGraphicFramePr>
            <p:xfrm>
              <a:off x="341840" y="1198886"/>
              <a:ext cx="8277069" cy="5195672"/>
            </p:xfrm>
            <a:graphic>
              <a:graphicData uri="http://schemas.openxmlformats.org/drawingml/2006/table">
                <a:tbl>
                  <a:tblPr>
                    <a:tableStyleId>{5C22544A-7EE6-4342-B048-85BDC9FD1C3A}</a:tableStyleId>
                  </a:tblPr>
                  <a:tblGrid>
                    <a:gridCol w="581662">
                      <a:extLst>
                        <a:ext uri="{9D8B030D-6E8A-4147-A177-3AD203B41FA5}">
                          <a16:colId xmlns:a16="http://schemas.microsoft.com/office/drawing/2014/main" val="1658814254"/>
                        </a:ext>
                      </a:extLst>
                    </a:gridCol>
                    <a:gridCol w="893264">
                      <a:extLst>
                        <a:ext uri="{9D8B030D-6E8A-4147-A177-3AD203B41FA5}">
                          <a16:colId xmlns:a16="http://schemas.microsoft.com/office/drawing/2014/main" val="4125893715"/>
                        </a:ext>
                      </a:extLst>
                    </a:gridCol>
                    <a:gridCol w="137106">
                      <a:extLst>
                        <a:ext uri="{9D8B030D-6E8A-4147-A177-3AD203B41FA5}">
                          <a16:colId xmlns:a16="http://schemas.microsoft.com/office/drawing/2014/main" val="324857427"/>
                        </a:ext>
                      </a:extLst>
                    </a:gridCol>
                    <a:gridCol w="274211">
                      <a:extLst>
                        <a:ext uri="{9D8B030D-6E8A-4147-A177-3AD203B41FA5}">
                          <a16:colId xmlns:a16="http://schemas.microsoft.com/office/drawing/2014/main" val="1107142128"/>
                        </a:ext>
                      </a:extLst>
                    </a:gridCol>
                    <a:gridCol w="149572">
                      <a:extLst>
                        <a:ext uri="{9D8B030D-6E8A-4147-A177-3AD203B41FA5}">
                          <a16:colId xmlns:a16="http://schemas.microsoft.com/office/drawing/2014/main" val="3490824915"/>
                        </a:ext>
                      </a:extLst>
                    </a:gridCol>
                    <a:gridCol w="448710">
                      <a:extLst>
                        <a:ext uri="{9D8B030D-6E8A-4147-A177-3AD203B41FA5}">
                          <a16:colId xmlns:a16="http://schemas.microsoft.com/office/drawing/2014/main" val="3566098906"/>
                        </a:ext>
                      </a:extLst>
                    </a:gridCol>
                    <a:gridCol w="224354">
                      <a:extLst>
                        <a:ext uri="{9D8B030D-6E8A-4147-A177-3AD203B41FA5}">
                          <a16:colId xmlns:a16="http://schemas.microsoft.com/office/drawing/2014/main" val="2541588811"/>
                        </a:ext>
                      </a:extLst>
                    </a:gridCol>
                    <a:gridCol w="361460">
                      <a:extLst>
                        <a:ext uri="{9D8B030D-6E8A-4147-A177-3AD203B41FA5}">
                          <a16:colId xmlns:a16="http://schemas.microsoft.com/office/drawing/2014/main" val="42943968"/>
                        </a:ext>
                      </a:extLst>
                    </a:gridCol>
                    <a:gridCol w="149572">
                      <a:extLst>
                        <a:ext uri="{9D8B030D-6E8A-4147-A177-3AD203B41FA5}">
                          <a16:colId xmlns:a16="http://schemas.microsoft.com/office/drawing/2014/main" val="1027980023"/>
                        </a:ext>
                      </a:extLst>
                    </a:gridCol>
                    <a:gridCol w="610744">
                      <a:extLst>
                        <a:ext uri="{9D8B030D-6E8A-4147-A177-3AD203B41FA5}">
                          <a16:colId xmlns:a16="http://schemas.microsoft.com/office/drawing/2014/main" val="2993834776"/>
                        </a:ext>
                      </a:extLst>
                    </a:gridCol>
                    <a:gridCol w="274211">
                      <a:extLst>
                        <a:ext uri="{9D8B030D-6E8A-4147-A177-3AD203B41FA5}">
                          <a16:colId xmlns:a16="http://schemas.microsoft.com/office/drawing/2014/main" val="1188052195"/>
                        </a:ext>
                      </a:extLst>
                    </a:gridCol>
                    <a:gridCol w="423782">
                      <a:extLst>
                        <a:ext uri="{9D8B030D-6E8A-4147-A177-3AD203B41FA5}">
                          <a16:colId xmlns:a16="http://schemas.microsoft.com/office/drawing/2014/main" val="3254054493"/>
                        </a:ext>
                      </a:extLst>
                    </a:gridCol>
                    <a:gridCol w="174498">
                      <a:extLst>
                        <a:ext uri="{9D8B030D-6E8A-4147-A177-3AD203B41FA5}">
                          <a16:colId xmlns:a16="http://schemas.microsoft.com/office/drawing/2014/main" val="2444432059"/>
                        </a:ext>
                      </a:extLst>
                    </a:gridCol>
                    <a:gridCol w="598280">
                      <a:extLst>
                        <a:ext uri="{9D8B030D-6E8A-4147-A177-3AD203B41FA5}">
                          <a16:colId xmlns:a16="http://schemas.microsoft.com/office/drawing/2014/main" val="3882176073"/>
                        </a:ext>
                      </a:extLst>
                    </a:gridCol>
                    <a:gridCol w="174498">
                      <a:extLst>
                        <a:ext uri="{9D8B030D-6E8A-4147-A177-3AD203B41FA5}">
                          <a16:colId xmlns:a16="http://schemas.microsoft.com/office/drawing/2014/main" val="3666725773"/>
                        </a:ext>
                      </a:extLst>
                    </a:gridCol>
                    <a:gridCol w="704222">
                      <a:extLst>
                        <a:ext uri="{9D8B030D-6E8A-4147-A177-3AD203B41FA5}">
                          <a16:colId xmlns:a16="http://schemas.microsoft.com/office/drawing/2014/main" val="3089102953"/>
                        </a:ext>
                      </a:extLst>
                    </a:gridCol>
                    <a:gridCol w="102656">
                      <a:extLst>
                        <a:ext uri="{9D8B030D-6E8A-4147-A177-3AD203B41FA5}">
                          <a16:colId xmlns:a16="http://schemas.microsoft.com/office/drawing/2014/main" val="1352870102"/>
                        </a:ext>
                      </a:extLst>
                    </a:gridCol>
                    <a:gridCol w="137106">
                      <a:extLst>
                        <a:ext uri="{9D8B030D-6E8A-4147-A177-3AD203B41FA5}">
                          <a16:colId xmlns:a16="http://schemas.microsoft.com/office/drawing/2014/main" val="3250063147"/>
                        </a:ext>
                      </a:extLst>
                    </a:gridCol>
                    <a:gridCol w="274211">
                      <a:extLst>
                        <a:ext uri="{9D8B030D-6E8A-4147-A177-3AD203B41FA5}">
                          <a16:colId xmlns:a16="http://schemas.microsoft.com/office/drawing/2014/main" val="2578668659"/>
                        </a:ext>
                      </a:extLst>
                    </a:gridCol>
                    <a:gridCol w="149572">
                      <a:extLst>
                        <a:ext uri="{9D8B030D-6E8A-4147-A177-3AD203B41FA5}">
                          <a16:colId xmlns:a16="http://schemas.microsoft.com/office/drawing/2014/main" val="3710848616"/>
                        </a:ext>
                      </a:extLst>
                    </a:gridCol>
                    <a:gridCol w="448710">
                      <a:extLst>
                        <a:ext uri="{9D8B030D-6E8A-4147-A177-3AD203B41FA5}">
                          <a16:colId xmlns:a16="http://schemas.microsoft.com/office/drawing/2014/main" val="1658252758"/>
                        </a:ext>
                      </a:extLst>
                    </a:gridCol>
                    <a:gridCol w="224354">
                      <a:extLst>
                        <a:ext uri="{9D8B030D-6E8A-4147-A177-3AD203B41FA5}">
                          <a16:colId xmlns:a16="http://schemas.microsoft.com/office/drawing/2014/main" val="1456139143"/>
                        </a:ext>
                      </a:extLst>
                    </a:gridCol>
                    <a:gridCol w="174498">
                      <a:extLst>
                        <a:ext uri="{9D8B030D-6E8A-4147-A177-3AD203B41FA5}">
                          <a16:colId xmlns:a16="http://schemas.microsoft.com/office/drawing/2014/main" val="589969894"/>
                        </a:ext>
                      </a:extLst>
                    </a:gridCol>
                    <a:gridCol w="585816">
                      <a:extLst>
                        <a:ext uri="{9D8B030D-6E8A-4147-A177-3AD203B41FA5}">
                          <a16:colId xmlns:a16="http://schemas.microsoft.com/office/drawing/2014/main" val="1986547194"/>
                        </a:ext>
                      </a:extLst>
                    </a:gridCol>
                  </a:tblGrid>
                  <a:tr h="319984">
                    <a:tc rowSpan="2">
                      <a:txBody>
                        <a:bodyPr/>
                        <a:lstStyle/>
                        <a:p>
                          <a:pPr algn="ctr" fontAlgn="ctr"/>
                          <a:r>
                            <a:rPr lang="es-MX" sz="1400" b="1" u="none" strike="noStrike" dirty="0">
                              <a:effectLst/>
                              <a:latin typeface="Montserrat" panose="00000500000000000000" pitchFamily="2" charset="0"/>
                            </a:rPr>
                            <a:t>Edad </a:t>
                          </a:r>
                          <a:br>
                            <a:rPr lang="es-MX" sz="1400" b="1" u="none" strike="noStrike" dirty="0">
                              <a:effectLst/>
                              <a:latin typeface="Montserrat" panose="00000500000000000000" pitchFamily="2" charset="0"/>
                            </a:rPr>
                          </a:br>
                          <a:r>
                            <a:rPr lang="es-MX" sz="1400" b="1" u="none" strike="noStrike" dirty="0">
                              <a:effectLst/>
                              <a:latin typeface="Montserrat" panose="00000500000000000000" pitchFamily="2" charset="0"/>
                            </a:rPr>
                            <a:t>(x)</a:t>
                          </a: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s-MX" sz="1400" b="1" u="none" strike="noStrike" dirty="0">
                              <a:effectLst/>
                              <a:latin typeface="Montserrat" panose="00000500000000000000" pitchFamily="2" charset="0"/>
                            </a:rPr>
                            <a:t>Estatura </a:t>
                          </a:r>
                          <a:br>
                            <a:rPr lang="es-MX" sz="1400" b="1" u="none" strike="noStrike" dirty="0">
                              <a:effectLst/>
                              <a:latin typeface="Montserrat" panose="00000500000000000000" pitchFamily="2" charset="0"/>
                            </a:rPr>
                          </a:br>
                          <a:r>
                            <a:rPr lang="es-MX" sz="1400" b="1" u="none" strike="noStrike" dirty="0">
                              <a:effectLst/>
                              <a:latin typeface="Montserrat" panose="00000500000000000000" pitchFamily="2" charset="0"/>
                            </a:rPr>
                            <a:t>(y)</a:t>
                          </a: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gridSpan="14">
                      <a:txBody>
                        <a:bodyPr/>
                        <a:lstStyle/>
                        <a:p>
                          <a:endParaRPr lang="es-MX"/>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1477" t="-1075" r="-44819" b="-836559"/>
                          </a:stretch>
                        </a:blipFill>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a:txBody>
                        <a:bodyPr/>
                        <a:lstStyle/>
                        <a:p>
                          <a:pPr algn="l" fontAlgn="b"/>
                          <a:endParaRPr lang="es-MX" sz="16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rowSpan="2" gridSpan="7">
                      <a:txBody>
                        <a:bodyPr/>
                        <a:lstStyle/>
                        <a:p>
                          <a:endParaRPr lang="es-MX"/>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15596" t="-1075" r="-612" b="-836559"/>
                          </a:stretch>
                        </a:blipFill>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tc rowSpan="2" hMerge="1">
                      <a:txBody>
                        <a:bodyPr/>
                        <a:lstStyle/>
                        <a:p>
                          <a:endParaRPr lang="es-MX"/>
                        </a:p>
                      </a:txBody>
                      <a:tcPr/>
                    </a:tc>
                    <a:extLst>
                      <a:ext uri="{0D108BD9-81ED-4DB2-BD59-A6C34878D82A}">
                        <a16:rowId xmlns:a16="http://schemas.microsoft.com/office/drawing/2014/main" val="2132989453"/>
                      </a:ext>
                    </a:extLst>
                  </a:tr>
                  <a:tr h="245818">
                    <a:tc vMerge="1">
                      <a:txBody>
                        <a:bodyPr/>
                        <a:lstStyle/>
                        <a:p>
                          <a:pPr algn="ctr" fontAlgn="ct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s-MX" sz="14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14" vMerge="1">
                      <a:txBody>
                        <a:bodyPr/>
                        <a:lstStyle/>
                        <a:p>
                          <a:pPr algn="ctr" fontAlgn="b"/>
                          <a:endParaRPr lang="es-MX" sz="20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7" vMerge="1">
                      <a:txBody>
                        <a:bodyPr/>
                        <a:lstStyle/>
                        <a:p>
                          <a:pPr algn="ctr" fontAlgn="b"/>
                          <a:endParaRPr lang="es-MX" sz="2000" b="1"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tc hMerge="1" vMerge="1">
                      <a:txBody>
                        <a:bodyPr/>
                        <a:lstStyle/>
                        <a:p>
                          <a:endParaRPr lang="es-MX"/>
                        </a:p>
                      </a:txBody>
                      <a:tcPr/>
                    </a:tc>
                    <a:extLst>
                      <a:ext uri="{0D108BD9-81ED-4DB2-BD59-A6C34878D82A}">
                        <a16:rowId xmlns:a16="http://schemas.microsoft.com/office/drawing/2014/main" val="3468074648"/>
                      </a:ext>
                    </a:extLst>
                  </a:tr>
                  <a:tr h="220470">
                    <a:tc>
                      <a:txBody>
                        <a:bodyPr/>
                        <a:lstStyle/>
                        <a:p>
                          <a:pPr algn="ctr" fontAlgn="ctr"/>
                          <a:r>
                            <a:rPr lang="es-MX" sz="1400" u="none" strike="noStrike" dirty="0">
                              <a:effectLst/>
                              <a:latin typeface="Montserrat" panose="00000500000000000000" pitchFamily="2" charset="0"/>
                            </a:rPr>
                            <a:t>13</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150</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13</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-4.1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103.53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13</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16.81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711230"/>
                      </a:ext>
                    </a:extLst>
                  </a:tr>
                  <a:tr h="220470">
                    <a:tc>
                      <a:txBody>
                        <a:bodyPr/>
                        <a:lstStyle/>
                        <a:p>
                          <a:pPr algn="ctr" fontAlgn="ctr"/>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155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-3.1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-20.25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62.78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r>
                            <a:rPr lang="es-MX" sz="1400" u="none" strike="noStrike" baseline="30000" dirty="0">
                              <a:effectLst/>
                              <a:latin typeface="Montserrat" panose="00000500000000000000" pitchFamily="2" charset="0"/>
                            </a:rPr>
                            <a:t>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9.61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5468723"/>
                      </a:ext>
                    </a:extLst>
                  </a:tr>
                  <a:tr h="220470">
                    <a:tc>
                      <a:txBody>
                        <a:bodyPr/>
                        <a:lstStyle/>
                        <a:p>
                          <a:pPr algn="ctr" fontAlgn="ctr"/>
                          <a:r>
                            <a:rPr lang="es-MX" sz="1400" u="none" strike="noStrike" dirty="0">
                              <a:effectLst/>
                              <a:latin typeface="Montserrat" panose="00000500000000000000" pitchFamily="2" charset="0"/>
                            </a:rPr>
                            <a:t>14</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158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14</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-3.1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53.48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14</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9.61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5785945"/>
                      </a:ext>
                    </a:extLst>
                  </a:tr>
                  <a:tr h="220470">
                    <a:tc>
                      <a:txBody>
                        <a:bodyPr/>
                        <a:lstStyle/>
                        <a:p>
                          <a:pPr algn="ctr" fontAlgn="ctr"/>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160</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32.03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1292772"/>
                      </a:ext>
                    </a:extLst>
                  </a:tr>
                  <a:tr h="220470">
                    <a:tc>
                      <a:txBody>
                        <a:bodyPr/>
                        <a:lstStyle/>
                        <a:p>
                          <a:pPr algn="ctr" fontAlgn="ctr"/>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162</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-13.25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27.83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4.41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1758404"/>
                      </a:ext>
                    </a:extLst>
                  </a:tr>
                  <a:tr h="220470">
                    <a:tc>
                      <a:txBody>
                        <a:bodyPr/>
                        <a:lstStyle/>
                        <a:p>
                          <a:pPr algn="ctr" fontAlgn="ctr"/>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-10.25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21.53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7946511"/>
                      </a:ext>
                    </a:extLst>
                  </a:tr>
                  <a:tr h="220470">
                    <a:tc>
                      <a:txBody>
                        <a:bodyPr/>
                        <a:lstStyle/>
                        <a:p>
                          <a:pPr algn="ctr" fontAlgn="ctr"/>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168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-7.25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7.98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1.21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2927648"/>
                      </a:ext>
                    </a:extLst>
                  </a:tr>
                  <a:tr h="220470">
                    <a:tc>
                      <a:txBody>
                        <a:bodyPr/>
                        <a:lstStyle/>
                        <a:p>
                          <a:pPr algn="ctr" fontAlgn="ctr"/>
                          <a:r>
                            <a:rPr lang="es-MX" sz="1400" u="none" strike="noStrike" dirty="0">
                              <a:effectLst/>
                              <a:latin typeface="Montserrat" panose="00000500000000000000" pitchFamily="2" charset="0"/>
                            </a:rPr>
                            <a:t>16</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170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5.78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1.21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2554342"/>
                      </a:ext>
                    </a:extLst>
                  </a:tr>
                  <a:tr h="220470">
                    <a:tc>
                      <a:txBody>
                        <a:bodyPr/>
                        <a:lstStyle/>
                        <a:p>
                          <a:pPr algn="ctr" fontAlgn="ctr"/>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172</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-3.25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0.33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0.01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0699358"/>
                      </a:ext>
                    </a:extLst>
                  </a:tr>
                  <a:tr h="220470">
                    <a:tc>
                      <a:txBody>
                        <a:bodyPr/>
                        <a:lstStyle/>
                        <a:p>
                          <a:pPr algn="ctr" fontAlgn="ctr"/>
                          <a:r>
                            <a:rPr lang="es-MX" sz="1400" u="none" strike="noStrike" dirty="0">
                              <a:effectLst/>
                              <a:latin typeface="Montserrat" panose="00000500000000000000" pitchFamily="2" charset="0"/>
                            </a:rPr>
                            <a:t>17</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175</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-0.1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-0.25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0.03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0.01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894515"/>
                      </a:ext>
                    </a:extLst>
                  </a:tr>
                  <a:tr h="220470">
                    <a:tc>
                      <a:txBody>
                        <a:bodyPr/>
                        <a:lstStyle/>
                        <a:p>
                          <a:pPr algn="ctr" fontAlgn="ctr"/>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178</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-0.28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r>
                            <a:rPr lang="es-MX" sz="1400" u="none" strike="noStrike" baseline="30000" dirty="0">
                              <a:effectLst/>
                              <a:latin typeface="Montserrat" panose="00000500000000000000" pitchFamily="2" charset="0"/>
                            </a:rPr>
                            <a:t>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0.01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4169986"/>
                      </a:ext>
                    </a:extLst>
                  </a:tr>
                  <a:tr h="220470">
                    <a:tc>
                      <a:txBody>
                        <a:bodyPr/>
                        <a:lstStyle/>
                        <a:p>
                          <a:pPr algn="ctr" fontAlgn="ctr"/>
                          <a:r>
                            <a:rPr lang="es-MX" sz="1400" u="none" strike="noStrike" dirty="0">
                              <a:effectLst/>
                              <a:latin typeface="Montserrat" panose="00000500000000000000" pitchFamily="2" charset="0"/>
                            </a:rPr>
                            <a:t>18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180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180</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0.9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4.75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4.27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0.81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570645"/>
                      </a:ext>
                    </a:extLst>
                  </a:tr>
                  <a:tr h="220470">
                    <a:tc>
                      <a:txBody>
                        <a:bodyPr/>
                        <a:lstStyle/>
                        <a:p>
                          <a:pPr algn="ctr" fontAlgn="ctr"/>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182</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0.9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6.75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6.07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0.81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563997"/>
                      </a:ext>
                    </a:extLst>
                  </a:tr>
                  <a:tr h="220470">
                    <a:tc>
                      <a:txBody>
                        <a:bodyPr/>
                        <a:lstStyle/>
                        <a:p>
                          <a:pPr algn="ctr" fontAlgn="ctr"/>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183</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183</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7.75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14.73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3.61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9695691"/>
                      </a:ext>
                    </a:extLst>
                  </a:tr>
                  <a:tr h="220470">
                    <a:tc>
                      <a:txBody>
                        <a:bodyPr/>
                        <a:lstStyle/>
                        <a:p>
                          <a:pPr algn="ctr" fontAlgn="ctr"/>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185</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185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9.75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18.53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3.61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969162"/>
                      </a:ext>
                    </a:extLst>
                  </a:tr>
                  <a:tr h="220470">
                    <a:tc>
                      <a:txBody>
                        <a:bodyPr/>
                        <a:lstStyle/>
                        <a:p>
                          <a:pPr algn="ctr" fontAlgn="ctr"/>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187</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187</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11.75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22.33</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3.61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6406727"/>
                      </a:ext>
                    </a:extLst>
                  </a:tr>
                  <a:tr h="220470">
                    <a:tc>
                      <a:txBody>
                        <a:bodyPr/>
                        <a:lstStyle/>
                        <a:p>
                          <a:pPr algn="ctr" fontAlgn="ctr"/>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190</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2.9</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14.75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42.78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007849"/>
                      </a:ext>
                    </a:extLst>
                  </a:tr>
                  <a:tr h="220470">
                    <a:tc>
                      <a:txBody>
                        <a:bodyPr/>
                        <a:lstStyle/>
                        <a:p>
                          <a:pPr algn="ctr" fontAlgn="ctr"/>
                          <a:r>
                            <a:rPr lang="es-MX" sz="1400" u="none" strike="noStrike" dirty="0">
                              <a:effectLst/>
                              <a:latin typeface="Montserrat" panose="00000500000000000000" pitchFamily="2" charset="0"/>
                            </a:rPr>
                            <a:t>20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192</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20</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192</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175.25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16.75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48.58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5307928"/>
                      </a:ext>
                    </a:extLst>
                  </a:tr>
                  <a:tr h="220470">
                    <a:tc>
                      <a:txBody>
                        <a:bodyPr/>
                        <a:lstStyle/>
                        <a:p>
                          <a:pPr algn="ctr" fontAlgn="ctr"/>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195</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a:effectLst/>
                              <a:latin typeface="Montserrat" panose="00000500000000000000" pitchFamily="2" charset="0"/>
                            </a:rPr>
                            <a:t>x</a:t>
                          </a: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19.75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57.28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3431837"/>
                      </a:ext>
                    </a:extLst>
                  </a:tr>
                  <a:tr h="220470">
                    <a:tc>
                      <a:txBody>
                        <a:bodyPr/>
                        <a:lstStyle/>
                        <a:p>
                          <a:pPr algn="ctr" fontAlgn="ctr"/>
                          <a:r>
                            <a:rPr lang="es-MX" sz="1400" u="none" strike="noStrike" dirty="0">
                              <a:effectLst/>
                              <a:latin typeface="Montserrat" panose="00000500000000000000" pitchFamily="2" charset="0"/>
                            </a:rPr>
                            <a:t>20</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198</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17.1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 (</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198</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175.25</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dirty="0">
                              <a:effectLst/>
                              <a:latin typeface="Montserrat" panose="00000500000000000000" pitchFamily="2" charset="0"/>
                            </a:rPr>
                            <a:t>) =</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2.9</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MX" sz="1400" u="none" strike="noStrike" dirty="0">
                              <a:effectLst/>
                              <a:latin typeface="Montserrat" panose="00000500000000000000" pitchFamily="2" charset="0"/>
                            </a:rPr>
                            <a:t>x</a:t>
                          </a:r>
                          <a:endParaRPr lang="es-MX" sz="1400" b="0" i="0" u="none" strike="noStrike" dirty="0">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dirty="0">
                              <a:effectLst/>
                              <a:latin typeface="Montserrat" panose="00000500000000000000" pitchFamily="2" charset="0"/>
                            </a:rPr>
                            <a:t>22.75</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65.98</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17.1</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u="none" strike="noStrike">
                              <a:effectLst/>
                              <a:latin typeface="Montserrat" panose="00000500000000000000" pitchFamily="2" charset="0"/>
                            </a:rPr>
                            <a:t>)</a:t>
                          </a:r>
                          <a:r>
                            <a:rPr lang="es-MX" sz="1400" u="none" strike="noStrike" baseline="30000">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s-MX" sz="1400" u="none" strike="noStrike">
                              <a:effectLst/>
                              <a:latin typeface="Montserrat" panose="00000500000000000000" pitchFamily="2" charset="0"/>
                            </a:rPr>
                            <a:t>=</a:t>
                          </a:r>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u="none" strike="noStrike" dirty="0">
                              <a:effectLst/>
                              <a:latin typeface="Montserrat" panose="00000500000000000000" pitchFamily="2" charset="0"/>
                            </a:rPr>
                            <a:t>8.41</a:t>
                          </a:r>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8332614"/>
                      </a:ext>
                    </a:extLst>
                  </a:tr>
                  <a:tr h="220470">
                    <a:tc>
                      <a:txBody>
                        <a:bodyPr/>
                        <a:lstStyle/>
                        <a:p>
                          <a:pPr algn="ctr" fontAlgn="b"/>
                          <a:r>
                            <a:rPr lang="es-MX" sz="1400" b="1" u="none" strike="noStrike" dirty="0">
                              <a:effectLst/>
                              <a:latin typeface="Montserrat" panose="00000500000000000000" pitchFamily="2" charset="0"/>
                            </a:rPr>
                            <a:t>17.1</a:t>
                          </a:r>
                          <a:endParaRPr lang="es-MX" sz="1400" b="1"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s-MX" sz="1400" b="1" u="none" strike="noStrike" dirty="0">
                              <a:effectLst/>
                              <a:latin typeface="Montserrat" panose="00000500000000000000" pitchFamily="2" charset="0"/>
                            </a:rPr>
                            <a:t>175.25</a:t>
                          </a:r>
                          <a:endParaRPr lang="es-MX" sz="1400" b="1"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es-MX"/>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84028" t="-2272222" r="-661111" b="-50000"/>
                          </a:stretch>
                        </a:blipFill>
                      </a:tcPr>
                    </a:tc>
                    <a:tc hMerge="1">
                      <a:txBody>
                        <a:bodyPr/>
                        <a:lstStyle/>
                        <a:p>
                          <a:pPr algn="ctr" fontAlgn="b"/>
                          <a:endParaRPr lang="es-MX" sz="1400" b="0" i="0" u="none" strike="noStrike">
                            <a:solidFill>
                              <a:srgbClr val="000000"/>
                            </a:solidFill>
                            <a:effectLst/>
                            <a:latin typeface="Montserrat" panose="00000500000000000000" pitchFamily="2" charset="0"/>
                          </a:endParaRPr>
                        </a:p>
                      </a:txBody>
                      <a:tcPr marL="7110" marR="7110" marT="7110" marB="0" anchor="b"/>
                    </a:tc>
                    <a:tc hMerge="1">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tc>
                    <a:tc>
                      <a:txBody>
                        <a:bodyPr/>
                        <a:lstStyle/>
                        <a:p>
                          <a:pPr algn="ctr"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es-MX"/>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41848" t="-2272222" r="-397826" b="-50000"/>
                          </a:stretch>
                        </a:blipFill>
                      </a:tcPr>
                    </a:tc>
                    <a:tc hMerge="1">
                      <a:txBody>
                        <a:bodyPr/>
                        <a:lstStyle/>
                        <a:p>
                          <a:pPr algn="ctr" fontAlgn="b"/>
                          <a:endParaRPr lang="es-MX" sz="1400" b="0" i="0" u="none" strike="noStrike">
                            <a:solidFill>
                              <a:srgbClr val="000000"/>
                            </a:solidFill>
                            <a:effectLst/>
                            <a:latin typeface="Montserrat" panose="00000500000000000000" pitchFamily="2" charset="0"/>
                          </a:endParaRPr>
                        </a:p>
                      </a:txBody>
                      <a:tcPr marL="7110" marR="7110" marT="7110" marB="0" anchor="b"/>
                    </a:tc>
                    <a:tc hMerge="1">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s-MX" sz="1400" b="0" i="0" u="none" strike="noStrike">
                            <a:solidFill>
                              <a:srgbClr val="000000"/>
                            </a:solidFill>
                            <a:effectLst/>
                            <a:latin typeface="Montserrat" panose="00000500000000000000" pitchFamily="2" charset="0"/>
                          </a:endParaRPr>
                        </a:p>
                      </a:txBody>
                      <a:tcPr marL="7110" marR="7110" marT="711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s-MX" sz="1400" b="1" u="none" strike="noStrike" dirty="0">
                              <a:effectLst/>
                              <a:latin typeface="Montserrat" panose="00000500000000000000" pitchFamily="2" charset="0"/>
                            </a:rPr>
                            <a:t>595.50</a:t>
                          </a:r>
                          <a:endParaRPr lang="es-MX" sz="1400" b="1"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gridSpan="6">
                      <a:txBody>
                        <a:bodyPr/>
                        <a:lstStyle/>
                        <a:p>
                          <a:pPr algn="ctr" fontAlgn="b"/>
                          <a:endParaRPr lang="es-MX" sz="1400" b="0" i="0" u="none" strike="noStrike" dirty="0">
                            <a:solidFill>
                              <a:srgbClr val="000000"/>
                            </a:solidFill>
                            <a:effectLst/>
                            <a:latin typeface="Montserrat" panose="00000500000000000000" pitchFamily="2" charset="0"/>
                          </a:endParaRPr>
                        </a:p>
                      </a:txBody>
                      <a:tcPr marL="7110" marR="7110" marT="711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a:txBody>
                        <a:bodyPr/>
                        <a:lstStyle/>
                        <a:p>
                          <a:pPr algn="r" fontAlgn="b"/>
                          <a:r>
                            <a:rPr lang="es-MX" sz="1400" b="1" u="none" strike="noStrike" dirty="0">
                              <a:effectLst/>
                              <a:latin typeface="Montserrat" panose="00000500000000000000" pitchFamily="2" charset="0"/>
                            </a:rPr>
                            <a:t>97.80</a:t>
                          </a:r>
                          <a:endParaRPr lang="es-MX" sz="1400" b="1" i="0" u="none" strike="noStrike" dirty="0">
                            <a:solidFill>
                              <a:srgbClr val="000000"/>
                            </a:solidFill>
                            <a:effectLst/>
                            <a:latin typeface="Montserrat" panose="00000500000000000000" pitchFamily="2" charset="0"/>
                          </a:endParaRPr>
                        </a:p>
                      </a:txBody>
                      <a:tcPr marL="7110" marR="7110" marT="711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757622"/>
                      </a:ext>
                    </a:extLst>
                  </a:tr>
                </a:tbl>
              </a:graphicData>
            </a:graphic>
          </p:graphicFrame>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C0582F4-3EBA-4065-A51A-F802462BC908}"/>
                  </a:ext>
                </a:extLst>
              </p:cNvPr>
              <p:cNvSpPr txBox="1"/>
              <p:nvPr/>
            </p:nvSpPr>
            <p:spPr>
              <a:xfrm>
                <a:off x="8960750" y="2532444"/>
                <a:ext cx="3043910"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1" i="1" smtClean="0">
                          <a:solidFill>
                            <a:srgbClr val="131D3F"/>
                          </a:solidFill>
                          <a:latin typeface="Cambria Math" panose="02040503050406030204" pitchFamily="18" charset="0"/>
                        </a:rPr>
                        <m:t>𝒎</m:t>
                      </m:r>
                      <m:r>
                        <a:rPr lang="es-ES" sz="2400" b="1"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ea typeface="Cambria Math" panose="02040503050406030204" pitchFamily="18" charset="0"/>
                            </a:rPr>
                          </m:ctrlPr>
                        </m:fPr>
                        <m:num>
                          <m:r>
                            <m:rPr>
                              <m:sty m:val="p"/>
                            </m:rPr>
                            <a:rPr lang="el-GR" sz="2400" b="0" i="1" smtClean="0">
                              <a:solidFill>
                                <a:srgbClr val="131D3F"/>
                              </a:solidFill>
                              <a:latin typeface="Cambria Math" panose="02040503050406030204" pitchFamily="18" charset="0"/>
                              <a:ea typeface="Cambria Math" panose="02040503050406030204" pitchFamily="18" charset="0"/>
                            </a:rPr>
                            <m:t>Σ</m:t>
                          </m:r>
                          <m:r>
                            <a:rPr lang="es-ES" sz="2400" i="1">
                              <a:solidFill>
                                <a:srgbClr val="131D3F"/>
                              </a:solidFill>
                              <a:latin typeface="Cambria Math" panose="02040503050406030204" pitchFamily="18" charset="0"/>
                              <a:ea typeface="Cambria Math" panose="02040503050406030204" pitchFamily="18" charset="0"/>
                            </a:rPr>
                            <m:t>(</m:t>
                          </m:r>
                          <m:r>
                            <a:rPr lang="es-ES" sz="2400" i="1">
                              <a:solidFill>
                                <a:srgbClr val="131D3F"/>
                              </a:solidFill>
                              <a:latin typeface="Cambria Math" panose="02040503050406030204" pitchFamily="18" charset="0"/>
                              <a:ea typeface="Cambria Math" panose="02040503050406030204" pitchFamily="18" charset="0"/>
                            </a:rPr>
                            <m:t>𝑥𝑖</m:t>
                          </m:r>
                          <m:r>
                            <a:rPr lang="es-ES" sz="2400" b="0" i="1" smtClean="0">
                              <a:solidFill>
                                <a:srgbClr val="131D3F"/>
                              </a:solidFill>
                              <a:latin typeface="Cambria Math" panose="02040503050406030204" pitchFamily="18" charset="0"/>
                              <a:ea typeface="Cambria Math" panose="02040503050406030204" pitchFamily="18" charset="0"/>
                            </a:rPr>
                            <m:t>−</m:t>
                          </m:r>
                          <m:acc>
                            <m:accPr>
                              <m:chr m:val="̅"/>
                              <m:ctrlPr>
                                <a:rPr lang="es-ES" sz="2400" i="1">
                                  <a:solidFill>
                                    <a:srgbClr val="131D3F"/>
                                  </a:solidFill>
                                  <a:latin typeface="Cambria Math" panose="02040503050406030204" pitchFamily="18" charset="0"/>
                                  <a:ea typeface="Cambria Math" panose="02040503050406030204" pitchFamily="18" charset="0"/>
                                </a:rPr>
                              </m:ctrlPr>
                            </m:accPr>
                            <m:e>
                              <m:r>
                                <a:rPr lang="es-ES" sz="2400" i="1">
                                  <a:solidFill>
                                    <a:srgbClr val="131D3F"/>
                                  </a:solidFill>
                                  <a:latin typeface="Cambria Math" panose="02040503050406030204" pitchFamily="18" charset="0"/>
                                  <a:ea typeface="Cambria Math" panose="02040503050406030204" pitchFamily="18" charset="0"/>
                                </a:rPr>
                                <m:t>𝑥</m:t>
                              </m:r>
                            </m:e>
                          </m:acc>
                          <m:r>
                            <a:rPr lang="es-ES" sz="2400" b="0" i="1" smtClean="0">
                              <a:solidFill>
                                <a:srgbClr val="131D3F"/>
                              </a:solidFill>
                              <a:latin typeface="Cambria Math" panose="02040503050406030204" pitchFamily="18" charset="0"/>
                              <a:ea typeface="Cambria Math" panose="02040503050406030204" pitchFamily="18" charset="0"/>
                            </a:rPr>
                            <m:t>)(</m:t>
                          </m:r>
                          <m:r>
                            <a:rPr lang="es-ES" sz="2400" b="0" i="1" smtClean="0">
                              <a:solidFill>
                                <a:srgbClr val="131D3F"/>
                              </a:solidFill>
                              <a:latin typeface="Cambria Math" panose="02040503050406030204" pitchFamily="18" charset="0"/>
                              <a:ea typeface="Cambria Math" panose="02040503050406030204" pitchFamily="18" charset="0"/>
                            </a:rPr>
                            <m:t>𝑦𝑖</m:t>
                          </m:r>
                          <m:r>
                            <a:rPr lang="es-ES" sz="2400" b="0" i="1" smtClean="0">
                              <a:solidFill>
                                <a:srgbClr val="131D3F"/>
                              </a:solidFill>
                              <a:latin typeface="Cambria Math" panose="02040503050406030204" pitchFamily="18" charset="0"/>
                              <a:ea typeface="Cambria Math" panose="02040503050406030204" pitchFamily="18" charset="0"/>
                            </a:rPr>
                            <m:t>−</m:t>
                          </m:r>
                          <m:acc>
                            <m:accPr>
                              <m:chr m:val="̅"/>
                              <m:ctrlPr>
                                <a:rPr lang="es-ES" sz="2400" b="0" i="1" smtClean="0">
                                  <a:solidFill>
                                    <a:srgbClr val="131D3F"/>
                                  </a:solidFill>
                                  <a:latin typeface="Cambria Math" panose="02040503050406030204" pitchFamily="18" charset="0"/>
                                  <a:ea typeface="Cambria Math" panose="02040503050406030204" pitchFamily="18" charset="0"/>
                                </a:rPr>
                              </m:ctrlPr>
                            </m:accPr>
                            <m:e>
                              <m:r>
                                <a:rPr lang="es-ES" sz="2400" b="0" i="1" smtClean="0">
                                  <a:solidFill>
                                    <a:srgbClr val="131D3F"/>
                                  </a:solidFill>
                                  <a:latin typeface="Cambria Math" panose="02040503050406030204" pitchFamily="18" charset="0"/>
                                  <a:ea typeface="Cambria Math" panose="02040503050406030204" pitchFamily="18" charset="0"/>
                                </a:rPr>
                                <m:t>𝑦</m:t>
                              </m:r>
                            </m:e>
                          </m:acc>
                          <m:r>
                            <a:rPr lang="es-ES" sz="2400" b="0" i="1" smtClean="0">
                              <a:solidFill>
                                <a:srgbClr val="131D3F"/>
                              </a:solidFill>
                              <a:latin typeface="Cambria Math" panose="02040503050406030204" pitchFamily="18" charset="0"/>
                            </a:rPr>
                            <m:t>)</m:t>
                          </m:r>
                        </m:num>
                        <m:den>
                          <m:sSup>
                            <m:sSupPr>
                              <m:ctrlPr>
                                <a:rPr lang="es-ES" sz="2400" b="0" i="1" smtClean="0">
                                  <a:solidFill>
                                    <a:srgbClr val="131D3F"/>
                                  </a:solidFill>
                                  <a:latin typeface="Cambria Math" panose="02040503050406030204" pitchFamily="18" charset="0"/>
                                  <a:ea typeface="Cambria Math" panose="02040503050406030204" pitchFamily="18" charset="0"/>
                                </a:rPr>
                              </m:ctrlPr>
                            </m:sSupPr>
                            <m:e>
                              <m:r>
                                <m:rPr>
                                  <m:sty m:val="p"/>
                                </m:rPr>
                                <a:rPr lang="el-GR" sz="2400" i="1">
                                  <a:solidFill>
                                    <a:srgbClr val="131D3F"/>
                                  </a:solidFill>
                                  <a:latin typeface="Cambria Math" panose="02040503050406030204" pitchFamily="18" charset="0"/>
                                  <a:ea typeface="Cambria Math" panose="02040503050406030204" pitchFamily="18" charset="0"/>
                                </a:rPr>
                                <m:t>Σ</m:t>
                              </m:r>
                              <m:r>
                                <a:rPr lang="es-ES" sz="2400" i="1">
                                  <a:solidFill>
                                    <a:srgbClr val="131D3F"/>
                                  </a:solidFill>
                                  <a:latin typeface="Cambria Math" panose="02040503050406030204" pitchFamily="18" charset="0"/>
                                  <a:ea typeface="Cambria Math" panose="02040503050406030204" pitchFamily="18" charset="0"/>
                                </a:rPr>
                                <m:t>(</m:t>
                              </m:r>
                              <m:r>
                                <a:rPr lang="es-ES" sz="2400" i="1">
                                  <a:solidFill>
                                    <a:srgbClr val="131D3F"/>
                                  </a:solidFill>
                                  <a:latin typeface="Cambria Math" panose="02040503050406030204" pitchFamily="18" charset="0"/>
                                  <a:ea typeface="Cambria Math" panose="02040503050406030204" pitchFamily="18" charset="0"/>
                                </a:rPr>
                                <m:t>𝑥𝑖</m:t>
                              </m:r>
                              <m:r>
                                <a:rPr lang="es-ES" sz="2400" i="1">
                                  <a:solidFill>
                                    <a:srgbClr val="131D3F"/>
                                  </a:solidFill>
                                  <a:latin typeface="Cambria Math" panose="02040503050406030204" pitchFamily="18" charset="0"/>
                                  <a:ea typeface="Cambria Math" panose="02040503050406030204" pitchFamily="18" charset="0"/>
                                </a:rPr>
                                <m:t>−</m:t>
                              </m:r>
                              <m:acc>
                                <m:accPr>
                                  <m:chr m:val="̅"/>
                                  <m:ctrlPr>
                                    <a:rPr lang="es-ES" sz="2400" i="1">
                                      <a:solidFill>
                                        <a:srgbClr val="131D3F"/>
                                      </a:solidFill>
                                      <a:latin typeface="Cambria Math" panose="02040503050406030204" pitchFamily="18" charset="0"/>
                                      <a:ea typeface="Cambria Math" panose="02040503050406030204" pitchFamily="18" charset="0"/>
                                    </a:rPr>
                                  </m:ctrlPr>
                                </m:accPr>
                                <m:e>
                                  <m:r>
                                    <a:rPr lang="es-ES" sz="2400" i="1">
                                      <a:solidFill>
                                        <a:srgbClr val="131D3F"/>
                                      </a:solidFill>
                                      <a:latin typeface="Cambria Math" panose="02040503050406030204" pitchFamily="18" charset="0"/>
                                      <a:ea typeface="Cambria Math" panose="02040503050406030204" pitchFamily="18" charset="0"/>
                                    </a:rPr>
                                    <m:t>𝑥</m:t>
                                  </m:r>
                                </m:e>
                              </m:acc>
                              <m:r>
                                <a:rPr lang="es-ES" sz="2400" i="1">
                                  <a:solidFill>
                                    <a:srgbClr val="131D3F"/>
                                  </a:solidFill>
                                  <a:latin typeface="Cambria Math" panose="02040503050406030204" pitchFamily="18" charset="0"/>
                                  <a:ea typeface="Cambria Math" panose="02040503050406030204" pitchFamily="18" charset="0"/>
                                </a:rPr>
                                <m:t>)</m:t>
                              </m:r>
                            </m:e>
                            <m:sup>
                              <m:r>
                                <a:rPr lang="es-ES" sz="2400" b="0" i="1" smtClean="0">
                                  <a:solidFill>
                                    <a:srgbClr val="131D3F"/>
                                  </a:solidFill>
                                  <a:latin typeface="Cambria Math" panose="02040503050406030204" pitchFamily="18" charset="0"/>
                                  <a:ea typeface="Cambria Math" panose="02040503050406030204" pitchFamily="18" charset="0"/>
                                </a:rPr>
                                <m:t>2</m:t>
                              </m:r>
                            </m:sup>
                          </m:sSup>
                        </m:den>
                      </m:f>
                    </m:oMath>
                  </m:oMathPara>
                </a14:m>
                <a:endParaRPr lang="es-MX" sz="2400" dirty="0">
                  <a:solidFill>
                    <a:srgbClr val="131D3F"/>
                  </a:solidFill>
                  <a:latin typeface="Cambria" panose="02040503050406030204" pitchFamily="18" charset="0"/>
                  <a:ea typeface="Cambria" panose="02040503050406030204" pitchFamily="18" charset="0"/>
                </a:endParaRPr>
              </a:p>
            </p:txBody>
          </p:sp>
        </mc:Choice>
        <mc:Fallback xmlns="">
          <p:sp>
            <p:nvSpPr>
              <p:cNvPr id="15" name="CuadroTexto 14">
                <a:extLst>
                  <a:ext uri="{FF2B5EF4-FFF2-40B4-BE49-F238E27FC236}">
                    <a16:creationId xmlns:a16="http://schemas.microsoft.com/office/drawing/2014/main" id="{2C0582F4-3EBA-4065-A51A-F802462BC908}"/>
                  </a:ext>
                </a:extLst>
              </p:cNvPr>
              <p:cNvSpPr txBox="1">
                <a:spLocks noRot="1" noChangeAspect="1" noMove="1" noResize="1" noEditPoints="1" noAdjustHandles="1" noChangeArrowheads="1" noChangeShapeType="1" noTextEdit="1"/>
              </p:cNvSpPr>
              <p:nvPr/>
            </p:nvSpPr>
            <p:spPr>
              <a:xfrm>
                <a:off x="8960750" y="2532444"/>
                <a:ext cx="3043910" cy="768993"/>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BAE2E9A-CB95-40DC-9B40-EB9ACE794F24}"/>
                  </a:ext>
                </a:extLst>
              </p:cNvPr>
              <p:cNvSpPr txBox="1"/>
              <p:nvPr/>
            </p:nvSpPr>
            <p:spPr>
              <a:xfrm>
                <a:off x="9689954" y="3749658"/>
                <a:ext cx="1664943" cy="701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1" i="1" smtClean="0">
                          <a:solidFill>
                            <a:srgbClr val="131D3F"/>
                          </a:solidFill>
                          <a:latin typeface="Cambria Math" panose="02040503050406030204" pitchFamily="18" charset="0"/>
                        </a:rPr>
                        <m:t>𝒎</m:t>
                      </m:r>
                      <m:r>
                        <a:rPr lang="es-ES" sz="2400" b="1"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ea typeface="Cambria Math" panose="02040503050406030204" pitchFamily="18" charset="0"/>
                            </a:rPr>
                          </m:ctrlPr>
                        </m:fPr>
                        <m:num>
                          <m:r>
                            <a:rPr lang="es-ES" sz="2400" b="0" i="1" smtClean="0">
                              <a:solidFill>
                                <a:srgbClr val="131D3F"/>
                              </a:solidFill>
                              <a:latin typeface="Cambria Math" panose="02040503050406030204" pitchFamily="18" charset="0"/>
                              <a:ea typeface="Cambria Math" panose="02040503050406030204" pitchFamily="18" charset="0"/>
                            </a:rPr>
                            <m:t>595.50</m:t>
                          </m:r>
                        </m:num>
                        <m:den>
                          <m:r>
                            <a:rPr lang="es-ES" sz="2400" b="0" i="1" smtClean="0">
                              <a:solidFill>
                                <a:srgbClr val="131D3F"/>
                              </a:solidFill>
                              <a:latin typeface="Cambria Math" panose="02040503050406030204" pitchFamily="18" charset="0"/>
                              <a:ea typeface="Cambria Math" panose="02040503050406030204" pitchFamily="18" charset="0"/>
                            </a:rPr>
                            <m:t>97.80</m:t>
                          </m:r>
                        </m:den>
                      </m:f>
                    </m:oMath>
                  </m:oMathPara>
                </a14:m>
                <a:endParaRPr lang="es-MX" sz="2400" dirty="0">
                  <a:solidFill>
                    <a:srgbClr val="131D3F"/>
                  </a:solidFill>
                  <a:latin typeface="Cambria" panose="02040503050406030204" pitchFamily="18" charset="0"/>
                  <a:ea typeface="Cambria" panose="02040503050406030204" pitchFamily="18" charset="0"/>
                </a:endParaRPr>
              </a:p>
            </p:txBody>
          </p:sp>
        </mc:Choice>
        <mc:Fallback xmlns="">
          <p:sp>
            <p:nvSpPr>
              <p:cNvPr id="16" name="CuadroTexto 15">
                <a:extLst>
                  <a:ext uri="{FF2B5EF4-FFF2-40B4-BE49-F238E27FC236}">
                    <a16:creationId xmlns:a16="http://schemas.microsoft.com/office/drawing/2014/main" id="{5BAE2E9A-CB95-40DC-9B40-EB9ACE794F24}"/>
                  </a:ext>
                </a:extLst>
              </p:cNvPr>
              <p:cNvSpPr txBox="1">
                <a:spLocks noRot="1" noChangeAspect="1" noMove="1" noResize="1" noEditPoints="1" noAdjustHandles="1" noChangeArrowheads="1" noChangeShapeType="1" noTextEdit="1"/>
              </p:cNvSpPr>
              <p:nvPr/>
            </p:nvSpPr>
            <p:spPr>
              <a:xfrm>
                <a:off x="9689954" y="3749658"/>
                <a:ext cx="1664943" cy="701346"/>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349E732-E348-48E1-A452-5654CDA5AFF1}"/>
                  </a:ext>
                </a:extLst>
              </p:cNvPr>
              <p:cNvSpPr txBox="1"/>
              <p:nvPr/>
            </p:nvSpPr>
            <p:spPr>
              <a:xfrm>
                <a:off x="9859873" y="4899226"/>
                <a:ext cx="13251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1" i="1" smtClean="0">
                          <a:solidFill>
                            <a:srgbClr val="131D3F"/>
                          </a:solidFill>
                          <a:latin typeface="Cambria Math" panose="02040503050406030204" pitchFamily="18" charset="0"/>
                        </a:rPr>
                        <m:t>𝒎</m:t>
                      </m:r>
                      <m:r>
                        <a:rPr lang="es-ES" sz="2400" b="1" i="1" smtClean="0">
                          <a:solidFill>
                            <a:srgbClr val="131D3F"/>
                          </a:solidFill>
                          <a:latin typeface="Cambria Math" panose="02040503050406030204" pitchFamily="18" charset="0"/>
                        </a:rPr>
                        <m:t>=</m:t>
                      </m:r>
                      <m:r>
                        <a:rPr lang="es-ES" sz="2400" b="0" i="1" smtClean="0">
                          <a:solidFill>
                            <a:srgbClr val="131D3F"/>
                          </a:solidFill>
                          <a:latin typeface="Cambria Math" panose="02040503050406030204" pitchFamily="18" charset="0"/>
                          <a:ea typeface="Cambria Math" panose="02040503050406030204" pitchFamily="18" charset="0"/>
                        </a:rPr>
                        <m:t>6.09</m:t>
                      </m:r>
                    </m:oMath>
                  </m:oMathPara>
                </a14:m>
                <a:endParaRPr lang="es-MX" sz="2400" dirty="0">
                  <a:solidFill>
                    <a:srgbClr val="131D3F"/>
                  </a:solidFill>
                  <a:latin typeface="Cambria" panose="02040503050406030204" pitchFamily="18" charset="0"/>
                  <a:ea typeface="Cambria" panose="02040503050406030204" pitchFamily="18" charset="0"/>
                </a:endParaRPr>
              </a:p>
            </p:txBody>
          </p:sp>
        </mc:Choice>
        <mc:Fallback xmlns="">
          <p:sp>
            <p:nvSpPr>
              <p:cNvPr id="17" name="CuadroTexto 16">
                <a:extLst>
                  <a:ext uri="{FF2B5EF4-FFF2-40B4-BE49-F238E27FC236}">
                    <a16:creationId xmlns:a16="http://schemas.microsoft.com/office/drawing/2014/main" id="{8349E732-E348-48E1-A452-5654CDA5AFF1}"/>
                  </a:ext>
                </a:extLst>
              </p:cNvPr>
              <p:cNvSpPr txBox="1">
                <a:spLocks noRot="1" noChangeAspect="1" noMove="1" noResize="1" noEditPoints="1" noAdjustHandles="1" noChangeArrowheads="1" noChangeShapeType="1" noTextEdit="1"/>
              </p:cNvSpPr>
              <p:nvPr/>
            </p:nvSpPr>
            <p:spPr>
              <a:xfrm>
                <a:off x="9859873" y="4899226"/>
                <a:ext cx="1325106" cy="369332"/>
              </a:xfrm>
              <a:prstGeom prst="rect">
                <a:avLst/>
              </a:prstGeom>
              <a:blipFill>
                <a:blip r:embed="rId8"/>
                <a:stretch>
                  <a:fillRect l="-3211" r="-5505" b="-10000"/>
                </a:stretch>
              </a:blipFill>
            </p:spPr>
            <p:txBody>
              <a:bodyPr/>
              <a:lstStyle/>
              <a:p>
                <a:r>
                  <a:rPr lang="es-MX">
                    <a:noFill/>
                  </a:rPr>
                  <a:t> </a:t>
                </a:r>
              </a:p>
            </p:txBody>
          </p:sp>
        </mc:Fallback>
      </mc:AlternateContent>
    </p:spTree>
    <p:extLst>
      <p:ext uri="{BB962C8B-B14F-4D97-AF65-F5344CB8AC3E}">
        <p14:creationId xmlns:p14="http://schemas.microsoft.com/office/powerpoint/2010/main" val="4268933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131</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861774"/>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 - Ejemplo</a:t>
            </a:r>
          </a:p>
          <a:p>
            <a:pPr lvl="1" algn="just">
              <a:spcAft>
                <a:spcPts val="1200"/>
              </a:spcAft>
            </a:pPr>
            <a:r>
              <a:rPr lang="es-ES" sz="2000" dirty="0">
                <a:solidFill>
                  <a:srgbClr val="131D3F"/>
                </a:solidFill>
                <a:latin typeface="Montserrat" panose="00000500000000000000" pitchFamily="2" charset="0"/>
              </a:rPr>
              <a:t>Relación de edad vs Estatura</a:t>
            </a:r>
          </a:p>
        </p:txBody>
      </p:sp>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E6815CA5-E900-43C8-AB1E-A2BF147797B3}"/>
                  </a:ext>
                </a:extLst>
              </p:cNvPr>
              <p:cNvSpPr txBox="1"/>
              <p:nvPr/>
            </p:nvSpPr>
            <p:spPr>
              <a:xfrm>
                <a:off x="2028165" y="2999263"/>
                <a:ext cx="180325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131D3F"/>
                          </a:solidFill>
                          <a:latin typeface="Cambria Math" panose="02040503050406030204" pitchFamily="18" charset="0"/>
                        </a:rPr>
                        <m:t>𝑏</m:t>
                      </m:r>
                      <m:r>
                        <a:rPr lang="es-ES" sz="2000" b="0" i="1" smtClean="0">
                          <a:solidFill>
                            <a:srgbClr val="131D3F"/>
                          </a:solidFill>
                          <a:latin typeface="Cambria Math" panose="02040503050406030204" pitchFamily="18" charset="0"/>
                        </a:rPr>
                        <m:t>=</m:t>
                      </m:r>
                      <m:acc>
                        <m:accPr>
                          <m:chr m:val="̅"/>
                          <m:ctrlPr>
                            <a:rPr lang="es-ES" sz="2000" i="1">
                              <a:solidFill>
                                <a:srgbClr val="131D3F"/>
                              </a:solidFill>
                              <a:latin typeface="Cambria Math" panose="02040503050406030204" pitchFamily="18" charset="0"/>
                              <a:ea typeface="Cambria Math" panose="02040503050406030204" pitchFamily="18" charset="0"/>
                            </a:rPr>
                          </m:ctrlPr>
                        </m:accPr>
                        <m:e>
                          <m:r>
                            <a:rPr lang="es-ES" sz="2000" i="1">
                              <a:solidFill>
                                <a:srgbClr val="131D3F"/>
                              </a:solidFill>
                              <a:latin typeface="Cambria Math" panose="02040503050406030204" pitchFamily="18" charset="0"/>
                              <a:ea typeface="Cambria Math" panose="02040503050406030204" pitchFamily="18" charset="0"/>
                            </a:rPr>
                            <m:t>𝑦</m:t>
                          </m:r>
                        </m:e>
                      </m:acc>
                      <m:r>
                        <a:rPr lang="es-ES" sz="2000" i="1">
                          <a:solidFill>
                            <a:srgbClr val="131D3F"/>
                          </a:solidFill>
                          <a:latin typeface="Cambria Math" panose="02040503050406030204" pitchFamily="18" charset="0"/>
                          <a:ea typeface="Cambria Math" panose="02040503050406030204" pitchFamily="18" charset="0"/>
                        </a:rPr>
                        <m:t>−</m:t>
                      </m:r>
                      <m:r>
                        <a:rPr lang="es-ES" sz="2000" b="0" i="1" smtClean="0">
                          <a:solidFill>
                            <a:srgbClr val="131D3F"/>
                          </a:solidFill>
                          <a:latin typeface="Cambria Math" panose="02040503050406030204" pitchFamily="18" charset="0"/>
                          <a:ea typeface="Cambria Math" panose="02040503050406030204" pitchFamily="18" charset="0"/>
                        </a:rPr>
                        <m:t>(</m:t>
                      </m:r>
                      <m:r>
                        <a:rPr lang="es-ES" sz="2000" b="0" i="1" smtClean="0">
                          <a:solidFill>
                            <a:srgbClr val="131D3F"/>
                          </a:solidFill>
                          <a:latin typeface="Cambria Math" panose="02040503050406030204" pitchFamily="18" charset="0"/>
                          <a:ea typeface="Cambria Math" panose="02040503050406030204" pitchFamily="18" charset="0"/>
                        </a:rPr>
                        <m:t>𝑚</m:t>
                      </m:r>
                      <m:r>
                        <a:rPr lang="es-ES" sz="2000" b="0" i="1" smtClean="0">
                          <a:solidFill>
                            <a:srgbClr val="131D3F"/>
                          </a:solidFill>
                          <a:latin typeface="Cambria Math" panose="02040503050406030204" pitchFamily="18" charset="0"/>
                          <a:ea typeface="Cambria Math" panose="02040503050406030204" pitchFamily="18" charset="0"/>
                        </a:rPr>
                        <m:t>∗</m:t>
                      </m:r>
                      <m:acc>
                        <m:accPr>
                          <m:chr m:val="̅"/>
                          <m:ctrlPr>
                            <a:rPr lang="es-ES" sz="2000" i="1">
                              <a:solidFill>
                                <a:srgbClr val="131D3F"/>
                              </a:solidFill>
                              <a:latin typeface="Cambria Math" panose="02040503050406030204" pitchFamily="18" charset="0"/>
                              <a:ea typeface="Cambria Math" panose="02040503050406030204" pitchFamily="18" charset="0"/>
                            </a:rPr>
                          </m:ctrlPr>
                        </m:accPr>
                        <m:e>
                          <m:r>
                            <a:rPr lang="es-ES" sz="2000" i="1">
                              <a:solidFill>
                                <a:srgbClr val="131D3F"/>
                              </a:solidFill>
                              <a:latin typeface="Cambria Math" panose="02040503050406030204" pitchFamily="18" charset="0"/>
                              <a:ea typeface="Cambria Math" panose="02040503050406030204" pitchFamily="18" charset="0"/>
                            </a:rPr>
                            <m:t>𝑥</m:t>
                          </m:r>
                        </m:e>
                      </m:acc>
                      <m:r>
                        <a:rPr lang="es-ES" sz="2000" b="0" i="1" smtClean="0">
                          <a:solidFill>
                            <a:srgbClr val="131D3F"/>
                          </a:solidFill>
                          <a:latin typeface="Cambria Math" panose="02040503050406030204" pitchFamily="18" charset="0"/>
                          <a:ea typeface="Cambria Math" panose="02040503050406030204" pitchFamily="18" charset="0"/>
                        </a:rPr>
                        <m:t>)</m:t>
                      </m:r>
                    </m:oMath>
                  </m:oMathPara>
                </a14:m>
                <a:endParaRPr lang="es-MX" sz="2000" dirty="0">
                  <a:solidFill>
                    <a:srgbClr val="131D3F"/>
                  </a:solidFill>
                </a:endParaRPr>
              </a:p>
            </p:txBody>
          </p:sp>
        </mc:Choice>
        <mc:Fallback xmlns="">
          <p:sp>
            <p:nvSpPr>
              <p:cNvPr id="38" name="CuadroTexto 37">
                <a:extLst>
                  <a:ext uri="{FF2B5EF4-FFF2-40B4-BE49-F238E27FC236}">
                    <a16:creationId xmlns:a16="http://schemas.microsoft.com/office/drawing/2014/main" id="{E6815CA5-E900-43C8-AB1E-A2BF147797B3}"/>
                  </a:ext>
                </a:extLst>
              </p:cNvPr>
              <p:cNvSpPr txBox="1">
                <a:spLocks noRot="1" noChangeAspect="1" noMove="1" noResize="1" noEditPoints="1" noAdjustHandles="1" noChangeArrowheads="1" noChangeShapeType="1" noTextEdit="1"/>
              </p:cNvSpPr>
              <p:nvPr/>
            </p:nvSpPr>
            <p:spPr>
              <a:xfrm>
                <a:off x="2028165" y="2999263"/>
                <a:ext cx="1803251" cy="307777"/>
              </a:xfrm>
              <a:prstGeom prst="rect">
                <a:avLst/>
              </a:prstGeom>
              <a:blipFill>
                <a:blip r:embed="rId5"/>
                <a:stretch>
                  <a:fillRect l="-3041" t="-2000" r="-12838" b="-36000"/>
                </a:stretch>
              </a:blipFill>
            </p:spPr>
            <p:txBody>
              <a:bodyPr/>
              <a:lstStyle/>
              <a:p>
                <a:r>
                  <a:rPr lang="es-MX">
                    <a:noFill/>
                  </a:rPr>
                  <a:t> </a:t>
                </a:r>
              </a:p>
            </p:txBody>
          </p:sp>
        </mc:Fallback>
      </mc:AlternateContent>
      <p:sp>
        <p:nvSpPr>
          <p:cNvPr id="39" name="CuadroTexto 38">
            <a:extLst>
              <a:ext uri="{FF2B5EF4-FFF2-40B4-BE49-F238E27FC236}">
                <a16:creationId xmlns:a16="http://schemas.microsoft.com/office/drawing/2014/main" id="{F217B163-B93C-4C43-8BAF-66F0F86F78F8}"/>
              </a:ext>
            </a:extLst>
          </p:cNvPr>
          <p:cNvSpPr txBox="1"/>
          <p:nvPr/>
        </p:nvSpPr>
        <p:spPr>
          <a:xfrm>
            <a:off x="429037" y="2580538"/>
            <a:ext cx="5115235"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Ecuación: </a:t>
            </a:r>
            <a:r>
              <a:rPr lang="es-ES" sz="2000" dirty="0">
                <a:solidFill>
                  <a:srgbClr val="131D3F"/>
                </a:solidFill>
                <a:latin typeface="Montserrat" panose="00000500000000000000" pitchFamily="2" charset="0"/>
              </a:rPr>
              <a:t>Calcular la intersección</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FBF6DD1-37DA-4F18-B389-CF25F2F61FD6}"/>
                  </a:ext>
                </a:extLst>
              </p:cNvPr>
              <p:cNvSpPr txBox="1"/>
              <p:nvPr/>
            </p:nvSpPr>
            <p:spPr>
              <a:xfrm>
                <a:off x="2028165" y="3460650"/>
                <a:ext cx="417793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131D3F"/>
                          </a:solidFill>
                          <a:latin typeface="Cambria Math" panose="02040503050406030204" pitchFamily="18" charset="0"/>
                        </a:rPr>
                        <m:t>𝑏</m:t>
                      </m:r>
                      <m:r>
                        <a:rPr lang="es-ES" sz="2000" b="0" i="1" smtClean="0">
                          <a:solidFill>
                            <a:srgbClr val="131D3F"/>
                          </a:solidFill>
                          <a:latin typeface="Cambria Math" panose="02040503050406030204" pitchFamily="18" charset="0"/>
                        </a:rPr>
                        <m:t>=175.25−</m:t>
                      </m:r>
                      <m:d>
                        <m:dPr>
                          <m:ctrlPr>
                            <a:rPr lang="es-ES" sz="2000" b="0" i="1" smtClean="0">
                              <a:solidFill>
                                <a:srgbClr val="131D3F"/>
                              </a:solidFill>
                              <a:latin typeface="Cambria Math" panose="02040503050406030204" pitchFamily="18" charset="0"/>
                              <a:ea typeface="Cambria Math" panose="02040503050406030204" pitchFamily="18" charset="0"/>
                            </a:rPr>
                          </m:ctrlPr>
                        </m:dPr>
                        <m:e>
                          <m:r>
                            <a:rPr lang="es-ES" sz="2000" b="0" i="1" smtClean="0">
                              <a:solidFill>
                                <a:srgbClr val="131D3F"/>
                              </a:solidFill>
                              <a:latin typeface="Cambria Math" panose="02040503050406030204" pitchFamily="18" charset="0"/>
                              <a:ea typeface="Cambria Math" panose="02040503050406030204" pitchFamily="18" charset="0"/>
                            </a:rPr>
                            <m:t>6.09 ∗17.10</m:t>
                          </m:r>
                        </m:e>
                      </m:d>
                      <m:r>
                        <a:rPr lang="es-ES" sz="2000" b="0" i="1" smtClean="0">
                          <a:solidFill>
                            <a:srgbClr val="131D3F"/>
                          </a:solidFill>
                          <a:latin typeface="Cambria Math" panose="02040503050406030204" pitchFamily="18" charset="0"/>
                          <a:ea typeface="Cambria Math" panose="02040503050406030204" pitchFamily="18" charset="0"/>
                        </a:rPr>
                        <m:t>=71.13</m:t>
                      </m:r>
                    </m:oMath>
                  </m:oMathPara>
                </a14:m>
                <a:endParaRPr lang="es-MX" sz="2000" dirty="0">
                  <a:solidFill>
                    <a:srgbClr val="131D3F"/>
                  </a:solidFill>
                </a:endParaRPr>
              </a:p>
            </p:txBody>
          </p:sp>
        </mc:Choice>
        <mc:Fallback xmlns="">
          <p:sp>
            <p:nvSpPr>
              <p:cNvPr id="13" name="CuadroTexto 12">
                <a:extLst>
                  <a:ext uri="{FF2B5EF4-FFF2-40B4-BE49-F238E27FC236}">
                    <a16:creationId xmlns:a16="http://schemas.microsoft.com/office/drawing/2014/main" id="{CFBF6DD1-37DA-4F18-B389-CF25F2F61FD6}"/>
                  </a:ext>
                </a:extLst>
              </p:cNvPr>
              <p:cNvSpPr txBox="1">
                <a:spLocks noRot="1" noChangeAspect="1" noMove="1" noResize="1" noEditPoints="1" noAdjustHandles="1" noChangeArrowheads="1" noChangeShapeType="1" noTextEdit="1"/>
              </p:cNvSpPr>
              <p:nvPr/>
            </p:nvSpPr>
            <p:spPr>
              <a:xfrm>
                <a:off x="2028165" y="3460650"/>
                <a:ext cx="4177939" cy="307777"/>
              </a:xfrm>
              <a:prstGeom prst="rect">
                <a:avLst/>
              </a:prstGeom>
              <a:blipFill>
                <a:blip r:embed="rId6"/>
                <a:stretch>
                  <a:fillRect l="-1022" r="-876" b="-8000"/>
                </a:stretch>
              </a:blipFill>
            </p:spPr>
            <p:txBody>
              <a:bodyPr/>
              <a:lstStyle/>
              <a:p>
                <a:r>
                  <a:rPr lang="es-MX">
                    <a:noFill/>
                  </a:rPr>
                  <a:t> </a:t>
                </a:r>
              </a:p>
            </p:txBody>
          </p:sp>
        </mc:Fallback>
      </mc:AlternateContent>
      <p:graphicFrame>
        <p:nvGraphicFramePr>
          <p:cNvPr id="2" name="Tabla 1">
            <a:extLst>
              <a:ext uri="{FF2B5EF4-FFF2-40B4-BE49-F238E27FC236}">
                <a16:creationId xmlns:a16="http://schemas.microsoft.com/office/drawing/2014/main" id="{3E8D60F9-943D-4B46-A23D-EC09E1E009DE}"/>
              </a:ext>
            </a:extLst>
          </p:cNvPr>
          <p:cNvGraphicFramePr>
            <a:graphicFrameLocks noGrp="1"/>
          </p:cNvGraphicFramePr>
          <p:nvPr>
            <p:extLst>
              <p:ext uri="{D42A27DB-BD31-4B8C-83A1-F6EECF244321}">
                <p14:modId xmlns:p14="http://schemas.microsoft.com/office/powerpoint/2010/main" val="1573941780"/>
              </p:ext>
            </p:extLst>
          </p:nvPr>
        </p:nvGraphicFramePr>
        <p:xfrm>
          <a:off x="353778" y="5277571"/>
          <a:ext cx="11484444" cy="1064666"/>
        </p:xfrm>
        <a:graphic>
          <a:graphicData uri="http://schemas.openxmlformats.org/drawingml/2006/table">
            <a:tbl>
              <a:tblPr>
                <a:tableStyleId>{5C22544A-7EE6-4342-B048-85BDC9FD1C3A}</a:tableStyleId>
              </a:tblPr>
              <a:tblGrid>
                <a:gridCol w="1114744">
                  <a:extLst>
                    <a:ext uri="{9D8B030D-6E8A-4147-A177-3AD203B41FA5}">
                      <a16:colId xmlns:a16="http://schemas.microsoft.com/office/drawing/2014/main" val="4270482120"/>
                    </a:ext>
                  </a:extLst>
                </a:gridCol>
                <a:gridCol w="518485">
                  <a:extLst>
                    <a:ext uri="{9D8B030D-6E8A-4147-A177-3AD203B41FA5}">
                      <a16:colId xmlns:a16="http://schemas.microsoft.com/office/drawing/2014/main" val="3403821819"/>
                    </a:ext>
                  </a:extLst>
                </a:gridCol>
                <a:gridCol w="518485">
                  <a:extLst>
                    <a:ext uri="{9D8B030D-6E8A-4147-A177-3AD203B41FA5}">
                      <a16:colId xmlns:a16="http://schemas.microsoft.com/office/drawing/2014/main" val="3109746064"/>
                    </a:ext>
                  </a:extLst>
                </a:gridCol>
                <a:gridCol w="518485">
                  <a:extLst>
                    <a:ext uri="{9D8B030D-6E8A-4147-A177-3AD203B41FA5}">
                      <a16:colId xmlns:a16="http://schemas.microsoft.com/office/drawing/2014/main" val="1900095774"/>
                    </a:ext>
                  </a:extLst>
                </a:gridCol>
                <a:gridCol w="518485">
                  <a:extLst>
                    <a:ext uri="{9D8B030D-6E8A-4147-A177-3AD203B41FA5}">
                      <a16:colId xmlns:a16="http://schemas.microsoft.com/office/drawing/2014/main" val="518957714"/>
                    </a:ext>
                  </a:extLst>
                </a:gridCol>
                <a:gridCol w="518485">
                  <a:extLst>
                    <a:ext uri="{9D8B030D-6E8A-4147-A177-3AD203B41FA5}">
                      <a16:colId xmlns:a16="http://schemas.microsoft.com/office/drawing/2014/main" val="944723166"/>
                    </a:ext>
                  </a:extLst>
                </a:gridCol>
                <a:gridCol w="518485">
                  <a:extLst>
                    <a:ext uri="{9D8B030D-6E8A-4147-A177-3AD203B41FA5}">
                      <a16:colId xmlns:a16="http://schemas.microsoft.com/office/drawing/2014/main" val="82993915"/>
                    </a:ext>
                  </a:extLst>
                </a:gridCol>
                <a:gridCol w="518485">
                  <a:extLst>
                    <a:ext uri="{9D8B030D-6E8A-4147-A177-3AD203B41FA5}">
                      <a16:colId xmlns:a16="http://schemas.microsoft.com/office/drawing/2014/main" val="796635758"/>
                    </a:ext>
                  </a:extLst>
                </a:gridCol>
                <a:gridCol w="518485">
                  <a:extLst>
                    <a:ext uri="{9D8B030D-6E8A-4147-A177-3AD203B41FA5}">
                      <a16:colId xmlns:a16="http://schemas.microsoft.com/office/drawing/2014/main" val="1868533123"/>
                    </a:ext>
                  </a:extLst>
                </a:gridCol>
                <a:gridCol w="518485">
                  <a:extLst>
                    <a:ext uri="{9D8B030D-6E8A-4147-A177-3AD203B41FA5}">
                      <a16:colId xmlns:a16="http://schemas.microsoft.com/office/drawing/2014/main" val="3268348673"/>
                    </a:ext>
                  </a:extLst>
                </a:gridCol>
                <a:gridCol w="518485">
                  <a:extLst>
                    <a:ext uri="{9D8B030D-6E8A-4147-A177-3AD203B41FA5}">
                      <a16:colId xmlns:a16="http://schemas.microsoft.com/office/drawing/2014/main" val="1763328718"/>
                    </a:ext>
                  </a:extLst>
                </a:gridCol>
                <a:gridCol w="518485">
                  <a:extLst>
                    <a:ext uri="{9D8B030D-6E8A-4147-A177-3AD203B41FA5}">
                      <a16:colId xmlns:a16="http://schemas.microsoft.com/office/drawing/2014/main" val="1569585427"/>
                    </a:ext>
                  </a:extLst>
                </a:gridCol>
                <a:gridCol w="518485">
                  <a:extLst>
                    <a:ext uri="{9D8B030D-6E8A-4147-A177-3AD203B41FA5}">
                      <a16:colId xmlns:a16="http://schemas.microsoft.com/office/drawing/2014/main" val="2108836748"/>
                    </a:ext>
                  </a:extLst>
                </a:gridCol>
                <a:gridCol w="518485">
                  <a:extLst>
                    <a:ext uri="{9D8B030D-6E8A-4147-A177-3AD203B41FA5}">
                      <a16:colId xmlns:a16="http://schemas.microsoft.com/office/drawing/2014/main" val="982408241"/>
                    </a:ext>
                  </a:extLst>
                </a:gridCol>
                <a:gridCol w="518485">
                  <a:extLst>
                    <a:ext uri="{9D8B030D-6E8A-4147-A177-3AD203B41FA5}">
                      <a16:colId xmlns:a16="http://schemas.microsoft.com/office/drawing/2014/main" val="1714165624"/>
                    </a:ext>
                  </a:extLst>
                </a:gridCol>
                <a:gridCol w="518485">
                  <a:extLst>
                    <a:ext uri="{9D8B030D-6E8A-4147-A177-3AD203B41FA5}">
                      <a16:colId xmlns:a16="http://schemas.microsoft.com/office/drawing/2014/main" val="574420262"/>
                    </a:ext>
                  </a:extLst>
                </a:gridCol>
                <a:gridCol w="518485">
                  <a:extLst>
                    <a:ext uri="{9D8B030D-6E8A-4147-A177-3AD203B41FA5}">
                      <a16:colId xmlns:a16="http://schemas.microsoft.com/office/drawing/2014/main" val="2560878031"/>
                    </a:ext>
                  </a:extLst>
                </a:gridCol>
                <a:gridCol w="518485">
                  <a:extLst>
                    <a:ext uri="{9D8B030D-6E8A-4147-A177-3AD203B41FA5}">
                      <a16:colId xmlns:a16="http://schemas.microsoft.com/office/drawing/2014/main" val="3197796330"/>
                    </a:ext>
                  </a:extLst>
                </a:gridCol>
                <a:gridCol w="518485">
                  <a:extLst>
                    <a:ext uri="{9D8B030D-6E8A-4147-A177-3AD203B41FA5}">
                      <a16:colId xmlns:a16="http://schemas.microsoft.com/office/drawing/2014/main" val="953227027"/>
                    </a:ext>
                  </a:extLst>
                </a:gridCol>
                <a:gridCol w="518485">
                  <a:extLst>
                    <a:ext uri="{9D8B030D-6E8A-4147-A177-3AD203B41FA5}">
                      <a16:colId xmlns:a16="http://schemas.microsoft.com/office/drawing/2014/main" val="422311132"/>
                    </a:ext>
                  </a:extLst>
                </a:gridCol>
                <a:gridCol w="518485">
                  <a:extLst>
                    <a:ext uri="{9D8B030D-6E8A-4147-A177-3AD203B41FA5}">
                      <a16:colId xmlns:a16="http://schemas.microsoft.com/office/drawing/2014/main" val="2607114880"/>
                    </a:ext>
                  </a:extLst>
                </a:gridCol>
              </a:tblGrid>
              <a:tr h="315468">
                <a:tc>
                  <a:txBody>
                    <a:bodyPr/>
                    <a:lstStyle/>
                    <a:p>
                      <a:pPr algn="ctr" fontAlgn="b"/>
                      <a:r>
                        <a:rPr lang="es-MX" sz="1400" b="1" u="none" strike="noStrike" dirty="0">
                          <a:effectLst/>
                          <a:latin typeface="Montserrat" panose="00000500000000000000" pitchFamily="2" charset="0"/>
                        </a:rPr>
                        <a:t>Edad (x)</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dirty="0">
                          <a:effectLst/>
                          <a:latin typeface="Montserrat" panose="00000500000000000000" pitchFamily="2" charset="0"/>
                        </a:rPr>
                        <a:t>13</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dirty="0">
                          <a:effectLst/>
                          <a:latin typeface="Montserrat" panose="00000500000000000000" pitchFamily="2" charset="0"/>
                        </a:rPr>
                        <a:t>14</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dirty="0">
                          <a:effectLst/>
                          <a:latin typeface="Montserrat" panose="00000500000000000000" pitchFamily="2" charset="0"/>
                        </a:rPr>
                        <a:t>14</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a:effectLst/>
                          <a:latin typeface="Montserrat" panose="00000500000000000000" pitchFamily="2" charset="0"/>
                        </a:rPr>
                        <a:t>15</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a:effectLst/>
                          <a:latin typeface="Montserrat" panose="00000500000000000000" pitchFamily="2" charset="0"/>
                        </a:rPr>
                        <a:t>15</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400" b="1" u="none" strike="noStrike" dirty="0">
                          <a:effectLst/>
                          <a:latin typeface="Montserrat" panose="00000500000000000000" pitchFamily="2" charset="0"/>
                        </a:rPr>
                        <a:t>15</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dirty="0">
                          <a:effectLst/>
                          <a:latin typeface="Montserrat" panose="00000500000000000000" pitchFamily="2" charset="0"/>
                        </a:rPr>
                        <a:t>16</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a:effectLst/>
                          <a:latin typeface="Montserrat" panose="00000500000000000000" pitchFamily="2" charset="0"/>
                        </a:rPr>
                        <a:t>16</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a:effectLst/>
                          <a:latin typeface="Montserrat" panose="00000500000000000000" pitchFamily="2" charset="0"/>
                        </a:rPr>
                        <a:t>17</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a:effectLst/>
                          <a:latin typeface="Montserrat" panose="00000500000000000000" pitchFamily="2" charset="0"/>
                        </a:rPr>
                        <a:t>17</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dirty="0">
                          <a:effectLst/>
                          <a:latin typeface="Montserrat" panose="00000500000000000000" pitchFamily="2" charset="0"/>
                        </a:rPr>
                        <a:t>17</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dirty="0">
                          <a:effectLst/>
                          <a:latin typeface="Montserrat" panose="00000500000000000000" pitchFamily="2" charset="0"/>
                        </a:rPr>
                        <a:t>18</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dirty="0">
                          <a:effectLst/>
                          <a:latin typeface="Montserrat" panose="00000500000000000000" pitchFamily="2" charset="0"/>
                        </a:rPr>
                        <a:t>18</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dirty="0">
                          <a:effectLst/>
                          <a:latin typeface="Montserrat" panose="00000500000000000000" pitchFamily="2" charset="0"/>
                        </a:rPr>
                        <a:t>19</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a:effectLst/>
                          <a:latin typeface="Montserrat" panose="00000500000000000000" pitchFamily="2" charset="0"/>
                        </a:rPr>
                        <a:t>19</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a:effectLst/>
                          <a:latin typeface="Montserrat" panose="00000500000000000000" pitchFamily="2" charset="0"/>
                        </a:rPr>
                        <a:t>19</a:t>
                      </a:r>
                      <a:endParaRPr lang="es-MX" sz="1400" b="1"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1" u="none" strike="noStrike" dirty="0">
                          <a:effectLst/>
                          <a:latin typeface="Montserrat" panose="00000500000000000000" pitchFamily="2" charset="0"/>
                        </a:rPr>
                        <a:t>20</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dirty="0">
                          <a:effectLst/>
                          <a:latin typeface="Montserrat" panose="00000500000000000000" pitchFamily="2" charset="0"/>
                        </a:rPr>
                        <a:t>20</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dirty="0">
                          <a:effectLst/>
                          <a:latin typeface="Montserrat" panose="00000500000000000000" pitchFamily="2" charset="0"/>
                        </a:rPr>
                        <a:t>20</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1" u="none" strike="noStrike" dirty="0">
                          <a:effectLst/>
                          <a:latin typeface="Montserrat" panose="00000500000000000000" pitchFamily="2" charset="0"/>
                        </a:rPr>
                        <a:t>20</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extLst>
                  <a:ext uri="{0D108BD9-81ED-4DB2-BD59-A6C34878D82A}">
                    <a16:rowId xmlns:a16="http://schemas.microsoft.com/office/drawing/2014/main" val="3611207638"/>
                  </a:ext>
                </a:extLst>
              </a:tr>
              <a:tr h="315468">
                <a:tc>
                  <a:txBody>
                    <a:bodyPr/>
                    <a:lstStyle/>
                    <a:p>
                      <a:pPr algn="ctr" fontAlgn="b"/>
                      <a:r>
                        <a:rPr lang="es-MX" sz="1400" b="1" u="none" strike="noStrike" dirty="0">
                          <a:effectLst/>
                          <a:latin typeface="Montserrat" panose="00000500000000000000" pitchFamily="2" charset="0"/>
                        </a:rPr>
                        <a:t>Estatura (y)</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150</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155</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dirty="0">
                          <a:effectLst/>
                          <a:latin typeface="Montserrat" panose="00000500000000000000" pitchFamily="2" charset="0"/>
                        </a:rPr>
                        <a:t>158</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a:effectLst/>
                          <a:latin typeface="Montserrat" panose="00000500000000000000" pitchFamily="2" charset="0"/>
                        </a:rPr>
                        <a:t>160</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162</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400" u="none" strike="noStrike" dirty="0">
                          <a:effectLst/>
                          <a:latin typeface="Montserrat" panose="00000500000000000000" pitchFamily="2" charset="0"/>
                        </a:rPr>
                        <a:t>165</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168</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dirty="0">
                          <a:effectLst/>
                          <a:latin typeface="Montserrat" panose="00000500000000000000" pitchFamily="2" charset="0"/>
                        </a:rPr>
                        <a:t>170</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a:effectLst/>
                          <a:latin typeface="Montserrat" panose="00000500000000000000" pitchFamily="2" charset="0"/>
                        </a:rPr>
                        <a:t>172</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175</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178</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180</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dirty="0">
                          <a:effectLst/>
                          <a:latin typeface="Montserrat" panose="00000500000000000000" pitchFamily="2" charset="0"/>
                        </a:rPr>
                        <a:t>182</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a:effectLst/>
                          <a:latin typeface="Montserrat" panose="00000500000000000000" pitchFamily="2" charset="0"/>
                        </a:rPr>
                        <a:t>183</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185</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187</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190</a:t>
                      </a:r>
                      <a:endParaRPr lang="es-MX" sz="1400" b="0" i="0" u="none" strike="noStrike">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dirty="0">
                          <a:effectLst/>
                          <a:latin typeface="Montserrat" panose="00000500000000000000" pitchFamily="2" charset="0"/>
                        </a:rPr>
                        <a:t>192</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dirty="0">
                          <a:effectLst/>
                          <a:latin typeface="Montserrat" panose="00000500000000000000" pitchFamily="2" charset="0"/>
                        </a:rPr>
                        <a:t>195</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u="none" strike="noStrike" dirty="0">
                          <a:effectLst/>
                          <a:latin typeface="Montserrat" panose="00000500000000000000" pitchFamily="2" charset="0"/>
                        </a:rPr>
                        <a:t>198</a:t>
                      </a:r>
                      <a:endParaRPr lang="es-MX" sz="1400" b="0"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extLst>
                  <a:ext uri="{0D108BD9-81ED-4DB2-BD59-A6C34878D82A}">
                    <a16:rowId xmlns:a16="http://schemas.microsoft.com/office/drawing/2014/main" val="911803053"/>
                  </a:ext>
                </a:extLst>
              </a:tr>
              <a:tr h="168250">
                <a:tc>
                  <a:txBody>
                    <a:bodyPr/>
                    <a:lstStyle/>
                    <a:p>
                      <a:pPr algn="ctr" fontAlgn="b"/>
                      <a:r>
                        <a:rPr lang="es-MX" sz="1400" b="1" u="none" strike="noStrike" dirty="0">
                          <a:effectLst/>
                          <a:latin typeface="Montserrat" panose="00000500000000000000" pitchFamily="2" charset="0"/>
                        </a:rPr>
                        <a:t>Estatura calculada</a:t>
                      </a:r>
                      <a:endParaRPr lang="es-MX" sz="1400" b="1" i="0" u="none" strike="noStrike" dirty="0">
                        <a:solidFill>
                          <a:srgbClr val="000000"/>
                        </a:solidFill>
                        <a:effectLst/>
                        <a:latin typeface="Montserrat" panose="00000500000000000000" pitchFamily="2" charset="0"/>
                      </a:endParaRPr>
                    </a:p>
                  </a:txBody>
                  <a:tcPr marL="7010" marR="7010" marT="701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dirty="0">
                          <a:solidFill>
                            <a:srgbClr val="000000"/>
                          </a:solidFill>
                          <a:effectLst/>
                          <a:latin typeface="Montserrat" panose="00000500000000000000" pitchFamily="2" charset="0"/>
                        </a:rPr>
                        <a:t>150.3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156.4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dirty="0">
                          <a:solidFill>
                            <a:srgbClr val="000000"/>
                          </a:solidFill>
                          <a:effectLst/>
                          <a:latin typeface="Montserrat" panose="00000500000000000000" pitchFamily="2" charset="0"/>
                        </a:rPr>
                        <a:t>156.4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a:solidFill>
                            <a:srgbClr val="000000"/>
                          </a:solidFill>
                          <a:effectLst/>
                          <a:latin typeface="Montserrat" panose="00000500000000000000" pitchFamily="2" charset="0"/>
                        </a:rPr>
                        <a:t>162.5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162.5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400" b="0" i="0" u="none" strike="noStrike">
                          <a:solidFill>
                            <a:srgbClr val="000000"/>
                          </a:solidFill>
                          <a:effectLst/>
                          <a:latin typeface="Montserrat" panose="00000500000000000000" pitchFamily="2" charset="0"/>
                        </a:rPr>
                        <a:t>162.5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168.6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dirty="0">
                          <a:solidFill>
                            <a:srgbClr val="000000"/>
                          </a:solidFill>
                          <a:effectLst/>
                          <a:latin typeface="Montserrat" panose="00000500000000000000" pitchFamily="2" charset="0"/>
                        </a:rPr>
                        <a:t>168.6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a:solidFill>
                            <a:srgbClr val="000000"/>
                          </a:solidFill>
                          <a:effectLst/>
                          <a:latin typeface="Montserrat" panose="00000500000000000000" pitchFamily="2" charset="0"/>
                        </a:rPr>
                        <a:t>174.7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174.7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174.7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180.8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dirty="0">
                          <a:solidFill>
                            <a:srgbClr val="000000"/>
                          </a:solidFill>
                          <a:effectLst/>
                          <a:latin typeface="Montserrat" panose="00000500000000000000" pitchFamily="2" charset="0"/>
                        </a:rPr>
                        <a:t>180.8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dirty="0">
                          <a:solidFill>
                            <a:srgbClr val="000000"/>
                          </a:solidFill>
                          <a:effectLst/>
                          <a:latin typeface="Montserrat" panose="00000500000000000000" pitchFamily="2" charset="0"/>
                        </a:rPr>
                        <a:t>186.8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186.8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186.8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b="0" i="0" u="none" strike="noStrike">
                          <a:solidFill>
                            <a:srgbClr val="000000"/>
                          </a:solidFill>
                          <a:effectLst/>
                          <a:latin typeface="Montserrat" panose="00000500000000000000" pitchFamily="2" charset="0"/>
                        </a:rPr>
                        <a:t>192.9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a:solidFill>
                            <a:srgbClr val="000000"/>
                          </a:solidFill>
                          <a:effectLst/>
                          <a:latin typeface="Montserrat" panose="00000500000000000000" pitchFamily="2" charset="0"/>
                        </a:rPr>
                        <a:t>192.9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a:solidFill>
                            <a:srgbClr val="000000"/>
                          </a:solidFill>
                          <a:effectLst/>
                          <a:latin typeface="Montserrat" panose="00000500000000000000" pitchFamily="2" charset="0"/>
                        </a:rPr>
                        <a:t>192.9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fontAlgn="b"/>
                      <a:r>
                        <a:rPr lang="es-MX" sz="1400" b="0" i="0" u="none" strike="noStrike" dirty="0">
                          <a:solidFill>
                            <a:srgbClr val="000000"/>
                          </a:solidFill>
                          <a:effectLst/>
                          <a:latin typeface="Montserrat" panose="00000500000000000000" pitchFamily="2" charset="0"/>
                        </a:rPr>
                        <a:t>192.9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extLst>
                  <a:ext uri="{0D108BD9-81ED-4DB2-BD59-A6C34878D82A}">
                    <a16:rowId xmlns:a16="http://schemas.microsoft.com/office/drawing/2014/main" val="1242391527"/>
                  </a:ext>
                </a:extLst>
              </a:tr>
            </a:tbl>
          </a:graphicData>
        </a:graphic>
      </p:graphicFrame>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8092AE5C-0558-4A6A-A938-90B4CB883BF8}"/>
                  </a:ext>
                </a:extLst>
              </p:cNvPr>
              <p:cNvSpPr txBox="1"/>
              <p:nvPr/>
            </p:nvSpPr>
            <p:spPr>
              <a:xfrm>
                <a:off x="2046901" y="4242015"/>
                <a:ext cx="18147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131D3F"/>
                          </a:solidFill>
                          <a:latin typeface="Cambria Math" panose="02040503050406030204" pitchFamily="18" charset="0"/>
                        </a:rPr>
                        <m:t>𝑌</m:t>
                      </m:r>
                      <m:r>
                        <a:rPr lang="es-ES" sz="2000" b="0" i="1" smtClean="0">
                          <a:solidFill>
                            <a:srgbClr val="131D3F"/>
                          </a:solidFill>
                          <a:latin typeface="Cambria Math" panose="02040503050406030204" pitchFamily="18" charset="0"/>
                        </a:rPr>
                        <m:t>=</m:t>
                      </m:r>
                      <m:r>
                        <a:rPr lang="es-ES" sz="2000" b="0" i="1" smtClean="0">
                          <a:solidFill>
                            <a:srgbClr val="131D3F"/>
                          </a:solidFill>
                          <a:latin typeface="Cambria Math" panose="02040503050406030204" pitchFamily="18" charset="0"/>
                          <a:ea typeface="Cambria Math" panose="02040503050406030204" pitchFamily="18" charset="0"/>
                        </a:rPr>
                        <m:t>𝑏</m:t>
                      </m:r>
                      <m:r>
                        <a:rPr lang="es-ES" sz="2000" b="0" i="1" smtClean="0">
                          <a:solidFill>
                            <a:srgbClr val="131D3F"/>
                          </a:solidFill>
                          <a:latin typeface="Cambria Math" panose="02040503050406030204" pitchFamily="18" charset="0"/>
                          <a:ea typeface="Cambria Math" panose="02040503050406030204" pitchFamily="18" charset="0"/>
                        </a:rPr>
                        <m:t>+(</m:t>
                      </m:r>
                      <m:r>
                        <a:rPr lang="es-ES" sz="2000" b="0" i="1" smtClean="0">
                          <a:solidFill>
                            <a:srgbClr val="131D3F"/>
                          </a:solidFill>
                          <a:latin typeface="Cambria Math" panose="02040503050406030204" pitchFamily="18" charset="0"/>
                          <a:ea typeface="Cambria Math" panose="02040503050406030204" pitchFamily="18" charset="0"/>
                        </a:rPr>
                        <m:t>𝑚</m:t>
                      </m:r>
                      <m:r>
                        <a:rPr lang="es-ES" sz="2000" b="0" i="1" smtClean="0">
                          <a:solidFill>
                            <a:srgbClr val="131D3F"/>
                          </a:solidFill>
                          <a:latin typeface="Cambria Math" panose="02040503050406030204" pitchFamily="18" charset="0"/>
                          <a:ea typeface="Cambria Math" panose="02040503050406030204" pitchFamily="18" charset="0"/>
                        </a:rPr>
                        <m:t>∗</m:t>
                      </m:r>
                      <m:r>
                        <a:rPr lang="es-ES" sz="2000" b="0" i="1" smtClean="0">
                          <a:solidFill>
                            <a:srgbClr val="131D3F"/>
                          </a:solidFill>
                          <a:latin typeface="Cambria Math" panose="02040503050406030204" pitchFamily="18" charset="0"/>
                          <a:ea typeface="Cambria Math" panose="02040503050406030204" pitchFamily="18" charset="0"/>
                        </a:rPr>
                        <m:t>𝑥</m:t>
                      </m:r>
                      <m:r>
                        <a:rPr lang="es-ES" sz="2000" b="0" i="1" smtClean="0">
                          <a:solidFill>
                            <a:srgbClr val="131D3F"/>
                          </a:solidFill>
                          <a:latin typeface="Cambria Math" panose="02040503050406030204" pitchFamily="18" charset="0"/>
                          <a:ea typeface="Cambria Math" panose="02040503050406030204" pitchFamily="18" charset="0"/>
                        </a:rPr>
                        <m:t>)</m:t>
                      </m:r>
                    </m:oMath>
                  </m:oMathPara>
                </a14:m>
                <a:endParaRPr lang="es-MX" sz="2000" dirty="0">
                  <a:solidFill>
                    <a:srgbClr val="131D3F"/>
                  </a:solidFill>
                </a:endParaRPr>
              </a:p>
            </p:txBody>
          </p:sp>
        </mc:Choice>
        <mc:Fallback xmlns="">
          <p:sp>
            <p:nvSpPr>
              <p:cNvPr id="15" name="CuadroTexto 14">
                <a:extLst>
                  <a:ext uri="{FF2B5EF4-FFF2-40B4-BE49-F238E27FC236}">
                    <a16:creationId xmlns:a16="http://schemas.microsoft.com/office/drawing/2014/main" id="{8092AE5C-0558-4A6A-A938-90B4CB883BF8}"/>
                  </a:ext>
                </a:extLst>
              </p:cNvPr>
              <p:cNvSpPr txBox="1">
                <a:spLocks noRot="1" noChangeAspect="1" noMove="1" noResize="1" noEditPoints="1" noAdjustHandles="1" noChangeArrowheads="1" noChangeShapeType="1" noTextEdit="1"/>
              </p:cNvSpPr>
              <p:nvPr/>
            </p:nvSpPr>
            <p:spPr>
              <a:xfrm>
                <a:off x="2046901" y="4242015"/>
                <a:ext cx="1814792" cy="307777"/>
              </a:xfrm>
              <a:prstGeom prst="rect">
                <a:avLst/>
              </a:prstGeom>
              <a:blipFill>
                <a:blip r:embed="rId7"/>
                <a:stretch>
                  <a:fillRect l="-3030" t="-2000" r="-4714" b="-36000"/>
                </a:stretch>
              </a:blipFill>
            </p:spPr>
            <p:txBody>
              <a:bodyPr/>
              <a:lstStyle/>
              <a:p>
                <a:r>
                  <a:rPr lang="es-MX">
                    <a:noFill/>
                  </a:rPr>
                  <a:t> </a:t>
                </a:r>
              </a:p>
            </p:txBody>
          </p:sp>
        </mc:Fallback>
      </mc:AlternateContent>
      <p:sp>
        <p:nvSpPr>
          <p:cNvPr id="16" name="CuadroTexto 15">
            <a:extLst>
              <a:ext uri="{FF2B5EF4-FFF2-40B4-BE49-F238E27FC236}">
                <a16:creationId xmlns:a16="http://schemas.microsoft.com/office/drawing/2014/main" id="{CB097A36-7250-46EA-B984-39815FD87B27}"/>
              </a:ext>
            </a:extLst>
          </p:cNvPr>
          <p:cNvSpPr txBox="1"/>
          <p:nvPr/>
        </p:nvSpPr>
        <p:spPr>
          <a:xfrm>
            <a:off x="447773" y="3823290"/>
            <a:ext cx="5115235" cy="40011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Ecuación: </a:t>
            </a:r>
            <a:r>
              <a:rPr lang="es-ES" sz="2000" dirty="0">
                <a:solidFill>
                  <a:srgbClr val="131D3F"/>
                </a:solidFill>
                <a:latin typeface="Montserrat" panose="00000500000000000000" pitchFamily="2" charset="0"/>
              </a:rPr>
              <a:t>Calculo de estimaciones</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234A81B-A76A-4236-85AA-3FAD5546D23E}"/>
                  </a:ext>
                </a:extLst>
              </p:cNvPr>
              <p:cNvSpPr txBox="1"/>
              <p:nvPr/>
            </p:nvSpPr>
            <p:spPr>
              <a:xfrm>
                <a:off x="2046901" y="4703402"/>
                <a:ext cx="39990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solidFill>
                            <a:srgbClr val="131D3F"/>
                          </a:solidFill>
                          <a:latin typeface="Cambria Math" panose="02040503050406030204" pitchFamily="18" charset="0"/>
                        </a:rPr>
                        <m:t>𝑌</m:t>
                      </m:r>
                      <m:r>
                        <a:rPr lang="es-ES" sz="2000" b="0" i="1" smtClean="0">
                          <a:solidFill>
                            <a:srgbClr val="131D3F"/>
                          </a:solidFill>
                          <a:latin typeface="Cambria Math" panose="02040503050406030204" pitchFamily="18" charset="0"/>
                        </a:rPr>
                        <m:t>=71.13−</m:t>
                      </m:r>
                      <m:d>
                        <m:dPr>
                          <m:ctrlPr>
                            <a:rPr lang="es-ES" sz="2000" b="0" i="1" smtClean="0">
                              <a:solidFill>
                                <a:srgbClr val="131D3F"/>
                              </a:solidFill>
                              <a:latin typeface="Cambria Math" panose="02040503050406030204" pitchFamily="18" charset="0"/>
                              <a:ea typeface="Cambria Math" panose="02040503050406030204" pitchFamily="18" charset="0"/>
                            </a:rPr>
                          </m:ctrlPr>
                        </m:dPr>
                        <m:e>
                          <m:r>
                            <a:rPr lang="es-ES" sz="2000" b="0" i="1" smtClean="0">
                              <a:solidFill>
                                <a:srgbClr val="131D3F"/>
                              </a:solidFill>
                              <a:latin typeface="Cambria Math" panose="02040503050406030204" pitchFamily="18" charset="0"/>
                              <a:ea typeface="Cambria Math" panose="02040503050406030204" pitchFamily="18" charset="0"/>
                            </a:rPr>
                            <m:t>6.09 ∗13</m:t>
                          </m:r>
                        </m:e>
                      </m:d>
                      <m:r>
                        <a:rPr lang="es-ES" sz="2000" b="0" i="1" smtClean="0">
                          <a:solidFill>
                            <a:srgbClr val="131D3F"/>
                          </a:solidFill>
                          <a:latin typeface="Cambria Math" panose="02040503050406030204" pitchFamily="18" charset="0"/>
                          <a:ea typeface="Cambria Math" panose="02040503050406030204" pitchFamily="18" charset="0"/>
                        </a:rPr>
                        <m:t>=</m:t>
                      </m:r>
                      <m:r>
                        <a:rPr lang="es-ES" sz="2000" b="1" i="1" smtClean="0">
                          <a:solidFill>
                            <a:srgbClr val="131D3F"/>
                          </a:solidFill>
                          <a:latin typeface="Cambria Math" panose="02040503050406030204" pitchFamily="18" charset="0"/>
                          <a:ea typeface="Cambria Math" panose="02040503050406030204" pitchFamily="18" charset="0"/>
                        </a:rPr>
                        <m:t>𝟏𝟓𝟎</m:t>
                      </m:r>
                      <m:r>
                        <a:rPr lang="es-ES" sz="2000" b="1" i="1" smtClean="0">
                          <a:solidFill>
                            <a:srgbClr val="131D3F"/>
                          </a:solidFill>
                          <a:latin typeface="Cambria Math" panose="02040503050406030204" pitchFamily="18" charset="0"/>
                          <a:ea typeface="Cambria Math" panose="02040503050406030204" pitchFamily="18" charset="0"/>
                        </a:rPr>
                        <m:t>.</m:t>
                      </m:r>
                      <m:r>
                        <a:rPr lang="es-ES" sz="2000" b="1" i="1" smtClean="0">
                          <a:solidFill>
                            <a:srgbClr val="131D3F"/>
                          </a:solidFill>
                          <a:latin typeface="Cambria Math" panose="02040503050406030204" pitchFamily="18" charset="0"/>
                          <a:ea typeface="Cambria Math" panose="02040503050406030204" pitchFamily="18" charset="0"/>
                        </a:rPr>
                        <m:t>𝟑𝟎</m:t>
                      </m:r>
                    </m:oMath>
                  </m:oMathPara>
                </a14:m>
                <a:endParaRPr lang="es-MX" sz="2000" b="1" dirty="0">
                  <a:solidFill>
                    <a:srgbClr val="131D3F"/>
                  </a:solidFill>
                </a:endParaRPr>
              </a:p>
            </p:txBody>
          </p:sp>
        </mc:Choice>
        <mc:Fallback xmlns="">
          <p:sp>
            <p:nvSpPr>
              <p:cNvPr id="17" name="CuadroTexto 16">
                <a:extLst>
                  <a:ext uri="{FF2B5EF4-FFF2-40B4-BE49-F238E27FC236}">
                    <a16:creationId xmlns:a16="http://schemas.microsoft.com/office/drawing/2014/main" id="{7234A81B-A76A-4236-85AA-3FAD5546D23E}"/>
                  </a:ext>
                </a:extLst>
              </p:cNvPr>
              <p:cNvSpPr txBox="1">
                <a:spLocks noRot="1" noChangeAspect="1" noMove="1" noResize="1" noEditPoints="1" noAdjustHandles="1" noChangeArrowheads="1" noChangeShapeType="1" noTextEdit="1"/>
              </p:cNvSpPr>
              <p:nvPr/>
            </p:nvSpPr>
            <p:spPr>
              <a:xfrm>
                <a:off x="2046901" y="4703402"/>
                <a:ext cx="3999043" cy="307777"/>
              </a:xfrm>
              <a:prstGeom prst="rect">
                <a:avLst/>
              </a:prstGeom>
              <a:blipFill>
                <a:blip r:embed="rId8"/>
                <a:stretch>
                  <a:fillRect l="-610" r="-457" b="-8000"/>
                </a:stretch>
              </a:blipFill>
            </p:spPr>
            <p:txBody>
              <a:bodyPr/>
              <a:lstStyle/>
              <a:p>
                <a:r>
                  <a:rPr lang="es-MX">
                    <a:noFill/>
                  </a:rPr>
                  <a:t> </a:t>
                </a:r>
              </a:p>
            </p:txBody>
          </p:sp>
        </mc:Fallback>
      </mc:AlternateContent>
    </p:spTree>
    <p:extLst>
      <p:ext uri="{BB962C8B-B14F-4D97-AF65-F5344CB8AC3E}">
        <p14:creationId xmlns:p14="http://schemas.microsoft.com/office/powerpoint/2010/main" val="63489666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132</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861774"/>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 - Ejemplo</a:t>
            </a:r>
          </a:p>
          <a:p>
            <a:pPr lvl="1" algn="just">
              <a:spcAft>
                <a:spcPts val="1200"/>
              </a:spcAft>
            </a:pPr>
            <a:r>
              <a:rPr lang="es-ES" sz="2000" dirty="0">
                <a:solidFill>
                  <a:srgbClr val="131D3F"/>
                </a:solidFill>
                <a:latin typeface="Montserrat" panose="00000500000000000000" pitchFamily="2" charset="0"/>
              </a:rPr>
              <a:t>Relación de edad vs Estatura</a:t>
            </a:r>
          </a:p>
        </p:txBody>
      </p:sp>
      <p:graphicFrame>
        <p:nvGraphicFramePr>
          <p:cNvPr id="18" name="Gráfico 17">
            <a:extLst>
              <a:ext uri="{FF2B5EF4-FFF2-40B4-BE49-F238E27FC236}">
                <a16:creationId xmlns:a16="http://schemas.microsoft.com/office/drawing/2014/main" id="{C07B0BD9-9975-4DAC-94B2-1034A6F54F38}"/>
              </a:ext>
            </a:extLst>
          </p:cNvPr>
          <p:cNvGraphicFramePr>
            <a:graphicFrameLocks/>
          </p:cNvGraphicFramePr>
          <p:nvPr>
            <p:extLst>
              <p:ext uri="{D42A27DB-BD31-4B8C-83A1-F6EECF244321}">
                <p14:modId xmlns:p14="http://schemas.microsoft.com/office/powerpoint/2010/main" val="3031299168"/>
              </p:ext>
            </p:extLst>
          </p:nvPr>
        </p:nvGraphicFramePr>
        <p:xfrm>
          <a:off x="1727963" y="2474242"/>
          <a:ext cx="8512553" cy="395067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6516362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133</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63901"/>
            <a:ext cx="11296454" cy="1477328"/>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Regresión Lineal – Ejercicio</a:t>
            </a:r>
          </a:p>
          <a:p>
            <a:pPr algn="just">
              <a:spcAft>
                <a:spcPts val="1200"/>
              </a:spcAft>
            </a:pPr>
            <a:r>
              <a:rPr lang="es-ES" sz="2000" dirty="0">
                <a:solidFill>
                  <a:srgbClr val="131D3F"/>
                </a:solidFill>
                <a:latin typeface="Montserrat" panose="00000500000000000000" pitchFamily="2" charset="0"/>
              </a:rPr>
              <a:t>Supongamos que una empresa ha registrado sus gastos en publicidad y las ventas correspondientes en miles de dólares. A continuación, se presenta un conjunto de datos ficticio:</a:t>
            </a:r>
          </a:p>
        </p:txBody>
      </p:sp>
      <p:graphicFrame>
        <p:nvGraphicFramePr>
          <p:cNvPr id="6" name="Tabla 5">
            <a:extLst>
              <a:ext uri="{FF2B5EF4-FFF2-40B4-BE49-F238E27FC236}">
                <a16:creationId xmlns:a16="http://schemas.microsoft.com/office/drawing/2014/main" id="{C0C68ED7-1837-42F4-A337-33C909C3AE6E}"/>
              </a:ext>
            </a:extLst>
          </p:cNvPr>
          <p:cNvGraphicFramePr>
            <a:graphicFrameLocks noGrp="1"/>
          </p:cNvGraphicFramePr>
          <p:nvPr>
            <p:extLst>
              <p:ext uri="{D42A27DB-BD31-4B8C-83A1-F6EECF244321}">
                <p14:modId xmlns:p14="http://schemas.microsoft.com/office/powerpoint/2010/main" val="114160293"/>
              </p:ext>
            </p:extLst>
          </p:nvPr>
        </p:nvGraphicFramePr>
        <p:xfrm>
          <a:off x="156011" y="3641167"/>
          <a:ext cx="11858917" cy="1270146"/>
        </p:xfrm>
        <a:graphic>
          <a:graphicData uri="http://schemas.openxmlformats.org/drawingml/2006/table">
            <a:tbl>
              <a:tblPr>
                <a:tableStyleId>{5C22544A-7EE6-4342-B048-85BDC9FD1C3A}</a:tableStyleId>
              </a:tblPr>
              <a:tblGrid>
                <a:gridCol w="2154937">
                  <a:extLst>
                    <a:ext uri="{9D8B030D-6E8A-4147-A177-3AD203B41FA5}">
                      <a16:colId xmlns:a16="http://schemas.microsoft.com/office/drawing/2014/main" val="2340716013"/>
                    </a:ext>
                  </a:extLst>
                </a:gridCol>
                <a:gridCol w="485199">
                  <a:extLst>
                    <a:ext uri="{9D8B030D-6E8A-4147-A177-3AD203B41FA5}">
                      <a16:colId xmlns:a16="http://schemas.microsoft.com/office/drawing/2014/main" val="1928335205"/>
                    </a:ext>
                  </a:extLst>
                </a:gridCol>
                <a:gridCol w="485199">
                  <a:extLst>
                    <a:ext uri="{9D8B030D-6E8A-4147-A177-3AD203B41FA5}">
                      <a16:colId xmlns:a16="http://schemas.microsoft.com/office/drawing/2014/main" val="4244994828"/>
                    </a:ext>
                  </a:extLst>
                </a:gridCol>
                <a:gridCol w="485199">
                  <a:extLst>
                    <a:ext uri="{9D8B030D-6E8A-4147-A177-3AD203B41FA5}">
                      <a16:colId xmlns:a16="http://schemas.microsoft.com/office/drawing/2014/main" val="2465961937"/>
                    </a:ext>
                  </a:extLst>
                </a:gridCol>
                <a:gridCol w="485199">
                  <a:extLst>
                    <a:ext uri="{9D8B030D-6E8A-4147-A177-3AD203B41FA5}">
                      <a16:colId xmlns:a16="http://schemas.microsoft.com/office/drawing/2014/main" val="4167703072"/>
                    </a:ext>
                  </a:extLst>
                </a:gridCol>
                <a:gridCol w="485199">
                  <a:extLst>
                    <a:ext uri="{9D8B030D-6E8A-4147-A177-3AD203B41FA5}">
                      <a16:colId xmlns:a16="http://schemas.microsoft.com/office/drawing/2014/main" val="2458881564"/>
                    </a:ext>
                  </a:extLst>
                </a:gridCol>
                <a:gridCol w="485199">
                  <a:extLst>
                    <a:ext uri="{9D8B030D-6E8A-4147-A177-3AD203B41FA5}">
                      <a16:colId xmlns:a16="http://schemas.microsoft.com/office/drawing/2014/main" val="2011880427"/>
                    </a:ext>
                  </a:extLst>
                </a:gridCol>
                <a:gridCol w="485199">
                  <a:extLst>
                    <a:ext uri="{9D8B030D-6E8A-4147-A177-3AD203B41FA5}">
                      <a16:colId xmlns:a16="http://schemas.microsoft.com/office/drawing/2014/main" val="1175591015"/>
                    </a:ext>
                  </a:extLst>
                </a:gridCol>
                <a:gridCol w="485199">
                  <a:extLst>
                    <a:ext uri="{9D8B030D-6E8A-4147-A177-3AD203B41FA5}">
                      <a16:colId xmlns:a16="http://schemas.microsoft.com/office/drawing/2014/main" val="1705437753"/>
                    </a:ext>
                  </a:extLst>
                </a:gridCol>
                <a:gridCol w="485199">
                  <a:extLst>
                    <a:ext uri="{9D8B030D-6E8A-4147-A177-3AD203B41FA5}">
                      <a16:colId xmlns:a16="http://schemas.microsoft.com/office/drawing/2014/main" val="3369414930"/>
                    </a:ext>
                  </a:extLst>
                </a:gridCol>
                <a:gridCol w="485199">
                  <a:extLst>
                    <a:ext uri="{9D8B030D-6E8A-4147-A177-3AD203B41FA5}">
                      <a16:colId xmlns:a16="http://schemas.microsoft.com/office/drawing/2014/main" val="1738587206"/>
                    </a:ext>
                  </a:extLst>
                </a:gridCol>
                <a:gridCol w="485199">
                  <a:extLst>
                    <a:ext uri="{9D8B030D-6E8A-4147-A177-3AD203B41FA5}">
                      <a16:colId xmlns:a16="http://schemas.microsoft.com/office/drawing/2014/main" val="3539546788"/>
                    </a:ext>
                  </a:extLst>
                </a:gridCol>
                <a:gridCol w="485199">
                  <a:extLst>
                    <a:ext uri="{9D8B030D-6E8A-4147-A177-3AD203B41FA5}">
                      <a16:colId xmlns:a16="http://schemas.microsoft.com/office/drawing/2014/main" val="2602076236"/>
                    </a:ext>
                  </a:extLst>
                </a:gridCol>
                <a:gridCol w="485199">
                  <a:extLst>
                    <a:ext uri="{9D8B030D-6E8A-4147-A177-3AD203B41FA5}">
                      <a16:colId xmlns:a16="http://schemas.microsoft.com/office/drawing/2014/main" val="3633296021"/>
                    </a:ext>
                  </a:extLst>
                </a:gridCol>
                <a:gridCol w="485199">
                  <a:extLst>
                    <a:ext uri="{9D8B030D-6E8A-4147-A177-3AD203B41FA5}">
                      <a16:colId xmlns:a16="http://schemas.microsoft.com/office/drawing/2014/main" val="1365646304"/>
                    </a:ext>
                  </a:extLst>
                </a:gridCol>
                <a:gridCol w="485199">
                  <a:extLst>
                    <a:ext uri="{9D8B030D-6E8A-4147-A177-3AD203B41FA5}">
                      <a16:colId xmlns:a16="http://schemas.microsoft.com/office/drawing/2014/main" val="1548400614"/>
                    </a:ext>
                  </a:extLst>
                </a:gridCol>
                <a:gridCol w="485199">
                  <a:extLst>
                    <a:ext uri="{9D8B030D-6E8A-4147-A177-3AD203B41FA5}">
                      <a16:colId xmlns:a16="http://schemas.microsoft.com/office/drawing/2014/main" val="1504864585"/>
                    </a:ext>
                  </a:extLst>
                </a:gridCol>
                <a:gridCol w="485199">
                  <a:extLst>
                    <a:ext uri="{9D8B030D-6E8A-4147-A177-3AD203B41FA5}">
                      <a16:colId xmlns:a16="http://schemas.microsoft.com/office/drawing/2014/main" val="170596433"/>
                    </a:ext>
                  </a:extLst>
                </a:gridCol>
                <a:gridCol w="485199">
                  <a:extLst>
                    <a:ext uri="{9D8B030D-6E8A-4147-A177-3AD203B41FA5}">
                      <a16:colId xmlns:a16="http://schemas.microsoft.com/office/drawing/2014/main" val="2978782691"/>
                    </a:ext>
                  </a:extLst>
                </a:gridCol>
                <a:gridCol w="485199">
                  <a:extLst>
                    <a:ext uri="{9D8B030D-6E8A-4147-A177-3AD203B41FA5}">
                      <a16:colId xmlns:a16="http://schemas.microsoft.com/office/drawing/2014/main" val="13766515"/>
                    </a:ext>
                  </a:extLst>
                </a:gridCol>
                <a:gridCol w="485199">
                  <a:extLst>
                    <a:ext uri="{9D8B030D-6E8A-4147-A177-3AD203B41FA5}">
                      <a16:colId xmlns:a16="http://schemas.microsoft.com/office/drawing/2014/main" val="3609897817"/>
                    </a:ext>
                  </a:extLst>
                </a:gridCol>
              </a:tblGrid>
              <a:tr h="417903">
                <a:tc>
                  <a:txBody>
                    <a:bodyPr/>
                    <a:lstStyle/>
                    <a:p>
                      <a:pPr algn="l" fontAlgn="b"/>
                      <a:r>
                        <a:rPr lang="es-MX" sz="1400" b="1" u="none" strike="noStrike" dirty="0">
                          <a:effectLst/>
                          <a:latin typeface="Montserrat" panose="00000500000000000000" pitchFamily="2" charset="0"/>
                        </a:rPr>
                        <a:t>Mes</a:t>
                      </a:r>
                      <a:endParaRPr lang="es-MX" sz="14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2</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3</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4</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5</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6</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7</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8</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9</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11</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12</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13</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14</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15</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16</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17</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18</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19</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20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0157730"/>
                  </a:ext>
                </a:extLst>
              </a:tr>
              <a:tr h="417903">
                <a:tc>
                  <a:txBody>
                    <a:bodyPr/>
                    <a:lstStyle/>
                    <a:p>
                      <a:pPr algn="l" fontAlgn="b"/>
                      <a:r>
                        <a:rPr lang="es-MX" sz="1400" b="1" u="none" strike="noStrike" dirty="0">
                          <a:effectLst/>
                          <a:latin typeface="Montserrat" panose="00000500000000000000" pitchFamily="2" charset="0"/>
                        </a:rPr>
                        <a:t>Gasto en Publicidad (X)</a:t>
                      </a:r>
                      <a:endParaRPr lang="es-MX" sz="14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2.00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2.50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3.00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3.50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4.00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4.50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5.00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5.50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6.00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6.50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7.00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7.50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8.00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8.50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9.00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9.50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10.00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a:effectLst/>
                          <a:latin typeface="Montserrat" panose="00000500000000000000" pitchFamily="2" charset="0"/>
                        </a:rPr>
                        <a:t>10.50</a:t>
                      </a:r>
                      <a:endParaRPr lang="es-MX" sz="14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4005531"/>
                  </a:ext>
                </a:extLst>
              </a:tr>
              <a:tr h="417903">
                <a:tc>
                  <a:txBody>
                    <a:bodyPr/>
                    <a:lstStyle/>
                    <a:p>
                      <a:pPr algn="l" fontAlgn="b"/>
                      <a:r>
                        <a:rPr lang="es-MX" sz="1400" b="1" u="none" strike="noStrike" dirty="0">
                          <a:effectLst/>
                          <a:latin typeface="Montserrat" panose="00000500000000000000" pitchFamily="2" charset="0"/>
                        </a:rPr>
                        <a:t>Ventas (Y)</a:t>
                      </a:r>
                      <a:endParaRPr lang="es-MX" sz="14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5.0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6.0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6.5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7.5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9.0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9.5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10.0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12.0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12.5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13.0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14.0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14.5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15.0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16.0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16.5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18.0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18.5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19.0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20.0</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s-MX" sz="1400" u="none" strike="noStrike" dirty="0">
                          <a:effectLst/>
                          <a:latin typeface="Montserrat" panose="00000500000000000000" pitchFamily="2" charset="0"/>
                        </a:rPr>
                        <a:t>20.5</a:t>
                      </a:r>
                      <a:endParaRPr lang="es-MX" sz="1400" b="0"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1596600"/>
                  </a:ext>
                </a:extLst>
              </a:tr>
            </a:tbl>
          </a:graphicData>
        </a:graphic>
      </p:graphicFrame>
    </p:spTree>
    <p:extLst>
      <p:ext uri="{BB962C8B-B14F-4D97-AF65-F5344CB8AC3E}">
        <p14:creationId xmlns:p14="http://schemas.microsoft.com/office/powerpoint/2010/main" val="19280860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134</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2140079"/>
            <a:ext cx="11296454" cy="2985433"/>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Análisis de Varianza (ANOVA)</a:t>
            </a:r>
          </a:p>
          <a:p>
            <a:pPr algn="just">
              <a:spcAft>
                <a:spcPts val="1200"/>
              </a:spcAft>
            </a:pPr>
            <a:endParaRPr lang="es-ES" sz="2800" b="1" dirty="0">
              <a:solidFill>
                <a:srgbClr val="131D3F"/>
              </a:solidFill>
              <a:latin typeface="Montserrat" panose="00000500000000000000" pitchFamily="2" charset="0"/>
            </a:endParaRPr>
          </a:p>
          <a:p>
            <a:pPr lvl="1" algn="just">
              <a:spcAft>
                <a:spcPts val="1200"/>
              </a:spcAft>
            </a:pPr>
            <a:r>
              <a:rPr lang="es-ES" sz="2800" dirty="0">
                <a:solidFill>
                  <a:srgbClr val="131D3F"/>
                </a:solidFill>
                <a:latin typeface="Montserrat" panose="00000500000000000000" pitchFamily="2" charset="0"/>
              </a:rPr>
              <a:t>Es una técnica estadística utilizada para comparar las medias de tres o más grupos y determinar si </a:t>
            </a:r>
            <a:r>
              <a:rPr lang="es-ES" sz="2800" b="1" dirty="0">
                <a:solidFill>
                  <a:srgbClr val="131D3F"/>
                </a:solidFill>
                <a:latin typeface="Montserrat" panose="00000500000000000000" pitchFamily="2" charset="0"/>
              </a:rPr>
              <a:t>las diferencias observadas entre las medias </a:t>
            </a:r>
            <a:r>
              <a:rPr lang="es-ES" sz="2800" dirty="0">
                <a:solidFill>
                  <a:srgbClr val="131D3F"/>
                </a:solidFill>
                <a:latin typeface="Montserrat" panose="00000500000000000000" pitchFamily="2" charset="0"/>
              </a:rPr>
              <a:t>de los grupos </a:t>
            </a:r>
            <a:r>
              <a:rPr lang="es-ES" sz="2800" b="1" dirty="0">
                <a:solidFill>
                  <a:srgbClr val="131D3F"/>
                </a:solidFill>
                <a:latin typeface="Montserrat" panose="00000500000000000000" pitchFamily="2" charset="0"/>
              </a:rPr>
              <a:t>son más grandes de lo que se esperaría</a:t>
            </a:r>
            <a:r>
              <a:rPr lang="es-ES" sz="2800" dirty="0">
                <a:solidFill>
                  <a:srgbClr val="131D3F"/>
                </a:solidFill>
                <a:latin typeface="Montserrat" panose="00000500000000000000" pitchFamily="2" charset="0"/>
              </a:rPr>
              <a:t> por el azar.</a:t>
            </a:r>
          </a:p>
        </p:txBody>
      </p:sp>
    </p:spTree>
    <p:extLst>
      <p:ext uri="{BB962C8B-B14F-4D97-AF65-F5344CB8AC3E}">
        <p14:creationId xmlns:p14="http://schemas.microsoft.com/office/powerpoint/2010/main" val="314598952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135</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32079"/>
            <a:ext cx="11296454" cy="4370427"/>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Análisis de Varianza (ANOVA)</a:t>
            </a:r>
          </a:p>
          <a:p>
            <a:pPr lvl="1" algn="just">
              <a:spcAft>
                <a:spcPts val="1200"/>
              </a:spcAft>
            </a:pPr>
            <a:r>
              <a:rPr lang="es-ES" sz="2000" dirty="0">
                <a:solidFill>
                  <a:srgbClr val="131D3F"/>
                </a:solidFill>
                <a:latin typeface="Montserrat" panose="00000500000000000000" pitchFamily="2" charset="0"/>
              </a:rPr>
              <a:t>Principales usos:</a:t>
            </a:r>
          </a:p>
          <a:p>
            <a:pPr lvl="1" algn="just">
              <a:spcAft>
                <a:spcPts val="1200"/>
              </a:spcAft>
            </a:pPr>
            <a:r>
              <a:rPr lang="es-ES" sz="2000" b="1" dirty="0">
                <a:solidFill>
                  <a:srgbClr val="131D3F"/>
                </a:solidFill>
                <a:latin typeface="Montserrat" panose="00000500000000000000" pitchFamily="2" charset="0"/>
              </a:rPr>
              <a:t>Comparación de Medias: </a:t>
            </a:r>
            <a:r>
              <a:rPr lang="es-ES" sz="2000" dirty="0">
                <a:solidFill>
                  <a:srgbClr val="131D3F"/>
                </a:solidFill>
                <a:latin typeface="Montserrat" panose="00000500000000000000" pitchFamily="2" charset="0"/>
              </a:rPr>
              <a:t>ANOVA permite evaluar si hay diferencias significativas en las medias de múltiples grupos, lo que es útil en estudios experimentales y en investigación.</a:t>
            </a:r>
          </a:p>
          <a:p>
            <a:pPr lvl="1" algn="just">
              <a:spcAft>
                <a:spcPts val="1200"/>
              </a:spcAft>
            </a:pPr>
            <a:r>
              <a:rPr lang="es-ES" sz="2000" b="1" dirty="0">
                <a:solidFill>
                  <a:srgbClr val="131D3F"/>
                </a:solidFill>
                <a:latin typeface="Montserrat" panose="00000500000000000000" pitchFamily="2" charset="0"/>
              </a:rPr>
              <a:t>Identificación de Factores: </a:t>
            </a:r>
            <a:r>
              <a:rPr lang="es-ES" sz="2000" dirty="0">
                <a:solidFill>
                  <a:srgbClr val="131D3F"/>
                </a:solidFill>
                <a:latin typeface="Montserrat" panose="00000500000000000000" pitchFamily="2" charset="0"/>
              </a:rPr>
              <a:t>Ayuda a identificar cuáles factores o variables influyen significativamente en la variabilidad de una variable dependiente.</a:t>
            </a:r>
          </a:p>
          <a:p>
            <a:pPr lvl="1" algn="just">
              <a:spcAft>
                <a:spcPts val="1200"/>
              </a:spcAft>
            </a:pPr>
            <a:r>
              <a:rPr lang="es-ES" sz="2000" b="1" dirty="0">
                <a:solidFill>
                  <a:srgbClr val="131D3F"/>
                </a:solidFill>
                <a:latin typeface="Montserrat" panose="00000500000000000000" pitchFamily="2" charset="0"/>
              </a:rPr>
              <a:t>Optimización de Recursos: </a:t>
            </a:r>
            <a:r>
              <a:rPr lang="es-ES" sz="2000" dirty="0">
                <a:solidFill>
                  <a:srgbClr val="131D3F"/>
                </a:solidFill>
                <a:latin typeface="Montserrat" panose="00000500000000000000" pitchFamily="2" charset="0"/>
              </a:rPr>
              <a:t>En el ámbito empresarial, puede ayudar a decidir entre diferentes tratamientos, productos o métodos para maximizar resultados.</a:t>
            </a:r>
          </a:p>
          <a:p>
            <a:pPr lvl="1" algn="just">
              <a:spcAft>
                <a:spcPts val="1200"/>
              </a:spcAft>
            </a:pPr>
            <a:r>
              <a:rPr lang="es-ES" sz="2000" b="1" dirty="0">
                <a:solidFill>
                  <a:srgbClr val="131D3F"/>
                </a:solidFill>
                <a:latin typeface="Montserrat" panose="00000500000000000000" pitchFamily="2" charset="0"/>
              </a:rPr>
              <a:t>Diseño Experimental: </a:t>
            </a:r>
            <a:r>
              <a:rPr lang="es-ES" sz="2000" dirty="0">
                <a:solidFill>
                  <a:srgbClr val="131D3F"/>
                </a:solidFill>
                <a:latin typeface="Montserrat" panose="00000500000000000000" pitchFamily="2" charset="0"/>
              </a:rPr>
              <a:t>Es fundamental en el diseño de experimentos, permitiendo a los investigadores analizar los efectos de diferentes condiciones o tratamientos.</a:t>
            </a:r>
          </a:p>
        </p:txBody>
      </p:sp>
    </p:spTree>
    <p:extLst>
      <p:ext uri="{BB962C8B-B14F-4D97-AF65-F5344CB8AC3E}">
        <p14:creationId xmlns:p14="http://schemas.microsoft.com/office/powerpoint/2010/main" val="13574314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136</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3.2 Técnicas de Estimación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3.2.4 Métodos estadísticos (o paramétrica).</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337786"/>
            <a:ext cx="11296454" cy="1908215"/>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Método Monte Carlo</a:t>
            </a:r>
          </a:p>
          <a:p>
            <a:pPr lvl="1" algn="just">
              <a:spcAft>
                <a:spcPts val="1200"/>
              </a:spcAft>
            </a:pPr>
            <a:r>
              <a:rPr lang="es-ES" sz="2000" dirty="0">
                <a:solidFill>
                  <a:srgbClr val="131D3F"/>
                </a:solidFill>
                <a:latin typeface="Montserrat" panose="00000500000000000000" pitchFamily="2" charset="0"/>
              </a:rPr>
              <a:t>El método estadístico de Monte Carlo es una técnica de simulación que utiliza el muestreo aleatorio para realizar estimaciones numéricas. Es especialmente útil en situaciones donde es difícil o imposible obtener soluciones analíticas exactas. A continuación, se detallan sus características, aplicaciones y un ejemplo práctico.</a:t>
            </a:r>
          </a:p>
        </p:txBody>
      </p:sp>
      <p:pic>
        <p:nvPicPr>
          <p:cNvPr id="7170" name="Picture 2" descr="El Método Monte Carlo. Estimación del Valor de Pi. – GeoGebra">
            <a:extLst>
              <a:ext uri="{FF2B5EF4-FFF2-40B4-BE49-F238E27FC236}">
                <a16:creationId xmlns:a16="http://schemas.microsoft.com/office/drawing/2014/main" id="{B808326C-E8C5-4A21-9754-A7D2D90101C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5215" r="54933" b="9243"/>
          <a:stretch/>
        </p:blipFill>
        <p:spPr bwMode="auto">
          <a:xfrm>
            <a:off x="2739510" y="3326489"/>
            <a:ext cx="3103811" cy="309843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1B17A80-0838-443A-B294-0F7A0CBBFAB8}"/>
                  </a:ext>
                </a:extLst>
              </p:cNvPr>
              <p:cNvSpPr txBox="1"/>
              <p:nvPr/>
            </p:nvSpPr>
            <p:spPr>
              <a:xfrm>
                <a:off x="6995160" y="3592591"/>
                <a:ext cx="4545090" cy="462306"/>
              </a:xfrm>
              <a:prstGeom prst="rect">
                <a:avLst/>
              </a:prstGeom>
              <a:noFill/>
            </p:spPr>
            <p:txBody>
              <a:bodyPr wrap="none" lIns="0" tIns="0" rIns="0" bIns="0" rtlCol="0">
                <a:spAutoFit/>
              </a:bodyPr>
              <a:lstStyle/>
              <a:p>
                <a14:m>
                  <m:oMath xmlns:m="http://schemas.openxmlformats.org/officeDocument/2006/math">
                    <m:f>
                      <m:fPr>
                        <m:ctrlPr>
                          <a:rPr lang="es-MX" i="1" smtClean="0">
                            <a:latin typeface="Cambria Math" panose="02040503050406030204" pitchFamily="18" charset="0"/>
                          </a:rPr>
                        </m:ctrlPr>
                      </m:fPr>
                      <m:num>
                        <m:r>
                          <a:rPr lang="es-MX"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 ∗</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𝑟</m:t>
                            </m:r>
                          </m:e>
                          <m:sup>
                            <m:r>
                              <a:rPr lang="es-ES" b="0" i="1" smtClean="0">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rPr>
                          <m:t>Á</m:t>
                        </m:r>
                        <m:r>
                          <a:rPr lang="es-ES" b="0" i="1" smtClean="0">
                            <a:latin typeface="Cambria Math" panose="02040503050406030204" pitchFamily="18" charset="0"/>
                          </a:rPr>
                          <m:t>𝑟𝑒𝑎</m:t>
                        </m:r>
                        <m:r>
                          <a:rPr lang="es-ES" b="0" i="1" smtClean="0">
                            <a:latin typeface="Cambria Math" panose="02040503050406030204" pitchFamily="18" charset="0"/>
                          </a:rPr>
                          <m:t> </m:t>
                        </m:r>
                        <m:r>
                          <a:rPr lang="es-ES" b="0" i="1" smtClean="0">
                            <a:latin typeface="Cambria Math" panose="02040503050406030204" pitchFamily="18" charset="0"/>
                          </a:rPr>
                          <m:t>𝑑𝑒𝑙</m:t>
                        </m:r>
                        <m:r>
                          <a:rPr lang="es-ES" b="0" i="1" smtClean="0">
                            <a:latin typeface="Cambria Math" panose="02040503050406030204" pitchFamily="18" charset="0"/>
                          </a:rPr>
                          <m:t> </m:t>
                        </m:r>
                        <m:r>
                          <a:rPr lang="es-ES" b="0" i="1" smtClean="0">
                            <a:latin typeface="Cambria Math" panose="02040503050406030204" pitchFamily="18" charset="0"/>
                          </a:rPr>
                          <m:t>𝐶𝑢𝑎𝑑𝑟𝑎𝑑𝑜</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𝑁𝑜</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𝑝𝑢𝑛𝑡𝑜𝑠</m:t>
                        </m:r>
                        <m:r>
                          <a:rPr lang="es-ES" b="0" i="1" smtClean="0">
                            <a:latin typeface="Cambria Math" panose="02040503050406030204" pitchFamily="18" charset="0"/>
                          </a:rPr>
                          <m:t> </m:t>
                        </m:r>
                        <m:r>
                          <a:rPr lang="es-ES" b="0" i="1" smtClean="0">
                            <a:latin typeface="Cambria Math" panose="02040503050406030204" pitchFamily="18" charset="0"/>
                          </a:rPr>
                          <m:t>𝑑𝑒𝑛𝑡𝑟𝑜</m:t>
                        </m:r>
                        <m:r>
                          <a:rPr lang="es-ES" b="0" i="1" smtClean="0">
                            <a:latin typeface="Cambria Math" panose="02040503050406030204" pitchFamily="18" charset="0"/>
                          </a:rPr>
                          <m:t> </m:t>
                        </m:r>
                        <m:r>
                          <a:rPr lang="es-ES" b="0" i="1" smtClean="0">
                            <a:latin typeface="Cambria Math" panose="02040503050406030204" pitchFamily="18" charset="0"/>
                          </a:rPr>
                          <m:t>𝑑𝑒𝑙</m:t>
                        </m:r>
                        <m:r>
                          <a:rPr lang="es-ES" b="0" i="1" smtClean="0">
                            <a:latin typeface="Cambria Math" panose="02040503050406030204" pitchFamily="18" charset="0"/>
                          </a:rPr>
                          <m:t> </m:t>
                        </m:r>
                        <m:r>
                          <a:rPr lang="es-ES" b="0" i="1" smtClean="0">
                            <a:latin typeface="Cambria Math" panose="02040503050406030204" pitchFamily="18" charset="0"/>
                          </a:rPr>
                          <m:t>𝑐𝑖𝑟𝑐𝑢𝑙𝑜</m:t>
                        </m:r>
                      </m:num>
                      <m:den>
                        <m:r>
                          <a:rPr lang="es-ES" b="0" i="1" smtClean="0">
                            <a:latin typeface="Cambria Math" panose="02040503050406030204" pitchFamily="18" charset="0"/>
                          </a:rPr>
                          <m:t>𝑁𝑜</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𝑝𝑢𝑛𝑡𝑜𝑠</m:t>
                        </m:r>
                        <m:r>
                          <a:rPr lang="es-ES" b="0" i="1" smtClean="0">
                            <a:latin typeface="Cambria Math" panose="02040503050406030204" pitchFamily="18" charset="0"/>
                          </a:rPr>
                          <m:t> </m:t>
                        </m:r>
                        <m:r>
                          <a:rPr lang="es-ES" b="0" i="1" smtClean="0">
                            <a:latin typeface="Cambria Math" panose="02040503050406030204" pitchFamily="18" charset="0"/>
                          </a:rPr>
                          <m:t>𝑡𝑜𝑡𝑎𝑙𝑒𝑠</m:t>
                        </m:r>
                      </m:den>
                    </m:f>
                  </m:oMath>
                </a14:m>
                <a:r>
                  <a:rPr lang="es-MX" dirty="0"/>
                  <a:t> </a:t>
                </a:r>
              </a:p>
            </p:txBody>
          </p:sp>
        </mc:Choice>
        <mc:Fallback xmlns="">
          <p:sp>
            <p:nvSpPr>
              <p:cNvPr id="2" name="CuadroTexto 1">
                <a:extLst>
                  <a:ext uri="{FF2B5EF4-FFF2-40B4-BE49-F238E27FC236}">
                    <a16:creationId xmlns:a16="http://schemas.microsoft.com/office/drawing/2014/main" id="{D1B17A80-0838-443A-B294-0F7A0CBBFAB8}"/>
                  </a:ext>
                </a:extLst>
              </p:cNvPr>
              <p:cNvSpPr txBox="1">
                <a:spLocks noRot="1" noChangeAspect="1" noMove="1" noResize="1" noEditPoints="1" noAdjustHandles="1" noChangeArrowheads="1" noChangeShapeType="1" noTextEdit="1"/>
              </p:cNvSpPr>
              <p:nvPr/>
            </p:nvSpPr>
            <p:spPr>
              <a:xfrm>
                <a:off x="6995160" y="3592591"/>
                <a:ext cx="4545090" cy="462306"/>
              </a:xfrm>
              <a:prstGeom prst="rect">
                <a:avLst/>
              </a:prstGeom>
              <a:blipFill>
                <a:blip r:embed="rId6"/>
                <a:stretch>
                  <a:fillRect l="-13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FCC0ED6-E5D9-4C53-BED0-96CBA7494C2E}"/>
                  </a:ext>
                </a:extLst>
              </p:cNvPr>
              <p:cNvSpPr txBox="1"/>
              <p:nvPr/>
            </p:nvSpPr>
            <p:spPr>
              <a:xfrm>
                <a:off x="6995160" y="4401487"/>
                <a:ext cx="1066959" cy="430824"/>
              </a:xfrm>
              <a:prstGeom prst="rect">
                <a:avLst/>
              </a:prstGeom>
              <a:noFill/>
            </p:spPr>
            <p:txBody>
              <a:bodyPr wrap="none" lIns="0" tIns="0" rIns="0" bIns="0" rtlCol="0">
                <a:spAutoFit/>
              </a:bodyPr>
              <a:lstStyle/>
              <a:p>
                <a14:m>
                  <m:oMath xmlns:m="http://schemas.openxmlformats.org/officeDocument/2006/math">
                    <m:f>
                      <m:fPr>
                        <m:ctrlPr>
                          <a:rPr lang="es-MX" i="1" smtClean="0">
                            <a:latin typeface="Cambria Math" panose="02040503050406030204" pitchFamily="18" charset="0"/>
                          </a:rPr>
                        </m:ctrlPr>
                      </m:fPr>
                      <m:num>
                        <m:r>
                          <a:rPr lang="es-MX"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 ∗</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2</m:t>
                            </m:r>
                          </m:e>
                          <m:sup>
                            <m:r>
                              <a:rPr lang="es-ES" b="0" i="1" smtClean="0">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rPr>
                          <m:t>4∗4</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621</m:t>
                        </m:r>
                      </m:num>
                      <m:den>
                        <m:r>
                          <a:rPr lang="es-ES" b="0" i="1" smtClean="0">
                            <a:latin typeface="Cambria Math" panose="02040503050406030204" pitchFamily="18" charset="0"/>
                          </a:rPr>
                          <m:t>780</m:t>
                        </m:r>
                      </m:den>
                    </m:f>
                  </m:oMath>
                </a14:m>
                <a:r>
                  <a:rPr lang="es-MX" dirty="0"/>
                  <a:t> </a:t>
                </a:r>
              </a:p>
            </p:txBody>
          </p:sp>
        </mc:Choice>
        <mc:Fallback xmlns="">
          <p:sp>
            <p:nvSpPr>
              <p:cNvPr id="9" name="CuadroTexto 8">
                <a:extLst>
                  <a:ext uri="{FF2B5EF4-FFF2-40B4-BE49-F238E27FC236}">
                    <a16:creationId xmlns:a16="http://schemas.microsoft.com/office/drawing/2014/main" id="{BFCC0ED6-E5D9-4C53-BED0-96CBA7494C2E}"/>
                  </a:ext>
                </a:extLst>
              </p:cNvPr>
              <p:cNvSpPr txBox="1">
                <a:spLocks noRot="1" noChangeAspect="1" noMove="1" noResize="1" noEditPoints="1" noAdjustHandles="1" noChangeArrowheads="1" noChangeShapeType="1" noTextEdit="1"/>
              </p:cNvSpPr>
              <p:nvPr/>
            </p:nvSpPr>
            <p:spPr>
              <a:xfrm>
                <a:off x="6995160" y="4401487"/>
                <a:ext cx="1066959" cy="430824"/>
              </a:xfrm>
              <a:prstGeom prst="rect">
                <a:avLst/>
              </a:prstGeom>
              <a:blipFill>
                <a:blip r:embed="rId7"/>
                <a:stretch>
                  <a:fillRect l="-57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FD06A6-C0F0-4E7E-A15F-3B267323B622}"/>
                  </a:ext>
                </a:extLst>
              </p:cNvPr>
              <p:cNvSpPr txBox="1"/>
              <p:nvPr/>
            </p:nvSpPr>
            <p:spPr>
              <a:xfrm>
                <a:off x="8555736" y="4401487"/>
                <a:ext cx="978217" cy="393569"/>
              </a:xfrm>
              <a:prstGeom prst="rect">
                <a:avLst/>
              </a:prstGeom>
              <a:noFill/>
            </p:spPr>
            <p:txBody>
              <a:bodyPr wrap="none" lIns="0" tIns="0" rIns="0" bIns="0" rtlCol="0">
                <a:spAutoFit/>
              </a:bodyPr>
              <a:lstStyle/>
              <a:p>
                <a14:m>
                  <m:oMath xmlns:m="http://schemas.openxmlformats.org/officeDocument/2006/math">
                    <m:f>
                      <m:fPr>
                        <m:ctrlPr>
                          <a:rPr lang="es-MX" i="1" smtClean="0">
                            <a:latin typeface="Cambria Math" panose="02040503050406030204" pitchFamily="18" charset="0"/>
                          </a:rPr>
                        </m:ctrlPr>
                      </m:fPr>
                      <m:num>
                        <m:r>
                          <a:rPr lang="es-MX"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 ∗4</m:t>
                        </m:r>
                      </m:num>
                      <m:den>
                        <m:r>
                          <a:rPr lang="es-ES" b="0" i="1" smtClean="0">
                            <a:latin typeface="Cambria Math" panose="02040503050406030204" pitchFamily="18" charset="0"/>
                          </a:rPr>
                          <m:t>16</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621</m:t>
                        </m:r>
                      </m:num>
                      <m:den>
                        <m:r>
                          <a:rPr lang="es-ES" b="0" i="1" smtClean="0">
                            <a:latin typeface="Cambria Math" panose="02040503050406030204" pitchFamily="18" charset="0"/>
                          </a:rPr>
                          <m:t>780</m:t>
                        </m:r>
                      </m:den>
                    </m:f>
                  </m:oMath>
                </a14:m>
                <a:r>
                  <a:rPr lang="es-MX" dirty="0"/>
                  <a:t> </a:t>
                </a:r>
              </a:p>
            </p:txBody>
          </p:sp>
        </mc:Choice>
        <mc:Fallback xmlns="">
          <p:sp>
            <p:nvSpPr>
              <p:cNvPr id="10" name="CuadroTexto 9">
                <a:extLst>
                  <a:ext uri="{FF2B5EF4-FFF2-40B4-BE49-F238E27FC236}">
                    <a16:creationId xmlns:a16="http://schemas.microsoft.com/office/drawing/2014/main" id="{F3FD06A6-C0F0-4E7E-A15F-3B267323B622}"/>
                  </a:ext>
                </a:extLst>
              </p:cNvPr>
              <p:cNvSpPr txBox="1">
                <a:spLocks noRot="1" noChangeAspect="1" noMove="1" noResize="1" noEditPoints="1" noAdjustHandles="1" noChangeArrowheads="1" noChangeShapeType="1" noTextEdit="1"/>
              </p:cNvSpPr>
              <p:nvPr/>
            </p:nvSpPr>
            <p:spPr>
              <a:xfrm>
                <a:off x="8555736" y="4401487"/>
                <a:ext cx="978217" cy="393569"/>
              </a:xfrm>
              <a:prstGeom prst="rect">
                <a:avLst/>
              </a:prstGeom>
              <a:blipFill>
                <a:blip r:embed="rId8"/>
                <a:stretch>
                  <a:fillRect l="-5000" b="-1384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23C26AE-E303-418D-8128-630DFF8D998F}"/>
                  </a:ext>
                </a:extLst>
              </p:cNvPr>
              <p:cNvSpPr txBox="1"/>
              <p:nvPr/>
            </p:nvSpPr>
            <p:spPr>
              <a:xfrm>
                <a:off x="7039530" y="5178901"/>
                <a:ext cx="1402755"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m:t>
                      </m:r>
                      <m:f>
                        <m:fPr>
                          <m:ctrlPr>
                            <a:rPr lang="es-MX" i="1" smtClean="0">
                              <a:latin typeface="Cambria Math" panose="02040503050406030204" pitchFamily="18" charset="0"/>
                            </a:rPr>
                          </m:ctrlPr>
                        </m:fPr>
                        <m:num>
                          <m:r>
                            <a:rPr lang="es-ES" b="0" i="1" smtClean="0">
                              <a:latin typeface="Cambria Math" panose="02040503050406030204" pitchFamily="18" charset="0"/>
                            </a:rPr>
                            <m:t>16</m:t>
                          </m:r>
                          <m:r>
                            <a:rPr lang="es-ES" b="0" i="1" smtClean="0">
                              <a:latin typeface="Cambria Math" panose="02040503050406030204" pitchFamily="18" charset="0"/>
                              <a:ea typeface="Cambria Math" panose="02040503050406030204" pitchFamily="18" charset="0"/>
                            </a:rPr>
                            <m:t> ∗621</m:t>
                          </m:r>
                        </m:num>
                        <m:den>
                          <m:r>
                            <a:rPr lang="es-ES" b="0" i="1" smtClean="0">
                              <a:latin typeface="Cambria Math" panose="02040503050406030204" pitchFamily="18" charset="0"/>
                            </a:rPr>
                            <m:t>4∗780</m:t>
                          </m:r>
                        </m:den>
                      </m:f>
                    </m:oMath>
                  </m:oMathPara>
                </a14:m>
                <a:endParaRPr lang="es-MX" dirty="0"/>
              </a:p>
            </p:txBody>
          </p:sp>
        </mc:Choice>
        <mc:Fallback xmlns="">
          <p:sp>
            <p:nvSpPr>
              <p:cNvPr id="11" name="CuadroTexto 10">
                <a:extLst>
                  <a:ext uri="{FF2B5EF4-FFF2-40B4-BE49-F238E27FC236}">
                    <a16:creationId xmlns:a16="http://schemas.microsoft.com/office/drawing/2014/main" id="{223C26AE-E303-418D-8128-630DFF8D998F}"/>
                  </a:ext>
                </a:extLst>
              </p:cNvPr>
              <p:cNvSpPr txBox="1">
                <a:spLocks noRot="1" noChangeAspect="1" noMove="1" noResize="1" noEditPoints="1" noAdjustHandles="1" noChangeArrowheads="1" noChangeShapeType="1" noTextEdit="1"/>
              </p:cNvSpPr>
              <p:nvPr/>
            </p:nvSpPr>
            <p:spPr>
              <a:xfrm>
                <a:off x="7039530" y="5178901"/>
                <a:ext cx="1402755" cy="520399"/>
              </a:xfrm>
              <a:prstGeom prst="rect">
                <a:avLst/>
              </a:prstGeom>
              <a:blipFill>
                <a:blip r:embed="rId9"/>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9D5B0B15-D77E-40FF-BCBE-9826B062ED13}"/>
                  </a:ext>
                </a:extLst>
              </p:cNvPr>
              <p:cNvSpPr txBox="1"/>
              <p:nvPr/>
            </p:nvSpPr>
            <p:spPr>
              <a:xfrm>
                <a:off x="8746410" y="5178901"/>
                <a:ext cx="21159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ea typeface="Cambria Math" panose="02040503050406030204" pitchFamily="18" charset="0"/>
                        </a:rPr>
                        <m:t>𝝅</m:t>
                      </m:r>
                      <m:r>
                        <a:rPr lang="es-ES" b="1" i="1" smtClean="0">
                          <a:latin typeface="Cambria Math" panose="02040503050406030204" pitchFamily="18" charset="0"/>
                          <a:ea typeface="Cambria Math" panose="02040503050406030204" pitchFamily="18" charset="0"/>
                        </a:rPr>
                        <m:t>=</m:t>
                      </m:r>
                      <m:r>
                        <a:rPr lang="es-ES" b="1" i="1" smtClean="0">
                          <a:latin typeface="Cambria Math" panose="02040503050406030204" pitchFamily="18" charset="0"/>
                        </a:rPr>
                        <m:t>𝟑</m:t>
                      </m:r>
                      <m:r>
                        <a:rPr lang="es-ES" b="1" i="1" smtClean="0">
                          <a:latin typeface="Cambria Math" panose="02040503050406030204" pitchFamily="18" charset="0"/>
                        </a:rPr>
                        <m:t>.</m:t>
                      </m:r>
                      <m:r>
                        <a:rPr lang="es-ES" b="1" i="1" smtClean="0">
                          <a:latin typeface="Cambria Math" panose="02040503050406030204" pitchFamily="18" charset="0"/>
                        </a:rPr>
                        <m:t>𝟏𝟖𝟒𝟔𝟏𝟓𝟑𝟖𝟒𝟔</m:t>
                      </m:r>
                    </m:oMath>
                  </m:oMathPara>
                </a14:m>
                <a:endParaRPr lang="es-MX" b="1" dirty="0"/>
              </a:p>
            </p:txBody>
          </p:sp>
        </mc:Choice>
        <mc:Fallback xmlns="">
          <p:sp>
            <p:nvSpPr>
              <p:cNvPr id="12" name="CuadroTexto 11">
                <a:extLst>
                  <a:ext uri="{FF2B5EF4-FFF2-40B4-BE49-F238E27FC236}">
                    <a16:creationId xmlns:a16="http://schemas.microsoft.com/office/drawing/2014/main" id="{9D5B0B15-D77E-40FF-BCBE-9826B062ED13}"/>
                  </a:ext>
                </a:extLst>
              </p:cNvPr>
              <p:cNvSpPr txBox="1">
                <a:spLocks noRot="1" noChangeAspect="1" noMove="1" noResize="1" noEditPoints="1" noAdjustHandles="1" noChangeArrowheads="1" noChangeShapeType="1" noTextEdit="1"/>
              </p:cNvSpPr>
              <p:nvPr/>
            </p:nvSpPr>
            <p:spPr>
              <a:xfrm>
                <a:off x="8746410" y="5178901"/>
                <a:ext cx="2115964" cy="276999"/>
              </a:xfrm>
              <a:prstGeom prst="rect">
                <a:avLst/>
              </a:prstGeom>
              <a:blipFill>
                <a:blip r:embed="rId10"/>
                <a:stretch>
                  <a:fillRect l="-1153" r="-2594" b="-8889"/>
                </a:stretch>
              </a:blipFill>
            </p:spPr>
            <p:txBody>
              <a:bodyPr/>
              <a:lstStyle/>
              <a:p>
                <a:r>
                  <a:rPr lang="es-MX">
                    <a:noFill/>
                  </a:rPr>
                  <a:t> </a:t>
                </a:r>
              </a:p>
            </p:txBody>
          </p:sp>
        </mc:Fallback>
      </mc:AlternateContent>
    </p:spTree>
    <p:extLst>
      <p:ext uri="{BB962C8B-B14F-4D97-AF65-F5344CB8AC3E}">
        <p14:creationId xmlns:p14="http://schemas.microsoft.com/office/powerpoint/2010/main" val="206016759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6378" y="436676"/>
            <a:ext cx="10515600" cy="840219"/>
          </a:xfrm>
        </p:spPr>
        <p:txBody>
          <a:bodyPr>
            <a:normAutofit/>
          </a:bodyPr>
          <a:lstStyle/>
          <a:p>
            <a:pPr algn="ctr"/>
            <a:r>
              <a:rPr lang="es-ES" sz="4800" b="1" dirty="0">
                <a:latin typeface="Montserrat" panose="00000500000000000000" pitchFamily="2" charset="0"/>
              </a:rPr>
              <a:t>Clase 10°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836378" y="1276895"/>
            <a:ext cx="10515600" cy="9711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3</a:t>
            </a:r>
            <a:r>
              <a:rPr lang="es-ES" sz="4800" dirty="0">
                <a:latin typeface="Montserrat" panose="00000500000000000000" pitchFamily="2" charset="0"/>
              </a:rPr>
              <a:t> Riesgo e Incertidumbre</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4178" y="6246183"/>
            <a:ext cx="4423063" cy="46340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11 de octubre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836378" y="2293659"/>
            <a:ext cx="10815294" cy="397782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0000">
              <a:spcAft>
                <a:spcPts val="1200"/>
              </a:spcAft>
            </a:pPr>
            <a:r>
              <a:rPr lang="es-ES" sz="3600" b="1" dirty="0">
                <a:latin typeface="Montserrat" panose="00000500000000000000" pitchFamily="2" charset="0"/>
              </a:rPr>
              <a:t>3.3 Direccionamiento de la incertidumbre.</a:t>
            </a:r>
          </a:p>
          <a:p>
            <a:pPr marL="900000"/>
            <a:r>
              <a:rPr lang="es-ES" sz="3200" dirty="0">
                <a:latin typeface="Montserrat" panose="00000500000000000000" pitchFamily="2" charset="0"/>
              </a:rPr>
              <a:t>3.3.1 Considerar la estimación de rangos.</a:t>
            </a:r>
          </a:p>
          <a:p>
            <a:pPr marL="900000"/>
            <a:r>
              <a:rPr lang="es-ES" sz="3200" dirty="0">
                <a:latin typeface="Montserrat" panose="00000500000000000000" pitchFamily="2" charset="0"/>
              </a:rPr>
              <a:t>3.3.2 Analizar la sensibilidad a los cambios de supuestos.</a:t>
            </a:r>
          </a:p>
          <a:p>
            <a:pPr marL="900000">
              <a:spcAft>
                <a:spcPts val="600"/>
              </a:spcAft>
            </a:pPr>
            <a:r>
              <a:rPr lang="es-ES" sz="3200" dirty="0">
                <a:latin typeface="Montserrat" panose="00000500000000000000" pitchFamily="2" charset="0"/>
              </a:rPr>
              <a:t>3.3.3 Retrasar las decisiones finales.</a:t>
            </a:r>
          </a:p>
          <a:p>
            <a:pPr marL="720000">
              <a:lnSpc>
                <a:spcPct val="100000"/>
              </a:lnSpc>
              <a:spcAft>
                <a:spcPts val="1200"/>
              </a:spcAft>
            </a:pPr>
            <a:r>
              <a:rPr lang="es-MX" sz="3600" b="1" dirty="0">
                <a:latin typeface="Montserrat" panose="00000500000000000000" pitchFamily="2" charset="0"/>
              </a:rPr>
              <a:t>3.4 Priorización.</a:t>
            </a:r>
          </a:p>
          <a:p>
            <a:pPr marL="720000">
              <a:lnSpc>
                <a:spcPct val="100000"/>
              </a:lnSpc>
              <a:spcAft>
                <a:spcPts val="1200"/>
              </a:spcAft>
            </a:pPr>
            <a:r>
              <a:rPr lang="es-MX" sz="3600" b="1" dirty="0">
                <a:latin typeface="Montserrat" panose="00000500000000000000" pitchFamily="2" charset="0"/>
              </a:rPr>
              <a:t>3.5 Decisiones bajo riesgo.</a:t>
            </a:r>
          </a:p>
          <a:p>
            <a:pPr marL="720000">
              <a:lnSpc>
                <a:spcPct val="100000"/>
              </a:lnSpc>
              <a:spcAft>
                <a:spcPts val="1200"/>
              </a:spcAft>
            </a:pPr>
            <a:r>
              <a:rPr lang="es-MX" sz="3600" b="1" dirty="0">
                <a:latin typeface="Montserrat" panose="00000500000000000000" pitchFamily="2" charset="0"/>
              </a:rPr>
              <a:t>3.6 Decisiones bajo incertidumbre.</a:t>
            </a:r>
            <a:endParaRPr lang="es-ES" sz="3600" b="1" dirty="0">
              <a:latin typeface="Montserrat" panose="00000500000000000000" pitchFamily="2" charset="0"/>
            </a:endParaRPr>
          </a:p>
        </p:txBody>
      </p:sp>
    </p:spTree>
    <p:extLst>
      <p:ext uri="{BB962C8B-B14F-4D97-AF65-F5344CB8AC3E}">
        <p14:creationId xmlns:p14="http://schemas.microsoft.com/office/powerpoint/2010/main" val="75781581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138</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a:t>
            </a:r>
            <a:endParaRPr lang="es-ES" sz="3600" b="1" dirty="0">
              <a:solidFill>
                <a:srgbClr val="131D3F"/>
              </a:solidFill>
              <a:latin typeface="Montserrat SemiBold" panose="00000700000000000000" pitchFamily="2" charset="0"/>
            </a:endParaRPr>
          </a:p>
        </p:txBody>
      </p:sp>
      <p:pic>
        <p:nvPicPr>
          <p:cNvPr id="1026" name="Picture 2" descr="Recomendaciones para la incertidumbre empresarial - Portal Empresarial">
            <a:extLst>
              <a:ext uri="{FF2B5EF4-FFF2-40B4-BE49-F238E27FC236}">
                <a16:creationId xmlns:a16="http://schemas.microsoft.com/office/drawing/2014/main" id="{9A01338F-6E8F-4DFD-AA62-879BE3D641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7513" y="1450907"/>
            <a:ext cx="7118326" cy="4747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06128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139</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a:t>
            </a:r>
            <a:endParaRPr lang="es-ES" sz="3600" b="1" dirty="0">
              <a:solidFill>
                <a:srgbClr val="131D3F"/>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96182"/>
            <a:ext cx="11296454" cy="4401205"/>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Son las estrategias y enfoques que se utilizan para </a:t>
            </a:r>
            <a:r>
              <a:rPr lang="es-ES" sz="2000" b="1" dirty="0">
                <a:solidFill>
                  <a:srgbClr val="131D3F"/>
                </a:solidFill>
                <a:latin typeface="Montserrat" panose="00000500000000000000" pitchFamily="2" charset="0"/>
              </a:rPr>
              <a:t>gestionar y reducir la incertidumbre </a:t>
            </a:r>
            <a:r>
              <a:rPr lang="es-ES" sz="2000" dirty="0">
                <a:solidFill>
                  <a:srgbClr val="131D3F"/>
                </a:solidFill>
                <a:latin typeface="Montserrat" panose="00000500000000000000" pitchFamily="2" charset="0"/>
              </a:rPr>
              <a:t>en un contexto determinado, como en la toma de decisiones, la planificación estratégica o la gestión de proyectos. </a:t>
            </a:r>
          </a:p>
          <a:p>
            <a:pPr algn="just">
              <a:spcAft>
                <a:spcPts val="1200"/>
              </a:spcAft>
            </a:pPr>
            <a:r>
              <a:rPr lang="es-ES" sz="2000" dirty="0">
                <a:solidFill>
                  <a:srgbClr val="131D3F"/>
                </a:solidFill>
                <a:latin typeface="Montserrat" panose="00000500000000000000" pitchFamily="2" charset="0"/>
              </a:rPr>
              <a:t>Este concepto implica </a:t>
            </a:r>
            <a:r>
              <a:rPr lang="es-ES" sz="2000" b="1" dirty="0">
                <a:solidFill>
                  <a:srgbClr val="131D3F"/>
                </a:solidFill>
                <a:latin typeface="Montserrat" panose="00000500000000000000" pitchFamily="2" charset="0"/>
              </a:rPr>
              <a:t>identificar las fuentes de incertidumbre, evaluarlas y diseñar acciones, </a:t>
            </a:r>
            <a:r>
              <a:rPr lang="es-ES" sz="2000" dirty="0">
                <a:solidFill>
                  <a:srgbClr val="131D3F"/>
                </a:solidFill>
                <a:latin typeface="Montserrat" panose="00000500000000000000" pitchFamily="2" charset="0"/>
              </a:rPr>
              <a:t>mediante:</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Análisis de riesgos;</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Modelos de simulación;</a:t>
            </a:r>
          </a:p>
          <a:p>
            <a:pPr marL="342900" indent="-342900" algn="just">
              <a:buFont typeface="Arial" panose="020B0604020202020204" pitchFamily="34" charset="0"/>
              <a:buChar char="•"/>
            </a:pPr>
            <a:r>
              <a:rPr lang="es-ES" sz="2000" dirty="0">
                <a:solidFill>
                  <a:srgbClr val="131D3F"/>
                </a:solidFill>
                <a:latin typeface="Montserrat" panose="00000500000000000000" pitchFamily="2" charset="0"/>
              </a:rPr>
              <a:t>Implementación de escenarios futuros; y </a:t>
            </a:r>
          </a:p>
          <a:p>
            <a:pPr marL="342900" indent="-342900" algn="just">
              <a:spcAft>
                <a:spcPts val="1200"/>
              </a:spcAft>
              <a:buFont typeface="Arial" panose="020B0604020202020204" pitchFamily="34" charset="0"/>
              <a:buChar char="•"/>
            </a:pPr>
            <a:r>
              <a:rPr lang="es-ES" sz="2000" dirty="0">
                <a:solidFill>
                  <a:srgbClr val="131D3F"/>
                </a:solidFill>
                <a:latin typeface="Montserrat" panose="00000500000000000000" pitchFamily="2" charset="0"/>
              </a:rPr>
              <a:t>Creación de planes de contingencia.</a:t>
            </a:r>
          </a:p>
          <a:p>
            <a:pPr algn="just">
              <a:spcAft>
                <a:spcPts val="1200"/>
              </a:spcAft>
            </a:pPr>
            <a:r>
              <a:rPr lang="es-ES" sz="2000" dirty="0">
                <a:solidFill>
                  <a:srgbClr val="131D3F"/>
                </a:solidFill>
                <a:latin typeface="Montserrat" panose="00000500000000000000" pitchFamily="2" charset="0"/>
              </a:rPr>
              <a:t>Que permitan </a:t>
            </a:r>
            <a:r>
              <a:rPr lang="es-ES" sz="2000" u="sng" dirty="0">
                <a:solidFill>
                  <a:srgbClr val="131D3F"/>
                </a:solidFill>
                <a:latin typeface="Montserrat" panose="00000500000000000000" pitchFamily="2" charset="0"/>
              </a:rPr>
              <a:t>minimizar sus efectos negativos o aprovechar las oportunidades</a:t>
            </a:r>
            <a:r>
              <a:rPr lang="es-ES" sz="2000" dirty="0">
                <a:solidFill>
                  <a:srgbClr val="131D3F"/>
                </a:solidFill>
                <a:latin typeface="Montserrat" panose="00000500000000000000" pitchFamily="2" charset="0"/>
              </a:rPr>
              <a:t> que puedan surgir de ellas.</a:t>
            </a:r>
          </a:p>
          <a:p>
            <a:pPr algn="just">
              <a:spcAft>
                <a:spcPts val="1200"/>
              </a:spcAft>
            </a:pPr>
            <a:r>
              <a:rPr lang="es-ES" sz="2000" dirty="0">
                <a:solidFill>
                  <a:srgbClr val="131D3F"/>
                </a:solidFill>
                <a:latin typeface="Montserrat" panose="00000500000000000000" pitchFamily="2" charset="0"/>
              </a:rPr>
              <a:t>En esencia, busca anticiparse a lo incierto y manejarlo de manera efectiva.</a:t>
            </a:r>
          </a:p>
        </p:txBody>
      </p:sp>
    </p:spTree>
    <p:extLst>
      <p:ext uri="{BB962C8B-B14F-4D97-AF65-F5344CB8AC3E}">
        <p14:creationId xmlns:p14="http://schemas.microsoft.com/office/powerpoint/2010/main" val="107258195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140</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3.3.1 Considerar la estimación de rangos.</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1648871"/>
            <a:ext cx="11296454" cy="4862870"/>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Los "rangos de incertidumbre" son intervalos que reflejan la variabilidad y la imprecisión de una estimación o proyección. </a:t>
            </a:r>
          </a:p>
          <a:p>
            <a:pPr algn="just">
              <a:spcAft>
                <a:spcPts val="1200"/>
              </a:spcAft>
            </a:pPr>
            <a:r>
              <a:rPr lang="es-ES" sz="2000" dirty="0">
                <a:solidFill>
                  <a:srgbClr val="131D3F"/>
                </a:solidFill>
                <a:latin typeface="Montserrat" panose="00000500000000000000" pitchFamily="2" charset="0"/>
              </a:rPr>
              <a:t>En contextos financieros y de análisis de datos, estos rangos permiten a los analistas y a quienes toman decisiones tener una visión más clara de las posibles fluctuaciones en los resultados esperados. </a:t>
            </a:r>
          </a:p>
          <a:p>
            <a:pPr algn="just">
              <a:spcAft>
                <a:spcPts val="1200"/>
              </a:spcAft>
            </a:pPr>
            <a:r>
              <a:rPr lang="es-ES" sz="2000" dirty="0">
                <a:solidFill>
                  <a:srgbClr val="131D3F"/>
                </a:solidFill>
                <a:latin typeface="Montserrat" panose="00000500000000000000" pitchFamily="2" charset="0"/>
              </a:rPr>
              <a:t>Los rangos de incertidumbre son útiles para, entre otros: </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Proyecciones financieras: </a:t>
            </a:r>
            <a:r>
              <a:rPr lang="es-ES" sz="2000" dirty="0">
                <a:solidFill>
                  <a:srgbClr val="131D3F"/>
                </a:solidFill>
                <a:latin typeface="Montserrat" panose="00000500000000000000" pitchFamily="2" charset="0"/>
              </a:rPr>
              <a:t>Estimar ingresos, gastos y flujos de caja futuros. </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Evaluación de proyectos: </a:t>
            </a:r>
            <a:r>
              <a:rPr lang="es-ES" sz="2000" dirty="0">
                <a:solidFill>
                  <a:srgbClr val="131D3F"/>
                </a:solidFill>
                <a:latin typeface="Montserrat" panose="00000500000000000000" pitchFamily="2" charset="0"/>
              </a:rPr>
              <a:t>Determinar la viabilidad de un proyecto.</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Valuación de activos: </a:t>
            </a:r>
            <a:r>
              <a:rPr lang="es-ES" sz="2000" dirty="0">
                <a:solidFill>
                  <a:srgbClr val="131D3F"/>
                </a:solidFill>
                <a:latin typeface="Montserrat" panose="00000500000000000000" pitchFamily="2" charset="0"/>
              </a:rPr>
              <a:t>Establecer precios objetivos para inversiones.</a:t>
            </a:r>
          </a:p>
          <a:p>
            <a:pPr algn="just">
              <a:spcAft>
                <a:spcPts val="1200"/>
              </a:spcAft>
            </a:pPr>
            <a:r>
              <a:rPr lang="es-ES" sz="2000" dirty="0">
                <a:solidFill>
                  <a:srgbClr val="131D3F"/>
                </a:solidFill>
                <a:latin typeface="Montserrat" panose="00000500000000000000" pitchFamily="2" charset="0"/>
              </a:rPr>
              <a:t>Adicionalmente, nos permiten:</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Tomar de </a:t>
            </a:r>
            <a:r>
              <a:rPr lang="es-ES" sz="2000" b="1" dirty="0">
                <a:solidFill>
                  <a:srgbClr val="131D3F"/>
                </a:solidFill>
                <a:latin typeface="Montserrat" panose="00000500000000000000" pitchFamily="2" charset="0"/>
              </a:rPr>
              <a:t>decisiones informadas</a:t>
            </a:r>
            <a:r>
              <a:rPr lang="es-ES" sz="2000" dirty="0">
                <a:solidFill>
                  <a:srgbClr val="131D3F"/>
                </a:solidFill>
                <a:latin typeface="Montserrat" panose="00000500000000000000" pitchFamily="2" charset="0"/>
              </a:rPr>
              <a:t> y </a:t>
            </a:r>
            <a:r>
              <a:rPr lang="es-ES" sz="2000" b="1" dirty="0">
                <a:solidFill>
                  <a:srgbClr val="131D3F"/>
                </a:solidFill>
                <a:latin typeface="Montserrat" panose="00000500000000000000" pitchFamily="2" charset="0"/>
              </a:rPr>
              <a:t>planificar</a:t>
            </a:r>
            <a:r>
              <a:rPr lang="es-ES" sz="2000" dirty="0">
                <a:solidFill>
                  <a:srgbClr val="131D3F"/>
                </a:solidFill>
                <a:latin typeface="Montserrat" panose="00000500000000000000" pitchFamily="2" charset="0"/>
              </a:rPr>
              <a:t> mejor.</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Identificar y mitigar riesgos</a:t>
            </a:r>
            <a:r>
              <a:rPr lang="es-ES" sz="2000" dirty="0">
                <a:solidFill>
                  <a:srgbClr val="131D3F"/>
                </a:solidFill>
                <a:latin typeface="Montserrat" panose="00000500000000000000" pitchFamily="2" charset="0"/>
              </a:rPr>
              <a:t> al visualizar las posibles desviaciones en los resultados.</a:t>
            </a:r>
          </a:p>
        </p:txBody>
      </p:sp>
    </p:spTree>
    <p:extLst>
      <p:ext uri="{BB962C8B-B14F-4D97-AF65-F5344CB8AC3E}">
        <p14:creationId xmlns:p14="http://schemas.microsoft.com/office/powerpoint/2010/main" val="427967609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141</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3.3.2 Analizar la sensibilidad a los cambios de supuestos.</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47773" y="2074783"/>
            <a:ext cx="11296454" cy="3170099"/>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El análisis de sensibilidad es una técnica utilizada para evaluar </a:t>
            </a:r>
            <a:r>
              <a:rPr lang="es-ES" sz="2000" b="1" dirty="0">
                <a:solidFill>
                  <a:srgbClr val="131D3F"/>
                </a:solidFill>
                <a:latin typeface="Montserrat" panose="00000500000000000000" pitchFamily="2" charset="0"/>
              </a:rPr>
              <a:t>cómo las variaciones</a:t>
            </a:r>
            <a:r>
              <a:rPr lang="es-ES" sz="2000" dirty="0">
                <a:solidFill>
                  <a:srgbClr val="131D3F"/>
                </a:solidFill>
                <a:latin typeface="Montserrat" panose="00000500000000000000" pitchFamily="2" charset="0"/>
              </a:rPr>
              <a:t> en las entradas de un modelo </a:t>
            </a:r>
            <a:r>
              <a:rPr lang="es-ES" sz="2000" b="1" dirty="0">
                <a:solidFill>
                  <a:srgbClr val="131D3F"/>
                </a:solidFill>
                <a:latin typeface="Montserrat" panose="00000500000000000000" pitchFamily="2" charset="0"/>
              </a:rPr>
              <a:t>afectan sus resultados</a:t>
            </a:r>
            <a:r>
              <a:rPr lang="es-ES" sz="2000" dirty="0">
                <a:solidFill>
                  <a:srgbClr val="131D3F"/>
                </a:solidFill>
                <a:latin typeface="Montserrat" panose="00000500000000000000" pitchFamily="2" charset="0"/>
              </a:rPr>
              <a:t>. Se aplica en diversos campos, como la economía, la ingeniería, la biología y la gestión de proyectos.</a:t>
            </a:r>
          </a:p>
          <a:p>
            <a:pPr algn="just">
              <a:spcAft>
                <a:spcPts val="1200"/>
              </a:spcAft>
            </a:pPr>
            <a:r>
              <a:rPr lang="es-ES" sz="2000" dirty="0">
                <a:solidFill>
                  <a:srgbClr val="131D3F"/>
                </a:solidFill>
                <a:latin typeface="Montserrat" panose="00000500000000000000" pitchFamily="2" charset="0"/>
              </a:rPr>
              <a:t>En esencia, este análisis permite identificar cuáles variables tienen un mayor impacto en el resultado final, ayudando a tomar decisiones informadas y a entender la robustez del modelo. </a:t>
            </a:r>
          </a:p>
          <a:p>
            <a:pPr algn="just">
              <a:spcAft>
                <a:spcPts val="1200"/>
              </a:spcAft>
            </a:pPr>
            <a:r>
              <a:rPr lang="es-ES" sz="2000" dirty="0">
                <a:solidFill>
                  <a:srgbClr val="131D3F"/>
                </a:solidFill>
                <a:latin typeface="Montserrat" panose="00000500000000000000" pitchFamily="2" charset="0"/>
              </a:rPr>
              <a:t>Se pueden realizar pruebas variando una o más entradas y observando cómo cambian las salidas, lo que proporciona información sobre la incertidumbre y los riesgos asociados con el modelo.</a:t>
            </a:r>
          </a:p>
        </p:txBody>
      </p:sp>
    </p:spTree>
    <p:extLst>
      <p:ext uri="{BB962C8B-B14F-4D97-AF65-F5344CB8AC3E}">
        <p14:creationId xmlns:p14="http://schemas.microsoft.com/office/powerpoint/2010/main" val="114852601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142</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3.3.2 Analizar la sensibilidad a los cambios de supuestos.</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755715" y="2005735"/>
            <a:ext cx="10680569" cy="3908762"/>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Un análisis de sensibilidad nos permite: </a:t>
            </a:r>
          </a:p>
          <a:p>
            <a:pPr algn="just">
              <a:spcAft>
                <a:spcPts val="1200"/>
              </a:spcAft>
            </a:pPr>
            <a:endParaRPr lang="es-ES" sz="2000" dirty="0">
              <a:solidFill>
                <a:srgbClr val="131D3F"/>
              </a:solidFill>
              <a:latin typeface="Montserrat" panose="00000500000000000000" pitchFamily="2" charset="0"/>
            </a:endParaRPr>
          </a:p>
          <a:p>
            <a:pPr marL="971550" lvl="1" indent="-514350" algn="just">
              <a:spcAft>
                <a:spcPts val="1200"/>
              </a:spcAft>
              <a:buAutoNum type="romanLcParenBoth"/>
            </a:pPr>
            <a:r>
              <a:rPr lang="es-ES" sz="2000" dirty="0">
                <a:solidFill>
                  <a:srgbClr val="131D3F"/>
                </a:solidFill>
                <a:latin typeface="Montserrat" panose="00000500000000000000" pitchFamily="2" charset="0"/>
              </a:rPr>
              <a:t>identificar las </a:t>
            </a:r>
            <a:r>
              <a:rPr lang="es-ES" sz="2000" b="1" dirty="0">
                <a:solidFill>
                  <a:srgbClr val="131D3F"/>
                </a:solidFill>
                <a:latin typeface="Montserrat" panose="00000500000000000000" pitchFamily="2" charset="0"/>
              </a:rPr>
              <a:t>variables criticas</a:t>
            </a:r>
            <a:r>
              <a:rPr lang="es-ES" sz="2000" dirty="0">
                <a:solidFill>
                  <a:srgbClr val="131D3F"/>
                </a:solidFill>
                <a:latin typeface="Montserrat" panose="00000500000000000000" pitchFamily="2" charset="0"/>
              </a:rPr>
              <a:t> de nuestro modelo, </a:t>
            </a:r>
          </a:p>
          <a:p>
            <a:pPr marL="971550" lvl="1" indent="-514350" algn="just">
              <a:spcAft>
                <a:spcPts val="1200"/>
              </a:spcAft>
              <a:buAutoNum type="romanLcParenBoth"/>
            </a:pPr>
            <a:r>
              <a:rPr lang="es-ES" sz="2000" dirty="0">
                <a:solidFill>
                  <a:srgbClr val="131D3F"/>
                </a:solidFill>
                <a:latin typeface="Montserrat" panose="00000500000000000000" pitchFamily="2" charset="0"/>
              </a:rPr>
              <a:t>identificar las </a:t>
            </a:r>
            <a:r>
              <a:rPr lang="es-ES" sz="2000" b="1" dirty="0">
                <a:solidFill>
                  <a:srgbClr val="131D3F"/>
                </a:solidFill>
                <a:latin typeface="Montserrat" panose="00000500000000000000" pitchFamily="2" charset="0"/>
              </a:rPr>
              <a:t>variables que deben ser incluidas</a:t>
            </a:r>
            <a:r>
              <a:rPr lang="es-ES" sz="2000" dirty="0">
                <a:solidFill>
                  <a:srgbClr val="131D3F"/>
                </a:solidFill>
                <a:latin typeface="Montserrat" panose="00000500000000000000" pitchFamily="2" charset="0"/>
              </a:rPr>
              <a:t>, y </a:t>
            </a:r>
          </a:p>
          <a:p>
            <a:pPr marL="971550" lvl="1" indent="-514350" algn="just">
              <a:spcAft>
                <a:spcPts val="1200"/>
              </a:spcAft>
              <a:buAutoNum type="romanLcParenBoth"/>
            </a:pPr>
            <a:r>
              <a:rPr lang="es-ES" sz="2000" dirty="0">
                <a:solidFill>
                  <a:srgbClr val="131D3F"/>
                </a:solidFill>
                <a:latin typeface="Montserrat" panose="00000500000000000000" pitchFamily="2" charset="0"/>
              </a:rPr>
              <a:t>evaluar escenarios de mayor estrés en nuestras proyecciones financieras, modificando las variables que </a:t>
            </a:r>
            <a:r>
              <a:rPr lang="es-ES" sz="2000" b="1" u="sng" dirty="0">
                <a:solidFill>
                  <a:srgbClr val="131D3F"/>
                </a:solidFill>
                <a:latin typeface="Montserrat" panose="00000500000000000000" pitchFamily="2" charset="0"/>
              </a:rPr>
              <a:t>no podemos controlar</a:t>
            </a:r>
            <a:r>
              <a:rPr lang="es-ES" sz="2000" dirty="0">
                <a:solidFill>
                  <a:srgbClr val="131D3F"/>
                </a:solidFill>
                <a:latin typeface="Montserrat" panose="00000500000000000000" pitchFamily="2" charset="0"/>
              </a:rPr>
              <a:t> a fin de identificar los niveles límite que nuestro proyecto puede soportar.</a:t>
            </a:r>
          </a:p>
          <a:p>
            <a:pPr marL="971550" lvl="1" indent="-514350" algn="just">
              <a:spcAft>
                <a:spcPts val="1200"/>
              </a:spcAft>
              <a:buAutoNum type="romanLcParenBoth"/>
            </a:pPr>
            <a:endParaRPr lang="es-ES" sz="2000" dirty="0">
              <a:solidFill>
                <a:srgbClr val="131D3F"/>
              </a:solidFill>
              <a:latin typeface="Montserrat" panose="00000500000000000000" pitchFamily="2" charset="0"/>
            </a:endParaRPr>
          </a:p>
          <a:p>
            <a:pPr lvl="1" algn="ctr">
              <a:spcAft>
                <a:spcPts val="1200"/>
              </a:spcAft>
            </a:pPr>
            <a:r>
              <a:rPr lang="es-ES" sz="2800" b="1" dirty="0">
                <a:solidFill>
                  <a:srgbClr val="131D3F"/>
                </a:solidFill>
                <a:latin typeface="Montserrat" panose="00000500000000000000" pitchFamily="2" charset="0"/>
              </a:rPr>
              <a:t>¿Cuáles son las variables que no podemos controlar?</a:t>
            </a:r>
          </a:p>
        </p:txBody>
      </p:sp>
    </p:spTree>
    <p:extLst>
      <p:ext uri="{BB962C8B-B14F-4D97-AF65-F5344CB8AC3E}">
        <p14:creationId xmlns:p14="http://schemas.microsoft.com/office/powerpoint/2010/main" val="478946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143</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3.3.2 Analizar la sensibilidad a los cambios de supuestos.</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755715" y="1948548"/>
            <a:ext cx="10680569" cy="3939540"/>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Parámetros de entrada: </a:t>
            </a:r>
            <a:r>
              <a:rPr lang="es-ES" sz="2000" dirty="0">
                <a:solidFill>
                  <a:srgbClr val="131D3F"/>
                </a:solidFill>
                <a:latin typeface="Montserrat" panose="00000500000000000000" pitchFamily="2" charset="0"/>
              </a:rPr>
              <a:t>Costos, tasas de crecimiento, tasas de interés, etc.</a:t>
            </a:r>
          </a:p>
          <a:p>
            <a:pPr algn="just">
              <a:spcAft>
                <a:spcPts val="1200"/>
              </a:spcAft>
            </a:pPr>
            <a:r>
              <a:rPr lang="es-ES" sz="2000" b="1" dirty="0">
                <a:solidFill>
                  <a:srgbClr val="131D3F"/>
                </a:solidFill>
                <a:latin typeface="Montserrat" panose="00000500000000000000" pitchFamily="2" charset="0"/>
              </a:rPr>
              <a:t>Supuestos del modelo:</a:t>
            </a:r>
            <a:r>
              <a:rPr lang="es-ES" sz="2000" dirty="0">
                <a:solidFill>
                  <a:srgbClr val="131D3F"/>
                </a:solidFill>
                <a:latin typeface="Montserrat" panose="00000500000000000000" pitchFamily="2" charset="0"/>
              </a:rPr>
              <a:t> Duración del proyecto, la inflación o la demanda del mercado.</a:t>
            </a:r>
          </a:p>
          <a:p>
            <a:pPr algn="just">
              <a:spcAft>
                <a:spcPts val="1200"/>
              </a:spcAft>
            </a:pPr>
            <a:r>
              <a:rPr lang="es-ES" sz="2000" b="1" dirty="0">
                <a:solidFill>
                  <a:srgbClr val="131D3F"/>
                </a:solidFill>
                <a:latin typeface="Montserrat" panose="00000500000000000000" pitchFamily="2" charset="0"/>
              </a:rPr>
              <a:t>Condiciones del entorno: </a:t>
            </a:r>
            <a:r>
              <a:rPr lang="es-ES" sz="2000" dirty="0">
                <a:solidFill>
                  <a:srgbClr val="131D3F"/>
                </a:solidFill>
                <a:latin typeface="Montserrat" panose="00000500000000000000" pitchFamily="2" charset="0"/>
              </a:rPr>
              <a:t>Políticas gubernamentales, cambios económicos o eventos inesperados.</a:t>
            </a:r>
          </a:p>
          <a:p>
            <a:pPr algn="just">
              <a:spcAft>
                <a:spcPts val="1200"/>
              </a:spcAft>
            </a:pPr>
            <a:r>
              <a:rPr lang="es-ES" sz="2000" b="1" dirty="0">
                <a:solidFill>
                  <a:srgbClr val="131D3F"/>
                </a:solidFill>
                <a:latin typeface="Montserrat" panose="00000500000000000000" pitchFamily="2" charset="0"/>
              </a:rPr>
              <a:t>Estructura del modelo: </a:t>
            </a:r>
            <a:r>
              <a:rPr lang="es-ES" sz="2000" dirty="0">
                <a:solidFill>
                  <a:srgbClr val="131D3F"/>
                </a:solidFill>
                <a:latin typeface="Montserrat" panose="00000500000000000000" pitchFamily="2" charset="0"/>
              </a:rPr>
              <a:t>Cómo se relacionan las variables entre sí.</a:t>
            </a:r>
          </a:p>
          <a:p>
            <a:pPr algn="just">
              <a:spcAft>
                <a:spcPts val="1200"/>
              </a:spcAft>
            </a:pPr>
            <a:r>
              <a:rPr lang="es-ES" sz="2000" b="1" dirty="0">
                <a:solidFill>
                  <a:srgbClr val="131D3F"/>
                </a:solidFill>
                <a:latin typeface="Montserrat" panose="00000500000000000000" pitchFamily="2" charset="0"/>
              </a:rPr>
              <a:t>Datos históricos:</a:t>
            </a:r>
            <a:r>
              <a:rPr lang="es-ES" sz="2000" dirty="0">
                <a:solidFill>
                  <a:srgbClr val="131D3F"/>
                </a:solidFill>
                <a:latin typeface="Montserrat" panose="00000500000000000000" pitchFamily="2" charset="0"/>
              </a:rPr>
              <a:t> Variaciones en la base de datos utilizada para calibrar el modelo, como el uso de diferentes periodos de tiempo o muestras.</a:t>
            </a:r>
          </a:p>
          <a:p>
            <a:pPr algn="just">
              <a:spcAft>
                <a:spcPts val="1200"/>
              </a:spcAft>
            </a:pPr>
            <a:r>
              <a:rPr lang="es-ES" sz="2000" dirty="0">
                <a:solidFill>
                  <a:srgbClr val="131D3F"/>
                </a:solidFill>
                <a:latin typeface="Montserrat" panose="00000500000000000000" pitchFamily="2" charset="0"/>
              </a:rPr>
              <a:t>Esto nos permite generar y evaluar diferentes situaciones (escenarios), como optimistas, pesimistas y moderados.</a:t>
            </a:r>
          </a:p>
        </p:txBody>
      </p:sp>
    </p:spTree>
    <p:extLst>
      <p:ext uri="{BB962C8B-B14F-4D97-AF65-F5344CB8AC3E}">
        <p14:creationId xmlns:p14="http://schemas.microsoft.com/office/powerpoint/2010/main" val="180572055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144</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3.3 Direccionamiento de la incertidumbre		</a:t>
            </a:r>
            <a:r>
              <a:rPr lang="es-ES" sz="2600" b="1" dirty="0">
                <a:solidFill>
                  <a:srgbClr val="131D3F"/>
                </a:solidFill>
                <a:latin typeface="Montserrat SemiBold" panose="00000700000000000000" pitchFamily="2" charset="0"/>
              </a:rPr>
              <a:t> 3.3.3 Retrasar las decisiones finales.</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97497" y="1687354"/>
            <a:ext cx="11397006" cy="4555093"/>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Retrasar las decisiones finales puede ser una táctica para mantener el status quo, especialmente en disputas políticas públicas. En el área de las finanzas, los puntos clave son:	</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Análisis de Información: </a:t>
            </a:r>
            <a:r>
              <a:rPr lang="es-ES" sz="2000" dirty="0">
                <a:solidFill>
                  <a:srgbClr val="131D3F"/>
                </a:solidFill>
                <a:latin typeface="Montserrat" panose="00000500000000000000" pitchFamily="2" charset="0"/>
              </a:rPr>
              <a:t>Recopilar más datos y realizar un análisis más completo.</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Evolución del Mercado: </a:t>
            </a:r>
            <a:r>
              <a:rPr lang="es-ES" sz="2000" dirty="0">
                <a:solidFill>
                  <a:srgbClr val="131D3F"/>
                </a:solidFill>
                <a:latin typeface="Montserrat" panose="00000500000000000000" pitchFamily="2" charset="0"/>
              </a:rPr>
              <a:t>Puede permitir que se presenten oportunidades más favorables o que se minimicen riesgos.</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Reducción de la Incertidumbre: </a:t>
            </a:r>
            <a:r>
              <a:rPr lang="es-ES" sz="2000" dirty="0">
                <a:solidFill>
                  <a:srgbClr val="131D3F"/>
                </a:solidFill>
                <a:latin typeface="Montserrat" panose="00000500000000000000" pitchFamily="2" charset="0"/>
              </a:rPr>
              <a:t>En situaciones de alta incertidumbre, esperar puede ayudar a clarificar el panorama y permitir decisiones más informadas.</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Evaluación de Escenarios: </a:t>
            </a:r>
            <a:r>
              <a:rPr lang="es-ES" sz="2000" dirty="0">
                <a:solidFill>
                  <a:srgbClr val="131D3F"/>
                </a:solidFill>
                <a:latin typeface="Montserrat" panose="00000500000000000000" pitchFamily="2" charset="0"/>
              </a:rPr>
              <a:t>Te da tiempo para desarrollar y evaluar diferentes escenarios, permitiendo una mejor comprensión de los posibles resultados.</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Impacto Psicológico: </a:t>
            </a:r>
            <a:r>
              <a:rPr lang="es-ES" sz="2000" dirty="0">
                <a:solidFill>
                  <a:srgbClr val="131D3F"/>
                </a:solidFill>
                <a:latin typeface="Montserrat" panose="00000500000000000000" pitchFamily="2" charset="0"/>
              </a:rPr>
              <a:t>Tomar decisiones precipitadas puede llevar a errores emocionales. Retrasar puede permitir una evaluación más racional.</a:t>
            </a:r>
          </a:p>
        </p:txBody>
      </p:sp>
    </p:spTree>
    <p:extLst>
      <p:ext uri="{BB962C8B-B14F-4D97-AF65-F5344CB8AC3E}">
        <p14:creationId xmlns:p14="http://schemas.microsoft.com/office/powerpoint/2010/main" val="373293509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145</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3.4 Priorización.</a:t>
            </a:r>
          </a:p>
        </p:txBody>
      </p:sp>
      <p:sp>
        <p:nvSpPr>
          <p:cNvPr id="14" name="CuadroTexto 13">
            <a:extLst>
              <a:ext uri="{FF2B5EF4-FFF2-40B4-BE49-F238E27FC236}">
                <a16:creationId xmlns:a16="http://schemas.microsoft.com/office/drawing/2014/main" id="{A1F1EAE8-0C29-47E9-86C8-97E4555A541F}"/>
              </a:ext>
            </a:extLst>
          </p:cNvPr>
          <p:cNvSpPr txBox="1"/>
          <p:nvPr/>
        </p:nvSpPr>
        <p:spPr>
          <a:xfrm>
            <a:off x="429038" y="1464583"/>
            <a:ext cx="11420455" cy="1323439"/>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La priorización es el proceso de </a:t>
            </a:r>
            <a:r>
              <a:rPr lang="es-ES" sz="2000" b="1" dirty="0">
                <a:solidFill>
                  <a:srgbClr val="131D3F"/>
                </a:solidFill>
                <a:latin typeface="Montserrat" panose="00000500000000000000" pitchFamily="2" charset="0"/>
              </a:rPr>
              <a:t>clasificar y ordenar</a:t>
            </a:r>
            <a:r>
              <a:rPr lang="es-ES" sz="2000" dirty="0">
                <a:solidFill>
                  <a:srgbClr val="131D3F"/>
                </a:solidFill>
                <a:latin typeface="Montserrat" panose="00000500000000000000" pitchFamily="2" charset="0"/>
              </a:rPr>
              <a:t> tareas, proyectos, decisiones o recursos según su importancia, urgencia y relevancia. Este proceso permite identificar qué elementos deben ser atendidos primero para alcanzar objetivos específicos de manera eficiente y efectiva.</a:t>
            </a:r>
          </a:p>
        </p:txBody>
      </p:sp>
      <p:sp>
        <p:nvSpPr>
          <p:cNvPr id="9" name="CuadroTexto 8">
            <a:extLst>
              <a:ext uri="{FF2B5EF4-FFF2-40B4-BE49-F238E27FC236}">
                <a16:creationId xmlns:a16="http://schemas.microsoft.com/office/drawing/2014/main" id="{A7B80A4F-B85F-4869-8018-C45A6A3127E8}"/>
              </a:ext>
            </a:extLst>
          </p:cNvPr>
          <p:cNvSpPr txBox="1"/>
          <p:nvPr/>
        </p:nvSpPr>
        <p:spPr>
          <a:xfrm>
            <a:off x="429039" y="3058796"/>
            <a:ext cx="6556224" cy="3170099"/>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r>
              <a:rPr lang="es-ES" b="1" dirty="0"/>
              <a:t>Métodos de Priorización</a:t>
            </a:r>
          </a:p>
          <a:p>
            <a:pPr marL="342900" indent="-342900">
              <a:spcAft>
                <a:spcPts val="600"/>
              </a:spcAft>
              <a:buFont typeface="Arial" panose="020B0604020202020204" pitchFamily="34" charset="0"/>
              <a:buChar char="•"/>
            </a:pPr>
            <a:r>
              <a:rPr lang="es-ES" b="1" dirty="0"/>
              <a:t>Matriz de Prioridad: </a:t>
            </a:r>
            <a:r>
              <a:rPr lang="es-ES" dirty="0"/>
              <a:t>para clasificar tareas según su urgencia e importancia.</a:t>
            </a:r>
          </a:p>
          <a:p>
            <a:pPr marL="342900" indent="-342900">
              <a:spcAft>
                <a:spcPts val="600"/>
              </a:spcAft>
              <a:buFont typeface="Arial" panose="020B0604020202020204" pitchFamily="34" charset="0"/>
              <a:buChar char="•"/>
            </a:pPr>
            <a:r>
              <a:rPr lang="es-ES" b="1" dirty="0"/>
              <a:t>Método </a:t>
            </a:r>
            <a:r>
              <a:rPr lang="es-ES" b="1" dirty="0" err="1"/>
              <a:t>MoSCoW</a:t>
            </a:r>
            <a:r>
              <a:rPr lang="es-ES" b="1" dirty="0"/>
              <a:t>: </a:t>
            </a:r>
            <a:r>
              <a:rPr lang="es-ES" dirty="0"/>
              <a:t>Clasificar las tareas en: </a:t>
            </a:r>
            <a:r>
              <a:rPr lang="es-ES" dirty="0" err="1"/>
              <a:t>Must</a:t>
            </a:r>
            <a:r>
              <a:rPr lang="es-ES" dirty="0"/>
              <a:t> </a:t>
            </a:r>
            <a:r>
              <a:rPr lang="es-ES" dirty="0" err="1"/>
              <a:t>have</a:t>
            </a:r>
            <a:r>
              <a:rPr lang="es-ES" dirty="0"/>
              <a:t> (debe tener), </a:t>
            </a:r>
            <a:r>
              <a:rPr lang="es-ES" dirty="0" err="1"/>
              <a:t>Should</a:t>
            </a:r>
            <a:r>
              <a:rPr lang="es-ES" dirty="0"/>
              <a:t> </a:t>
            </a:r>
            <a:r>
              <a:rPr lang="es-ES" dirty="0" err="1"/>
              <a:t>have</a:t>
            </a:r>
            <a:r>
              <a:rPr lang="es-ES" dirty="0"/>
              <a:t> (debería tener), </a:t>
            </a:r>
            <a:r>
              <a:rPr lang="es-ES" dirty="0" err="1"/>
              <a:t>Could</a:t>
            </a:r>
            <a:r>
              <a:rPr lang="es-ES" dirty="0"/>
              <a:t> </a:t>
            </a:r>
            <a:r>
              <a:rPr lang="es-ES" dirty="0" err="1"/>
              <a:t>have</a:t>
            </a:r>
            <a:r>
              <a:rPr lang="es-ES" dirty="0"/>
              <a:t> (podría tener) y </a:t>
            </a:r>
            <a:r>
              <a:rPr lang="es-ES" dirty="0" err="1"/>
              <a:t>Won't</a:t>
            </a:r>
            <a:r>
              <a:rPr lang="es-ES" dirty="0"/>
              <a:t> </a:t>
            </a:r>
            <a:r>
              <a:rPr lang="es-ES" dirty="0" err="1"/>
              <a:t>have</a:t>
            </a:r>
            <a:r>
              <a:rPr lang="es-ES" dirty="0"/>
              <a:t> (no tendrá).</a:t>
            </a:r>
          </a:p>
          <a:p>
            <a:pPr marL="342900" indent="-342900">
              <a:spcAft>
                <a:spcPts val="600"/>
              </a:spcAft>
              <a:buFont typeface="Arial" panose="020B0604020202020204" pitchFamily="34" charset="0"/>
              <a:buChar char="•"/>
            </a:pPr>
            <a:r>
              <a:rPr lang="es-ES" b="1" dirty="0"/>
              <a:t>Análisis de Pareto: </a:t>
            </a:r>
            <a:r>
              <a:rPr lang="es-ES" dirty="0"/>
              <a:t>Identificar el 20% de las tareas que generarán el 80% de los resultados.</a:t>
            </a:r>
          </a:p>
        </p:txBody>
      </p:sp>
      <p:sp>
        <p:nvSpPr>
          <p:cNvPr id="10" name="CuadroTexto 9">
            <a:extLst>
              <a:ext uri="{FF2B5EF4-FFF2-40B4-BE49-F238E27FC236}">
                <a16:creationId xmlns:a16="http://schemas.microsoft.com/office/drawing/2014/main" id="{FD4E6988-6730-417F-9698-FEE8EC1DD5A6}"/>
              </a:ext>
            </a:extLst>
          </p:cNvPr>
          <p:cNvSpPr txBox="1"/>
          <p:nvPr/>
        </p:nvSpPr>
        <p:spPr>
          <a:xfrm>
            <a:off x="7834637" y="3058796"/>
            <a:ext cx="4014856" cy="2785378"/>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Criterios de Priorización</a:t>
            </a:r>
          </a:p>
          <a:p>
            <a:pPr marL="800100" lvl="1" indent="-342900" algn="just">
              <a:spcAft>
                <a:spcPts val="600"/>
              </a:spcAft>
              <a:buFont typeface="Arial" panose="020B0604020202020204" pitchFamily="34" charset="0"/>
              <a:buChar char="•"/>
            </a:pPr>
            <a:r>
              <a:rPr lang="es-MX" sz="2000" dirty="0">
                <a:solidFill>
                  <a:srgbClr val="131D3F"/>
                </a:solidFill>
                <a:latin typeface="Montserrat" panose="00000500000000000000" pitchFamily="2" charset="0"/>
              </a:rPr>
              <a:t>Interés de </a:t>
            </a:r>
            <a:r>
              <a:rPr lang="es-ES" sz="2000" dirty="0">
                <a:solidFill>
                  <a:srgbClr val="131D3F"/>
                </a:solidFill>
                <a:latin typeface="Montserrat" panose="00000500000000000000" pitchFamily="2" charset="0"/>
              </a:rPr>
              <a:t>Accionistas</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Impacto </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Urgencia </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Costos</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Riesgos</a:t>
            </a:r>
          </a:p>
          <a:p>
            <a:pPr marL="800100" lvl="1" indent="-342900" algn="just">
              <a:spcAft>
                <a:spcPts val="600"/>
              </a:spcAft>
              <a:buFont typeface="Arial" panose="020B0604020202020204" pitchFamily="34" charset="0"/>
              <a:buChar char="•"/>
            </a:pPr>
            <a:r>
              <a:rPr lang="es-ES" sz="2000" dirty="0">
                <a:solidFill>
                  <a:srgbClr val="131D3F"/>
                </a:solidFill>
                <a:latin typeface="Montserrat" panose="00000500000000000000" pitchFamily="2" charset="0"/>
              </a:rPr>
              <a:t>Recursos disponibles</a:t>
            </a:r>
          </a:p>
        </p:txBody>
      </p:sp>
    </p:spTree>
    <p:extLst>
      <p:ext uri="{BB962C8B-B14F-4D97-AF65-F5344CB8AC3E}">
        <p14:creationId xmlns:p14="http://schemas.microsoft.com/office/powerpoint/2010/main" val="260616444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146</a:t>
            </a:fld>
            <a:endParaRPr lang="es-MX" sz="1800" b="1" dirty="0">
              <a:solidFill>
                <a:srgbClr val="BA955B"/>
              </a:solidFill>
              <a:latin typeface="Montserrat SemiBold" panose="00000700000000000000" pitchFamily="2" charset="0"/>
            </a:endParaRPr>
          </a:p>
        </p:txBody>
      </p:sp>
      <p:sp>
        <p:nvSpPr>
          <p:cNvPr id="27" name="Título 3">
            <a:extLst>
              <a:ext uri="{FF2B5EF4-FFF2-40B4-BE49-F238E27FC236}">
                <a16:creationId xmlns:a16="http://schemas.microsoft.com/office/drawing/2014/main" id="{FE9281DB-438A-4B8C-BF1A-DCA2285650BC}"/>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3.4 Priorización.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Matriz de Prioridad</a:t>
            </a:r>
            <a:endParaRPr lang="es-ES" sz="3600" b="1" dirty="0">
              <a:solidFill>
                <a:srgbClr val="131D3F"/>
              </a:solidFill>
              <a:latin typeface="Montserrat SemiBold" panose="00000700000000000000" pitchFamily="2" charset="0"/>
            </a:endParaRPr>
          </a:p>
        </p:txBody>
      </p:sp>
      <p:sp>
        <p:nvSpPr>
          <p:cNvPr id="2" name="Rectángulo 1">
            <a:extLst>
              <a:ext uri="{FF2B5EF4-FFF2-40B4-BE49-F238E27FC236}">
                <a16:creationId xmlns:a16="http://schemas.microsoft.com/office/drawing/2014/main" id="{A918DE00-1149-4B03-B5A5-EE9F29847EEE}"/>
              </a:ext>
            </a:extLst>
          </p:cNvPr>
          <p:cNvSpPr/>
          <p:nvPr/>
        </p:nvSpPr>
        <p:spPr>
          <a:xfrm>
            <a:off x="2161880" y="1884578"/>
            <a:ext cx="3327661" cy="1960775"/>
          </a:xfrm>
          <a:prstGeom prst="rect">
            <a:avLst/>
          </a:prstGeom>
          <a:solidFill>
            <a:srgbClr val="CAD2C5"/>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13521712-71D7-4079-9032-64F009425611}"/>
              </a:ext>
            </a:extLst>
          </p:cNvPr>
          <p:cNvSpPr/>
          <p:nvPr/>
        </p:nvSpPr>
        <p:spPr>
          <a:xfrm>
            <a:off x="6702458" y="1884578"/>
            <a:ext cx="3327661" cy="1960775"/>
          </a:xfrm>
          <a:prstGeom prst="rect">
            <a:avLst/>
          </a:prstGeom>
          <a:solidFill>
            <a:srgbClr val="84A98C"/>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 name="Conector recto de flecha 3">
            <a:extLst>
              <a:ext uri="{FF2B5EF4-FFF2-40B4-BE49-F238E27FC236}">
                <a16:creationId xmlns:a16="http://schemas.microsoft.com/office/drawing/2014/main" id="{1C266BE4-EEFC-47D3-AD97-85A81B561CC1}"/>
              </a:ext>
            </a:extLst>
          </p:cNvPr>
          <p:cNvCxnSpPr/>
          <p:nvPr/>
        </p:nvCxnSpPr>
        <p:spPr>
          <a:xfrm>
            <a:off x="6095999" y="1809165"/>
            <a:ext cx="0" cy="4572785"/>
          </a:xfrm>
          <a:prstGeom prst="straightConnector1">
            <a:avLst/>
          </a:prstGeom>
          <a:ln w="50800">
            <a:solidFill>
              <a:srgbClr val="2F3E46"/>
            </a:solidFill>
            <a:headEnd type="triangle"/>
            <a:tailEnd type="triangle"/>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13" name="Rectángulo 12">
            <a:extLst>
              <a:ext uri="{FF2B5EF4-FFF2-40B4-BE49-F238E27FC236}">
                <a16:creationId xmlns:a16="http://schemas.microsoft.com/office/drawing/2014/main" id="{95767452-C79E-44A6-893E-BEB0919719CF}"/>
              </a:ext>
            </a:extLst>
          </p:cNvPr>
          <p:cNvSpPr/>
          <p:nvPr/>
        </p:nvSpPr>
        <p:spPr>
          <a:xfrm>
            <a:off x="2161880" y="4421175"/>
            <a:ext cx="3327661" cy="1960775"/>
          </a:xfrm>
          <a:prstGeom prst="rect">
            <a:avLst/>
          </a:prstGeom>
          <a:solidFill>
            <a:srgbClr val="52796F"/>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14">
            <a:extLst>
              <a:ext uri="{FF2B5EF4-FFF2-40B4-BE49-F238E27FC236}">
                <a16:creationId xmlns:a16="http://schemas.microsoft.com/office/drawing/2014/main" id="{B09F9D89-EB3D-4DD6-9789-98824C1C95D4}"/>
              </a:ext>
            </a:extLst>
          </p:cNvPr>
          <p:cNvSpPr/>
          <p:nvPr/>
        </p:nvSpPr>
        <p:spPr>
          <a:xfrm>
            <a:off x="6702458" y="4421175"/>
            <a:ext cx="3327661" cy="1960775"/>
          </a:xfrm>
          <a:prstGeom prst="rect">
            <a:avLst/>
          </a:prstGeom>
          <a:solidFill>
            <a:srgbClr val="354F52"/>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6" name="Conector recto de flecha 15">
            <a:extLst>
              <a:ext uri="{FF2B5EF4-FFF2-40B4-BE49-F238E27FC236}">
                <a16:creationId xmlns:a16="http://schemas.microsoft.com/office/drawing/2014/main" id="{127C7D3F-1172-415E-BF3E-5D501DBDDAAD}"/>
              </a:ext>
            </a:extLst>
          </p:cNvPr>
          <p:cNvCxnSpPr>
            <a:cxnSpLocks/>
          </p:cNvCxnSpPr>
          <p:nvPr/>
        </p:nvCxnSpPr>
        <p:spPr>
          <a:xfrm>
            <a:off x="2161880" y="4147797"/>
            <a:ext cx="7868239" cy="0"/>
          </a:xfrm>
          <a:prstGeom prst="straightConnector1">
            <a:avLst/>
          </a:prstGeom>
          <a:ln w="50800">
            <a:solidFill>
              <a:srgbClr val="2F3E46"/>
            </a:solidFill>
            <a:headEnd type="triangle"/>
            <a:tailEnd type="triangle"/>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DD74F9F7-F63B-4A85-A6F4-7F1A8B40D901}"/>
              </a:ext>
            </a:extLst>
          </p:cNvPr>
          <p:cNvSpPr txBox="1"/>
          <p:nvPr/>
        </p:nvSpPr>
        <p:spPr>
          <a:xfrm>
            <a:off x="2720477" y="1440175"/>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t>URGENTE</a:t>
            </a:r>
          </a:p>
        </p:txBody>
      </p:sp>
      <p:sp>
        <p:nvSpPr>
          <p:cNvPr id="20" name="CuadroTexto 19">
            <a:extLst>
              <a:ext uri="{FF2B5EF4-FFF2-40B4-BE49-F238E27FC236}">
                <a16:creationId xmlns:a16="http://schemas.microsoft.com/office/drawing/2014/main" id="{6A974DB3-B3D9-4BEA-A8E3-80F73A2760EF}"/>
              </a:ext>
            </a:extLst>
          </p:cNvPr>
          <p:cNvSpPr txBox="1"/>
          <p:nvPr/>
        </p:nvSpPr>
        <p:spPr>
          <a:xfrm>
            <a:off x="7261055" y="1409055"/>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t>NO URGENTE</a:t>
            </a:r>
          </a:p>
        </p:txBody>
      </p:sp>
      <p:sp>
        <p:nvSpPr>
          <p:cNvPr id="21" name="CuadroTexto 20">
            <a:extLst>
              <a:ext uri="{FF2B5EF4-FFF2-40B4-BE49-F238E27FC236}">
                <a16:creationId xmlns:a16="http://schemas.microsoft.com/office/drawing/2014/main" id="{881AAE36-9A92-47E4-9638-E6F585F173DF}"/>
              </a:ext>
            </a:extLst>
          </p:cNvPr>
          <p:cNvSpPr txBox="1"/>
          <p:nvPr/>
        </p:nvSpPr>
        <p:spPr>
          <a:xfrm rot="16200000">
            <a:off x="753418" y="2664910"/>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t>IMPORTANTE</a:t>
            </a:r>
          </a:p>
        </p:txBody>
      </p:sp>
      <p:sp>
        <p:nvSpPr>
          <p:cNvPr id="22" name="CuadroTexto 21">
            <a:extLst>
              <a:ext uri="{FF2B5EF4-FFF2-40B4-BE49-F238E27FC236}">
                <a16:creationId xmlns:a16="http://schemas.microsoft.com/office/drawing/2014/main" id="{3B022A16-BD09-463B-B420-76BCC9FD065F}"/>
              </a:ext>
            </a:extLst>
          </p:cNvPr>
          <p:cNvSpPr txBox="1"/>
          <p:nvPr/>
        </p:nvSpPr>
        <p:spPr>
          <a:xfrm rot="16200000">
            <a:off x="590354" y="5201506"/>
            <a:ext cx="2536597"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t>NO IMPORTANTE</a:t>
            </a:r>
          </a:p>
        </p:txBody>
      </p:sp>
      <p:sp>
        <p:nvSpPr>
          <p:cNvPr id="23" name="CuadroTexto 22">
            <a:extLst>
              <a:ext uri="{FF2B5EF4-FFF2-40B4-BE49-F238E27FC236}">
                <a16:creationId xmlns:a16="http://schemas.microsoft.com/office/drawing/2014/main" id="{3694DA92-7B03-4B73-9D09-F12A5B9284DB}"/>
              </a:ext>
            </a:extLst>
          </p:cNvPr>
          <p:cNvSpPr txBox="1"/>
          <p:nvPr/>
        </p:nvSpPr>
        <p:spPr>
          <a:xfrm>
            <a:off x="2665165" y="2664909"/>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solidFill>
                  <a:srgbClr val="354F52"/>
                </a:solidFill>
              </a:rPr>
              <a:t>HACER</a:t>
            </a:r>
          </a:p>
        </p:txBody>
      </p:sp>
      <p:sp>
        <p:nvSpPr>
          <p:cNvPr id="24" name="CuadroTexto 23">
            <a:extLst>
              <a:ext uri="{FF2B5EF4-FFF2-40B4-BE49-F238E27FC236}">
                <a16:creationId xmlns:a16="http://schemas.microsoft.com/office/drawing/2014/main" id="{33FFAD74-ACC4-4252-9935-78ACC1285617}"/>
              </a:ext>
            </a:extLst>
          </p:cNvPr>
          <p:cNvSpPr txBox="1"/>
          <p:nvPr/>
        </p:nvSpPr>
        <p:spPr>
          <a:xfrm>
            <a:off x="7261055" y="2664909"/>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t>PLANEAR</a:t>
            </a:r>
          </a:p>
        </p:txBody>
      </p:sp>
      <p:sp>
        <p:nvSpPr>
          <p:cNvPr id="25" name="CuadroTexto 24">
            <a:extLst>
              <a:ext uri="{FF2B5EF4-FFF2-40B4-BE49-F238E27FC236}">
                <a16:creationId xmlns:a16="http://schemas.microsoft.com/office/drawing/2014/main" id="{687AFD15-AD46-4202-A605-8660A487D3FB}"/>
              </a:ext>
            </a:extLst>
          </p:cNvPr>
          <p:cNvSpPr txBox="1"/>
          <p:nvPr/>
        </p:nvSpPr>
        <p:spPr>
          <a:xfrm>
            <a:off x="2720477" y="5201506"/>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t>DELEGAR</a:t>
            </a:r>
          </a:p>
        </p:txBody>
      </p:sp>
      <p:sp>
        <p:nvSpPr>
          <p:cNvPr id="26" name="CuadroTexto 25">
            <a:extLst>
              <a:ext uri="{FF2B5EF4-FFF2-40B4-BE49-F238E27FC236}">
                <a16:creationId xmlns:a16="http://schemas.microsoft.com/office/drawing/2014/main" id="{2A60802A-F7F5-4606-BD5B-B963BA1A1E99}"/>
              </a:ext>
            </a:extLst>
          </p:cNvPr>
          <p:cNvSpPr txBox="1"/>
          <p:nvPr/>
        </p:nvSpPr>
        <p:spPr>
          <a:xfrm>
            <a:off x="7261055" y="5201506"/>
            <a:ext cx="2210466" cy="400110"/>
          </a:xfrm>
          <a:prstGeom prst="rect">
            <a:avLst/>
          </a:prstGeom>
          <a:noFill/>
        </p:spPr>
        <p:txBody>
          <a:bodyPr wrap="square">
            <a:spAutoFit/>
          </a:bodyPr>
          <a:lstStyle>
            <a:defPPr>
              <a:defRPr lang="es-MX"/>
            </a:defPPr>
            <a:lvl1pPr algn="just">
              <a:spcAft>
                <a:spcPts val="1200"/>
              </a:spcAft>
              <a:defRPr sz="2000">
                <a:solidFill>
                  <a:srgbClr val="131D3F"/>
                </a:solidFill>
                <a:latin typeface="Montserrat" panose="00000500000000000000" pitchFamily="2" charset="0"/>
              </a:defRPr>
            </a:lvl1pPr>
            <a:lvl2pPr marL="800100" lvl="1" indent="-342900" algn="just">
              <a:spcAft>
                <a:spcPts val="600"/>
              </a:spcAft>
              <a:buFont typeface="Arial" panose="020B0604020202020204" pitchFamily="34" charset="0"/>
              <a:buChar char="•"/>
              <a:defRPr sz="2000" b="1">
                <a:solidFill>
                  <a:srgbClr val="131D3F"/>
                </a:solidFill>
                <a:latin typeface="Montserrat" panose="00000500000000000000" pitchFamily="2" charset="0"/>
              </a:defRPr>
            </a:lvl2pPr>
          </a:lstStyle>
          <a:p>
            <a:pPr algn="ctr"/>
            <a:r>
              <a:rPr lang="es-ES" b="1" dirty="0">
                <a:solidFill>
                  <a:srgbClr val="CAD2C5"/>
                </a:solidFill>
              </a:rPr>
              <a:t>ELIMINAR</a:t>
            </a:r>
          </a:p>
        </p:txBody>
      </p:sp>
    </p:spTree>
    <p:extLst>
      <p:ext uri="{BB962C8B-B14F-4D97-AF65-F5344CB8AC3E}">
        <p14:creationId xmlns:p14="http://schemas.microsoft.com/office/powerpoint/2010/main" val="35899522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147</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85771" y="1455436"/>
            <a:ext cx="11420455" cy="2400657"/>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Imaginemos que un equipo está gestionando varias tareas en un proyecto. Las tareas identificadas son:</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Preparar informe financiero</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Actualizar el sitio web</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Resolver problemas de atención al cliente</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Planificar reunión de estrategia</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Enviar </a:t>
            </a:r>
            <a:r>
              <a:rPr lang="es-ES" sz="2000" dirty="0" err="1">
                <a:solidFill>
                  <a:srgbClr val="131D3F"/>
                </a:solidFill>
                <a:latin typeface="Montserrat" panose="00000500000000000000" pitchFamily="2" charset="0"/>
              </a:rPr>
              <a:t>newsletter</a:t>
            </a:r>
            <a:r>
              <a:rPr lang="es-ES" sz="2000" dirty="0">
                <a:solidFill>
                  <a:srgbClr val="131D3F"/>
                </a:solidFill>
                <a:latin typeface="Montserrat" panose="00000500000000000000" pitchFamily="2" charset="0"/>
              </a:rPr>
              <a:t> mensual</a:t>
            </a:r>
          </a:p>
        </p:txBody>
      </p:sp>
      <p:graphicFrame>
        <p:nvGraphicFramePr>
          <p:cNvPr id="2" name="Tabla 1">
            <a:extLst>
              <a:ext uri="{FF2B5EF4-FFF2-40B4-BE49-F238E27FC236}">
                <a16:creationId xmlns:a16="http://schemas.microsoft.com/office/drawing/2014/main" id="{DBF5C76B-694B-4356-978A-DEB67B4427FF}"/>
              </a:ext>
            </a:extLst>
          </p:cNvPr>
          <p:cNvGraphicFramePr>
            <a:graphicFrameLocks noGrp="1"/>
          </p:cNvGraphicFramePr>
          <p:nvPr>
            <p:extLst>
              <p:ext uri="{D42A27DB-BD31-4B8C-83A1-F6EECF244321}">
                <p14:modId xmlns:p14="http://schemas.microsoft.com/office/powerpoint/2010/main" val="1104464522"/>
              </p:ext>
            </p:extLst>
          </p:nvPr>
        </p:nvGraphicFramePr>
        <p:xfrm>
          <a:off x="1654132" y="3973743"/>
          <a:ext cx="8883731" cy="2172361"/>
        </p:xfrm>
        <a:graphic>
          <a:graphicData uri="http://schemas.openxmlformats.org/drawingml/2006/table">
            <a:tbl>
              <a:tblPr>
                <a:tableStyleId>{5C22544A-7EE6-4342-B048-85BDC9FD1C3A}</a:tableStyleId>
              </a:tblPr>
              <a:tblGrid>
                <a:gridCol w="5484549">
                  <a:extLst>
                    <a:ext uri="{9D8B030D-6E8A-4147-A177-3AD203B41FA5}">
                      <a16:colId xmlns:a16="http://schemas.microsoft.com/office/drawing/2014/main" val="2869861743"/>
                    </a:ext>
                  </a:extLst>
                </a:gridCol>
                <a:gridCol w="1630017">
                  <a:extLst>
                    <a:ext uri="{9D8B030D-6E8A-4147-A177-3AD203B41FA5}">
                      <a16:colId xmlns:a16="http://schemas.microsoft.com/office/drawing/2014/main" val="3247397377"/>
                    </a:ext>
                  </a:extLst>
                </a:gridCol>
                <a:gridCol w="1769165">
                  <a:extLst>
                    <a:ext uri="{9D8B030D-6E8A-4147-A177-3AD203B41FA5}">
                      <a16:colId xmlns:a16="http://schemas.microsoft.com/office/drawing/2014/main" val="2031760376"/>
                    </a:ext>
                  </a:extLst>
                </a:gridCol>
              </a:tblGrid>
              <a:tr h="576582">
                <a:tc>
                  <a:txBody>
                    <a:bodyPr/>
                    <a:lstStyle/>
                    <a:p>
                      <a:pPr algn="ctr" fontAlgn="ctr"/>
                      <a:r>
                        <a:rPr lang="es-MX" sz="2000" b="1" u="none" strike="noStrike" dirty="0">
                          <a:solidFill>
                            <a:schemeClr val="bg1"/>
                          </a:solidFill>
                          <a:effectLst/>
                          <a:latin typeface="Montserrat" panose="00000500000000000000" pitchFamily="2" charset="0"/>
                        </a:rPr>
                        <a:t>Tarea</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tc>
                  <a:txBody>
                    <a:bodyPr/>
                    <a:lstStyle/>
                    <a:p>
                      <a:pPr algn="ctr" fontAlgn="ctr"/>
                      <a:r>
                        <a:rPr lang="es-MX" sz="2000" b="1" u="none" strike="noStrike" dirty="0">
                          <a:solidFill>
                            <a:schemeClr val="bg1"/>
                          </a:solidFill>
                          <a:effectLst/>
                          <a:latin typeface="Montserrat" panose="00000500000000000000" pitchFamily="2" charset="0"/>
                        </a:rPr>
                        <a:t>Urgencia</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tc>
                  <a:txBody>
                    <a:bodyPr/>
                    <a:lstStyle/>
                    <a:p>
                      <a:pPr algn="ctr" fontAlgn="ctr"/>
                      <a:r>
                        <a:rPr lang="es-MX" sz="2000" b="1" u="none" strike="noStrike" dirty="0">
                          <a:solidFill>
                            <a:schemeClr val="bg1"/>
                          </a:solidFill>
                          <a:effectLst/>
                          <a:latin typeface="Montserrat" panose="00000500000000000000" pitchFamily="2" charset="0"/>
                        </a:rPr>
                        <a:t>Importancia</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extLst>
                  <a:ext uri="{0D108BD9-81ED-4DB2-BD59-A6C34878D82A}">
                    <a16:rowId xmlns:a16="http://schemas.microsoft.com/office/drawing/2014/main" val="3311878096"/>
                  </a:ext>
                </a:extLst>
              </a:tr>
              <a:tr h="259574">
                <a:tc>
                  <a:txBody>
                    <a:bodyPr/>
                    <a:lstStyle/>
                    <a:p>
                      <a:pPr algn="l" fontAlgn="ctr"/>
                      <a:r>
                        <a:rPr lang="es-MX" sz="2000" u="none" strike="noStrike" dirty="0">
                          <a:effectLst/>
                          <a:latin typeface="Montserrat" panose="00000500000000000000" pitchFamily="2" charset="0"/>
                        </a:rPr>
                        <a:t>Preparar informe financiero</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a:effectLst/>
                          <a:latin typeface="Montserrat" panose="00000500000000000000" pitchFamily="2" charset="0"/>
                        </a:rPr>
                        <a:t>Alta</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dirty="0">
                          <a:effectLst/>
                          <a:latin typeface="Montserrat" panose="00000500000000000000" pitchFamily="2" charset="0"/>
                        </a:rPr>
                        <a:t>Alto</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extLst>
                  <a:ext uri="{0D108BD9-81ED-4DB2-BD59-A6C34878D82A}">
                    <a16:rowId xmlns:a16="http://schemas.microsoft.com/office/drawing/2014/main" val="2470238925"/>
                  </a:ext>
                </a:extLst>
              </a:tr>
              <a:tr h="214938">
                <a:tc>
                  <a:txBody>
                    <a:bodyPr/>
                    <a:lstStyle/>
                    <a:p>
                      <a:pPr algn="l" fontAlgn="ctr"/>
                      <a:r>
                        <a:rPr lang="es-MX" sz="2000" u="none" strike="noStrike">
                          <a:effectLst/>
                          <a:latin typeface="Montserrat" panose="00000500000000000000" pitchFamily="2" charset="0"/>
                        </a:rPr>
                        <a:t>Actualizar el sitio web</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a:effectLst/>
                          <a:latin typeface="Montserrat" panose="00000500000000000000" pitchFamily="2" charset="0"/>
                        </a:rPr>
                        <a:t>Baja</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dirty="0">
                          <a:effectLst/>
                          <a:latin typeface="Montserrat" panose="00000500000000000000" pitchFamily="2" charset="0"/>
                        </a:rPr>
                        <a:t>Alto</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extLst>
                  <a:ext uri="{0D108BD9-81ED-4DB2-BD59-A6C34878D82A}">
                    <a16:rowId xmlns:a16="http://schemas.microsoft.com/office/drawing/2014/main" val="3938817017"/>
                  </a:ext>
                </a:extLst>
              </a:tr>
              <a:tr h="346099">
                <a:tc>
                  <a:txBody>
                    <a:bodyPr/>
                    <a:lstStyle/>
                    <a:p>
                      <a:pPr algn="l" fontAlgn="ctr"/>
                      <a:r>
                        <a:rPr lang="es-ES" sz="2000" u="none" strike="noStrike" dirty="0">
                          <a:effectLst/>
                          <a:latin typeface="Montserrat" panose="00000500000000000000" pitchFamily="2" charset="0"/>
                        </a:rPr>
                        <a:t>Resolver problemas de atención al cliente</a:t>
                      </a:r>
                      <a:endParaRPr lang="es-ES"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a:effectLst/>
                          <a:latin typeface="Montserrat" panose="00000500000000000000" pitchFamily="2" charset="0"/>
                        </a:rPr>
                        <a:t>Alta</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dirty="0">
                          <a:effectLst/>
                          <a:latin typeface="Montserrat" panose="00000500000000000000" pitchFamily="2" charset="0"/>
                        </a:rPr>
                        <a:t>Bajo</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extLst>
                  <a:ext uri="{0D108BD9-81ED-4DB2-BD59-A6C34878D82A}">
                    <a16:rowId xmlns:a16="http://schemas.microsoft.com/office/drawing/2014/main" val="797609985"/>
                  </a:ext>
                </a:extLst>
              </a:tr>
              <a:tr h="259574">
                <a:tc>
                  <a:txBody>
                    <a:bodyPr/>
                    <a:lstStyle/>
                    <a:p>
                      <a:pPr algn="l" fontAlgn="ctr"/>
                      <a:r>
                        <a:rPr lang="es-MX" sz="2000" u="none" strike="noStrike">
                          <a:effectLst/>
                          <a:latin typeface="Montserrat" panose="00000500000000000000" pitchFamily="2" charset="0"/>
                        </a:rPr>
                        <a:t>Planificar reunión de estrategia</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dirty="0">
                          <a:effectLst/>
                          <a:latin typeface="Montserrat" panose="00000500000000000000" pitchFamily="2" charset="0"/>
                        </a:rPr>
                        <a:t>Baja</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dirty="0">
                          <a:effectLst/>
                          <a:latin typeface="Montserrat" panose="00000500000000000000" pitchFamily="2" charset="0"/>
                        </a:rPr>
                        <a:t>Alto</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extLst>
                  <a:ext uri="{0D108BD9-81ED-4DB2-BD59-A6C34878D82A}">
                    <a16:rowId xmlns:a16="http://schemas.microsoft.com/office/drawing/2014/main" val="1215047799"/>
                  </a:ext>
                </a:extLst>
              </a:tr>
              <a:tr h="259574">
                <a:tc>
                  <a:txBody>
                    <a:bodyPr/>
                    <a:lstStyle/>
                    <a:p>
                      <a:pPr algn="l" fontAlgn="ctr"/>
                      <a:r>
                        <a:rPr lang="es-MX" sz="2000" u="none" strike="noStrike" dirty="0">
                          <a:effectLst/>
                          <a:latin typeface="Montserrat" panose="00000500000000000000" pitchFamily="2" charset="0"/>
                        </a:rPr>
                        <a:t>Enviar </a:t>
                      </a:r>
                      <a:r>
                        <a:rPr lang="es-MX" sz="2000" u="none" strike="noStrike" dirty="0" err="1">
                          <a:effectLst/>
                          <a:latin typeface="Montserrat" panose="00000500000000000000" pitchFamily="2" charset="0"/>
                        </a:rPr>
                        <a:t>newsletter</a:t>
                      </a:r>
                      <a:r>
                        <a:rPr lang="es-MX" sz="2000" u="none" strike="noStrike" dirty="0">
                          <a:effectLst/>
                          <a:latin typeface="Montserrat" panose="00000500000000000000" pitchFamily="2" charset="0"/>
                        </a:rPr>
                        <a:t> mensual</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a:effectLst/>
                          <a:latin typeface="Montserrat" panose="00000500000000000000" pitchFamily="2" charset="0"/>
                        </a:rPr>
                        <a:t>Alta</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u="none" strike="noStrike" dirty="0">
                          <a:effectLst/>
                          <a:latin typeface="Montserrat" panose="00000500000000000000" pitchFamily="2" charset="0"/>
                        </a:rPr>
                        <a:t>Bajo</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extLst>
                  <a:ext uri="{0D108BD9-81ED-4DB2-BD59-A6C34878D82A}">
                    <a16:rowId xmlns:a16="http://schemas.microsoft.com/office/drawing/2014/main" val="4021420793"/>
                  </a:ext>
                </a:extLst>
              </a:tr>
            </a:tbl>
          </a:graphicData>
        </a:graphic>
      </p:graphicFrame>
      <p:sp>
        <p:nvSpPr>
          <p:cNvPr id="12" name="Título 3">
            <a:extLst>
              <a:ext uri="{FF2B5EF4-FFF2-40B4-BE49-F238E27FC236}">
                <a16:creationId xmlns:a16="http://schemas.microsoft.com/office/drawing/2014/main" id="{F8EFF695-4D67-4D2F-A794-951A98BE04C3}"/>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3.4 Priorización.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Matriz de Prioridad</a:t>
            </a:r>
            <a:endParaRPr lang="es-ES" sz="3600" b="1"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188017667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148</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85772" y="1347213"/>
            <a:ext cx="11420455" cy="1169551"/>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Clasificar las tareas en: Debe tener, debería tener, podría tener y no tendrá.</a:t>
            </a:r>
          </a:p>
          <a:p>
            <a:pPr algn="just">
              <a:spcAft>
                <a:spcPts val="1200"/>
              </a:spcAft>
            </a:pPr>
            <a:r>
              <a:rPr lang="es-ES" sz="2000" dirty="0">
                <a:solidFill>
                  <a:srgbClr val="131D3F"/>
                </a:solidFill>
                <a:latin typeface="Montserrat" panose="00000500000000000000" pitchFamily="2" charset="0"/>
              </a:rPr>
              <a:t>Imaginemos que un equipo está desarrollando una nueva aplicación móvil. A continuación se presentan algunos requisitos del proyecto según el método </a:t>
            </a:r>
            <a:r>
              <a:rPr lang="es-ES" sz="2000" dirty="0" err="1">
                <a:solidFill>
                  <a:srgbClr val="131D3F"/>
                </a:solidFill>
                <a:latin typeface="Montserrat" panose="00000500000000000000" pitchFamily="2" charset="0"/>
              </a:rPr>
              <a:t>MoSCoW</a:t>
            </a:r>
            <a:r>
              <a:rPr lang="es-ES" sz="2000" dirty="0">
                <a:solidFill>
                  <a:srgbClr val="131D3F"/>
                </a:solidFill>
                <a:latin typeface="Montserrat" panose="00000500000000000000" pitchFamily="2" charset="0"/>
              </a:rPr>
              <a:t>.</a:t>
            </a:r>
          </a:p>
        </p:txBody>
      </p:sp>
      <p:sp>
        <p:nvSpPr>
          <p:cNvPr id="12" name="Título 3">
            <a:extLst>
              <a:ext uri="{FF2B5EF4-FFF2-40B4-BE49-F238E27FC236}">
                <a16:creationId xmlns:a16="http://schemas.microsoft.com/office/drawing/2014/main" id="{F8EFF695-4D67-4D2F-A794-951A98BE04C3}"/>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3.4 Priorización.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Método </a:t>
            </a:r>
            <a:r>
              <a:rPr lang="es-ES" sz="2600" b="1" dirty="0" err="1">
                <a:solidFill>
                  <a:srgbClr val="131D3F"/>
                </a:solidFill>
                <a:latin typeface="Montserrat SemiBold" panose="00000700000000000000" pitchFamily="2" charset="0"/>
              </a:rPr>
              <a:t>MoSCoW</a:t>
            </a:r>
            <a:endParaRPr lang="es-ES" sz="3600" b="1" dirty="0">
              <a:solidFill>
                <a:srgbClr val="131D3F"/>
              </a:solidFill>
              <a:latin typeface="Montserrat SemiBold" panose="00000700000000000000" pitchFamily="2" charset="0"/>
            </a:endParaRPr>
          </a:p>
        </p:txBody>
      </p:sp>
      <p:graphicFrame>
        <p:nvGraphicFramePr>
          <p:cNvPr id="3" name="Tabla 2">
            <a:extLst>
              <a:ext uri="{FF2B5EF4-FFF2-40B4-BE49-F238E27FC236}">
                <a16:creationId xmlns:a16="http://schemas.microsoft.com/office/drawing/2014/main" id="{24237294-4F14-4A22-BB91-D6C1FFFE6167}"/>
              </a:ext>
            </a:extLst>
          </p:cNvPr>
          <p:cNvGraphicFramePr>
            <a:graphicFrameLocks noGrp="1"/>
          </p:cNvGraphicFramePr>
          <p:nvPr>
            <p:extLst>
              <p:ext uri="{D42A27DB-BD31-4B8C-83A1-F6EECF244321}">
                <p14:modId xmlns:p14="http://schemas.microsoft.com/office/powerpoint/2010/main" val="2827607755"/>
              </p:ext>
            </p:extLst>
          </p:nvPr>
        </p:nvGraphicFramePr>
        <p:xfrm>
          <a:off x="2460943" y="2632010"/>
          <a:ext cx="7270111" cy="3687820"/>
        </p:xfrm>
        <a:graphic>
          <a:graphicData uri="http://schemas.openxmlformats.org/drawingml/2006/table">
            <a:tbl>
              <a:tblPr>
                <a:tableStyleId>{5C22544A-7EE6-4342-B048-85BDC9FD1C3A}</a:tableStyleId>
              </a:tblPr>
              <a:tblGrid>
                <a:gridCol w="2063298">
                  <a:extLst>
                    <a:ext uri="{9D8B030D-6E8A-4147-A177-3AD203B41FA5}">
                      <a16:colId xmlns:a16="http://schemas.microsoft.com/office/drawing/2014/main" val="2708500664"/>
                    </a:ext>
                  </a:extLst>
                </a:gridCol>
                <a:gridCol w="5206813">
                  <a:extLst>
                    <a:ext uri="{9D8B030D-6E8A-4147-A177-3AD203B41FA5}">
                      <a16:colId xmlns:a16="http://schemas.microsoft.com/office/drawing/2014/main" val="4293619313"/>
                    </a:ext>
                  </a:extLst>
                </a:gridCol>
              </a:tblGrid>
              <a:tr h="121354">
                <a:tc>
                  <a:txBody>
                    <a:bodyPr/>
                    <a:lstStyle/>
                    <a:p>
                      <a:pPr algn="ctr" fontAlgn="ctr"/>
                      <a:r>
                        <a:rPr lang="es-MX" sz="2000" b="1" u="none" strike="noStrike" dirty="0">
                          <a:solidFill>
                            <a:schemeClr val="bg1"/>
                          </a:solidFill>
                          <a:effectLst/>
                          <a:latin typeface="Montserrat" panose="00000500000000000000" pitchFamily="2" charset="0"/>
                        </a:rPr>
                        <a:t>Categoría</a:t>
                      </a:r>
                      <a:endParaRPr lang="es-MX" sz="2000" b="1" i="0" u="none" strike="noStrike" dirty="0">
                        <a:solidFill>
                          <a:schemeClr val="bg1"/>
                        </a:solidFill>
                        <a:effectLst/>
                        <a:latin typeface="Montserrat" panose="00000500000000000000" pitchFamily="2" charset="0"/>
                      </a:endParaRPr>
                    </a:p>
                  </a:txBody>
                  <a:tcPr marL="6044" marR="6044" marT="6044" marB="0" anchor="ctr">
                    <a:solidFill>
                      <a:srgbClr val="2F3E46"/>
                    </a:solidFill>
                  </a:tcPr>
                </a:tc>
                <a:tc>
                  <a:txBody>
                    <a:bodyPr/>
                    <a:lstStyle/>
                    <a:p>
                      <a:pPr algn="ctr" fontAlgn="ctr"/>
                      <a:r>
                        <a:rPr lang="es-MX" sz="2000" b="1" u="none" strike="noStrike" dirty="0">
                          <a:solidFill>
                            <a:schemeClr val="bg1"/>
                          </a:solidFill>
                          <a:effectLst/>
                          <a:latin typeface="Montserrat" panose="00000500000000000000" pitchFamily="2" charset="0"/>
                        </a:rPr>
                        <a:t>Requisitos</a:t>
                      </a:r>
                      <a:endParaRPr lang="es-MX" sz="2000" b="1" i="0" u="none" strike="noStrike" dirty="0">
                        <a:solidFill>
                          <a:schemeClr val="bg1"/>
                        </a:solidFill>
                        <a:effectLst/>
                        <a:latin typeface="Montserrat" panose="00000500000000000000" pitchFamily="2" charset="0"/>
                      </a:endParaRPr>
                    </a:p>
                  </a:txBody>
                  <a:tcPr marL="6044" marR="6044" marT="6044" marB="0" anchor="ctr">
                    <a:solidFill>
                      <a:srgbClr val="2F3E46"/>
                    </a:solidFill>
                  </a:tcPr>
                </a:tc>
                <a:extLst>
                  <a:ext uri="{0D108BD9-81ED-4DB2-BD59-A6C34878D82A}">
                    <a16:rowId xmlns:a16="http://schemas.microsoft.com/office/drawing/2014/main" val="3011254897"/>
                  </a:ext>
                </a:extLst>
              </a:tr>
              <a:tr h="414100">
                <a:tc>
                  <a:txBody>
                    <a:bodyPr/>
                    <a:lstStyle/>
                    <a:p>
                      <a:pPr algn="l" fontAlgn="ctr"/>
                      <a:r>
                        <a:rPr lang="es-MX" sz="2000" u="none" strike="noStrike" dirty="0" err="1">
                          <a:effectLst/>
                          <a:latin typeface="Montserrat" panose="00000500000000000000" pitchFamily="2" charset="0"/>
                        </a:rPr>
                        <a:t>Must</a:t>
                      </a:r>
                      <a:r>
                        <a:rPr lang="es-MX" sz="2000" u="none" strike="noStrike" dirty="0">
                          <a:effectLst/>
                          <a:latin typeface="Montserrat" panose="00000500000000000000" pitchFamily="2" charset="0"/>
                        </a:rPr>
                        <a:t> </a:t>
                      </a:r>
                      <a:r>
                        <a:rPr lang="es-MX" sz="2000" u="none" strike="noStrike" dirty="0" err="1">
                          <a:effectLst/>
                          <a:latin typeface="Montserrat" panose="00000500000000000000" pitchFamily="2" charset="0"/>
                        </a:rPr>
                        <a:t>have</a:t>
                      </a:r>
                      <a:endParaRPr lang="es-MX" sz="2000" b="1" i="0" u="none" strike="noStrike" dirty="0">
                        <a:solidFill>
                          <a:srgbClr val="000000"/>
                        </a:solidFill>
                        <a:effectLst/>
                        <a:latin typeface="Montserrat" panose="00000500000000000000" pitchFamily="2" charset="0"/>
                      </a:endParaRPr>
                    </a:p>
                  </a:txBody>
                  <a:tcPr marL="6044" marR="6044" marT="6044" marB="0" anchor="ctr">
                    <a:solidFill>
                      <a:srgbClr val="CAD2C5"/>
                    </a:solidFill>
                  </a:tcPr>
                </a:tc>
                <a:tc>
                  <a:txBody>
                    <a:bodyPr/>
                    <a:lstStyle/>
                    <a:p>
                      <a:pPr algn="l" fontAlgn="ctr"/>
                      <a:r>
                        <a:rPr lang="es-ES" sz="2000" u="none" strike="noStrike" dirty="0">
                          <a:effectLst/>
                          <a:latin typeface="Montserrat" panose="00000500000000000000" pitchFamily="2" charset="0"/>
                        </a:rPr>
                        <a:t>Registro de usuario</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Funcionalidad de inicio de sesión</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Búsqueda de productos</a:t>
                      </a:r>
                      <a:endParaRPr lang="es-ES" sz="2000" b="0" i="0" u="none" strike="noStrike" dirty="0">
                        <a:solidFill>
                          <a:srgbClr val="000000"/>
                        </a:solidFill>
                        <a:effectLst/>
                        <a:latin typeface="Montserrat" panose="00000500000000000000" pitchFamily="2" charset="0"/>
                      </a:endParaRPr>
                    </a:p>
                  </a:txBody>
                  <a:tcPr marL="6044" marR="6044" marT="6044" marB="0" anchor="ctr">
                    <a:solidFill>
                      <a:srgbClr val="CAD2C5"/>
                    </a:solidFill>
                  </a:tcPr>
                </a:tc>
                <a:extLst>
                  <a:ext uri="{0D108BD9-81ED-4DB2-BD59-A6C34878D82A}">
                    <a16:rowId xmlns:a16="http://schemas.microsoft.com/office/drawing/2014/main" val="1582885904"/>
                  </a:ext>
                </a:extLst>
              </a:tr>
              <a:tr h="362337">
                <a:tc>
                  <a:txBody>
                    <a:bodyPr/>
                    <a:lstStyle/>
                    <a:p>
                      <a:pPr algn="l" fontAlgn="ctr"/>
                      <a:r>
                        <a:rPr lang="es-MX" sz="2000" u="none" strike="noStrike">
                          <a:effectLst/>
                          <a:latin typeface="Montserrat" panose="00000500000000000000" pitchFamily="2" charset="0"/>
                        </a:rPr>
                        <a:t>Should have</a:t>
                      </a:r>
                      <a:endParaRPr lang="es-MX" sz="2000" b="1" i="0" u="none" strike="noStrike">
                        <a:solidFill>
                          <a:srgbClr val="000000"/>
                        </a:solidFill>
                        <a:effectLst/>
                        <a:latin typeface="Montserrat" panose="00000500000000000000" pitchFamily="2" charset="0"/>
                      </a:endParaRPr>
                    </a:p>
                  </a:txBody>
                  <a:tcPr marL="6044" marR="6044" marT="6044" marB="0" anchor="ctr">
                    <a:solidFill>
                      <a:srgbClr val="CAD2C5"/>
                    </a:solidFill>
                  </a:tcPr>
                </a:tc>
                <a:tc>
                  <a:txBody>
                    <a:bodyPr/>
                    <a:lstStyle/>
                    <a:p>
                      <a:pPr algn="l" fontAlgn="ctr"/>
                      <a:r>
                        <a:rPr lang="es-ES" sz="2000" u="none" strike="noStrike" dirty="0">
                          <a:effectLst/>
                          <a:latin typeface="Montserrat" panose="00000500000000000000" pitchFamily="2" charset="0"/>
                        </a:rPr>
                        <a:t>Notificaciones </a:t>
                      </a:r>
                      <a:r>
                        <a:rPr lang="es-ES" sz="2000" u="none" strike="noStrike" dirty="0" err="1">
                          <a:effectLst/>
                          <a:latin typeface="Montserrat" panose="00000500000000000000" pitchFamily="2" charset="0"/>
                        </a:rPr>
                        <a:t>push</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Integración con redes sociales</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Filtrar productos</a:t>
                      </a:r>
                      <a:endParaRPr lang="es-ES" sz="2000" b="0" i="0" u="none" strike="noStrike" dirty="0">
                        <a:solidFill>
                          <a:srgbClr val="000000"/>
                        </a:solidFill>
                        <a:effectLst/>
                        <a:latin typeface="Montserrat" panose="00000500000000000000" pitchFamily="2" charset="0"/>
                      </a:endParaRPr>
                    </a:p>
                  </a:txBody>
                  <a:tcPr marL="6044" marR="6044" marT="6044" marB="0" anchor="ctr">
                    <a:solidFill>
                      <a:srgbClr val="CAD2C5"/>
                    </a:solidFill>
                  </a:tcPr>
                </a:tc>
                <a:extLst>
                  <a:ext uri="{0D108BD9-81ED-4DB2-BD59-A6C34878D82A}">
                    <a16:rowId xmlns:a16="http://schemas.microsoft.com/office/drawing/2014/main" val="1520684471"/>
                  </a:ext>
                </a:extLst>
              </a:tr>
              <a:tr h="353818">
                <a:tc>
                  <a:txBody>
                    <a:bodyPr/>
                    <a:lstStyle/>
                    <a:p>
                      <a:pPr algn="l" fontAlgn="ctr"/>
                      <a:r>
                        <a:rPr lang="es-MX" sz="2000" u="none" strike="noStrike">
                          <a:effectLst/>
                          <a:latin typeface="Montserrat" panose="00000500000000000000" pitchFamily="2" charset="0"/>
                        </a:rPr>
                        <a:t>Could have</a:t>
                      </a:r>
                      <a:endParaRPr lang="es-MX" sz="2000" b="1" i="0" u="none" strike="noStrike">
                        <a:solidFill>
                          <a:srgbClr val="000000"/>
                        </a:solidFill>
                        <a:effectLst/>
                        <a:latin typeface="Montserrat" panose="00000500000000000000" pitchFamily="2" charset="0"/>
                      </a:endParaRPr>
                    </a:p>
                  </a:txBody>
                  <a:tcPr marL="6044" marR="6044" marT="6044" marB="0" anchor="ctr">
                    <a:solidFill>
                      <a:srgbClr val="CAD2C5"/>
                    </a:solidFill>
                  </a:tcPr>
                </a:tc>
                <a:tc>
                  <a:txBody>
                    <a:bodyPr/>
                    <a:lstStyle/>
                    <a:p>
                      <a:pPr algn="l" fontAlgn="ctr"/>
                      <a:r>
                        <a:rPr lang="es-ES" sz="2000" u="none" strike="noStrike" dirty="0">
                          <a:effectLst/>
                          <a:latin typeface="Montserrat" panose="00000500000000000000" pitchFamily="2" charset="0"/>
                        </a:rPr>
                        <a:t>Temas personalizables</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Chat en vivo</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Reseñas</a:t>
                      </a:r>
                      <a:endParaRPr lang="es-ES" sz="2000" b="0" i="0" u="none" strike="noStrike" dirty="0">
                        <a:solidFill>
                          <a:srgbClr val="000000"/>
                        </a:solidFill>
                        <a:effectLst/>
                        <a:latin typeface="Montserrat" panose="00000500000000000000" pitchFamily="2" charset="0"/>
                      </a:endParaRPr>
                    </a:p>
                  </a:txBody>
                  <a:tcPr marL="6044" marR="6044" marT="6044" marB="0" anchor="ctr">
                    <a:solidFill>
                      <a:srgbClr val="CAD2C5"/>
                    </a:solidFill>
                  </a:tcPr>
                </a:tc>
                <a:extLst>
                  <a:ext uri="{0D108BD9-81ED-4DB2-BD59-A6C34878D82A}">
                    <a16:rowId xmlns:a16="http://schemas.microsoft.com/office/drawing/2014/main" val="760504876"/>
                  </a:ext>
                </a:extLst>
              </a:tr>
              <a:tr h="465862">
                <a:tc>
                  <a:txBody>
                    <a:bodyPr/>
                    <a:lstStyle/>
                    <a:p>
                      <a:pPr algn="l" fontAlgn="ctr"/>
                      <a:r>
                        <a:rPr lang="es-MX" sz="2000" u="none" strike="noStrike">
                          <a:effectLst/>
                          <a:latin typeface="Montserrat" panose="00000500000000000000" pitchFamily="2" charset="0"/>
                        </a:rPr>
                        <a:t>Won't have</a:t>
                      </a:r>
                      <a:endParaRPr lang="es-MX" sz="2000" b="1" i="0" u="none" strike="noStrike">
                        <a:solidFill>
                          <a:srgbClr val="000000"/>
                        </a:solidFill>
                        <a:effectLst/>
                        <a:latin typeface="Montserrat" panose="00000500000000000000" pitchFamily="2" charset="0"/>
                      </a:endParaRPr>
                    </a:p>
                  </a:txBody>
                  <a:tcPr marL="6044" marR="6044" marT="6044" marB="0" anchor="ctr">
                    <a:solidFill>
                      <a:srgbClr val="CAD2C5"/>
                    </a:solidFill>
                  </a:tcPr>
                </a:tc>
                <a:tc>
                  <a:txBody>
                    <a:bodyPr/>
                    <a:lstStyle/>
                    <a:p>
                      <a:pPr algn="l" fontAlgn="ctr"/>
                      <a:r>
                        <a:rPr lang="es-ES" sz="2000" u="none" strike="noStrike" dirty="0">
                          <a:effectLst/>
                          <a:latin typeface="Montserrat" panose="00000500000000000000" pitchFamily="2" charset="0"/>
                        </a:rPr>
                        <a:t>Soporte para múltiples idiomas</a:t>
                      </a:r>
                      <a:br>
                        <a:rPr lang="es-ES" sz="2000" u="none" strike="noStrike" dirty="0">
                          <a:effectLst/>
                          <a:latin typeface="Montserrat" panose="00000500000000000000" pitchFamily="2" charset="0"/>
                        </a:rPr>
                      </a:br>
                      <a:r>
                        <a:rPr lang="es-ES" sz="2000" u="none" strike="noStrike" dirty="0">
                          <a:effectLst/>
                          <a:latin typeface="Montserrat" panose="00000500000000000000" pitchFamily="2" charset="0"/>
                        </a:rPr>
                        <a:t>Integración de pago no convencionales</a:t>
                      </a:r>
                      <a:endParaRPr lang="es-ES" sz="2000" b="0" i="0" u="none" strike="noStrike" dirty="0">
                        <a:solidFill>
                          <a:srgbClr val="000000"/>
                        </a:solidFill>
                        <a:effectLst/>
                        <a:latin typeface="Montserrat" panose="00000500000000000000" pitchFamily="2" charset="0"/>
                      </a:endParaRPr>
                    </a:p>
                  </a:txBody>
                  <a:tcPr marL="6044" marR="6044" marT="6044" marB="0" anchor="ctr">
                    <a:solidFill>
                      <a:srgbClr val="CAD2C5"/>
                    </a:solidFill>
                  </a:tcPr>
                </a:tc>
                <a:extLst>
                  <a:ext uri="{0D108BD9-81ED-4DB2-BD59-A6C34878D82A}">
                    <a16:rowId xmlns:a16="http://schemas.microsoft.com/office/drawing/2014/main" val="1231510136"/>
                  </a:ext>
                </a:extLst>
              </a:tr>
            </a:tbl>
          </a:graphicData>
        </a:graphic>
      </p:graphicFrame>
    </p:spTree>
    <p:extLst>
      <p:ext uri="{BB962C8B-B14F-4D97-AF65-F5344CB8AC3E}">
        <p14:creationId xmlns:p14="http://schemas.microsoft.com/office/powerpoint/2010/main" val="18380171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149</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85771" y="1347213"/>
            <a:ext cx="11420455" cy="1785104"/>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El análisis de Pareto es una técnica que se utiliza para identificar y priorizar problemas o causas en un proceso, basándose en el principio de que el 80% de los efectos provienen del 20% de las causas.</a:t>
            </a:r>
          </a:p>
          <a:p>
            <a:pPr algn="just">
              <a:spcAft>
                <a:spcPts val="1200"/>
              </a:spcAft>
            </a:pPr>
            <a:r>
              <a:rPr lang="es-ES" sz="2000" dirty="0">
                <a:solidFill>
                  <a:srgbClr val="131D3F"/>
                </a:solidFill>
                <a:latin typeface="Montserrat" panose="00000500000000000000" pitchFamily="2" charset="0"/>
              </a:rPr>
              <a:t>Imaginemos que una empresa de telecomunicaciones ha recopilado datos sobre las quejas de sus clientes durante un trimestre, mismas que se clasifican:</a:t>
            </a:r>
          </a:p>
        </p:txBody>
      </p:sp>
      <p:sp>
        <p:nvSpPr>
          <p:cNvPr id="12" name="Título 3">
            <a:extLst>
              <a:ext uri="{FF2B5EF4-FFF2-40B4-BE49-F238E27FC236}">
                <a16:creationId xmlns:a16="http://schemas.microsoft.com/office/drawing/2014/main" id="{F8EFF695-4D67-4D2F-A794-951A98BE04C3}"/>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3.4 Priorización.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Análisis de Pareto</a:t>
            </a:r>
            <a:endParaRPr lang="es-ES" sz="3600" b="1" dirty="0">
              <a:solidFill>
                <a:srgbClr val="131D3F"/>
              </a:solidFill>
              <a:latin typeface="Montserrat SemiBold" panose="00000700000000000000" pitchFamily="2" charset="0"/>
            </a:endParaRPr>
          </a:p>
        </p:txBody>
      </p:sp>
      <p:graphicFrame>
        <p:nvGraphicFramePr>
          <p:cNvPr id="2" name="Tabla 1">
            <a:extLst>
              <a:ext uri="{FF2B5EF4-FFF2-40B4-BE49-F238E27FC236}">
                <a16:creationId xmlns:a16="http://schemas.microsoft.com/office/drawing/2014/main" id="{FAC68D8F-47C1-48F5-AE39-B9DDA80A3D49}"/>
              </a:ext>
            </a:extLst>
          </p:cNvPr>
          <p:cNvGraphicFramePr>
            <a:graphicFrameLocks noGrp="1"/>
          </p:cNvGraphicFramePr>
          <p:nvPr>
            <p:extLst>
              <p:ext uri="{D42A27DB-BD31-4B8C-83A1-F6EECF244321}">
                <p14:modId xmlns:p14="http://schemas.microsoft.com/office/powerpoint/2010/main" val="3176671769"/>
              </p:ext>
            </p:extLst>
          </p:nvPr>
        </p:nvGraphicFramePr>
        <p:xfrm>
          <a:off x="1259668" y="3218887"/>
          <a:ext cx="9672660" cy="3116580"/>
        </p:xfrm>
        <a:graphic>
          <a:graphicData uri="http://schemas.openxmlformats.org/drawingml/2006/table">
            <a:tbl>
              <a:tblPr>
                <a:tableStyleId>{5C22544A-7EE6-4342-B048-85BDC9FD1C3A}</a:tableStyleId>
              </a:tblPr>
              <a:tblGrid>
                <a:gridCol w="4043957">
                  <a:extLst>
                    <a:ext uri="{9D8B030D-6E8A-4147-A177-3AD203B41FA5}">
                      <a16:colId xmlns:a16="http://schemas.microsoft.com/office/drawing/2014/main" val="2890027798"/>
                    </a:ext>
                  </a:extLst>
                </a:gridCol>
                <a:gridCol w="2041786">
                  <a:extLst>
                    <a:ext uri="{9D8B030D-6E8A-4147-A177-3AD203B41FA5}">
                      <a16:colId xmlns:a16="http://schemas.microsoft.com/office/drawing/2014/main" val="1507141377"/>
                    </a:ext>
                  </a:extLst>
                </a:gridCol>
                <a:gridCol w="1949812">
                  <a:extLst>
                    <a:ext uri="{9D8B030D-6E8A-4147-A177-3AD203B41FA5}">
                      <a16:colId xmlns:a16="http://schemas.microsoft.com/office/drawing/2014/main" val="161414829"/>
                    </a:ext>
                  </a:extLst>
                </a:gridCol>
                <a:gridCol w="1637105">
                  <a:extLst>
                    <a:ext uri="{9D8B030D-6E8A-4147-A177-3AD203B41FA5}">
                      <a16:colId xmlns:a16="http://schemas.microsoft.com/office/drawing/2014/main" val="218431632"/>
                    </a:ext>
                  </a:extLst>
                </a:gridCol>
              </a:tblGrid>
              <a:tr h="197634">
                <a:tc>
                  <a:txBody>
                    <a:bodyPr/>
                    <a:lstStyle/>
                    <a:p>
                      <a:pPr algn="ctr" fontAlgn="ctr"/>
                      <a:r>
                        <a:rPr lang="es-MX" sz="2000" b="1" u="none" strike="noStrike" dirty="0">
                          <a:solidFill>
                            <a:schemeClr val="bg1"/>
                          </a:solidFill>
                          <a:effectLst/>
                          <a:latin typeface="Montserrat" panose="00000500000000000000" pitchFamily="2" charset="0"/>
                        </a:rPr>
                        <a:t>Tipo de Queja</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tc>
                  <a:txBody>
                    <a:bodyPr/>
                    <a:lstStyle/>
                    <a:p>
                      <a:pPr algn="ctr" fontAlgn="ctr"/>
                      <a:r>
                        <a:rPr lang="es-MX" sz="2000" b="1" u="none" strike="noStrike" dirty="0">
                          <a:solidFill>
                            <a:schemeClr val="bg1"/>
                          </a:solidFill>
                          <a:effectLst/>
                          <a:latin typeface="Montserrat" panose="00000500000000000000" pitchFamily="2" charset="0"/>
                        </a:rPr>
                        <a:t>Frecuencia</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tc>
                  <a:txBody>
                    <a:bodyPr/>
                    <a:lstStyle/>
                    <a:p>
                      <a:pPr algn="ctr" fontAlgn="ctr"/>
                      <a:r>
                        <a:rPr lang="es-MX" sz="2000" b="1" u="none" strike="noStrike" dirty="0">
                          <a:solidFill>
                            <a:schemeClr val="bg1"/>
                          </a:solidFill>
                          <a:effectLst/>
                          <a:latin typeface="Montserrat" panose="00000500000000000000" pitchFamily="2" charset="0"/>
                        </a:rPr>
                        <a:t>Porcentaje </a:t>
                      </a:r>
                    </a:p>
                    <a:p>
                      <a:pPr algn="ctr" fontAlgn="ctr"/>
                      <a:r>
                        <a:rPr lang="es-MX" sz="2000" b="1" u="none" strike="noStrike" dirty="0">
                          <a:solidFill>
                            <a:schemeClr val="bg1"/>
                          </a:solidFill>
                          <a:effectLst/>
                          <a:latin typeface="Montserrat" panose="00000500000000000000" pitchFamily="2" charset="0"/>
                        </a:rPr>
                        <a:t>(%)</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tc>
                  <a:txBody>
                    <a:bodyPr/>
                    <a:lstStyle/>
                    <a:p>
                      <a:pPr algn="ctr" fontAlgn="ctr"/>
                      <a:r>
                        <a:rPr lang="es-MX" sz="2000" b="1" u="none" strike="noStrike" dirty="0">
                          <a:solidFill>
                            <a:schemeClr val="bg1"/>
                          </a:solidFill>
                          <a:effectLst/>
                          <a:latin typeface="Montserrat" panose="00000500000000000000" pitchFamily="2" charset="0"/>
                        </a:rPr>
                        <a:t>Acumulado </a:t>
                      </a:r>
                    </a:p>
                    <a:p>
                      <a:pPr algn="ctr" fontAlgn="ctr"/>
                      <a:r>
                        <a:rPr lang="es-MX" sz="2000" b="1" u="none" strike="noStrike" dirty="0">
                          <a:solidFill>
                            <a:schemeClr val="bg1"/>
                          </a:solidFill>
                          <a:effectLst/>
                          <a:latin typeface="Montserrat" panose="00000500000000000000" pitchFamily="2" charset="0"/>
                        </a:rPr>
                        <a:t>(%)</a:t>
                      </a:r>
                      <a:endParaRPr lang="es-MX" sz="2000" b="1" i="0" u="none" strike="noStrike" dirty="0">
                        <a:solidFill>
                          <a:schemeClr val="bg1"/>
                        </a:solidFill>
                        <a:effectLst/>
                        <a:latin typeface="Montserrat" panose="00000500000000000000" pitchFamily="2" charset="0"/>
                      </a:endParaRPr>
                    </a:p>
                  </a:txBody>
                  <a:tcPr marL="7620" marR="7620" marT="7620" marB="0" anchor="ctr">
                    <a:solidFill>
                      <a:srgbClr val="2F3E46"/>
                    </a:solidFill>
                  </a:tcPr>
                </a:tc>
                <a:extLst>
                  <a:ext uri="{0D108BD9-81ED-4DB2-BD59-A6C34878D82A}">
                    <a16:rowId xmlns:a16="http://schemas.microsoft.com/office/drawing/2014/main" val="4062674781"/>
                  </a:ext>
                </a:extLst>
              </a:tr>
              <a:tr h="296451">
                <a:tc>
                  <a:txBody>
                    <a:bodyPr/>
                    <a:lstStyle/>
                    <a:p>
                      <a:pPr algn="l" fontAlgn="ctr"/>
                      <a:r>
                        <a:rPr lang="es-MX" sz="2000" u="none" strike="noStrike" dirty="0">
                          <a:effectLst/>
                          <a:latin typeface="Montserrat" panose="00000500000000000000" pitchFamily="2" charset="0"/>
                        </a:rPr>
                        <a:t>Problemas de facturación</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dirty="0">
                          <a:solidFill>
                            <a:srgbClr val="000000"/>
                          </a:solidFill>
                          <a:effectLst/>
                          <a:latin typeface="Montserrat" panose="00000500000000000000" pitchFamily="2" charset="0"/>
                        </a:rPr>
                        <a:t>180</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41.00%</a:t>
                      </a:r>
                    </a:p>
                  </a:txBody>
                  <a:tcPr marL="7620" marR="54000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41.00%</a:t>
                      </a:r>
                    </a:p>
                  </a:txBody>
                  <a:tcPr marL="7620" marR="324000" marT="7620" marB="0" anchor="ctr">
                    <a:solidFill>
                      <a:srgbClr val="CAD2C5"/>
                    </a:solidFill>
                  </a:tcPr>
                </a:tc>
                <a:extLst>
                  <a:ext uri="{0D108BD9-81ED-4DB2-BD59-A6C34878D82A}">
                    <a16:rowId xmlns:a16="http://schemas.microsoft.com/office/drawing/2014/main" val="1108245790"/>
                  </a:ext>
                </a:extLst>
              </a:tr>
              <a:tr h="197634">
                <a:tc>
                  <a:txBody>
                    <a:bodyPr/>
                    <a:lstStyle/>
                    <a:p>
                      <a:pPr algn="l" fontAlgn="ctr"/>
                      <a:r>
                        <a:rPr lang="es-MX" sz="2000" u="none" strike="noStrike" dirty="0">
                          <a:effectLst/>
                          <a:latin typeface="Montserrat" panose="00000500000000000000" pitchFamily="2" charset="0"/>
                        </a:rPr>
                        <a:t>Mal servicio al cliente</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dirty="0">
                          <a:solidFill>
                            <a:srgbClr val="000000"/>
                          </a:solidFill>
                          <a:effectLst/>
                          <a:latin typeface="Montserrat" panose="00000500000000000000" pitchFamily="2" charset="0"/>
                        </a:rPr>
                        <a:t>165</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37.59%</a:t>
                      </a:r>
                    </a:p>
                  </a:txBody>
                  <a:tcPr marL="7620" marR="54000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78.59%</a:t>
                      </a:r>
                    </a:p>
                  </a:txBody>
                  <a:tcPr marL="7620" marR="324000" marT="7620" marB="0" anchor="ctr">
                    <a:solidFill>
                      <a:srgbClr val="CAD2C5"/>
                    </a:solidFill>
                  </a:tcPr>
                </a:tc>
                <a:extLst>
                  <a:ext uri="{0D108BD9-81ED-4DB2-BD59-A6C34878D82A}">
                    <a16:rowId xmlns:a16="http://schemas.microsoft.com/office/drawing/2014/main" val="3412224936"/>
                  </a:ext>
                </a:extLst>
              </a:tr>
              <a:tr h="296451">
                <a:tc>
                  <a:txBody>
                    <a:bodyPr/>
                    <a:lstStyle/>
                    <a:p>
                      <a:pPr algn="l" fontAlgn="ctr"/>
                      <a:r>
                        <a:rPr lang="es-MX" sz="2000" u="none" strike="noStrike">
                          <a:effectLst/>
                          <a:latin typeface="Montserrat" panose="00000500000000000000" pitchFamily="2" charset="0"/>
                        </a:rPr>
                        <a:t>Conexiones interrumpidas</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a:solidFill>
                            <a:srgbClr val="000000"/>
                          </a:solidFill>
                          <a:effectLst/>
                          <a:latin typeface="Montserrat" panose="00000500000000000000" pitchFamily="2" charset="0"/>
                        </a:rPr>
                        <a:t>26</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5.92%</a:t>
                      </a:r>
                    </a:p>
                  </a:txBody>
                  <a:tcPr marL="7620" marR="540000" marT="7620" marB="0" anchor="ctr">
                    <a:solidFill>
                      <a:srgbClr val="CAD2C5"/>
                    </a:solidFill>
                  </a:tcPr>
                </a:tc>
                <a:tc>
                  <a:txBody>
                    <a:bodyPr/>
                    <a:lstStyle/>
                    <a:p>
                      <a:pPr lvl="0" algn="r" fontAlgn="ctr"/>
                      <a:r>
                        <a:rPr lang="es-MX" sz="2000" b="0" i="0" u="none" strike="noStrike">
                          <a:solidFill>
                            <a:srgbClr val="000000"/>
                          </a:solidFill>
                          <a:effectLst/>
                          <a:latin typeface="Montserrat" panose="00000500000000000000" pitchFamily="2" charset="0"/>
                        </a:rPr>
                        <a:t>84.51%</a:t>
                      </a:r>
                    </a:p>
                  </a:txBody>
                  <a:tcPr marL="7620" marR="324000" marT="7620" marB="0" anchor="ctr">
                    <a:solidFill>
                      <a:srgbClr val="CAD2C5"/>
                    </a:solidFill>
                  </a:tcPr>
                </a:tc>
                <a:extLst>
                  <a:ext uri="{0D108BD9-81ED-4DB2-BD59-A6C34878D82A}">
                    <a16:rowId xmlns:a16="http://schemas.microsoft.com/office/drawing/2014/main" val="272613559"/>
                  </a:ext>
                </a:extLst>
              </a:tr>
              <a:tr h="296451">
                <a:tc>
                  <a:txBody>
                    <a:bodyPr/>
                    <a:lstStyle/>
                    <a:p>
                      <a:pPr algn="l" fontAlgn="ctr"/>
                      <a:r>
                        <a:rPr lang="es-MX" sz="2000" u="none" strike="noStrike">
                          <a:effectLst/>
                          <a:latin typeface="Montserrat" panose="00000500000000000000" pitchFamily="2" charset="0"/>
                        </a:rPr>
                        <a:t>Largas esperas en atención</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a:solidFill>
                            <a:srgbClr val="000000"/>
                          </a:solidFill>
                          <a:effectLst/>
                          <a:latin typeface="Montserrat" panose="00000500000000000000" pitchFamily="2" charset="0"/>
                        </a:rPr>
                        <a:t>20</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4.56%</a:t>
                      </a:r>
                    </a:p>
                  </a:txBody>
                  <a:tcPr marL="7620" marR="54000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89.07%</a:t>
                      </a:r>
                    </a:p>
                  </a:txBody>
                  <a:tcPr marL="7620" marR="324000" marT="7620" marB="0" anchor="ctr">
                    <a:solidFill>
                      <a:srgbClr val="CAD2C5"/>
                    </a:solidFill>
                  </a:tcPr>
                </a:tc>
                <a:extLst>
                  <a:ext uri="{0D108BD9-81ED-4DB2-BD59-A6C34878D82A}">
                    <a16:rowId xmlns:a16="http://schemas.microsoft.com/office/drawing/2014/main" val="2530441650"/>
                  </a:ext>
                </a:extLst>
              </a:tr>
              <a:tr h="296451">
                <a:tc>
                  <a:txBody>
                    <a:bodyPr/>
                    <a:lstStyle/>
                    <a:p>
                      <a:pPr algn="l" fontAlgn="ctr"/>
                      <a:r>
                        <a:rPr lang="es-MX" sz="2000" u="none" strike="noStrike">
                          <a:effectLst/>
                          <a:latin typeface="Montserrat" panose="00000500000000000000" pitchFamily="2" charset="0"/>
                        </a:rPr>
                        <a:t>Problemas de instalación</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a:solidFill>
                            <a:srgbClr val="000000"/>
                          </a:solidFill>
                          <a:effectLst/>
                          <a:latin typeface="Montserrat" panose="00000500000000000000" pitchFamily="2" charset="0"/>
                        </a:rPr>
                        <a:t>19</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4.33%</a:t>
                      </a:r>
                    </a:p>
                  </a:txBody>
                  <a:tcPr marL="7620" marR="540000" marT="7620" marB="0" anchor="ctr">
                    <a:solidFill>
                      <a:srgbClr val="CAD2C5"/>
                    </a:solidFill>
                  </a:tcPr>
                </a:tc>
                <a:tc>
                  <a:txBody>
                    <a:bodyPr/>
                    <a:lstStyle/>
                    <a:p>
                      <a:pPr lvl="0" algn="r" fontAlgn="ctr"/>
                      <a:r>
                        <a:rPr lang="es-MX" sz="2000" b="0" i="0" u="none" strike="noStrike">
                          <a:solidFill>
                            <a:srgbClr val="000000"/>
                          </a:solidFill>
                          <a:effectLst/>
                          <a:latin typeface="Montserrat" panose="00000500000000000000" pitchFamily="2" charset="0"/>
                        </a:rPr>
                        <a:t>93.39%</a:t>
                      </a:r>
                    </a:p>
                  </a:txBody>
                  <a:tcPr marL="7620" marR="324000" marT="7620" marB="0" anchor="ctr">
                    <a:solidFill>
                      <a:srgbClr val="CAD2C5"/>
                    </a:solidFill>
                  </a:tcPr>
                </a:tc>
                <a:extLst>
                  <a:ext uri="{0D108BD9-81ED-4DB2-BD59-A6C34878D82A}">
                    <a16:rowId xmlns:a16="http://schemas.microsoft.com/office/drawing/2014/main" val="3959948532"/>
                  </a:ext>
                </a:extLst>
              </a:tr>
              <a:tr h="197634">
                <a:tc>
                  <a:txBody>
                    <a:bodyPr/>
                    <a:lstStyle/>
                    <a:p>
                      <a:pPr algn="l" fontAlgn="ctr"/>
                      <a:r>
                        <a:rPr lang="es-MX" sz="2000" u="none" strike="noStrike">
                          <a:effectLst/>
                          <a:latin typeface="Montserrat" panose="00000500000000000000" pitchFamily="2" charset="0"/>
                        </a:rPr>
                        <a:t>Falta de seguimiento</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a:solidFill>
                            <a:srgbClr val="000000"/>
                          </a:solidFill>
                          <a:effectLst/>
                          <a:latin typeface="Montserrat" panose="00000500000000000000" pitchFamily="2" charset="0"/>
                        </a:rPr>
                        <a:t>12</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2.73%</a:t>
                      </a:r>
                    </a:p>
                  </a:txBody>
                  <a:tcPr marL="7620" marR="54000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96.13%</a:t>
                      </a:r>
                    </a:p>
                  </a:txBody>
                  <a:tcPr marL="7620" marR="324000" marT="7620" marB="0" anchor="ctr">
                    <a:solidFill>
                      <a:srgbClr val="CAD2C5"/>
                    </a:solidFill>
                  </a:tcPr>
                </a:tc>
                <a:extLst>
                  <a:ext uri="{0D108BD9-81ED-4DB2-BD59-A6C34878D82A}">
                    <a16:rowId xmlns:a16="http://schemas.microsoft.com/office/drawing/2014/main" val="3593649788"/>
                  </a:ext>
                </a:extLst>
              </a:tr>
              <a:tr h="296451">
                <a:tc>
                  <a:txBody>
                    <a:bodyPr/>
                    <a:lstStyle/>
                    <a:p>
                      <a:pPr algn="l" fontAlgn="ctr"/>
                      <a:r>
                        <a:rPr lang="es-MX" sz="2000" u="none" strike="noStrike">
                          <a:effectLst/>
                          <a:latin typeface="Montserrat" panose="00000500000000000000" pitchFamily="2" charset="0"/>
                        </a:rPr>
                        <a:t>Aplicación móvil ineficiente</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a:solidFill>
                            <a:srgbClr val="000000"/>
                          </a:solidFill>
                          <a:effectLst/>
                          <a:latin typeface="Montserrat" panose="00000500000000000000" pitchFamily="2" charset="0"/>
                        </a:rPr>
                        <a:t>9</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2.05%</a:t>
                      </a:r>
                    </a:p>
                  </a:txBody>
                  <a:tcPr marL="7620" marR="54000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98.18%</a:t>
                      </a:r>
                    </a:p>
                  </a:txBody>
                  <a:tcPr marL="7620" marR="324000" marT="7620" marB="0" anchor="ctr">
                    <a:solidFill>
                      <a:srgbClr val="CAD2C5"/>
                    </a:solidFill>
                  </a:tcPr>
                </a:tc>
                <a:extLst>
                  <a:ext uri="{0D108BD9-81ED-4DB2-BD59-A6C34878D82A}">
                    <a16:rowId xmlns:a16="http://schemas.microsoft.com/office/drawing/2014/main" val="3709402567"/>
                  </a:ext>
                </a:extLst>
              </a:tr>
              <a:tr h="98817">
                <a:tc>
                  <a:txBody>
                    <a:bodyPr/>
                    <a:lstStyle/>
                    <a:p>
                      <a:pPr algn="l" fontAlgn="ctr"/>
                      <a:r>
                        <a:rPr lang="es-MX" sz="2000" u="none" strike="noStrike">
                          <a:effectLst/>
                          <a:latin typeface="Montserrat" panose="00000500000000000000" pitchFamily="2" charset="0"/>
                        </a:rPr>
                        <a:t>Otros</a:t>
                      </a:r>
                      <a:endParaRPr lang="es-MX" sz="2000" b="0" i="0" u="none" strike="noStrike">
                        <a:solidFill>
                          <a:srgbClr val="000000"/>
                        </a:solidFill>
                        <a:effectLst/>
                        <a:latin typeface="Montserrat" panose="00000500000000000000" pitchFamily="2" charset="0"/>
                      </a:endParaRPr>
                    </a:p>
                  </a:txBody>
                  <a:tcPr marL="7620" marR="7620" marT="7620" marB="0" anchor="ctr">
                    <a:solidFill>
                      <a:srgbClr val="CAD2C5"/>
                    </a:solidFill>
                  </a:tcPr>
                </a:tc>
                <a:tc>
                  <a:txBody>
                    <a:bodyPr/>
                    <a:lstStyle/>
                    <a:p>
                      <a:pPr algn="ctr" fontAlgn="ctr"/>
                      <a:r>
                        <a:rPr lang="es-MX" sz="2000" b="0" i="0" u="none" strike="noStrike" dirty="0">
                          <a:solidFill>
                            <a:srgbClr val="000000"/>
                          </a:solidFill>
                          <a:effectLst/>
                          <a:latin typeface="Montserrat" panose="00000500000000000000" pitchFamily="2" charset="0"/>
                        </a:rPr>
                        <a:t>8</a:t>
                      </a:r>
                    </a:p>
                  </a:txBody>
                  <a:tcPr marL="7620" marR="762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1.82%</a:t>
                      </a:r>
                    </a:p>
                  </a:txBody>
                  <a:tcPr marL="7620" marR="540000" marT="7620" marB="0" anchor="ctr">
                    <a:solidFill>
                      <a:srgbClr val="CAD2C5"/>
                    </a:solidFill>
                  </a:tcPr>
                </a:tc>
                <a:tc>
                  <a:txBody>
                    <a:bodyPr/>
                    <a:lstStyle/>
                    <a:p>
                      <a:pPr lvl="0" algn="r" fontAlgn="ctr"/>
                      <a:r>
                        <a:rPr lang="es-MX" sz="2000" b="0" i="0" u="none" strike="noStrike" dirty="0">
                          <a:solidFill>
                            <a:srgbClr val="000000"/>
                          </a:solidFill>
                          <a:effectLst/>
                          <a:latin typeface="Montserrat" panose="00000500000000000000" pitchFamily="2" charset="0"/>
                        </a:rPr>
                        <a:t>100.00%</a:t>
                      </a:r>
                    </a:p>
                  </a:txBody>
                  <a:tcPr marL="7620" marR="324000" marT="7620" marB="0" anchor="ctr">
                    <a:solidFill>
                      <a:srgbClr val="CAD2C5"/>
                    </a:solidFill>
                  </a:tcPr>
                </a:tc>
                <a:extLst>
                  <a:ext uri="{0D108BD9-81ED-4DB2-BD59-A6C34878D82A}">
                    <a16:rowId xmlns:a16="http://schemas.microsoft.com/office/drawing/2014/main" val="1445887731"/>
                  </a:ext>
                </a:extLst>
              </a:tr>
            </a:tbl>
          </a:graphicData>
        </a:graphic>
      </p:graphicFrame>
    </p:spTree>
    <p:extLst>
      <p:ext uri="{BB962C8B-B14F-4D97-AF65-F5344CB8AC3E}">
        <p14:creationId xmlns:p14="http://schemas.microsoft.com/office/powerpoint/2010/main" val="18062561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150</a:t>
            </a:fld>
            <a:endParaRPr lang="es-MX" sz="1800" b="1" dirty="0">
              <a:solidFill>
                <a:srgbClr val="BA955B"/>
              </a:solidFill>
              <a:latin typeface="Montserrat SemiBold" panose="00000700000000000000" pitchFamily="2" charset="0"/>
            </a:endParaRPr>
          </a:p>
        </p:txBody>
      </p:sp>
      <p:sp>
        <p:nvSpPr>
          <p:cNvPr id="12" name="Título 3">
            <a:extLst>
              <a:ext uri="{FF2B5EF4-FFF2-40B4-BE49-F238E27FC236}">
                <a16:creationId xmlns:a16="http://schemas.microsoft.com/office/drawing/2014/main" id="{F8EFF695-4D67-4D2F-A794-951A98BE04C3}"/>
              </a:ext>
            </a:extLst>
          </p:cNvPr>
          <p:cNvSpPr txBox="1">
            <a:spLocks/>
          </p:cNvSpPr>
          <p:nvPr/>
        </p:nvSpPr>
        <p:spPr>
          <a:xfrm>
            <a:off x="817880" y="433081"/>
            <a:ext cx="9617592" cy="90470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3.4 Priorización.</a:t>
            </a:r>
          </a:p>
          <a:p>
            <a:r>
              <a:rPr lang="es-ES" sz="3600" b="1" dirty="0">
                <a:solidFill>
                  <a:srgbClr val="131D3F"/>
                </a:solidFill>
                <a:latin typeface="Montserrat SemiBold" panose="00000700000000000000" pitchFamily="2" charset="0"/>
              </a:rPr>
              <a:t>	</a:t>
            </a:r>
            <a:r>
              <a:rPr lang="es-ES" sz="2600" b="1" dirty="0">
                <a:solidFill>
                  <a:srgbClr val="131D3F"/>
                </a:solidFill>
                <a:latin typeface="Montserrat SemiBold" panose="00000700000000000000" pitchFamily="2" charset="0"/>
              </a:rPr>
              <a:t> Análisis de Pareto</a:t>
            </a:r>
            <a:endParaRPr lang="es-ES" sz="3600" b="1" dirty="0">
              <a:solidFill>
                <a:srgbClr val="131D3F"/>
              </a:solidFill>
              <a:latin typeface="Montserrat SemiBold" panose="00000700000000000000" pitchFamily="2" charset="0"/>
            </a:endParaRPr>
          </a:p>
        </p:txBody>
      </p:sp>
      <p:graphicFrame>
        <p:nvGraphicFramePr>
          <p:cNvPr id="10" name="Gráfico 9">
            <a:extLst>
              <a:ext uri="{FF2B5EF4-FFF2-40B4-BE49-F238E27FC236}">
                <a16:creationId xmlns:a16="http://schemas.microsoft.com/office/drawing/2014/main" id="{B02BDCB1-4A8F-4CBA-8254-3498A74CAC10}"/>
              </a:ext>
            </a:extLst>
          </p:cNvPr>
          <p:cNvGraphicFramePr>
            <a:graphicFrameLocks/>
          </p:cNvGraphicFramePr>
          <p:nvPr>
            <p:extLst>
              <p:ext uri="{D42A27DB-BD31-4B8C-83A1-F6EECF244321}">
                <p14:modId xmlns:p14="http://schemas.microsoft.com/office/powerpoint/2010/main" val="2862393540"/>
              </p:ext>
            </p:extLst>
          </p:nvPr>
        </p:nvGraphicFramePr>
        <p:xfrm>
          <a:off x="817880" y="1630017"/>
          <a:ext cx="10731390" cy="436751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350353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151</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85772" y="1582340"/>
            <a:ext cx="11420455" cy="3693319"/>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Las decisiones bajo riesgo se refieren a situaciones en las que se debe elegir entre diferentes alternativas, cada una de las cuales tiene un resultado incierto y asociado a probabilidades específicas. </a:t>
            </a:r>
          </a:p>
          <a:p>
            <a:pPr algn="just">
              <a:spcAft>
                <a:spcPts val="1200"/>
              </a:spcAft>
            </a:pPr>
            <a:r>
              <a:rPr lang="es-ES" sz="2800" dirty="0">
                <a:solidFill>
                  <a:srgbClr val="131D3F"/>
                </a:solidFill>
                <a:latin typeface="Montserrat" panose="00000500000000000000" pitchFamily="2" charset="0"/>
              </a:rPr>
              <a:t>A diferencia de las decisiones bajo certeza, donde los resultados son conocidos, o bajo incertidumbre, donde no se conocen las probabilidades, </a:t>
            </a:r>
            <a:r>
              <a:rPr lang="es-ES" sz="2800" b="1" dirty="0">
                <a:solidFill>
                  <a:srgbClr val="131D3F"/>
                </a:solidFill>
                <a:latin typeface="Montserrat" panose="00000500000000000000" pitchFamily="2" charset="0"/>
              </a:rPr>
              <a:t>las decisiones bajo riesgo permiten cuantificar la probabilidad de cada resultado</a:t>
            </a:r>
            <a:r>
              <a:rPr lang="es-ES" sz="2800" dirty="0">
                <a:solidFill>
                  <a:srgbClr val="131D3F"/>
                </a:solidFill>
                <a:latin typeface="Montserrat" panose="00000500000000000000" pitchFamily="2" charset="0"/>
              </a:rPr>
              <a:t>.</a:t>
            </a:r>
          </a:p>
        </p:txBody>
      </p:sp>
      <p:sp>
        <p:nvSpPr>
          <p:cNvPr id="12" name="Título 3">
            <a:extLst>
              <a:ext uri="{FF2B5EF4-FFF2-40B4-BE49-F238E27FC236}">
                <a16:creationId xmlns:a16="http://schemas.microsoft.com/office/drawing/2014/main" id="{F8EFF695-4D67-4D2F-A794-951A98BE04C3}"/>
              </a:ext>
            </a:extLst>
          </p:cNvPr>
          <p:cNvSpPr txBox="1">
            <a:spLocks/>
          </p:cNvSpPr>
          <p:nvPr/>
        </p:nvSpPr>
        <p:spPr>
          <a:xfrm>
            <a:off x="817880" y="433081"/>
            <a:ext cx="9617592" cy="9047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p>
        </p:txBody>
      </p:sp>
    </p:spTree>
    <p:extLst>
      <p:ext uri="{BB962C8B-B14F-4D97-AF65-F5344CB8AC3E}">
        <p14:creationId xmlns:p14="http://schemas.microsoft.com/office/powerpoint/2010/main" val="282961155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152</a:t>
            </a:fld>
            <a:endParaRPr lang="es-MX" sz="1800" b="1" dirty="0">
              <a:solidFill>
                <a:srgbClr val="BA955B"/>
              </a:solidFill>
              <a:latin typeface="Montserrat SemiBold" panose="00000700000000000000" pitchFamily="2"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1F1EAE8-0C29-47E9-86C8-97E4555A541F}"/>
                  </a:ext>
                </a:extLst>
              </p:cNvPr>
              <p:cNvSpPr txBox="1"/>
              <p:nvPr/>
            </p:nvSpPr>
            <p:spPr>
              <a:xfrm>
                <a:off x="385772" y="1751305"/>
                <a:ext cx="11420455" cy="4308872"/>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Valor Esperado: </a:t>
                </a:r>
                <a:r>
                  <a:rPr lang="es-ES" sz="2000" dirty="0">
                    <a:solidFill>
                      <a:srgbClr val="131D3F"/>
                    </a:solidFill>
                    <a:latin typeface="Montserrat" panose="00000500000000000000" pitchFamily="2" charset="0"/>
                  </a:rPr>
                  <a:t>Se calcula el valor esperado (EV) de cada alternativa multiplicando la probabilidad de cada resultado por su valor asociado y sumando estos productos.</a:t>
                </a:r>
              </a:p>
              <a:p>
                <a:pPr algn="just">
                  <a:spcAft>
                    <a:spcPts val="1200"/>
                  </a:spcAft>
                </a:pPr>
                <a:r>
                  <a:rPr lang="es-ES" sz="2000" dirty="0">
                    <a:solidFill>
                      <a:srgbClr val="131D3F"/>
                    </a:solidFill>
                    <a:latin typeface="Montserrat" panose="00000500000000000000" pitchFamily="2" charset="0"/>
                  </a:rPr>
                  <a:t>Fórmula: </a:t>
                </a:r>
                <a14:m>
                  <m:oMath xmlns:m="http://schemas.openxmlformats.org/officeDocument/2006/math">
                    <m:r>
                      <a:rPr lang="es-ES" sz="2400" i="1" dirty="0" smtClean="0">
                        <a:solidFill>
                          <a:srgbClr val="131D3F"/>
                        </a:solidFill>
                        <a:latin typeface="Cambria Math" panose="02040503050406030204" pitchFamily="18" charset="0"/>
                      </a:rPr>
                      <m:t>𝐸𝑉</m:t>
                    </m:r>
                    <m:r>
                      <a:rPr lang="es-ES" sz="2400" i="1" dirty="0" smtClean="0">
                        <a:solidFill>
                          <a:srgbClr val="131D3F"/>
                        </a:solidFill>
                        <a:latin typeface="Cambria Math" panose="02040503050406030204" pitchFamily="18" charset="0"/>
                      </a:rPr>
                      <m:t>=∑(</m:t>
                    </m:r>
                    <m:r>
                      <a:rPr lang="es-ES" sz="2400" i="1" dirty="0" smtClean="0">
                        <a:solidFill>
                          <a:srgbClr val="131D3F"/>
                        </a:solidFill>
                        <a:latin typeface="Cambria Math" panose="02040503050406030204" pitchFamily="18" charset="0"/>
                      </a:rPr>
                      <m:t>𝑃𝑖</m:t>
                    </m:r>
                    <m:r>
                      <a:rPr lang="es-ES" sz="2400" i="1" dirty="0" smtClean="0">
                        <a:solidFill>
                          <a:srgbClr val="131D3F"/>
                        </a:solidFill>
                        <a:latin typeface="Cambria Math" panose="02040503050406030204" pitchFamily="18" charset="0"/>
                      </a:rPr>
                      <m:t>×</m:t>
                    </m:r>
                    <m:r>
                      <a:rPr lang="es-ES" sz="2400" i="1" dirty="0" smtClean="0">
                        <a:solidFill>
                          <a:srgbClr val="131D3F"/>
                        </a:solidFill>
                        <a:latin typeface="Cambria Math" panose="02040503050406030204" pitchFamily="18" charset="0"/>
                      </a:rPr>
                      <m:t>𝑉𝑖</m:t>
                    </m:r>
                    <m:r>
                      <a:rPr lang="es-ES" sz="2400" i="1" dirty="0" smtClean="0">
                        <a:solidFill>
                          <a:srgbClr val="131D3F"/>
                        </a:solidFill>
                        <a:latin typeface="Cambria Math" panose="02040503050406030204" pitchFamily="18" charset="0"/>
                      </a:rPr>
                      <m:t>) </m:t>
                    </m:r>
                  </m:oMath>
                </a14:m>
                <a:endParaRPr lang="es-ES" sz="2400" dirty="0">
                  <a:solidFill>
                    <a:srgbClr val="131D3F"/>
                  </a:solidFill>
                  <a:latin typeface="Montserrat" panose="00000500000000000000" pitchFamily="2" charset="0"/>
                </a:endParaRPr>
              </a:p>
              <a:p>
                <a:pPr algn="just">
                  <a:spcAft>
                    <a:spcPts val="1200"/>
                  </a:spcAft>
                </a:pPr>
                <a:r>
                  <a:rPr lang="es-ES" sz="2000" dirty="0">
                    <a:solidFill>
                      <a:srgbClr val="131D3F"/>
                    </a:solidFill>
                    <a:latin typeface="Montserrat" panose="00000500000000000000" pitchFamily="2" charset="0"/>
                  </a:rPr>
                  <a:t>donde 𝑃𝑖 es la probabilidad del resultado 𝑖 y 𝑉𝑖 es el valor del resultado 𝑖.</a:t>
                </a:r>
              </a:p>
              <a:p>
                <a:pPr algn="just">
                  <a:spcAft>
                    <a:spcPts val="1200"/>
                  </a:spcAft>
                </a:pPr>
                <a:r>
                  <a:rPr lang="es-ES" sz="2000" b="1" dirty="0">
                    <a:solidFill>
                      <a:srgbClr val="131D3F"/>
                    </a:solidFill>
                    <a:latin typeface="Montserrat" panose="00000500000000000000" pitchFamily="2" charset="0"/>
                  </a:rPr>
                  <a:t>Análisis de Sensibilidad: </a:t>
                </a:r>
                <a:r>
                  <a:rPr lang="es-ES" sz="2000" dirty="0">
                    <a:solidFill>
                      <a:srgbClr val="131D3F"/>
                    </a:solidFill>
                    <a:latin typeface="Montserrat" panose="00000500000000000000" pitchFamily="2" charset="0"/>
                  </a:rPr>
                  <a:t>Permite evaluar cómo cambian los resultados ante variaciones en las probabilidades o en los valores asociados.</a:t>
                </a:r>
              </a:p>
              <a:p>
                <a:pPr algn="just">
                  <a:spcAft>
                    <a:spcPts val="1200"/>
                  </a:spcAft>
                </a:pPr>
                <a:r>
                  <a:rPr lang="es-ES" sz="2000" b="1" dirty="0">
                    <a:solidFill>
                      <a:srgbClr val="131D3F"/>
                    </a:solidFill>
                    <a:latin typeface="Montserrat" panose="00000500000000000000" pitchFamily="2" charset="0"/>
                  </a:rPr>
                  <a:t>Árboles de Decisión: </a:t>
                </a:r>
                <a:r>
                  <a:rPr lang="es-ES" sz="2000" dirty="0">
                    <a:solidFill>
                      <a:srgbClr val="131D3F"/>
                    </a:solidFill>
                    <a:latin typeface="Montserrat" panose="00000500000000000000" pitchFamily="2" charset="0"/>
                  </a:rPr>
                  <a:t>Representaciones gráficas que ilustran las diferentes alternativas, sus resultados y las probabilidades asociadas. Ayudan a visualizar el problema y a calcular el valor esperado.</a:t>
                </a:r>
              </a:p>
              <a:p>
                <a:pPr algn="just">
                  <a:spcAft>
                    <a:spcPts val="1200"/>
                  </a:spcAft>
                </a:pPr>
                <a:r>
                  <a:rPr lang="es-ES" sz="2000" b="1" dirty="0">
                    <a:solidFill>
                      <a:srgbClr val="131D3F"/>
                    </a:solidFill>
                    <a:latin typeface="Montserrat" panose="00000500000000000000" pitchFamily="2" charset="0"/>
                  </a:rPr>
                  <a:t>Análisis de Riesgo: </a:t>
                </a:r>
                <a:r>
                  <a:rPr lang="es-ES" sz="2000" dirty="0">
                    <a:solidFill>
                      <a:srgbClr val="131D3F"/>
                    </a:solidFill>
                    <a:latin typeface="Montserrat" panose="00000500000000000000" pitchFamily="2" charset="0"/>
                  </a:rPr>
                  <a:t>Evaluar los riesgos potenciales y sus impactos, así como la forma de mitigarlos.</a:t>
                </a:r>
              </a:p>
            </p:txBody>
          </p:sp>
        </mc:Choice>
        <mc:Fallback xmlns="">
          <p:sp>
            <p:nvSpPr>
              <p:cNvPr id="14" name="CuadroTexto 13">
                <a:extLst>
                  <a:ext uri="{FF2B5EF4-FFF2-40B4-BE49-F238E27FC236}">
                    <a16:creationId xmlns:a16="http://schemas.microsoft.com/office/drawing/2014/main" id="{A1F1EAE8-0C29-47E9-86C8-97E4555A541F}"/>
                  </a:ext>
                </a:extLst>
              </p:cNvPr>
              <p:cNvSpPr txBox="1">
                <a:spLocks noRot="1" noChangeAspect="1" noMove="1" noResize="1" noEditPoints="1" noAdjustHandles="1" noChangeArrowheads="1" noChangeShapeType="1" noTextEdit="1"/>
              </p:cNvSpPr>
              <p:nvPr/>
            </p:nvSpPr>
            <p:spPr>
              <a:xfrm>
                <a:off x="385772" y="1751305"/>
                <a:ext cx="11420455" cy="4308872"/>
              </a:xfrm>
              <a:prstGeom prst="rect">
                <a:avLst/>
              </a:prstGeom>
              <a:blipFill>
                <a:blip r:embed="rId5"/>
                <a:stretch>
                  <a:fillRect l="-534" t="-566" r="-534" b="-1697"/>
                </a:stretch>
              </a:blipFill>
            </p:spPr>
            <p:txBody>
              <a:bodyPr/>
              <a:lstStyle/>
              <a:p>
                <a:r>
                  <a:rPr lang="es-MX">
                    <a:noFill/>
                  </a:rPr>
                  <a:t> </a:t>
                </a:r>
              </a:p>
            </p:txBody>
          </p:sp>
        </mc:Fallback>
      </mc:AlternateContent>
      <p:sp>
        <p:nvSpPr>
          <p:cNvPr id="12" name="Título 3">
            <a:extLst>
              <a:ext uri="{FF2B5EF4-FFF2-40B4-BE49-F238E27FC236}">
                <a16:creationId xmlns:a16="http://schemas.microsoft.com/office/drawing/2014/main" id="{F8EFF695-4D67-4D2F-A794-951A98BE04C3}"/>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Métodos para Tomar Decisiones Bajo Riesgo</a:t>
            </a:r>
          </a:p>
        </p:txBody>
      </p:sp>
    </p:spTree>
    <p:extLst>
      <p:ext uri="{BB962C8B-B14F-4D97-AF65-F5344CB8AC3E}">
        <p14:creationId xmlns:p14="http://schemas.microsoft.com/office/powerpoint/2010/main" val="35195258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153</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85772" y="1973496"/>
            <a:ext cx="11420455" cy="3785652"/>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Imaginemos que una empresa está considerando dos inversiones en proyectos diferentes. Los resultados posibles de cada proyecto, junto con sus probabilidades, son los siguientes:</a:t>
            </a:r>
          </a:p>
          <a:p>
            <a:pPr algn="just">
              <a:spcAft>
                <a:spcPts val="1200"/>
              </a:spcAft>
            </a:pPr>
            <a:r>
              <a:rPr lang="es-ES" sz="2000" b="1" dirty="0">
                <a:solidFill>
                  <a:srgbClr val="131D3F"/>
                </a:solidFill>
                <a:latin typeface="Montserrat" panose="00000500000000000000" pitchFamily="2" charset="0"/>
              </a:rPr>
              <a:t>Proyecto A</a:t>
            </a:r>
          </a:p>
          <a:p>
            <a:pPr lvl="1" algn="just">
              <a:spcAft>
                <a:spcPts val="1200"/>
              </a:spcAft>
              <a:buFont typeface="Arial" panose="020B0604020202020204" pitchFamily="34" charset="0"/>
              <a:buChar char="•"/>
            </a:pPr>
            <a:r>
              <a:rPr lang="es-ES" sz="2000" dirty="0">
                <a:solidFill>
                  <a:srgbClr val="131D3F"/>
                </a:solidFill>
                <a:latin typeface="Montserrat" panose="00000500000000000000" pitchFamily="2" charset="0"/>
              </a:rPr>
              <a:t>Éxito (probabilidad: 60%): Ganancia de $150,000.</a:t>
            </a:r>
          </a:p>
          <a:p>
            <a:pPr lvl="1" algn="just">
              <a:spcAft>
                <a:spcPts val="1200"/>
              </a:spcAft>
              <a:buFont typeface="Arial" panose="020B0604020202020204" pitchFamily="34" charset="0"/>
              <a:buChar char="•"/>
            </a:pPr>
            <a:r>
              <a:rPr lang="es-ES" sz="2000" dirty="0">
                <a:solidFill>
                  <a:srgbClr val="131D3F"/>
                </a:solidFill>
                <a:latin typeface="Montserrat" panose="00000500000000000000" pitchFamily="2" charset="0"/>
              </a:rPr>
              <a:t>Fracaso (probabilidad: 40%): Pérdida de $50,000.</a:t>
            </a:r>
          </a:p>
          <a:p>
            <a:pPr algn="just">
              <a:spcAft>
                <a:spcPts val="1200"/>
              </a:spcAft>
            </a:pPr>
            <a:r>
              <a:rPr lang="es-ES" sz="2000" b="1" dirty="0">
                <a:solidFill>
                  <a:srgbClr val="131D3F"/>
                </a:solidFill>
                <a:latin typeface="Montserrat" panose="00000500000000000000" pitchFamily="2" charset="0"/>
              </a:rPr>
              <a:t>Proyecto B</a:t>
            </a:r>
          </a:p>
          <a:p>
            <a:pPr lvl="1" algn="just">
              <a:spcAft>
                <a:spcPts val="1200"/>
              </a:spcAft>
              <a:buFont typeface="Arial" panose="020B0604020202020204" pitchFamily="34" charset="0"/>
              <a:buChar char="•"/>
            </a:pPr>
            <a:r>
              <a:rPr lang="es-ES" sz="2000" dirty="0">
                <a:solidFill>
                  <a:srgbClr val="131D3F"/>
                </a:solidFill>
                <a:latin typeface="Montserrat" panose="00000500000000000000" pitchFamily="2" charset="0"/>
              </a:rPr>
              <a:t>Éxito (probabilidad: 50%): Ganancia de $200,000.</a:t>
            </a:r>
          </a:p>
          <a:p>
            <a:pPr lvl="1" algn="just">
              <a:spcAft>
                <a:spcPts val="1200"/>
              </a:spcAft>
              <a:buFont typeface="Arial" panose="020B0604020202020204" pitchFamily="34" charset="0"/>
              <a:buChar char="•"/>
            </a:pPr>
            <a:r>
              <a:rPr lang="es-ES" sz="2000" dirty="0">
                <a:solidFill>
                  <a:srgbClr val="131D3F"/>
                </a:solidFill>
                <a:latin typeface="Montserrat" panose="00000500000000000000" pitchFamily="2" charset="0"/>
              </a:rPr>
              <a:t>Fracaso (probabilidad: 50%): Pérdida de $30,000.</a:t>
            </a: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Valor esperado</a:t>
            </a:r>
          </a:p>
        </p:txBody>
      </p:sp>
    </p:spTree>
    <p:extLst>
      <p:ext uri="{BB962C8B-B14F-4D97-AF65-F5344CB8AC3E}">
        <p14:creationId xmlns:p14="http://schemas.microsoft.com/office/powerpoint/2010/main" val="23135624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154</a:t>
            </a:fld>
            <a:endParaRPr lang="es-MX" sz="1800" b="1" dirty="0">
              <a:solidFill>
                <a:srgbClr val="BA955B"/>
              </a:solidFill>
              <a:latin typeface="Montserrat SemiBold" panose="00000700000000000000" pitchFamily="2"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1F1EAE8-0C29-47E9-86C8-97E4555A541F}"/>
                  </a:ext>
                </a:extLst>
              </p:cNvPr>
              <p:cNvSpPr txBox="1"/>
              <p:nvPr/>
            </p:nvSpPr>
            <p:spPr>
              <a:xfrm>
                <a:off x="355955" y="2261731"/>
                <a:ext cx="6177168" cy="1615827"/>
              </a:xfrm>
              <a:prstGeom prst="rect">
                <a:avLst/>
              </a:prstGeom>
              <a:noFill/>
            </p:spPr>
            <p:txBody>
              <a:bodyPr wrap="square">
                <a:spAutoFit/>
              </a:bodyPr>
              <a:lstStyle/>
              <a:p>
                <a:pPr>
                  <a:spcAft>
                    <a:spcPts val="600"/>
                  </a:spcAft>
                </a:pPr>
                <a:r>
                  <a:rPr lang="es-MX" sz="2200" b="1" dirty="0">
                    <a:solidFill>
                      <a:srgbClr val="131D3F"/>
                    </a:solidFill>
                    <a:latin typeface="Montserrat" panose="00000500000000000000" pitchFamily="2" charset="0"/>
                  </a:rPr>
                  <a:t>Para el Proyecto A:</a:t>
                </a:r>
                <a:endParaRPr lang="es-MX" sz="2200"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𝑃</m:t>
                      </m:r>
                      <m:r>
                        <a:rPr lang="es-MX" i="1" baseline="-25000" dirty="0" err="1" smtClean="0">
                          <a:solidFill>
                            <a:srgbClr val="131D3F"/>
                          </a:solidFill>
                          <a:latin typeface="Cambria Math" panose="02040503050406030204" pitchFamily="18" charset="0"/>
                        </a:rPr>
                        <m:t>é</m:t>
                      </m:r>
                      <m:r>
                        <a:rPr lang="es-MX" i="1" baseline="-25000" dirty="0" err="1" smtClean="0">
                          <a:solidFill>
                            <a:srgbClr val="131D3F"/>
                          </a:solidFill>
                          <a:latin typeface="Cambria Math" panose="02040503050406030204" pitchFamily="18" charset="0"/>
                        </a:rPr>
                        <m:t>𝑥𝑖𝑡𝑜</m:t>
                      </m:r>
                      <m:r>
                        <a:rPr lang="es-MX" i="1" dirty="0" err="1"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𝐺𝑎𝑛𝑎𝑛𝑐𝑖𝑎</m:t>
                      </m:r>
                      <m:r>
                        <a:rPr lang="es-MX" i="1" baseline="-25000" dirty="0" err="1" smtClean="0">
                          <a:solidFill>
                            <a:srgbClr val="131D3F"/>
                          </a:solidFill>
                          <a:latin typeface="Cambria Math" panose="02040503050406030204" pitchFamily="18" charset="0"/>
                        </a:rPr>
                        <m:t>é</m:t>
                      </m:r>
                      <m:r>
                        <a:rPr lang="es-MX" i="1" baseline="-25000" dirty="0" err="1" smtClean="0">
                          <a:solidFill>
                            <a:srgbClr val="131D3F"/>
                          </a:solidFill>
                          <a:latin typeface="Cambria Math" panose="02040503050406030204" pitchFamily="18" charset="0"/>
                        </a:rPr>
                        <m:t>𝑥𝑖𝑡𝑜</m:t>
                      </m:r>
                      <m:r>
                        <a:rPr lang="es-MX" i="1" dirty="0"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𝑃</m:t>
                      </m:r>
                      <m:r>
                        <a:rPr lang="es-MX" i="1" baseline="-25000" dirty="0" err="1" smtClean="0">
                          <a:solidFill>
                            <a:srgbClr val="131D3F"/>
                          </a:solidFill>
                          <a:latin typeface="Cambria Math" panose="02040503050406030204" pitchFamily="18" charset="0"/>
                        </a:rPr>
                        <m:t>𝑓𝑟𝑎𝑐𝑎𝑠𝑜</m:t>
                      </m:r>
                      <m:r>
                        <a:rPr lang="es-MX" i="1" dirty="0" err="1"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𝑃</m:t>
                      </m:r>
                      <m:r>
                        <a:rPr lang="es-MX" i="1" dirty="0" err="1" smtClean="0">
                          <a:solidFill>
                            <a:srgbClr val="131D3F"/>
                          </a:solidFill>
                          <a:latin typeface="Cambria Math" panose="02040503050406030204" pitchFamily="18" charset="0"/>
                        </a:rPr>
                        <m:t>é</m:t>
                      </m:r>
                      <m:r>
                        <a:rPr lang="es-MX" i="1" dirty="0" err="1" smtClean="0">
                          <a:solidFill>
                            <a:srgbClr val="131D3F"/>
                          </a:solidFill>
                          <a:latin typeface="Cambria Math" panose="02040503050406030204" pitchFamily="18" charset="0"/>
                        </a:rPr>
                        <m:t>𝑟𝑑𝑖𝑑𝑎𝑓𝑟𝑎𝑐𝑎𝑠𝑜</m:t>
                      </m:r>
                      <m:r>
                        <a:rPr lang="es-MX" i="1" dirty="0" smtClean="0">
                          <a:solidFill>
                            <a:srgbClr val="131D3F"/>
                          </a:solidFill>
                          <a:latin typeface="Cambria Math" panose="02040503050406030204" pitchFamily="18" charset="0"/>
                        </a:rPr>
                        <m:t>) </m:t>
                      </m:r>
                    </m:oMath>
                  </m:oMathPara>
                </a14:m>
                <a:endParaRPr lang="es-MX"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=(0.6×150,000)+(0.4×−50,000) </m:t>
                      </m:r>
                    </m:oMath>
                  </m:oMathPara>
                </a14:m>
                <a:endParaRPr lang="es-MX"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=90,000−20,000</m:t>
                      </m:r>
                    </m:oMath>
                  </m:oMathPara>
                </a14:m>
                <a:endParaRPr lang="es-MX"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=70,000</m:t>
                      </m:r>
                    </m:oMath>
                  </m:oMathPara>
                </a14:m>
                <a:endParaRPr lang="es-MX" dirty="0">
                  <a:solidFill>
                    <a:srgbClr val="131D3F"/>
                  </a:solidFill>
                  <a:latin typeface="Montserrat" panose="00000500000000000000" pitchFamily="2" charset="0"/>
                </a:endParaRPr>
              </a:p>
            </p:txBody>
          </p:sp>
        </mc:Choice>
        <mc:Fallback xmlns="">
          <p:sp>
            <p:nvSpPr>
              <p:cNvPr id="14" name="CuadroTexto 13">
                <a:extLst>
                  <a:ext uri="{FF2B5EF4-FFF2-40B4-BE49-F238E27FC236}">
                    <a16:creationId xmlns:a16="http://schemas.microsoft.com/office/drawing/2014/main" id="{A1F1EAE8-0C29-47E9-86C8-97E4555A541F}"/>
                  </a:ext>
                </a:extLst>
              </p:cNvPr>
              <p:cNvSpPr txBox="1">
                <a:spLocks noRot="1" noChangeAspect="1" noMove="1" noResize="1" noEditPoints="1" noAdjustHandles="1" noChangeArrowheads="1" noChangeShapeType="1" noTextEdit="1"/>
              </p:cNvSpPr>
              <p:nvPr/>
            </p:nvSpPr>
            <p:spPr>
              <a:xfrm>
                <a:off x="355955" y="2261731"/>
                <a:ext cx="6177168" cy="1615827"/>
              </a:xfrm>
              <a:prstGeom prst="rect">
                <a:avLst/>
              </a:prstGeom>
              <a:blipFill>
                <a:blip r:embed="rId5"/>
                <a:stretch>
                  <a:fillRect l="-1282" t="-2264"/>
                </a:stretch>
              </a:blipFill>
            </p:spPr>
            <p:txBody>
              <a:bodyPr/>
              <a:lstStyle/>
              <a:p>
                <a:r>
                  <a:rPr lang="es-MX">
                    <a:noFill/>
                  </a:rPr>
                  <a:t> </a:t>
                </a:r>
              </a:p>
            </p:txBody>
          </p:sp>
        </mc:Fallback>
      </mc:AlternateContent>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Valor esperado</a:t>
            </a:r>
          </a:p>
        </p:txBody>
      </p:sp>
      <p:sp>
        <p:nvSpPr>
          <p:cNvPr id="10" name="CuadroTexto 9">
            <a:extLst>
              <a:ext uri="{FF2B5EF4-FFF2-40B4-BE49-F238E27FC236}">
                <a16:creationId xmlns:a16="http://schemas.microsoft.com/office/drawing/2014/main" id="{65879FD3-2103-4B14-8380-42E62AE68327}"/>
              </a:ext>
            </a:extLst>
          </p:cNvPr>
          <p:cNvSpPr txBox="1"/>
          <p:nvPr/>
        </p:nvSpPr>
        <p:spPr>
          <a:xfrm>
            <a:off x="429038" y="1619611"/>
            <a:ext cx="6177168" cy="430887"/>
          </a:xfrm>
          <a:prstGeom prst="rect">
            <a:avLst/>
          </a:prstGeom>
          <a:noFill/>
        </p:spPr>
        <p:txBody>
          <a:bodyPr wrap="square">
            <a:spAutoFit/>
          </a:bodyPr>
          <a:lstStyle/>
          <a:p>
            <a:r>
              <a:rPr lang="es-MX" sz="2200" b="1" dirty="0">
                <a:solidFill>
                  <a:srgbClr val="131D3F"/>
                </a:solidFill>
                <a:latin typeface="Montserrat" panose="00000500000000000000" pitchFamily="2" charset="0"/>
              </a:rPr>
              <a:t>Cálculo del Valor Esperado</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940523B-31C8-4557-BFC5-19F6C1598DEA}"/>
                  </a:ext>
                </a:extLst>
              </p:cNvPr>
              <p:cNvSpPr txBox="1"/>
              <p:nvPr/>
            </p:nvSpPr>
            <p:spPr>
              <a:xfrm>
                <a:off x="355955" y="4123219"/>
                <a:ext cx="6177168" cy="1615827"/>
              </a:xfrm>
              <a:prstGeom prst="rect">
                <a:avLst/>
              </a:prstGeom>
              <a:noFill/>
            </p:spPr>
            <p:txBody>
              <a:bodyPr wrap="square">
                <a:spAutoFit/>
              </a:bodyPr>
              <a:lstStyle/>
              <a:p>
                <a:pPr>
                  <a:spcAft>
                    <a:spcPts val="600"/>
                  </a:spcAft>
                </a:pPr>
                <a:r>
                  <a:rPr lang="es-MX" sz="2200" b="1" dirty="0">
                    <a:solidFill>
                      <a:srgbClr val="131D3F"/>
                    </a:solidFill>
                    <a:latin typeface="Montserrat" panose="00000500000000000000" pitchFamily="2" charset="0"/>
                  </a:rPr>
                  <a:t>Para el Proyecto B:</a:t>
                </a:r>
                <a:endParaRPr lang="es-MX" sz="2200"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𝑃</m:t>
                      </m:r>
                      <m:r>
                        <a:rPr lang="es-MX" i="1" baseline="-25000" dirty="0" err="1" smtClean="0">
                          <a:solidFill>
                            <a:srgbClr val="131D3F"/>
                          </a:solidFill>
                          <a:latin typeface="Cambria Math" panose="02040503050406030204" pitchFamily="18" charset="0"/>
                        </a:rPr>
                        <m:t>é</m:t>
                      </m:r>
                      <m:r>
                        <a:rPr lang="es-MX" i="1" baseline="-25000" dirty="0" err="1" smtClean="0">
                          <a:solidFill>
                            <a:srgbClr val="131D3F"/>
                          </a:solidFill>
                          <a:latin typeface="Cambria Math" panose="02040503050406030204" pitchFamily="18" charset="0"/>
                        </a:rPr>
                        <m:t>𝑥𝑖𝑡𝑜</m:t>
                      </m:r>
                      <m:r>
                        <a:rPr lang="es-MX" i="1" dirty="0" err="1"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𝐺𝑎𝑛𝑎𝑛𝑐𝑖𝑎</m:t>
                      </m:r>
                      <m:r>
                        <a:rPr lang="es-MX" i="1" baseline="-25000" dirty="0" err="1" smtClean="0">
                          <a:solidFill>
                            <a:srgbClr val="131D3F"/>
                          </a:solidFill>
                          <a:latin typeface="Cambria Math" panose="02040503050406030204" pitchFamily="18" charset="0"/>
                        </a:rPr>
                        <m:t>é</m:t>
                      </m:r>
                      <m:r>
                        <a:rPr lang="es-MX" i="1" baseline="-25000" dirty="0" err="1" smtClean="0">
                          <a:solidFill>
                            <a:srgbClr val="131D3F"/>
                          </a:solidFill>
                          <a:latin typeface="Cambria Math" panose="02040503050406030204" pitchFamily="18" charset="0"/>
                        </a:rPr>
                        <m:t>𝑥𝑖𝑡𝑜</m:t>
                      </m:r>
                      <m:r>
                        <a:rPr lang="es-MX" i="1" dirty="0"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𝑃</m:t>
                      </m:r>
                      <m:r>
                        <a:rPr lang="es-MX" i="1" baseline="-25000" dirty="0" err="1" smtClean="0">
                          <a:solidFill>
                            <a:srgbClr val="131D3F"/>
                          </a:solidFill>
                          <a:latin typeface="Cambria Math" panose="02040503050406030204" pitchFamily="18" charset="0"/>
                        </a:rPr>
                        <m:t>𝑓𝑟𝑎𝑐𝑎𝑠𝑜</m:t>
                      </m:r>
                      <m:r>
                        <a:rPr lang="es-MX" i="1" dirty="0" err="1" smtClean="0">
                          <a:solidFill>
                            <a:srgbClr val="131D3F"/>
                          </a:solidFill>
                          <a:latin typeface="Cambria Math" panose="02040503050406030204" pitchFamily="18" charset="0"/>
                        </a:rPr>
                        <m:t>×</m:t>
                      </m:r>
                      <m:r>
                        <a:rPr lang="es-MX" i="1" dirty="0" err="1" smtClean="0">
                          <a:solidFill>
                            <a:srgbClr val="131D3F"/>
                          </a:solidFill>
                          <a:latin typeface="Cambria Math" panose="02040503050406030204" pitchFamily="18" charset="0"/>
                        </a:rPr>
                        <m:t>𝑃</m:t>
                      </m:r>
                      <m:r>
                        <a:rPr lang="es-MX" i="1" dirty="0" err="1" smtClean="0">
                          <a:solidFill>
                            <a:srgbClr val="131D3F"/>
                          </a:solidFill>
                          <a:latin typeface="Cambria Math" panose="02040503050406030204" pitchFamily="18" charset="0"/>
                        </a:rPr>
                        <m:t>é</m:t>
                      </m:r>
                      <m:r>
                        <a:rPr lang="es-MX" i="1" dirty="0" err="1" smtClean="0">
                          <a:solidFill>
                            <a:srgbClr val="131D3F"/>
                          </a:solidFill>
                          <a:latin typeface="Cambria Math" panose="02040503050406030204" pitchFamily="18" charset="0"/>
                        </a:rPr>
                        <m:t>𝑟𝑑𝑖𝑑𝑎𝑓𝑟𝑎𝑐𝑎𝑠𝑜</m:t>
                      </m:r>
                      <m:r>
                        <a:rPr lang="es-MX" i="1" dirty="0" smtClean="0">
                          <a:solidFill>
                            <a:srgbClr val="131D3F"/>
                          </a:solidFill>
                          <a:latin typeface="Cambria Math" panose="02040503050406030204" pitchFamily="18" charset="0"/>
                        </a:rPr>
                        <m:t>) </m:t>
                      </m:r>
                    </m:oMath>
                  </m:oMathPara>
                </a14:m>
                <a:endParaRPr lang="es-MX"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=(0.</m:t>
                      </m:r>
                      <m:r>
                        <a:rPr lang="es-ES" b="0" i="1" dirty="0" smtClean="0">
                          <a:solidFill>
                            <a:srgbClr val="131D3F"/>
                          </a:solidFill>
                          <a:latin typeface="Cambria Math" panose="02040503050406030204" pitchFamily="18" charset="0"/>
                        </a:rPr>
                        <m:t>5</m:t>
                      </m:r>
                      <m:r>
                        <a:rPr lang="es-MX" i="1" dirty="0" smtClean="0">
                          <a:solidFill>
                            <a:srgbClr val="131D3F"/>
                          </a:solidFill>
                          <a:latin typeface="Cambria Math" panose="02040503050406030204" pitchFamily="18" charset="0"/>
                        </a:rPr>
                        <m:t>×</m:t>
                      </m:r>
                      <m:r>
                        <a:rPr lang="es-ES" b="0" i="1" dirty="0" smtClean="0">
                          <a:solidFill>
                            <a:srgbClr val="131D3F"/>
                          </a:solidFill>
                          <a:latin typeface="Cambria Math" panose="02040503050406030204" pitchFamily="18" charset="0"/>
                        </a:rPr>
                        <m:t>20</m:t>
                      </m:r>
                      <m:r>
                        <a:rPr lang="es-MX" i="1" dirty="0" smtClean="0">
                          <a:solidFill>
                            <a:srgbClr val="131D3F"/>
                          </a:solidFill>
                          <a:latin typeface="Cambria Math" panose="02040503050406030204" pitchFamily="18" charset="0"/>
                        </a:rPr>
                        <m:t>0,000)+(0.</m:t>
                      </m:r>
                      <m:r>
                        <a:rPr lang="es-ES" b="0" i="1" dirty="0" smtClean="0">
                          <a:solidFill>
                            <a:srgbClr val="131D3F"/>
                          </a:solidFill>
                          <a:latin typeface="Cambria Math" panose="02040503050406030204" pitchFamily="18" charset="0"/>
                        </a:rPr>
                        <m:t>5</m:t>
                      </m:r>
                      <m:r>
                        <a:rPr lang="es-MX" i="1" dirty="0" smtClean="0">
                          <a:solidFill>
                            <a:srgbClr val="131D3F"/>
                          </a:solidFill>
                          <a:latin typeface="Cambria Math" panose="02040503050406030204" pitchFamily="18" charset="0"/>
                        </a:rPr>
                        <m:t>×−</m:t>
                      </m:r>
                      <m:r>
                        <a:rPr lang="es-ES" b="0" i="1" dirty="0" smtClean="0">
                          <a:solidFill>
                            <a:srgbClr val="131D3F"/>
                          </a:solidFill>
                          <a:latin typeface="Cambria Math" panose="02040503050406030204" pitchFamily="18" charset="0"/>
                        </a:rPr>
                        <m:t>3</m:t>
                      </m:r>
                      <m:r>
                        <a:rPr lang="es-MX" i="1" dirty="0" smtClean="0">
                          <a:solidFill>
                            <a:srgbClr val="131D3F"/>
                          </a:solidFill>
                          <a:latin typeface="Cambria Math" panose="02040503050406030204" pitchFamily="18" charset="0"/>
                        </a:rPr>
                        <m:t>0,000) </m:t>
                      </m:r>
                    </m:oMath>
                  </m:oMathPara>
                </a14:m>
                <a:endParaRPr lang="es-MX"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m:t>
                      </m:r>
                      <m:r>
                        <a:rPr lang="es-ES" b="0" i="1" dirty="0" smtClean="0">
                          <a:solidFill>
                            <a:srgbClr val="131D3F"/>
                          </a:solidFill>
                          <a:latin typeface="Cambria Math" panose="02040503050406030204" pitchFamily="18" charset="0"/>
                        </a:rPr>
                        <m:t>10</m:t>
                      </m:r>
                      <m:r>
                        <a:rPr lang="es-MX" i="1" dirty="0" smtClean="0">
                          <a:solidFill>
                            <a:srgbClr val="131D3F"/>
                          </a:solidFill>
                          <a:latin typeface="Cambria Math" panose="02040503050406030204" pitchFamily="18" charset="0"/>
                        </a:rPr>
                        <m:t>0,000−</m:t>
                      </m:r>
                      <m:r>
                        <a:rPr lang="es-ES" b="0" i="1" dirty="0" smtClean="0">
                          <a:solidFill>
                            <a:srgbClr val="131D3F"/>
                          </a:solidFill>
                          <a:latin typeface="Cambria Math" panose="02040503050406030204" pitchFamily="18" charset="0"/>
                        </a:rPr>
                        <m:t>15</m:t>
                      </m:r>
                      <m:r>
                        <a:rPr lang="es-MX" i="1" dirty="0" smtClean="0">
                          <a:solidFill>
                            <a:srgbClr val="131D3F"/>
                          </a:solidFill>
                          <a:latin typeface="Cambria Math" panose="02040503050406030204" pitchFamily="18" charset="0"/>
                        </a:rPr>
                        <m:t>,000</m:t>
                      </m:r>
                    </m:oMath>
                  </m:oMathPara>
                </a14:m>
                <a:endParaRPr lang="es-MX" dirty="0">
                  <a:solidFill>
                    <a:srgbClr val="131D3F"/>
                  </a:solidFill>
                  <a:latin typeface="Montserrat" panose="00000500000000000000" pitchFamily="2" charset="0"/>
                </a:endParaRPr>
              </a:p>
              <a:p>
                <a:pPr/>
                <a14:m>
                  <m:oMathPara xmlns:m="http://schemas.openxmlformats.org/officeDocument/2006/math">
                    <m:oMathParaPr>
                      <m:jc m:val="centerGroup"/>
                    </m:oMathParaPr>
                    <m:oMath xmlns:m="http://schemas.openxmlformats.org/officeDocument/2006/math">
                      <m:r>
                        <a:rPr lang="es-MX" i="1" dirty="0" smtClean="0">
                          <a:solidFill>
                            <a:srgbClr val="131D3F"/>
                          </a:solidFill>
                          <a:latin typeface="Cambria Math" panose="02040503050406030204" pitchFamily="18" charset="0"/>
                        </a:rPr>
                        <m:t>𝐸𝑉</m:t>
                      </m:r>
                      <m:r>
                        <a:rPr lang="es-MX" i="1" baseline="-25000" dirty="0" smtClean="0">
                          <a:solidFill>
                            <a:srgbClr val="131D3F"/>
                          </a:solidFill>
                          <a:latin typeface="Cambria Math" panose="02040503050406030204" pitchFamily="18" charset="0"/>
                        </a:rPr>
                        <m:t>𝐴</m:t>
                      </m:r>
                      <m:r>
                        <a:rPr lang="es-MX" i="1" dirty="0" smtClean="0">
                          <a:solidFill>
                            <a:srgbClr val="131D3F"/>
                          </a:solidFill>
                          <a:latin typeface="Cambria Math" panose="02040503050406030204" pitchFamily="18" charset="0"/>
                        </a:rPr>
                        <m:t>=</m:t>
                      </m:r>
                      <m:r>
                        <a:rPr lang="es-ES" b="0" i="1" dirty="0" smtClean="0">
                          <a:solidFill>
                            <a:srgbClr val="131D3F"/>
                          </a:solidFill>
                          <a:latin typeface="Cambria Math" panose="02040503050406030204" pitchFamily="18" charset="0"/>
                        </a:rPr>
                        <m:t>85</m:t>
                      </m:r>
                      <m:r>
                        <a:rPr lang="es-MX" i="1" dirty="0" smtClean="0">
                          <a:solidFill>
                            <a:srgbClr val="131D3F"/>
                          </a:solidFill>
                          <a:latin typeface="Cambria Math" panose="02040503050406030204" pitchFamily="18" charset="0"/>
                        </a:rPr>
                        <m:t>,000</m:t>
                      </m:r>
                    </m:oMath>
                  </m:oMathPara>
                </a14:m>
                <a:endParaRPr lang="es-MX" dirty="0">
                  <a:solidFill>
                    <a:srgbClr val="131D3F"/>
                  </a:solidFill>
                  <a:latin typeface="Montserrat" panose="00000500000000000000" pitchFamily="2" charset="0"/>
                </a:endParaRPr>
              </a:p>
            </p:txBody>
          </p:sp>
        </mc:Choice>
        <mc:Fallback xmlns="">
          <p:sp>
            <p:nvSpPr>
              <p:cNvPr id="11" name="CuadroTexto 10">
                <a:extLst>
                  <a:ext uri="{FF2B5EF4-FFF2-40B4-BE49-F238E27FC236}">
                    <a16:creationId xmlns:a16="http://schemas.microsoft.com/office/drawing/2014/main" id="{4940523B-31C8-4557-BFC5-19F6C1598DEA}"/>
                  </a:ext>
                </a:extLst>
              </p:cNvPr>
              <p:cNvSpPr txBox="1">
                <a:spLocks noRot="1" noChangeAspect="1" noMove="1" noResize="1" noEditPoints="1" noAdjustHandles="1" noChangeArrowheads="1" noChangeShapeType="1" noTextEdit="1"/>
              </p:cNvSpPr>
              <p:nvPr/>
            </p:nvSpPr>
            <p:spPr>
              <a:xfrm>
                <a:off x="355955" y="4123219"/>
                <a:ext cx="6177168" cy="1615827"/>
              </a:xfrm>
              <a:prstGeom prst="rect">
                <a:avLst/>
              </a:prstGeom>
              <a:blipFill>
                <a:blip r:embed="rId6"/>
                <a:stretch>
                  <a:fillRect l="-1282" t="-1887"/>
                </a:stretch>
              </a:blipFill>
            </p:spPr>
            <p:txBody>
              <a:bodyPr/>
              <a:lstStyle/>
              <a:p>
                <a:r>
                  <a:rPr lang="es-MX">
                    <a:noFill/>
                  </a:rPr>
                  <a:t> </a:t>
                </a:r>
              </a:p>
            </p:txBody>
          </p:sp>
        </mc:Fallback>
      </mc:AlternateContent>
      <p:sp>
        <p:nvSpPr>
          <p:cNvPr id="12" name="CuadroTexto 11">
            <a:extLst>
              <a:ext uri="{FF2B5EF4-FFF2-40B4-BE49-F238E27FC236}">
                <a16:creationId xmlns:a16="http://schemas.microsoft.com/office/drawing/2014/main" id="{5524179C-2B5E-4AC7-8D33-384D2C706906}"/>
              </a:ext>
            </a:extLst>
          </p:cNvPr>
          <p:cNvSpPr txBox="1"/>
          <p:nvPr/>
        </p:nvSpPr>
        <p:spPr>
          <a:xfrm>
            <a:off x="7247263" y="2538730"/>
            <a:ext cx="3995532" cy="2677656"/>
          </a:xfrm>
          <a:prstGeom prst="rect">
            <a:avLst/>
          </a:prstGeom>
          <a:noFill/>
        </p:spPr>
        <p:txBody>
          <a:bodyPr wrap="square">
            <a:spAutoFit/>
          </a:bodyPr>
          <a:lstStyle/>
          <a:p>
            <a:pPr algn="just"/>
            <a:r>
              <a:rPr lang="es-ES" sz="2400" dirty="0">
                <a:latin typeface="Montserrat" panose="00000500000000000000" pitchFamily="2" charset="0"/>
              </a:rPr>
              <a:t>Basado en el cálculo del valor esperado, el </a:t>
            </a:r>
            <a:r>
              <a:rPr lang="es-ES" sz="2400" b="1" dirty="0">
                <a:latin typeface="Montserrat" panose="00000500000000000000" pitchFamily="2" charset="0"/>
              </a:rPr>
              <a:t>Proyecto B</a:t>
            </a:r>
            <a:r>
              <a:rPr lang="es-ES" sz="2400" dirty="0">
                <a:latin typeface="Montserrat" panose="00000500000000000000" pitchFamily="2" charset="0"/>
              </a:rPr>
              <a:t> es la mejor opción, ya que tiene un valor esperado de </a:t>
            </a:r>
            <a:r>
              <a:rPr lang="es-ES" sz="2400" b="1" dirty="0">
                <a:latin typeface="Montserrat" panose="00000500000000000000" pitchFamily="2" charset="0"/>
              </a:rPr>
              <a:t>$85,000</a:t>
            </a:r>
            <a:r>
              <a:rPr lang="es-ES" sz="2400" dirty="0">
                <a:latin typeface="Montserrat" panose="00000500000000000000" pitchFamily="2" charset="0"/>
              </a:rPr>
              <a:t>, superior al $70,000 del Proyecto A.</a:t>
            </a:r>
            <a:endParaRPr lang="es-MX" sz="2400" dirty="0">
              <a:latin typeface="Montserrat" panose="00000500000000000000" pitchFamily="2" charset="0"/>
            </a:endParaRPr>
          </a:p>
        </p:txBody>
      </p:sp>
    </p:spTree>
    <p:extLst>
      <p:ext uri="{BB962C8B-B14F-4D97-AF65-F5344CB8AC3E}">
        <p14:creationId xmlns:p14="http://schemas.microsoft.com/office/powerpoint/2010/main" val="405241689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6378" y="436676"/>
            <a:ext cx="10515600" cy="840219"/>
          </a:xfrm>
        </p:spPr>
        <p:txBody>
          <a:bodyPr>
            <a:normAutofit/>
          </a:bodyPr>
          <a:lstStyle/>
          <a:p>
            <a:pPr algn="ctr"/>
            <a:r>
              <a:rPr lang="es-ES" sz="4800" b="1" dirty="0">
                <a:latin typeface="Montserrat" panose="00000500000000000000" pitchFamily="2" charset="0"/>
              </a:rPr>
              <a:t>Clase 11°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836378" y="1276895"/>
            <a:ext cx="10515600" cy="9711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3</a:t>
            </a:r>
            <a:r>
              <a:rPr lang="es-ES" sz="4800" dirty="0">
                <a:latin typeface="Montserrat" panose="00000500000000000000" pitchFamily="2" charset="0"/>
              </a:rPr>
              <a:t> Riesgo e Incertidumbre</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4178" y="6246183"/>
            <a:ext cx="4423063" cy="46340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18 de octubre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836378" y="2293659"/>
            <a:ext cx="10815294" cy="20615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0000">
              <a:lnSpc>
                <a:spcPct val="100000"/>
              </a:lnSpc>
              <a:spcAft>
                <a:spcPts val="1200"/>
              </a:spcAft>
            </a:pPr>
            <a:r>
              <a:rPr lang="es-MX" sz="3600" b="1" dirty="0">
                <a:latin typeface="Montserrat" panose="00000500000000000000" pitchFamily="2" charset="0"/>
              </a:rPr>
              <a:t>3.5 Decisiones bajo riesgo.</a:t>
            </a:r>
          </a:p>
          <a:p>
            <a:pPr marL="720000">
              <a:lnSpc>
                <a:spcPct val="100000"/>
              </a:lnSpc>
              <a:spcAft>
                <a:spcPts val="1200"/>
              </a:spcAft>
            </a:pPr>
            <a:r>
              <a:rPr lang="es-MX" sz="3600" b="1" dirty="0">
                <a:latin typeface="Montserrat" panose="00000500000000000000" pitchFamily="2" charset="0"/>
              </a:rPr>
              <a:t>3.6 Decisiones bajo incertidumbre.</a:t>
            </a:r>
            <a:endParaRPr lang="es-ES" sz="3600" b="1" dirty="0">
              <a:latin typeface="Montserrat" panose="00000500000000000000" pitchFamily="2" charset="0"/>
            </a:endParaRPr>
          </a:p>
        </p:txBody>
      </p:sp>
    </p:spTree>
    <p:extLst>
      <p:ext uri="{BB962C8B-B14F-4D97-AF65-F5344CB8AC3E}">
        <p14:creationId xmlns:p14="http://schemas.microsoft.com/office/powerpoint/2010/main" val="154659354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156</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385772" y="1780303"/>
            <a:ext cx="11420455" cy="4401205"/>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Las decisiones bajo riesgo se refieren a situaciones en las que se debe elegir entre diferentes alternativas, cada una de las cuales tiene un resultado incierto y </a:t>
            </a:r>
            <a:r>
              <a:rPr lang="es-ES" sz="2000" b="1" dirty="0">
                <a:solidFill>
                  <a:srgbClr val="131D3F"/>
                </a:solidFill>
                <a:latin typeface="Montserrat" panose="00000500000000000000" pitchFamily="2" charset="0"/>
              </a:rPr>
              <a:t>asociado a probabilidades específicas</a:t>
            </a:r>
            <a:r>
              <a:rPr lang="es-ES" sz="2000" dirty="0">
                <a:solidFill>
                  <a:srgbClr val="131D3F"/>
                </a:solidFill>
                <a:latin typeface="Montserrat" panose="00000500000000000000" pitchFamily="2" charset="0"/>
              </a:rPr>
              <a:t>. </a:t>
            </a:r>
          </a:p>
          <a:p>
            <a:pPr algn="just">
              <a:spcAft>
                <a:spcPts val="1200"/>
              </a:spcAft>
            </a:pPr>
            <a:r>
              <a:rPr lang="es-ES" sz="2000" dirty="0">
                <a:solidFill>
                  <a:srgbClr val="131D3F"/>
                </a:solidFill>
                <a:latin typeface="Montserrat" panose="00000500000000000000" pitchFamily="2" charset="0"/>
              </a:rPr>
              <a:t>A diferencia de las decisiones bajo certeza, donde los resultados son conocidos, o bajo incertidumbre, donde no se conocen las probabilidades, </a:t>
            </a:r>
            <a:r>
              <a:rPr lang="es-ES" sz="2000" b="1" dirty="0">
                <a:solidFill>
                  <a:srgbClr val="131D3F"/>
                </a:solidFill>
                <a:latin typeface="Montserrat" panose="00000500000000000000" pitchFamily="2" charset="0"/>
              </a:rPr>
              <a:t>las decisiones bajo riesgo permiten cuantificar la probabilidad de cada resultado</a:t>
            </a:r>
            <a:r>
              <a:rPr lang="es-ES" sz="2000" dirty="0">
                <a:solidFill>
                  <a:srgbClr val="131D3F"/>
                </a:solidFill>
                <a:latin typeface="Montserrat" panose="00000500000000000000" pitchFamily="2" charset="0"/>
              </a:rPr>
              <a:t>.</a:t>
            </a:r>
          </a:p>
          <a:p>
            <a:pPr algn="just">
              <a:spcAft>
                <a:spcPts val="1200"/>
              </a:spcAft>
            </a:pPr>
            <a:r>
              <a:rPr lang="es-ES" sz="2000" dirty="0">
                <a:solidFill>
                  <a:srgbClr val="131D3F"/>
                </a:solidFill>
                <a:latin typeface="Montserrat" panose="00000500000000000000" pitchFamily="2" charset="0"/>
              </a:rPr>
              <a:t>Métodos para la toma de decisiones bajo riesgo:</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Valor Esperado</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Árboles de Decisión</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Análisis de Sensibilidad</a:t>
            </a:r>
          </a:p>
          <a:p>
            <a:pPr marL="800100" lvl="1" indent="-342900" algn="just">
              <a:spcAft>
                <a:spcPts val="1200"/>
              </a:spcAft>
              <a:buFont typeface="Arial" panose="020B0604020202020204" pitchFamily="34" charset="0"/>
              <a:buChar char="•"/>
            </a:pPr>
            <a:r>
              <a:rPr lang="es-ES" sz="2000" b="1" dirty="0">
                <a:solidFill>
                  <a:srgbClr val="131D3F"/>
                </a:solidFill>
                <a:latin typeface="Montserrat" panose="00000500000000000000" pitchFamily="2" charset="0"/>
              </a:rPr>
              <a:t>Análisis de Riesgo</a:t>
            </a:r>
            <a:endParaRPr lang="es-ES" sz="2000" dirty="0">
              <a:solidFill>
                <a:srgbClr val="131D3F"/>
              </a:solidFill>
              <a:latin typeface="Montserrat" panose="00000500000000000000" pitchFamily="2" charset="0"/>
            </a:endParaRPr>
          </a:p>
        </p:txBody>
      </p:sp>
      <p:sp>
        <p:nvSpPr>
          <p:cNvPr id="12" name="Título 3">
            <a:extLst>
              <a:ext uri="{FF2B5EF4-FFF2-40B4-BE49-F238E27FC236}">
                <a16:creationId xmlns:a16="http://schemas.microsoft.com/office/drawing/2014/main" id="{F8EFF695-4D67-4D2F-A794-951A98BE04C3}"/>
              </a:ext>
            </a:extLst>
          </p:cNvPr>
          <p:cNvSpPr txBox="1">
            <a:spLocks/>
          </p:cNvSpPr>
          <p:nvPr/>
        </p:nvSpPr>
        <p:spPr>
          <a:xfrm>
            <a:off x="817880" y="433081"/>
            <a:ext cx="9617592" cy="9047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p>
        </p:txBody>
      </p:sp>
    </p:spTree>
    <p:extLst>
      <p:ext uri="{BB962C8B-B14F-4D97-AF65-F5344CB8AC3E}">
        <p14:creationId xmlns:p14="http://schemas.microsoft.com/office/powerpoint/2010/main" val="33253384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157</a:t>
            </a:fld>
            <a:endParaRPr lang="es-MX" sz="1800" b="1" dirty="0">
              <a:solidFill>
                <a:srgbClr val="BA955B"/>
              </a:solidFill>
              <a:latin typeface="Montserrat SemiBold" panose="00000700000000000000" pitchFamily="2" charset="0"/>
            </a:endParaRPr>
          </a:p>
        </p:txBody>
      </p:sp>
      <p:sp>
        <p:nvSpPr>
          <p:cNvPr id="14" name="CuadroTexto 13">
            <a:extLst>
              <a:ext uri="{FF2B5EF4-FFF2-40B4-BE49-F238E27FC236}">
                <a16:creationId xmlns:a16="http://schemas.microsoft.com/office/drawing/2014/main" id="{A1F1EAE8-0C29-47E9-86C8-97E4555A541F}"/>
              </a:ext>
            </a:extLst>
          </p:cNvPr>
          <p:cNvSpPr txBox="1"/>
          <p:nvPr/>
        </p:nvSpPr>
        <p:spPr>
          <a:xfrm>
            <a:off x="1061375" y="2178230"/>
            <a:ext cx="10069250" cy="3016210"/>
          </a:xfrm>
          <a:prstGeom prst="rect">
            <a:avLst/>
          </a:prstGeom>
          <a:noFill/>
        </p:spPr>
        <p:txBody>
          <a:bodyPr wrap="square">
            <a:spAutoFit/>
          </a:bodyPr>
          <a:lstStyle/>
          <a:p>
            <a:pPr algn="just">
              <a:spcAft>
                <a:spcPts val="1200"/>
              </a:spcAft>
            </a:pPr>
            <a:r>
              <a:rPr lang="es-ES" sz="3000" dirty="0">
                <a:solidFill>
                  <a:srgbClr val="131D3F"/>
                </a:solidFill>
                <a:latin typeface="Montserrat" panose="00000500000000000000" pitchFamily="2" charset="0"/>
              </a:rPr>
              <a:t>Un árbol de decisiones es un </a:t>
            </a:r>
            <a:r>
              <a:rPr lang="es-ES" sz="3000" u="sng" dirty="0">
                <a:solidFill>
                  <a:srgbClr val="131D3F"/>
                </a:solidFill>
                <a:latin typeface="Montserrat" panose="00000500000000000000" pitchFamily="2" charset="0"/>
              </a:rPr>
              <a:t>método analítico</a:t>
            </a:r>
            <a:r>
              <a:rPr lang="es-ES" sz="3000" dirty="0">
                <a:solidFill>
                  <a:srgbClr val="131D3F"/>
                </a:solidFill>
                <a:latin typeface="Montserrat" panose="00000500000000000000" pitchFamily="2" charset="0"/>
              </a:rPr>
              <a:t> que nos permite </a:t>
            </a:r>
            <a:r>
              <a:rPr lang="es-ES" sz="3000" b="1" dirty="0">
                <a:solidFill>
                  <a:srgbClr val="131D3F"/>
                </a:solidFill>
                <a:latin typeface="Montserrat" panose="00000500000000000000" pitchFamily="2" charset="0"/>
              </a:rPr>
              <a:t>comparar</a:t>
            </a:r>
            <a:r>
              <a:rPr lang="es-ES" sz="3000" dirty="0">
                <a:solidFill>
                  <a:srgbClr val="131D3F"/>
                </a:solidFill>
                <a:latin typeface="Montserrat" panose="00000500000000000000" pitchFamily="2" charset="0"/>
              </a:rPr>
              <a:t> las </a:t>
            </a:r>
            <a:r>
              <a:rPr lang="es-ES" sz="3000" u="sng" dirty="0">
                <a:solidFill>
                  <a:srgbClr val="131D3F"/>
                </a:solidFill>
                <a:latin typeface="Montserrat" panose="00000500000000000000" pitchFamily="2" charset="0"/>
              </a:rPr>
              <a:t>diferentes opciones</a:t>
            </a:r>
            <a:r>
              <a:rPr lang="es-ES" sz="3000" dirty="0">
                <a:solidFill>
                  <a:srgbClr val="131D3F"/>
                </a:solidFill>
                <a:latin typeface="Montserrat" panose="00000500000000000000" pitchFamily="2" charset="0"/>
              </a:rPr>
              <a:t> que tenemos a través de una </a:t>
            </a:r>
            <a:r>
              <a:rPr lang="es-ES" sz="3000" b="1" dirty="0">
                <a:solidFill>
                  <a:srgbClr val="131D3F"/>
                </a:solidFill>
                <a:latin typeface="Montserrat" panose="00000500000000000000" pitchFamily="2" charset="0"/>
              </a:rPr>
              <a:t>representación gráfica</a:t>
            </a:r>
            <a:r>
              <a:rPr lang="es-ES" sz="3000" dirty="0">
                <a:solidFill>
                  <a:srgbClr val="131D3F"/>
                </a:solidFill>
                <a:latin typeface="Montserrat" panose="00000500000000000000" pitchFamily="2" charset="0"/>
              </a:rPr>
              <a:t>, para </a:t>
            </a:r>
            <a:r>
              <a:rPr lang="es-ES" sz="3000" u="sng" dirty="0">
                <a:solidFill>
                  <a:srgbClr val="131D3F"/>
                </a:solidFill>
                <a:latin typeface="Montserrat" panose="00000500000000000000" pitchFamily="2" charset="0"/>
              </a:rPr>
              <a:t>tomar la mejor decisión</a:t>
            </a:r>
            <a:r>
              <a:rPr lang="es-ES" sz="3000" dirty="0">
                <a:solidFill>
                  <a:srgbClr val="131D3F"/>
                </a:solidFill>
                <a:latin typeface="Montserrat" panose="00000500000000000000" pitchFamily="2" charset="0"/>
              </a:rPr>
              <a:t> posible. </a:t>
            </a:r>
          </a:p>
          <a:p>
            <a:pPr algn="just">
              <a:spcAft>
                <a:spcPts val="1200"/>
              </a:spcAft>
            </a:pPr>
            <a:r>
              <a:rPr lang="es-ES" sz="3000" dirty="0">
                <a:solidFill>
                  <a:srgbClr val="131D3F"/>
                </a:solidFill>
                <a:latin typeface="Montserrat" panose="00000500000000000000" pitchFamily="2" charset="0"/>
              </a:rPr>
              <a:t>Es especialmente útil en situaciones donde hay </a:t>
            </a:r>
            <a:r>
              <a:rPr lang="es-ES" sz="3000" u="sng" dirty="0">
                <a:solidFill>
                  <a:srgbClr val="131D3F"/>
                </a:solidFill>
                <a:latin typeface="Montserrat" panose="00000500000000000000" pitchFamily="2" charset="0"/>
              </a:rPr>
              <a:t>varias alternativas</a:t>
            </a:r>
            <a:r>
              <a:rPr lang="es-ES" sz="3000" dirty="0">
                <a:solidFill>
                  <a:srgbClr val="131D3F"/>
                </a:solidFill>
                <a:latin typeface="Montserrat" panose="00000500000000000000" pitchFamily="2" charset="0"/>
              </a:rPr>
              <a:t> y </a:t>
            </a:r>
            <a:r>
              <a:rPr lang="es-ES" sz="3000" u="sng" dirty="0">
                <a:solidFill>
                  <a:srgbClr val="131D3F"/>
                </a:solidFill>
                <a:latin typeface="Montserrat" panose="00000500000000000000" pitchFamily="2" charset="0"/>
              </a:rPr>
              <a:t>resultados inciertos</a:t>
            </a:r>
            <a:r>
              <a:rPr lang="es-ES" sz="3000" dirty="0">
                <a:solidFill>
                  <a:srgbClr val="131D3F"/>
                </a:solidFill>
                <a:latin typeface="Montserrat" panose="00000500000000000000" pitchFamily="2" charset="0"/>
              </a:rPr>
              <a:t>.</a:t>
            </a: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Árbol de Decisión</a:t>
            </a:r>
          </a:p>
        </p:txBody>
      </p:sp>
    </p:spTree>
    <p:extLst>
      <p:ext uri="{BB962C8B-B14F-4D97-AF65-F5344CB8AC3E}">
        <p14:creationId xmlns:p14="http://schemas.microsoft.com/office/powerpoint/2010/main" val="320359193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158</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Árbol de Decisión</a:t>
            </a:r>
          </a:p>
        </p:txBody>
      </p:sp>
      <p:sp>
        <p:nvSpPr>
          <p:cNvPr id="10" name="CuadroTexto 9">
            <a:extLst>
              <a:ext uri="{FF2B5EF4-FFF2-40B4-BE49-F238E27FC236}">
                <a16:creationId xmlns:a16="http://schemas.microsoft.com/office/drawing/2014/main" id="{9F385ECD-3595-4F9C-B14D-97F569F59D00}"/>
              </a:ext>
            </a:extLst>
          </p:cNvPr>
          <p:cNvSpPr txBox="1"/>
          <p:nvPr/>
        </p:nvSpPr>
        <p:spPr>
          <a:xfrm>
            <a:off x="804498" y="1567282"/>
            <a:ext cx="10583004" cy="4247317"/>
          </a:xfrm>
          <a:prstGeom prst="rect">
            <a:avLst/>
          </a:prstGeom>
          <a:noFill/>
        </p:spPr>
        <p:txBody>
          <a:bodyPr wrap="square">
            <a:spAutoFit/>
          </a:bodyPr>
          <a:lstStyle/>
          <a:p>
            <a:pPr algn="just"/>
            <a:r>
              <a:rPr lang="es-ES" sz="3000" dirty="0">
                <a:latin typeface="Montserrat" panose="00000500000000000000" pitchFamily="2" charset="0"/>
              </a:rPr>
              <a:t>Las características principales de un árbol de decisiones son:</a:t>
            </a:r>
          </a:p>
          <a:p>
            <a:pPr algn="just"/>
            <a:endParaRPr lang="es-ES" sz="3000" dirty="0">
              <a:latin typeface="Montserrat" panose="00000500000000000000" pitchFamily="2" charset="0"/>
            </a:endParaRPr>
          </a:p>
          <a:p>
            <a:pPr algn="just">
              <a:buFont typeface="+mj-lt"/>
              <a:buAutoNum type="arabicPeriod"/>
            </a:pPr>
            <a:r>
              <a:rPr lang="es-ES" sz="3000" b="1" dirty="0">
                <a:latin typeface="Montserrat" panose="00000500000000000000" pitchFamily="2" charset="0"/>
              </a:rPr>
              <a:t>Nodos</a:t>
            </a:r>
            <a:r>
              <a:rPr lang="es-ES" sz="3000" dirty="0">
                <a:latin typeface="Montserrat" panose="00000500000000000000" pitchFamily="2" charset="0"/>
              </a:rPr>
              <a:t>: Representan decisiones (nodos de decisión) o eventos inciertos (nodos de probabilidad).</a:t>
            </a:r>
          </a:p>
          <a:p>
            <a:pPr algn="just">
              <a:buFont typeface="+mj-lt"/>
              <a:buAutoNum type="arabicPeriod"/>
            </a:pPr>
            <a:r>
              <a:rPr lang="es-ES" sz="3000" b="1" dirty="0">
                <a:latin typeface="Montserrat" panose="00000500000000000000" pitchFamily="2" charset="0"/>
              </a:rPr>
              <a:t>Ramas</a:t>
            </a:r>
            <a:r>
              <a:rPr lang="es-ES" sz="3000" dirty="0">
                <a:latin typeface="Montserrat" panose="00000500000000000000" pitchFamily="2" charset="0"/>
              </a:rPr>
              <a:t>: Muestran las diferentes opciones o resultados posibles.</a:t>
            </a:r>
          </a:p>
          <a:p>
            <a:pPr algn="just">
              <a:buFont typeface="+mj-lt"/>
              <a:buAutoNum type="arabicPeriod"/>
            </a:pPr>
            <a:r>
              <a:rPr lang="es-ES" sz="3000" b="1" dirty="0">
                <a:latin typeface="Montserrat" panose="00000500000000000000" pitchFamily="2" charset="0"/>
              </a:rPr>
              <a:t>Hoja</a:t>
            </a:r>
            <a:r>
              <a:rPr lang="es-ES" sz="3000" dirty="0">
                <a:latin typeface="Montserrat" panose="00000500000000000000" pitchFamily="2" charset="0"/>
              </a:rPr>
              <a:t>: Los nodos terminales, que representan el resultado final de un camino de decisiones.</a:t>
            </a:r>
          </a:p>
        </p:txBody>
      </p:sp>
    </p:spTree>
    <p:extLst>
      <p:ext uri="{BB962C8B-B14F-4D97-AF65-F5344CB8AC3E}">
        <p14:creationId xmlns:p14="http://schemas.microsoft.com/office/powerpoint/2010/main" val="121970583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159</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Árbol de Decisión</a:t>
            </a:r>
          </a:p>
        </p:txBody>
      </p:sp>
      <p:pic>
        <p:nvPicPr>
          <p:cNvPr id="1026" name="Picture 2">
            <a:extLst>
              <a:ext uri="{FF2B5EF4-FFF2-40B4-BE49-F238E27FC236}">
                <a16:creationId xmlns:a16="http://schemas.microsoft.com/office/drawing/2014/main" id="{CAC5C783-4E64-42B4-AEBD-6A6E642726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4322" y="1482355"/>
            <a:ext cx="8003356" cy="4811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52979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160</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Árbol de Decisión - Ejemplo</a:t>
            </a:r>
          </a:p>
        </p:txBody>
      </p:sp>
      <p:sp>
        <p:nvSpPr>
          <p:cNvPr id="10" name="CuadroTexto 9">
            <a:extLst>
              <a:ext uri="{FF2B5EF4-FFF2-40B4-BE49-F238E27FC236}">
                <a16:creationId xmlns:a16="http://schemas.microsoft.com/office/drawing/2014/main" id="{9F385ECD-3595-4F9C-B14D-97F569F59D00}"/>
              </a:ext>
            </a:extLst>
          </p:cNvPr>
          <p:cNvSpPr txBox="1"/>
          <p:nvPr/>
        </p:nvSpPr>
        <p:spPr>
          <a:xfrm>
            <a:off x="594332" y="1435307"/>
            <a:ext cx="10958464" cy="5186035"/>
          </a:xfrm>
          <a:prstGeom prst="rect">
            <a:avLst/>
          </a:prstGeom>
          <a:noFill/>
        </p:spPr>
        <p:txBody>
          <a:bodyPr wrap="square">
            <a:spAutoFit/>
          </a:bodyPr>
          <a:lstStyle/>
          <a:p>
            <a:pPr algn="just">
              <a:spcAft>
                <a:spcPts val="600"/>
              </a:spcAft>
            </a:pPr>
            <a:r>
              <a:rPr lang="es-ES" dirty="0">
                <a:latin typeface="Montserrat" panose="00000500000000000000" pitchFamily="2" charset="0"/>
              </a:rPr>
              <a:t>Un gerente está tratando de decidir si debe comprar una máquina o dos. </a:t>
            </a:r>
          </a:p>
          <a:p>
            <a:pPr algn="just">
              <a:spcAft>
                <a:spcPts val="600"/>
              </a:spcAft>
            </a:pPr>
            <a:r>
              <a:rPr lang="es-ES" dirty="0">
                <a:latin typeface="Montserrat" panose="00000500000000000000" pitchFamily="2" charset="0"/>
              </a:rPr>
              <a:t>Si compra sólo una y la demanda resulta ser excesiva, podría adquirir después la segunda máquina; sin embargo, perdería algunas ventas porque el tiempo que implica la fabricación de este tipo de máquinas es de seis meses. </a:t>
            </a:r>
          </a:p>
          <a:p>
            <a:pPr algn="just">
              <a:spcAft>
                <a:spcPts val="600"/>
              </a:spcAft>
            </a:pPr>
            <a:r>
              <a:rPr lang="es-ES" dirty="0">
                <a:latin typeface="Montserrat" panose="00000500000000000000" pitchFamily="2" charset="0"/>
              </a:rPr>
              <a:t>Si compra una máquina y la demanda resulta ser baja, el valor presente neto seria de $120,000, si la demanda es alta, el gerente tendrá tres opciones:</a:t>
            </a:r>
          </a:p>
          <a:p>
            <a:pPr marL="342900" indent="-342900" algn="just">
              <a:buFont typeface="+mj-lt"/>
              <a:buAutoNum type="arabicPeriod"/>
            </a:pPr>
            <a:r>
              <a:rPr lang="es-ES" dirty="0">
                <a:latin typeface="Montserrat" panose="00000500000000000000" pitchFamily="2" charset="0"/>
              </a:rPr>
              <a:t>No hacer nada tiene un valor presente neto de $120,000; </a:t>
            </a:r>
          </a:p>
          <a:p>
            <a:pPr marL="342900" indent="-342900" algn="just">
              <a:buFont typeface="+mj-lt"/>
              <a:buAutoNum type="arabicPeriod"/>
            </a:pPr>
            <a:r>
              <a:rPr lang="es-ES" dirty="0">
                <a:latin typeface="Montserrat" panose="00000500000000000000" pitchFamily="2" charset="0"/>
              </a:rPr>
              <a:t>Subcontratar, $140,000; y </a:t>
            </a:r>
          </a:p>
          <a:p>
            <a:pPr marL="342900" indent="-342900" algn="just">
              <a:buFont typeface="+mj-lt"/>
              <a:buAutoNum type="arabicPeriod"/>
            </a:pPr>
            <a:r>
              <a:rPr lang="es-ES" dirty="0">
                <a:latin typeface="Montserrat" panose="00000500000000000000" pitchFamily="2" charset="0"/>
              </a:rPr>
              <a:t>Comprar la segunda máquina, $130,000. </a:t>
            </a:r>
          </a:p>
          <a:p>
            <a:pPr algn="just"/>
            <a:endParaRPr lang="es-ES" dirty="0">
              <a:latin typeface="Montserrat" panose="00000500000000000000" pitchFamily="2" charset="0"/>
            </a:endParaRPr>
          </a:p>
          <a:p>
            <a:pPr algn="just">
              <a:spcAft>
                <a:spcPts val="600"/>
              </a:spcAft>
            </a:pPr>
            <a:r>
              <a:rPr lang="es-ES" dirty="0">
                <a:latin typeface="Montserrat" panose="00000500000000000000" pitchFamily="2" charset="0"/>
              </a:rPr>
              <a:t>Considerando que el costo por máquina sería más bajo si comprara las dos al mismo tiempo, el valor presente neto, después de impuestos, de los beneficios derivados de comprar las dos máquinas a la vez es de $90,000 si la demanda es baja, y de $170,000 si la demanda es alta. </a:t>
            </a:r>
          </a:p>
          <a:p>
            <a:pPr algn="just">
              <a:spcAft>
                <a:spcPts val="600"/>
              </a:spcAft>
            </a:pPr>
            <a:r>
              <a:rPr lang="es-ES" dirty="0">
                <a:latin typeface="Montserrat" panose="00000500000000000000" pitchFamily="2" charset="0"/>
              </a:rPr>
              <a:t>Finalmente, la probabilidad de que la demanda sea baja se ha estimado en 0.30. </a:t>
            </a:r>
          </a:p>
          <a:p>
            <a:pPr marL="342900" indent="-342900" algn="just">
              <a:buFont typeface="+mj-lt"/>
              <a:buAutoNum type="arabicPeriod"/>
            </a:pPr>
            <a:r>
              <a:rPr lang="es-ES" dirty="0">
                <a:latin typeface="Montserrat" panose="00000500000000000000" pitchFamily="2" charset="0"/>
              </a:rPr>
              <a:t>Dibuje un árbol de decisiones para este problema.</a:t>
            </a:r>
          </a:p>
          <a:p>
            <a:pPr marL="342900" indent="-342900" algn="just">
              <a:buFont typeface="+mj-lt"/>
              <a:buAutoNum type="arabicPeriod"/>
            </a:pPr>
            <a:r>
              <a:rPr lang="es-ES" dirty="0">
                <a:latin typeface="Montserrat" panose="00000500000000000000" pitchFamily="2" charset="0"/>
              </a:rPr>
              <a:t>¿Cuántas maquinas debe comprar la compañía inicialmente? ¿Cuál es el beneficio esperado de esta alternativa?</a:t>
            </a:r>
          </a:p>
        </p:txBody>
      </p:sp>
    </p:spTree>
    <p:extLst>
      <p:ext uri="{BB962C8B-B14F-4D97-AF65-F5344CB8AC3E}">
        <p14:creationId xmlns:p14="http://schemas.microsoft.com/office/powerpoint/2010/main" val="13435611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161</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Árbol de Decisión - Ejemplo</a:t>
            </a:r>
          </a:p>
        </p:txBody>
      </p:sp>
      <p:sp>
        <p:nvSpPr>
          <p:cNvPr id="10" name="CuadroTexto 9">
            <a:extLst>
              <a:ext uri="{FF2B5EF4-FFF2-40B4-BE49-F238E27FC236}">
                <a16:creationId xmlns:a16="http://schemas.microsoft.com/office/drawing/2014/main" id="{9F385ECD-3595-4F9C-B14D-97F569F59D00}"/>
              </a:ext>
            </a:extLst>
          </p:cNvPr>
          <p:cNvSpPr txBox="1"/>
          <p:nvPr/>
        </p:nvSpPr>
        <p:spPr>
          <a:xfrm>
            <a:off x="594332" y="1435307"/>
            <a:ext cx="10958464" cy="5186035"/>
          </a:xfrm>
          <a:prstGeom prst="rect">
            <a:avLst/>
          </a:prstGeom>
          <a:noFill/>
        </p:spPr>
        <p:txBody>
          <a:bodyPr wrap="square">
            <a:spAutoFit/>
          </a:bodyPr>
          <a:lstStyle/>
          <a:p>
            <a:pPr algn="just">
              <a:spcAft>
                <a:spcPts val="600"/>
              </a:spcAft>
            </a:pPr>
            <a:r>
              <a:rPr lang="es-ES" dirty="0">
                <a:latin typeface="Montserrat" panose="00000500000000000000" pitchFamily="2" charset="0"/>
              </a:rPr>
              <a:t>Un gerente está tratando de decidir si debe comprar una máquina o dos. </a:t>
            </a:r>
          </a:p>
          <a:p>
            <a:pPr algn="just">
              <a:spcAft>
                <a:spcPts val="600"/>
              </a:spcAft>
            </a:pPr>
            <a:r>
              <a:rPr lang="es-ES" dirty="0">
                <a:latin typeface="Montserrat" panose="00000500000000000000" pitchFamily="2" charset="0"/>
              </a:rPr>
              <a:t>Si compra sólo una y la demanda resulta ser excesiva, podría adquirir después la segunda máquina; sin embargo, perdería algunas ventas porque el tiempo que implica la fabricación de este tipo de máquinas es de seis meses. </a:t>
            </a:r>
          </a:p>
          <a:p>
            <a:pPr algn="just">
              <a:spcAft>
                <a:spcPts val="600"/>
              </a:spcAft>
            </a:pPr>
            <a:r>
              <a:rPr lang="es-ES" dirty="0">
                <a:latin typeface="Montserrat" panose="00000500000000000000" pitchFamily="2" charset="0"/>
              </a:rPr>
              <a:t>Si compra una máquina y la demanda resulta ser baja, el valor presente neto seria de $120,000, si la demanda es alta, el gerente tendrá tres opciones:</a:t>
            </a:r>
          </a:p>
          <a:p>
            <a:pPr marL="342900" indent="-342900" algn="just">
              <a:buFont typeface="+mj-lt"/>
              <a:buAutoNum type="arabicPeriod"/>
            </a:pPr>
            <a:r>
              <a:rPr lang="es-ES" dirty="0">
                <a:latin typeface="Montserrat" panose="00000500000000000000" pitchFamily="2" charset="0"/>
              </a:rPr>
              <a:t>No hacer nada tiene un valor presente neto de $120,000; </a:t>
            </a:r>
          </a:p>
          <a:p>
            <a:pPr marL="342900" indent="-342900" algn="just">
              <a:buFont typeface="+mj-lt"/>
              <a:buAutoNum type="arabicPeriod"/>
            </a:pPr>
            <a:r>
              <a:rPr lang="es-ES" dirty="0">
                <a:latin typeface="Montserrat" panose="00000500000000000000" pitchFamily="2" charset="0"/>
              </a:rPr>
              <a:t>Subcontratar, $140,000; y </a:t>
            </a:r>
          </a:p>
          <a:p>
            <a:pPr marL="342900" indent="-342900" algn="just">
              <a:buFont typeface="+mj-lt"/>
              <a:buAutoNum type="arabicPeriod"/>
            </a:pPr>
            <a:r>
              <a:rPr lang="es-ES" dirty="0">
                <a:latin typeface="Montserrat" panose="00000500000000000000" pitchFamily="2" charset="0"/>
              </a:rPr>
              <a:t>Comprar la segunda máquina, $130,000. </a:t>
            </a:r>
          </a:p>
          <a:p>
            <a:pPr algn="just"/>
            <a:endParaRPr lang="es-ES" dirty="0">
              <a:latin typeface="Montserrat" panose="00000500000000000000" pitchFamily="2" charset="0"/>
            </a:endParaRPr>
          </a:p>
          <a:p>
            <a:pPr algn="just">
              <a:spcAft>
                <a:spcPts val="600"/>
              </a:spcAft>
            </a:pPr>
            <a:r>
              <a:rPr lang="es-ES" dirty="0">
                <a:latin typeface="Montserrat" panose="00000500000000000000" pitchFamily="2" charset="0"/>
              </a:rPr>
              <a:t>Considerando que el costo por máquina sería más bajo si comprara las dos al mismo tiempo, el valor presente neto, después de impuestos, de los beneficios derivados de comprar las dos máquinas a la vez es de $90,000 si la demanda es baja, y de $170,000 si la demanda es alta. </a:t>
            </a:r>
          </a:p>
          <a:p>
            <a:pPr algn="just">
              <a:spcAft>
                <a:spcPts val="600"/>
              </a:spcAft>
            </a:pPr>
            <a:r>
              <a:rPr lang="es-ES" dirty="0">
                <a:latin typeface="Montserrat" panose="00000500000000000000" pitchFamily="2" charset="0"/>
              </a:rPr>
              <a:t>Finalmente, la probabilidad de que la demanda sea baja se ha estimado en 0.30. </a:t>
            </a:r>
          </a:p>
          <a:p>
            <a:pPr marL="342900" indent="-342900" algn="just">
              <a:buFont typeface="+mj-lt"/>
              <a:buAutoNum type="arabicPeriod"/>
            </a:pPr>
            <a:r>
              <a:rPr lang="es-ES" dirty="0">
                <a:latin typeface="Montserrat" panose="00000500000000000000" pitchFamily="2" charset="0"/>
              </a:rPr>
              <a:t>Dibuje un árbol de decisiones para este problema.</a:t>
            </a:r>
          </a:p>
          <a:p>
            <a:pPr marL="342900" indent="-342900" algn="just">
              <a:buFont typeface="+mj-lt"/>
              <a:buAutoNum type="arabicPeriod"/>
            </a:pPr>
            <a:r>
              <a:rPr lang="es-ES" dirty="0">
                <a:latin typeface="Montserrat" panose="00000500000000000000" pitchFamily="2" charset="0"/>
              </a:rPr>
              <a:t>¿Cuántas maquinas debe comprar la compañía inicialmente? ¿Cuál es el beneficio esperado de esta alternativa?</a:t>
            </a:r>
          </a:p>
        </p:txBody>
      </p:sp>
    </p:spTree>
    <p:extLst>
      <p:ext uri="{BB962C8B-B14F-4D97-AF65-F5344CB8AC3E}">
        <p14:creationId xmlns:p14="http://schemas.microsoft.com/office/powerpoint/2010/main" val="150896729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162</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SemiBold" panose="00000700000000000000" pitchFamily="2" charset="0"/>
              </a:rPr>
              <a:t>Árbol de Decisión - Ejemplo</a:t>
            </a:r>
          </a:p>
        </p:txBody>
      </p:sp>
      <p:sp>
        <p:nvSpPr>
          <p:cNvPr id="10" name="CuadroTexto 9">
            <a:extLst>
              <a:ext uri="{FF2B5EF4-FFF2-40B4-BE49-F238E27FC236}">
                <a16:creationId xmlns:a16="http://schemas.microsoft.com/office/drawing/2014/main" id="{9F385ECD-3595-4F9C-B14D-97F569F59D00}"/>
              </a:ext>
            </a:extLst>
          </p:cNvPr>
          <p:cNvSpPr txBox="1"/>
          <p:nvPr/>
        </p:nvSpPr>
        <p:spPr>
          <a:xfrm>
            <a:off x="616768" y="1902429"/>
            <a:ext cx="10958464" cy="4078039"/>
          </a:xfrm>
          <a:prstGeom prst="rect">
            <a:avLst/>
          </a:prstGeom>
          <a:noFill/>
        </p:spPr>
        <p:txBody>
          <a:bodyPr wrap="square">
            <a:spAutoFit/>
          </a:bodyPr>
          <a:lstStyle/>
          <a:p>
            <a:pPr algn="just">
              <a:spcAft>
                <a:spcPts val="600"/>
              </a:spcAft>
            </a:pPr>
            <a:r>
              <a:rPr lang="es-ES" dirty="0" err="1">
                <a:latin typeface="Montserrat" panose="00000500000000000000" pitchFamily="2" charset="0"/>
              </a:rPr>
              <a:t>McBurger</a:t>
            </a:r>
            <a:r>
              <a:rPr lang="es-ES" dirty="0">
                <a:latin typeface="Montserrat" panose="00000500000000000000" pitchFamily="2" charset="0"/>
              </a:rPr>
              <a:t>, Inc., desea rediseñar sus cocinas para mejorar la productividad y la calidad, la demanda diaria de emparedados en un restaurante típico </a:t>
            </a:r>
            <a:r>
              <a:rPr lang="es-ES" dirty="0" err="1">
                <a:latin typeface="Montserrat" panose="00000500000000000000" pitchFamily="2" charset="0"/>
              </a:rPr>
              <a:t>McBurger</a:t>
            </a:r>
            <a:r>
              <a:rPr lang="es-ES" dirty="0">
                <a:latin typeface="Montserrat" panose="00000500000000000000" pitchFamily="2" charset="0"/>
              </a:rPr>
              <a:t> es de 500. Producir un emparedado cuesta $1.30. Los emparedados no defectuosos se venden en promedio a $2.50 cada uno; los defectuosos no se pueden vender y son desechados.</a:t>
            </a:r>
          </a:p>
          <a:p>
            <a:pPr algn="just">
              <a:spcAft>
                <a:spcPts val="600"/>
              </a:spcAft>
            </a:pPr>
            <a:r>
              <a:rPr lang="es-ES" dirty="0">
                <a:latin typeface="Montserrat" panose="00000500000000000000" pitchFamily="2" charset="0"/>
              </a:rPr>
              <a:t>Se tienen en consideración tres diseños, denominados K1, K2 y K3, con un costo de $100,000, $130,000 y $180,000, respectivamente y se esperan los siguientes resultados: </a:t>
            </a:r>
          </a:p>
          <a:p>
            <a:pPr marL="800100" lvl="1" indent="-342900" algn="just">
              <a:spcAft>
                <a:spcPts val="600"/>
              </a:spcAft>
              <a:buFont typeface="+mj-lt"/>
              <a:buAutoNum type="arabicPeriod"/>
            </a:pPr>
            <a:r>
              <a:rPr lang="es-ES" dirty="0">
                <a:latin typeface="Montserrat" panose="00000500000000000000" pitchFamily="2" charset="0"/>
              </a:rPr>
              <a:t>K1, 80% de probabilidad que 90 de cada 100 emparedados sean no defectuosos, y 20% de probabilidad de que 70 de cada 100 sean no defectuosos. </a:t>
            </a:r>
          </a:p>
          <a:p>
            <a:pPr marL="800100" lvl="1" indent="-342900" algn="just">
              <a:spcAft>
                <a:spcPts val="600"/>
              </a:spcAft>
              <a:buFont typeface="+mj-lt"/>
              <a:buAutoNum type="arabicPeriod"/>
            </a:pPr>
            <a:r>
              <a:rPr lang="es-ES" dirty="0">
                <a:latin typeface="Montserrat" panose="00000500000000000000" pitchFamily="2" charset="0"/>
              </a:rPr>
              <a:t>K2, 85% de probabilidad que 90 de cada 100 emparedados sean no defectuosos, y 15% de probabilidad de que 75 de cada 100 sean no defectuosos. </a:t>
            </a:r>
          </a:p>
          <a:p>
            <a:pPr marL="800100" lvl="1" indent="-342900" algn="just">
              <a:spcAft>
                <a:spcPts val="600"/>
              </a:spcAft>
              <a:buFont typeface="+mj-lt"/>
              <a:buAutoNum type="arabicPeriod"/>
            </a:pPr>
            <a:r>
              <a:rPr lang="es-ES" dirty="0">
                <a:latin typeface="Montserrat" panose="00000500000000000000" pitchFamily="2" charset="0"/>
              </a:rPr>
              <a:t>K3, 90% de probabilidad de que 95 de cada 100 emparedados sean no defectuosos, y 10% de probabilidad de que 80 de cada 100 sean no defectuosos. </a:t>
            </a:r>
          </a:p>
          <a:p>
            <a:pPr algn="just">
              <a:spcAft>
                <a:spcPts val="600"/>
              </a:spcAft>
            </a:pPr>
            <a:r>
              <a:rPr lang="es-ES" dirty="0">
                <a:latin typeface="Montserrat" panose="00000500000000000000" pitchFamily="2" charset="0"/>
              </a:rPr>
              <a:t>¿Cual es el nivel de ganancia esperado para cada diseño? ¿Cuál es el diseño mas rentable?</a:t>
            </a:r>
          </a:p>
        </p:txBody>
      </p:sp>
    </p:spTree>
    <p:extLst>
      <p:ext uri="{BB962C8B-B14F-4D97-AF65-F5344CB8AC3E}">
        <p14:creationId xmlns:p14="http://schemas.microsoft.com/office/powerpoint/2010/main" val="418629885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163</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a:t>
            </a:r>
            <a:endParaRPr lang="es-ES" sz="2400" b="1" dirty="0">
              <a:solidFill>
                <a:srgbClr val="131D3F"/>
              </a:solidFill>
              <a:latin typeface="Montserrat SemiBold" panose="00000700000000000000" pitchFamily="2" charset="0"/>
            </a:endParaRPr>
          </a:p>
        </p:txBody>
      </p:sp>
      <p:sp>
        <p:nvSpPr>
          <p:cNvPr id="10" name="CuadroTexto 9">
            <a:extLst>
              <a:ext uri="{FF2B5EF4-FFF2-40B4-BE49-F238E27FC236}">
                <a16:creationId xmlns:a16="http://schemas.microsoft.com/office/drawing/2014/main" id="{9F385ECD-3595-4F9C-B14D-97F569F59D00}"/>
              </a:ext>
            </a:extLst>
          </p:cNvPr>
          <p:cNvSpPr txBox="1"/>
          <p:nvPr/>
        </p:nvSpPr>
        <p:spPr>
          <a:xfrm>
            <a:off x="616768" y="1987271"/>
            <a:ext cx="10958464" cy="3785652"/>
          </a:xfrm>
          <a:prstGeom prst="rect">
            <a:avLst/>
          </a:prstGeom>
          <a:noFill/>
        </p:spPr>
        <p:txBody>
          <a:bodyPr wrap="square">
            <a:spAutoFit/>
          </a:bodyPr>
          <a:lstStyle/>
          <a:p>
            <a:pPr algn="just">
              <a:spcAft>
                <a:spcPts val="600"/>
              </a:spcAft>
            </a:pPr>
            <a:r>
              <a:rPr lang="es-ES" sz="3000" dirty="0">
                <a:latin typeface="Montserrat" panose="00000500000000000000" pitchFamily="2" charset="0"/>
              </a:rPr>
              <a:t>El análisis de sensibilidad es una técnica que </a:t>
            </a:r>
            <a:r>
              <a:rPr lang="es-ES" sz="3000" b="1" dirty="0">
                <a:latin typeface="Montserrat" panose="00000500000000000000" pitchFamily="2" charset="0"/>
              </a:rPr>
              <a:t>evalúa cómo los cambios en las variables</a:t>
            </a:r>
            <a:r>
              <a:rPr lang="es-ES" sz="3000" dirty="0">
                <a:latin typeface="Montserrat" panose="00000500000000000000" pitchFamily="2" charset="0"/>
              </a:rPr>
              <a:t> de entrada de un modelo </a:t>
            </a:r>
            <a:r>
              <a:rPr lang="es-ES" sz="3000" b="1" dirty="0">
                <a:latin typeface="Montserrat" panose="00000500000000000000" pitchFamily="2" charset="0"/>
              </a:rPr>
              <a:t>afectan sus resultados.</a:t>
            </a:r>
            <a:r>
              <a:rPr lang="es-ES" sz="3000" dirty="0">
                <a:latin typeface="Montserrat" panose="00000500000000000000" pitchFamily="2" charset="0"/>
              </a:rPr>
              <a:t> Permite identificar cuáles </a:t>
            </a:r>
            <a:r>
              <a:rPr lang="es-ES" sz="3000" u="sng" dirty="0">
                <a:latin typeface="Montserrat" panose="00000500000000000000" pitchFamily="2" charset="0"/>
              </a:rPr>
              <a:t>variables son más críticas*</a:t>
            </a:r>
            <a:r>
              <a:rPr lang="es-ES" sz="3000" dirty="0">
                <a:latin typeface="Montserrat" panose="00000500000000000000" pitchFamily="2" charset="0"/>
              </a:rPr>
              <a:t> y cómo la incertidumbre en estas influye en el resultado final.</a:t>
            </a:r>
          </a:p>
          <a:p>
            <a:pPr algn="just">
              <a:spcAft>
                <a:spcPts val="600"/>
              </a:spcAft>
            </a:pPr>
            <a:endParaRPr lang="es-ES" sz="3200" dirty="0">
              <a:latin typeface="Montserrat" panose="00000500000000000000" pitchFamily="2" charset="0"/>
            </a:endParaRPr>
          </a:p>
          <a:p>
            <a:pPr algn="just">
              <a:spcAft>
                <a:spcPts val="600"/>
              </a:spcAft>
            </a:pPr>
            <a:r>
              <a:rPr lang="es-ES" sz="2400" u="sng" dirty="0">
                <a:latin typeface="Montserrat" panose="00000500000000000000" pitchFamily="2" charset="0"/>
              </a:rPr>
              <a:t>*Una variable se considera crítica cuando produce un cambio en un resultado mayor que el que produce otra.</a:t>
            </a:r>
          </a:p>
        </p:txBody>
      </p:sp>
    </p:spTree>
    <p:extLst>
      <p:ext uri="{BB962C8B-B14F-4D97-AF65-F5344CB8AC3E}">
        <p14:creationId xmlns:p14="http://schemas.microsoft.com/office/powerpoint/2010/main" val="71203434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164</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 - Ejemplo</a:t>
            </a:r>
            <a:endParaRPr lang="es-ES" sz="2400" b="1" dirty="0">
              <a:solidFill>
                <a:srgbClr val="131D3F"/>
              </a:solidFill>
              <a:latin typeface="Montserrat SemiBold" panose="00000700000000000000" pitchFamily="2" charset="0"/>
            </a:endParaRPr>
          </a:p>
        </p:txBody>
      </p:sp>
      <p:sp>
        <p:nvSpPr>
          <p:cNvPr id="10" name="CuadroTexto 9">
            <a:extLst>
              <a:ext uri="{FF2B5EF4-FFF2-40B4-BE49-F238E27FC236}">
                <a16:creationId xmlns:a16="http://schemas.microsoft.com/office/drawing/2014/main" id="{9F385ECD-3595-4F9C-B14D-97F569F59D00}"/>
              </a:ext>
            </a:extLst>
          </p:cNvPr>
          <p:cNvSpPr txBox="1"/>
          <p:nvPr/>
        </p:nvSpPr>
        <p:spPr>
          <a:xfrm>
            <a:off x="616768" y="1629053"/>
            <a:ext cx="10958464" cy="2092881"/>
          </a:xfrm>
          <a:prstGeom prst="rect">
            <a:avLst/>
          </a:prstGeom>
          <a:noFill/>
        </p:spPr>
        <p:txBody>
          <a:bodyPr wrap="square">
            <a:spAutoFit/>
          </a:bodyPr>
          <a:lstStyle/>
          <a:p>
            <a:pPr algn="just">
              <a:spcAft>
                <a:spcPts val="1200"/>
              </a:spcAft>
            </a:pPr>
            <a:r>
              <a:rPr lang="es-ES" sz="2000" dirty="0">
                <a:latin typeface="Montserrat" panose="00000500000000000000" pitchFamily="2" charset="0"/>
              </a:rPr>
              <a:t>Supongamos que estás evaluando un proyecto de inversión y quieres calcular el Valor Presente Neto (VPN) de los flujos de efectivo esperados. Los parámetros del proyecto son:</a:t>
            </a:r>
          </a:p>
          <a:p>
            <a:pPr marL="285750" indent="-285750" algn="just">
              <a:buFont typeface="Arial" panose="020B0604020202020204" pitchFamily="34" charset="0"/>
              <a:buChar char="•"/>
            </a:pPr>
            <a:r>
              <a:rPr lang="es-ES" sz="2000" b="1" dirty="0">
                <a:latin typeface="Montserrat" panose="00000500000000000000" pitchFamily="2" charset="0"/>
              </a:rPr>
              <a:t>Inversión inicial:</a:t>
            </a:r>
            <a:r>
              <a:rPr lang="es-ES" sz="2000" dirty="0">
                <a:latin typeface="Montserrat" panose="00000500000000000000" pitchFamily="2" charset="0"/>
              </a:rPr>
              <a:t> $100,000</a:t>
            </a:r>
          </a:p>
          <a:p>
            <a:pPr marL="285750" indent="-285750" algn="just">
              <a:buFont typeface="Arial" panose="020B0604020202020204" pitchFamily="34" charset="0"/>
              <a:buChar char="•"/>
            </a:pPr>
            <a:r>
              <a:rPr lang="es-ES" sz="2000" b="1" dirty="0">
                <a:latin typeface="Montserrat" panose="00000500000000000000" pitchFamily="2" charset="0"/>
              </a:rPr>
              <a:t>Flujos de efectivo anuales:</a:t>
            </a:r>
            <a:r>
              <a:rPr lang="es-ES" sz="2000" dirty="0">
                <a:latin typeface="Montserrat" panose="00000500000000000000" pitchFamily="2" charset="0"/>
              </a:rPr>
              <a:t> $30,000 durante 5 años</a:t>
            </a:r>
          </a:p>
          <a:p>
            <a:pPr marL="285750" indent="-285750" algn="just">
              <a:buFont typeface="Arial" panose="020B0604020202020204" pitchFamily="34" charset="0"/>
              <a:buChar char="•"/>
            </a:pPr>
            <a:r>
              <a:rPr lang="es-ES" sz="2000" b="1" dirty="0">
                <a:latin typeface="Montserrat" panose="00000500000000000000" pitchFamily="2" charset="0"/>
              </a:rPr>
              <a:t>Tasa de descuento:</a:t>
            </a:r>
            <a:r>
              <a:rPr lang="es-ES" sz="2000" dirty="0">
                <a:latin typeface="Montserrat" panose="00000500000000000000" pitchFamily="2" charset="0"/>
              </a:rPr>
              <a:t> 10%</a:t>
            </a:r>
            <a:endParaRPr lang="es-ES" sz="1600" u="sng" dirty="0">
              <a:latin typeface="Montserrat" panose="00000500000000000000" pitchFamily="2" charset="0"/>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890354FB-9121-4FBA-BD21-ED49FC9A7393}"/>
                  </a:ext>
                </a:extLst>
              </p:cNvPr>
              <p:cNvSpPr txBox="1"/>
              <p:nvPr/>
            </p:nvSpPr>
            <p:spPr>
              <a:xfrm>
                <a:off x="1285188" y="4467345"/>
                <a:ext cx="3520644" cy="10081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𝑉𝑃𝑁</m:t>
                      </m:r>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𝐶</m:t>
                          </m:r>
                        </m:e>
                        <m:sub>
                          <m:r>
                            <a:rPr lang="es-ES" sz="2400" b="0" i="1" smtClean="0">
                              <a:latin typeface="Cambria Math" panose="02040503050406030204" pitchFamily="18" charset="0"/>
                            </a:rPr>
                            <m:t>𝑜</m:t>
                          </m:r>
                        </m:sub>
                      </m:sSub>
                      <m:r>
                        <a:rPr lang="es-ES" sz="2400" b="0" i="1" smtClean="0">
                          <a:latin typeface="Cambria Math" panose="02040503050406030204" pitchFamily="18" charset="0"/>
                        </a:rPr>
                        <m:t>+</m:t>
                      </m:r>
                      <m:nary>
                        <m:naryPr>
                          <m:chr m:val="∑"/>
                          <m:ctrlPr>
                            <a:rPr lang="es-ES" sz="2400" b="0" i="1" smtClean="0">
                              <a:latin typeface="Cambria Math" panose="02040503050406030204" pitchFamily="18" charset="0"/>
                            </a:rPr>
                          </m:ctrlPr>
                        </m:naryPr>
                        <m:sub>
                          <m:r>
                            <m:rPr>
                              <m:brk m:alnAt="23"/>
                            </m:rPr>
                            <a:rPr lang="es-ES" sz="2400" b="0" i="1" smtClean="0">
                              <a:latin typeface="Cambria Math" panose="02040503050406030204" pitchFamily="18" charset="0"/>
                            </a:rPr>
                            <m:t>𝑡</m:t>
                          </m:r>
                          <m:r>
                            <a:rPr lang="es-ES" sz="2400" b="0" i="1" smtClean="0">
                              <a:latin typeface="Cambria Math" panose="02040503050406030204" pitchFamily="18" charset="0"/>
                            </a:rPr>
                            <m:t>=1</m:t>
                          </m:r>
                        </m:sub>
                        <m:sup>
                          <m:r>
                            <a:rPr lang="es-ES" sz="2400" b="0" i="1" smtClean="0">
                              <a:latin typeface="Cambria Math" panose="02040503050406030204" pitchFamily="18" charset="0"/>
                            </a:rPr>
                            <m:t>𝑛</m:t>
                          </m:r>
                        </m:sup>
                        <m:e>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𝐶𝐹</m:t>
                                  </m:r>
                                </m:e>
                                <m:sub>
                                  <m:r>
                                    <a:rPr lang="es-ES" sz="2400" b="0" i="1" smtClean="0">
                                      <a:latin typeface="Cambria Math" panose="02040503050406030204" pitchFamily="18" charset="0"/>
                                    </a:rPr>
                                    <m:t>𝑡</m:t>
                                  </m:r>
                                </m:sub>
                              </m:sSub>
                            </m:num>
                            <m:den>
                              <m:sSup>
                                <m:sSupPr>
                                  <m:ctrlPr>
                                    <a:rPr lang="es-ES" sz="2400" b="0" i="1" smtClean="0">
                                      <a:latin typeface="Cambria Math" panose="02040503050406030204" pitchFamily="18" charset="0"/>
                                    </a:rPr>
                                  </m:ctrlPr>
                                </m:sSupPr>
                                <m:e>
                                  <m:r>
                                    <a:rPr lang="es-ES" sz="2400" b="0" i="1" smtClean="0">
                                      <a:latin typeface="Cambria Math" panose="02040503050406030204" pitchFamily="18" charset="0"/>
                                    </a:rPr>
                                    <m:t>(1+</m:t>
                                  </m:r>
                                  <m:r>
                                    <a:rPr lang="es-ES" sz="2400" b="0" i="1" smtClean="0">
                                      <a:latin typeface="Cambria Math" panose="02040503050406030204" pitchFamily="18" charset="0"/>
                                    </a:rPr>
                                    <m:t>𝑟</m:t>
                                  </m:r>
                                  <m:r>
                                    <a:rPr lang="es-ES" sz="2400" b="0" i="1" smtClean="0">
                                      <a:latin typeface="Cambria Math" panose="02040503050406030204" pitchFamily="18" charset="0"/>
                                    </a:rPr>
                                    <m:t>)</m:t>
                                  </m:r>
                                </m:e>
                                <m:sup>
                                  <m:r>
                                    <a:rPr lang="es-ES" sz="2400" b="0" i="1" smtClean="0">
                                      <a:latin typeface="Cambria Math" panose="02040503050406030204" pitchFamily="18" charset="0"/>
                                    </a:rPr>
                                    <m:t>𝑡</m:t>
                                  </m:r>
                                </m:sup>
                              </m:sSup>
                            </m:den>
                          </m:f>
                        </m:e>
                      </m:nary>
                    </m:oMath>
                  </m:oMathPara>
                </a14:m>
                <a:endParaRPr lang="es-MX" sz="2400" dirty="0"/>
              </a:p>
            </p:txBody>
          </p:sp>
        </mc:Choice>
        <mc:Fallback xmlns="">
          <p:sp>
            <p:nvSpPr>
              <p:cNvPr id="2" name="CuadroTexto 1">
                <a:extLst>
                  <a:ext uri="{FF2B5EF4-FFF2-40B4-BE49-F238E27FC236}">
                    <a16:creationId xmlns:a16="http://schemas.microsoft.com/office/drawing/2014/main" id="{890354FB-9121-4FBA-BD21-ED49FC9A7393}"/>
                  </a:ext>
                </a:extLst>
              </p:cNvPr>
              <p:cNvSpPr txBox="1">
                <a:spLocks noRot="1" noChangeAspect="1" noMove="1" noResize="1" noEditPoints="1" noAdjustHandles="1" noChangeArrowheads="1" noChangeShapeType="1" noTextEdit="1"/>
              </p:cNvSpPr>
              <p:nvPr/>
            </p:nvSpPr>
            <p:spPr>
              <a:xfrm>
                <a:off x="1285188" y="4467345"/>
                <a:ext cx="3520644" cy="1008161"/>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E3C4DF18-4642-494D-9E43-8A496BB346C3}"/>
                  </a:ext>
                </a:extLst>
              </p:cNvPr>
              <p:cNvSpPr txBox="1"/>
              <p:nvPr/>
            </p:nvSpPr>
            <p:spPr>
              <a:xfrm>
                <a:off x="6184426" y="4001930"/>
                <a:ext cx="4722386" cy="1938992"/>
              </a:xfrm>
              <a:prstGeom prst="rect">
                <a:avLst/>
              </a:prstGeom>
              <a:noFill/>
            </p:spPr>
            <p:txBody>
              <a:bodyPr wrap="square">
                <a:spAutoFit/>
              </a:bodyPr>
              <a:lstStyle/>
              <a:p>
                <a:pPr algn="just"/>
                <a:r>
                  <a:rPr lang="es-ES" sz="2000" b="1" dirty="0">
                    <a:latin typeface="Montserrat" panose="00000500000000000000" pitchFamily="2" charset="0"/>
                  </a:rPr>
                  <a:t>Donde:</a:t>
                </a:r>
              </a:p>
              <a:p>
                <a:pPr algn="just"/>
                <a:endParaRPr lang="es-ES" sz="2000" b="1" dirty="0">
                  <a:latin typeface="Montserrat" panose="00000500000000000000" pitchFamily="2" charset="0"/>
                </a:endParaRPr>
              </a:p>
              <a:p>
                <a:pPr algn="just"/>
                <a14:m>
                  <m:oMath xmlns:m="http://schemas.openxmlformats.org/officeDocument/2006/math">
                    <m:sSub>
                      <m:sSubPr>
                        <m:ctrlPr>
                          <a:rPr lang="es-ES" sz="2000" b="1" i="1" dirty="0" smtClean="0">
                            <a:latin typeface="Cambria Math" panose="02040503050406030204" pitchFamily="18" charset="0"/>
                          </a:rPr>
                        </m:ctrlPr>
                      </m:sSubPr>
                      <m:e>
                        <m:r>
                          <a:rPr lang="es-ES" sz="2000" b="1" i="1" dirty="0" smtClean="0">
                            <a:latin typeface="Cambria Math" panose="02040503050406030204" pitchFamily="18" charset="0"/>
                          </a:rPr>
                          <m:t>𝑪</m:t>
                        </m:r>
                      </m:e>
                      <m:sub>
                        <m:r>
                          <a:rPr lang="es-ES" sz="2000" b="1" i="1" dirty="0" smtClean="0">
                            <a:latin typeface="Cambria Math" panose="02040503050406030204" pitchFamily="18" charset="0"/>
                          </a:rPr>
                          <m:t>𝒐</m:t>
                        </m:r>
                      </m:sub>
                    </m:sSub>
                    <m:r>
                      <m:rPr>
                        <m:nor/>
                      </m:rPr>
                      <a:rPr lang="es-ES" sz="2000" dirty="0">
                        <a:latin typeface="Montserrat" panose="00000500000000000000" pitchFamily="2" charset="0"/>
                      </a:rPr>
                      <m:t>= </m:t>
                    </m:r>
                    <m:r>
                      <m:rPr>
                        <m:nor/>
                      </m:rPr>
                      <a:rPr lang="es-ES" sz="2000" dirty="0">
                        <a:latin typeface="Montserrat" panose="00000500000000000000" pitchFamily="2" charset="0"/>
                      </a:rPr>
                      <m:t>inversi</m:t>
                    </m:r>
                    <m:r>
                      <m:rPr>
                        <m:nor/>
                      </m:rPr>
                      <a:rPr lang="es-ES" sz="2000" dirty="0">
                        <a:latin typeface="Montserrat" panose="00000500000000000000" pitchFamily="2" charset="0"/>
                      </a:rPr>
                      <m:t>ó</m:t>
                    </m:r>
                    <m:r>
                      <m:rPr>
                        <m:nor/>
                      </m:rPr>
                      <a:rPr lang="es-ES" sz="2000" dirty="0">
                        <a:latin typeface="Montserrat" panose="00000500000000000000" pitchFamily="2" charset="0"/>
                      </a:rPr>
                      <m:t>n</m:t>
                    </m:r>
                    <m:r>
                      <m:rPr>
                        <m:nor/>
                      </m:rPr>
                      <a:rPr lang="es-ES" sz="2000" dirty="0">
                        <a:latin typeface="Montserrat" panose="00000500000000000000" pitchFamily="2" charset="0"/>
                      </a:rPr>
                      <m:t> </m:t>
                    </m:r>
                    <m:r>
                      <m:rPr>
                        <m:nor/>
                      </m:rPr>
                      <a:rPr lang="es-ES" sz="2000" dirty="0">
                        <a:latin typeface="Montserrat" panose="00000500000000000000" pitchFamily="2" charset="0"/>
                      </a:rPr>
                      <m:t>inicial</m:t>
                    </m:r>
                  </m:oMath>
                </a14:m>
                <a:r>
                  <a:rPr lang="es-ES" sz="2000" dirty="0">
                    <a:latin typeface="Montserrat" panose="00000500000000000000" pitchFamily="2" charset="0"/>
                  </a:rPr>
                  <a:t>​</a:t>
                </a:r>
              </a:p>
              <a:p>
                <a:pPr algn="just"/>
                <a14:m>
                  <m:oMathPara xmlns:m="http://schemas.openxmlformats.org/officeDocument/2006/math">
                    <m:oMathParaPr>
                      <m:jc m:val="left"/>
                    </m:oMathParaPr>
                    <m:oMath xmlns:m="http://schemas.openxmlformats.org/officeDocument/2006/math">
                      <m:sSub>
                        <m:sSubPr>
                          <m:ctrlPr>
                            <a:rPr lang="es-ES" sz="2000" b="1" i="1" dirty="0" smtClean="0">
                              <a:latin typeface="Cambria Math" panose="02040503050406030204" pitchFamily="18" charset="0"/>
                            </a:rPr>
                          </m:ctrlPr>
                        </m:sSubPr>
                        <m:e>
                          <m:r>
                            <a:rPr lang="es-ES" sz="2000" b="1" i="1" dirty="0" smtClean="0">
                              <a:latin typeface="Cambria Math" panose="02040503050406030204" pitchFamily="18" charset="0"/>
                            </a:rPr>
                            <m:t>𝑪𝑭</m:t>
                          </m:r>
                        </m:e>
                        <m:sub>
                          <m:r>
                            <a:rPr lang="es-ES" sz="2000" b="1" i="1" dirty="0" smtClean="0">
                              <a:latin typeface="Cambria Math" panose="02040503050406030204" pitchFamily="18" charset="0"/>
                            </a:rPr>
                            <m:t>𝒕</m:t>
                          </m:r>
                        </m:sub>
                      </m:sSub>
                      <m:r>
                        <a:rPr lang="es-ES" sz="2000" b="1" i="1" dirty="0" smtClean="0">
                          <a:latin typeface="Cambria Math" panose="02040503050406030204" pitchFamily="18" charset="0"/>
                        </a:rPr>
                        <m:t> </m:t>
                      </m:r>
                      <m:r>
                        <m:rPr>
                          <m:nor/>
                        </m:rPr>
                        <a:rPr lang="es-ES" sz="2000" dirty="0">
                          <a:latin typeface="Montserrat" panose="00000500000000000000" pitchFamily="2" charset="0"/>
                        </a:rPr>
                        <m:t>= </m:t>
                      </m:r>
                      <m:r>
                        <m:rPr>
                          <m:nor/>
                        </m:rPr>
                        <a:rPr lang="es-ES" sz="2000" b="0" i="0" dirty="0" smtClean="0">
                          <a:latin typeface="Montserrat" panose="00000500000000000000" pitchFamily="2" charset="0"/>
                        </a:rPr>
                        <m:t>Flujo</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de</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efectivo</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en</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el</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a</m:t>
                      </m:r>
                      <m:r>
                        <m:rPr>
                          <m:nor/>
                        </m:rPr>
                        <a:rPr lang="es-ES" sz="2000" b="0" i="0" dirty="0" smtClean="0">
                          <a:latin typeface="Montserrat" panose="00000500000000000000" pitchFamily="2" charset="0"/>
                        </a:rPr>
                        <m:t>ñ</m:t>
                      </m:r>
                      <m:r>
                        <m:rPr>
                          <m:nor/>
                        </m:rPr>
                        <a:rPr lang="es-ES" sz="2000" b="0" i="0" dirty="0" smtClean="0">
                          <a:latin typeface="Montserrat" panose="00000500000000000000" pitchFamily="2" charset="0"/>
                        </a:rPr>
                        <m:t>o</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t</m:t>
                      </m:r>
                    </m:oMath>
                  </m:oMathPara>
                </a14:m>
                <a:endParaRPr lang="es-ES" sz="2000" dirty="0">
                  <a:latin typeface="Montserrat" panose="00000500000000000000" pitchFamily="2" charset="0"/>
                </a:endParaRPr>
              </a:p>
              <a:p>
                <a:pPr algn="just"/>
                <a14:m>
                  <m:oMathPara xmlns:m="http://schemas.openxmlformats.org/officeDocument/2006/math">
                    <m:oMathParaPr>
                      <m:jc m:val="left"/>
                    </m:oMathParaPr>
                    <m:oMath xmlns:m="http://schemas.openxmlformats.org/officeDocument/2006/math">
                      <m:r>
                        <a:rPr lang="es-ES" sz="2000" b="1" i="1" dirty="0" smtClean="0">
                          <a:latin typeface="Cambria Math" panose="02040503050406030204" pitchFamily="18" charset="0"/>
                        </a:rPr>
                        <m:t>𝒓</m:t>
                      </m:r>
                      <m:r>
                        <m:rPr>
                          <m:nor/>
                        </m:rPr>
                        <a:rPr lang="es-ES" sz="2000" b="0" i="0" dirty="0" smtClean="0">
                          <a:latin typeface="Cambria Math" panose="02040503050406030204" pitchFamily="18" charset="0"/>
                        </a:rPr>
                        <m:t> </m:t>
                      </m:r>
                      <m:r>
                        <m:rPr>
                          <m:nor/>
                        </m:rPr>
                        <a:rPr lang="es-ES" sz="2000" dirty="0">
                          <a:latin typeface="Montserrat" panose="00000500000000000000" pitchFamily="2" charset="0"/>
                        </a:rPr>
                        <m:t>= </m:t>
                      </m:r>
                      <m:r>
                        <m:rPr>
                          <m:nor/>
                        </m:rPr>
                        <a:rPr lang="es-ES" sz="2000" b="0" i="0" dirty="0" smtClean="0">
                          <a:latin typeface="Montserrat" panose="00000500000000000000" pitchFamily="2" charset="0"/>
                        </a:rPr>
                        <m:t>Tasa</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de</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descuento</m:t>
                      </m:r>
                    </m:oMath>
                  </m:oMathPara>
                </a14:m>
                <a:endParaRPr lang="es-ES" sz="2000" dirty="0">
                  <a:latin typeface="Montserrat" panose="00000500000000000000" pitchFamily="2" charset="0"/>
                </a:endParaRPr>
              </a:p>
              <a:p>
                <a:pPr algn="just"/>
                <a14:m>
                  <m:oMathPara xmlns:m="http://schemas.openxmlformats.org/officeDocument/2006/math">
                    <m:oMathParaPr>
                      <m:jc m:val="left"/>
                    </m:oMathParaPr>
                    <m:oMath xmlns:m="http://schemas.openxmlformats.org/officeDocument/2006/math">
                      <m:r>
                        <a:rPr lang="es-ES" sz="2000" b="1" i="1" dirty="0" smtClean="0">
                          <a:latin typeface="Cambria Math" panose="02040503050406030204" pitchFamily="18" charset="0"/>
                        </a:rPr>
                        <m:t>𝒏</m:t>
                      </m:r>
                      <m:r>
                        <m:rPr>
                          <m:nor/>
                        </m:rPr>
                        <a:rPr lang="es-ES" sz="2000" b="0" i="0" dirty="0" smtClean="0">
                          <a:latin typeface="Cambria Math" panose="02040503050406030204" pitchFamily="18" charset="0"/>
                        </a:rPr>
                        <m:t> </m:t>
                      </m:r>
                      <m:r>
                        <m:rPr>
                          <m:nor/>
                        </m:rPr>
                        <a:rPr lang="es-ES" sz="2000" dirty="0">
                          <a:latin typeface="Montserrat" panose="00000500000000000000" pitchFamily="2" charset="0"/>
                        </a:rPr>
                        <m:t>= </m:t>
                      </m:r>
                      <m:r>
                        <m:rPr>
                          <m:nor/>
                        </m:rPr>
                        <a:rPr lang="es-ES" sz="2000" b="0" i="0" dirty="0" smtClean="0">
                          <a:latin typeface="Montserrat" panose="00000500000000000000" pitchFamily="2" charset="0"/>
                        </a:rPr>
                        <m:t>N</m:t>
                      </m:r>
                      <m:r>
                        <m:rPr>
                          <m:nor/>
                        </m:rPr>
                        <a:rPr lang="es-ES" sz="2000" b="0" i="0" dirty="0" smtClean="0">
                          <a:latin typeface="Montserrat" panose="00000500000000000000" pitchFamily="2" charset="0"/>
                        </a:rPr>
                        <m:t>ú</m:t>
                      </m:r>
                      <m:r>
                        <m:rPr>
                          <m:nor/>
                        </m:rPr>
                        <a:rPr lang="es-ES" sz="2000" b="0" i="0" dirty="0" smtClean="0">
                          <a:latin typeface="Montserrat" panose="00000500000000000000" pitchFamily="2" charset="0"/>
                        </a:rPr>
                        <m:t>mero</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de</m:t>
                      </m:r>
                      <m:r>
                        <m:rPr>
                          <m:nor/>
                        </m:rPr>
                        <a:rPr lang="es-ES" sz="2000" b="0" i="0" dirty="0" smtClean="0">
                          <a:latin typeface="Montserrat" panose="00000500000000000000" pitchFamily="2" charset="0"/>
                        </a:rPr>
                        <m:t> </m:t>
                      </m:r>
                      <m:r>
                        <m:rPr>
                          <m:nor/>
                        </m:rPr>
                        <a:rPr lang="es-ES" sz="2000" b="0" i="0" dirty="0" smtClean="0">
                          <a:latin typeface="Montserrat" panose="00000500000000000000" pitchFamily="2" charset="0"/>
                        </a:rPr>
                        <m:t>a</m:t>
                      </m:r>
                      <m:r>
                        <m:rPr>
                          <m:nor/>
                        </m:rPr>
                        <a:rPr lang="es-ES" sz="2000" b="0" i="0" dirty="0" smtClean="0">
                          <a:latin typeface="Montserrat" panose="00000500000000000000" pitchFamily="2" charset="0"/>
                        </a:rPr>
                        <m:t>ñ</m:t>
                      </m:r>
                      <m:r>
                        <m:rPr>
                          <m:nor/>
                        </m:rPr>
                        <a:rPr lang="es-ES" sz="2000" b="0" i="0" dirty="0" smtClean="0">
                          <a:latin typeface="Montserrat" panose="00000500000000000000" pitchFamily="2" charset="0"/>
                        </a:rPr>
                        <m:t>os</m:t>
                      </m:r>
                    </m:oMath>
                  </m:oMathPara>
                </a14:m>
                <a:endParaRPr lang="es-ES" sz="2000" dirty="0">
                  <a:latin typeface="Montserrat" panose="00000500000000000000" pitchFamily="2" charset="0"/>
                </a:endParaRPr>
              </a:p>
            </p:txBody>
          </p:sp>
        </mc:Choice>
        <mc:Fallback xmlns="">
          <p:sp>
            <p:nvSpPr>
              <p:cNvPr id="12" name="CuadroTexto 11">
                <a:extLst>
                  <a:ext uri="{FF2B5EF4-FFF2-40B4-BE49-F238E27FC236}">
                    <a16:creationId xmlns:a16="http://schemas.microsoft.com/office/drawing/2014/main" id="{E3C4DF18-4642-494D-9E43-8A496BB346C3}"/>
                  </a:ext>
                </a:extLst>
              </p:cNvPr>
              <p:cNvSpPr txBox="1">
                <a:spLocks noRot="1" noChangeAspect="1" noMove="1" noResize="1" noEditPoints="1" noAdjustHandles="1" noChangeArrowheads="1" noChangeShapeType="1" noTextEdit="1"/>
              </p:cNvSpPr>
              <p:nvPr/>
            </p:nvSpPr>
            <p:spPr>
              <a:xfrm>
                <a:off x="6184426" y="4001930"/>
                <a:ext cx="4722386" cy="1938992"/>
              </a:xfrm>
              <a:prstGeom prst="rect">
                <a:avLst/>
              </a:prstGeom>
              <a:blipFill>
                <a:blip r:embed="rId6"/>
                <a:stretch>
                  <a:fillRect l="-1421" t="-1254"/>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05363137-33FA-4EA8-92EF-D3EDF1DC38AD}"/>
              </a:ext>
            </a:extLst>
          </p:cNvPr>
          <p:cNvSpPr txBox="1"/>
          <p:nvPr/>
        </p:nvSpPr>
        <p:spPr>
          <a:xfrm>
            <a:off x="1285189" y="4001929"/>
            <a:ext cx="4722386" cy="400110"/>
          </a:xfrm>
          <a:prstGeom prst="rect">
            <a:avLst/>
          </a:prstGeom>
          <a:noFill/>
        </p:spPr>
        <p:txBody>
          <a:bodyPr wrap="square">
            <a:spAutoFit/>
          </a:bodyPr>
          <a:lstStyle/>
          <a:p>
            <a:pPr algn="just"/>
            <a:r>
              <a:rPr lang="es-ES" sz="2000" b="1" dirty="0">
                <a:latin typeface="Montserrat" panose="00000500000000000000" pitchFamily="2" charset="0"/>
              </a:rPr>
              <a:t>Fórmula:</a:t>
            </a:r>
          </a:p>
        </p:txBody>
      </p:sp>
    </p:spTree>
    <p:extLst>
      <p:ext uri="{BB962C8B-B14F-4D97-AF65-F5344CB8AC3E}">
        <p14:creationId xmlns:p14="http://schemas.microsoft.com/office/powerpoint/2010/main" val="9738097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165</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a:t>
            </a:r>
            <a:endParaRPr lang="es-ES" sz="2400" b="1" dirty="0">
              <a:solidFill>
                <a:srgbClr val="131D3F"/>
              </a:solidFill>
              <a:latin typeface="Montserrat SemiBold" panose="00000700000000000000" pitchFamily="2" charset="0"/>
            </a:endParaRPr>
          </a:p>
        </p:txBody>
      </p:sp>
      <p:sp>
        <p:nvSpPr>
          <p:cNvPr id="10" name="CuadroTexto 9">
            <a:extLst>
              <a:ext uri="{FF2B5EF4-FFF2-40B4-BE49-F238E27FC236}">
                <a16:creationId xmlns:a16="http://schemas.microsoft.com/office/drawing/2014/main" id="{9F385ECD-3595-4F9C-B14D-97F569F59D00}"/>
              </a:ext>
            </a:extLst>
          </p:cNvPr>
          <p:cNvSpPr txBox="1"/>
          <p:nvPr/>
        </p:nvSpPr>
        <p:spPr>
          <a:xfrm>
            <a:off x="616768" y="1882045"/>
            <a:ext cx="10958464" cy="4401205"/>
          </a:xfrm>
          <a:prstGeom prst="rect">
            <a:avLst/>
          </a:prstGeom>
          <a:noFill/>
        </p:spPr>
        <p:txBody>
          <a:bodyPr wrap="square">
            <a:spAutoFit/>
          </a:bodyPr>
          <a:lstStyle/>
          <a:p>
            <a:pPr algn="just">
              <a:spcAft>
                <a:spcPts val="1200"/>
              </a:spcAft>
            </a:pPr>
            <a:r>
              <a:rPr lang="es-ES" sz="3600" dirty="0">
                <a:latin typeface="Montserrat" panose="00000500000000000000" pitchFamily="2" charset="0"/>
              </a:rPr>
              <a:t>¿Tasa de descuento?</a:t>
            </a:r>
          </a:p>
          <a:p>
            <a:pPr algn="just">
              <a:spcAft>
                <a:spcPts val="1200"/>
              </a:spcAft>
            </a:pPr>
            <a:r>
              <a:rPr lang="es-ES" sz="2800" dirty="0">
                <a:latin typeface="Montserrat" panose="00000500000000000000" pitchFamily="2" charset="0"/>
              </a:rPr>
              <a:t>La tasa de descuento es un porcentaje utilizado para calcular el valor presente de flujos de efectivo futuros. Representa el </a:t>
            </a:r>
            <a:r>
              <a:rPr lang="es-ES" sz="2800" b="1" dirty="0">
                <a:latin typeface="Montserrat" panose="00000500000000000000" pitchFamily="2" charset="0"/>
              </a:rPr>
              <a:t>costo de oportunidad del capital</a:t>
            </a:r>
            <a:r>
              <a:rPr lang="es-ES" sz="2800" dirty="0">
                <a:latin typeface="Montserrat" panose="00000500000000000000" pitchFamily="2" charset="0"/>
              </a:rPr>
              <a:t>, el cual puede considerar:</a:t>
            </a:r>
          </a:p>
          <a:p>
            <a:pPr marL="742950" lvl="1" indent="-285750" algn="just">
              <a:buFont typeface="Arial" panose="020B0604020202020204" pitchFamily="34" charset="0"/>
              <a:buChar char="•"/>
            </a:pPr>
            <a:r>
              <a:rPr lang="es-ES" sz="2800" b="1" dirty="0">
                <a:latin typeface="Montserrat" panose="00000500000000000000" pitchFamily="2" charset="0"/>
              </a:rPr>
              <a:t>Tasa de interés</a:t>
            </a:r>
          </a:p>
          <a:p>
            <a:pPr marL="742950" lvl="1" indent="-285750" algn="just">
              <a:buFont typeface="Arial" panose="020B0604020202020204" pitchFamily="34" charset="0"/>
              <a:buChar char="•"/>
            </a:pPr>
            <a:r>
              <a:rPr lang="es-ES" sz="2800" b="1" dirty="0">
                <a:latin typeface="Montserrat" panose="00000500000000000000" pitchFamily="2" charset="0"/>
              </a:rPr>
              <a:t>Costo de Capital</a:t>
            </a:r>
          </a:p>
          <a:p>
            <a:pPr marL="742950" lvl="1" indent="-285750" algn="just">
              <a:buFont typeface="Arial" panose="020B0604020202020204" pitchFamily="34" charset="0"/>
              <a:buChar char="•"/>
            </a:pPr>
            <a:r>
              <a:rPr lang="es-ES" sz="2800" b="1" dirty="0">
                <a:latin typeface="Montserrat" panose="00000500000000000000" pitchFamily="2" charset="0"/>
              </a:rPr>
              <a:t>Impuestos</a:t>
            </a:r>
          </a:p>
          <a:p>
            <a:pPr marL="742950" lvl="1" indent="-285750" algn="just">
              <a:buFont typeface="Arial" panose="020B0604020202020204" pitchFamily="34" charset="0"/>
              <a:buChar char="•"/>
            </a:pPr>
            <a:r>
              <a:rPr lang="es-ES" sz="2800" b="1" dirty="0">
                <a:latin typeface="Montserrat" panose="00000500000000000000" pitchFamily="2" charset="0"/>
              </a:rPr>
              <a:t>Inflación</a:t>
            </a:r>
          </a:p>
        </p:txBody>
      </p:sp>
    </p:spTree>
    <p:extLst>
      <p:ext uri="{BB962C8B-B14F-4D97-AF65-F5344CB8AC3E}">
        <p14:creationId xmlns:p14="http://schemas.microsoft.com/office/powerpoint/2010/main" val="392952555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166</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 - Ejemplo</a:t>
            </a:r>
            <a:endParaRPr lang="es-ES" sz="2400" b="1" dirty="0">
              <a:solidFill>
                <a:srgbClr val="131D3F"/>
              </a:solidFill>
              <a:latin typeface="Montserrat SemiBold" panose="00000700000000000000" pitchFamily="2" charset="0"/>
            </a:endParaRPr>
          </a:p>
        </p:txBody>
      </p:sp>
      <p:sp>
        <p:nvSpPr>
          <p:cNvPr id="13" name="CuadroTexto 12">
            <a:extLst>
              <a:ext uri="{FF2B5EF4-FFF2-40B4-BE49-F238E27FC236}">
                <a16:creationId xmlns:a16="http://schemas.microsoft.com/office/drawing/2014/main" id="{05363137-33FA-4EA8-92EF-D3EDF1DC38AD}"/>
              </a:ext>
            </a:extLst>
          </p:cNvPr>
          <p:cNvSpPr txBox="1"/>
          <p:nvPr/>
        </p:nvSpPr>
        <p:spPr>
          <a:xfrm>
            <a:off x="748666" y="3228945"/>
            <a:ext cx="4722386" cy="400110"/>
          </a:xfrm>
          <a:prstGeom prst="rect">
            <a:avLst/>
          </a:prstGeom>
          <a:noFill/>
        </p:spPr>
        <p:txBody>
          <a:bodyPr wrap="square">
            <a:spAutoFit/>
          </a:bodyPr>
          <a:lstStyle/>
          <a:p>
            <a:pPr algn="just"/>
            <a:r>
              <a:rPr lang="es-ES" sz="2000" b="1" dirty="0">
                <a:latin typeface="Montserrat" panose="00000500000000000000" pitchFamily="2" charset="0"/>
              </a:rPr>
              <a:t>Cálculo:</a:t>
            </a: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48666" y="1544211"/>
            <a:ext cx="10958464" cy="1477328"/>
          </a:xfrm>
          <a:prstGeom prst="rect">
            <a:avLst/>
          </a:prstGeom>
          <a:noFill/>
        </p:spPr>
        <p:txBody>
          <a:bodyPr wrap="square">
            <a:spAutoFit/>
          </a:bodyPr>
          <a:lstStyle/>
          <a:p>
            <a:pPr algn="just">
              <a:spcAft>
                <a:spcPts val="1200"/>
              </a:spcAft>
            </a:pPr>
            <a:r>
              <a:rPr lang="es-ES" sz="2000" b="1" dirty="0">
                <a:latin typeface="Montserrat" panose="00000500000000000000" pitchFamily="2" charset="0"/>
              </a:rPr>
              <a:t>Datos:</a:t>
            </a:r>
          </a:p>
          <a:p>
            <a:pPr marL="285750" indent="-285750" algn="just">
              <a:buFont typeface="Arial" panose="020B0604020202020204" pitchFamily="34" charset="0"/>
              <a:buChar char="•"/>
            </a:pPr>
            <a:r>
              <a:rPr lang="es-ES" sz="2000" b="1" dirty="0">
                <a:latin typeface="Montserrat" panose="00000500000000000000" pitchFamily="2" charset="0"/>
              </a:rPr>
              <a:t>Inversión inicial:</a:t>
            </a:r>
            <a:r>
              <a:rPr lang="es-ES" sz="2000" dirty="0">
                <a:latin typeface="Montserrat" panose="00000500000000000000" pitchFamily="2" charset="0"/>
              </a:rPr>
              <a:t> $100,000</a:t>
            </a:r>
          </a:p>
          <a:p>
            <a:pPr marL="285750" indent="-285750" algn="just">
              <a:buFont typeface="Arial" panose="020B0604020202020204" pitchFamily="34" charset="0"/>
              <a:buChar char="•"/>
            </a:pPr>
            <a:r>
              <a:rPr lang="es-ES" sz="2000" b="1" dirty="0">
                <a:latin typeface="Montserrat" panose="00000500000000000000" pitchFamily="2" charset="0"/>
              </a:rPr>
              <a:t>Flujos de efectivo anuales:</a:t>
            </a:r>
            <a:r>
              <a:rPr lang="es-ES" sz="2000" dirty="0">
                <a:latin typeface="Montserrat" panose="00000500000000000000" pitchFamily="2" charset="0"/>
              </a:rPr>
              <a:t> $30,000 durante 5 años</a:t>
            </a:r>
          </a:p>
          <a:p>
            <a:pPr marL="285750" indent="-285750" algn="just">
              <a:buFont typeface="Arial" panose="020B0604020202020204" pitchFamily="34" charset="0"/>
              <a:buChar char="•"/>
            </a:pPr>
            <a:r>
              <a:rPr lang="es-ES" sz="2000" b="1" dirty="0">
                <a:latin typeface="Montserrat" panose="00000500000000000000" pitchFamily="2" charset="0"/>
              </a:rPr>
              <a:t>Tasa de descuento:</a:t>
            </a:r>
            <a:r>
              <a:rPr lang="es-ES" sz="2000" dirty="0">
                <a:latin typeface="Montserrat" panose="00000500000000000000" pitchFamily="2" charset="0"/>
              </a:rPr>
              <a:t> 10%</a:t>
            </a:r>
            <a:endParaRPr lang="es-ES" sz="1600" u="sng" dirty="0">
              <a:latin typeface="Montserrat" panose="00000500000000000000" pitchFamily="2" charset="0"/>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1BD52B2-83D5-4D37-A4AC-28AA7746C9D1}"/>
                  </a:ext>
                </a:extLst>
              </p:cNvPr>
              <p:cNvSpPr txBox="1"/>
              <p:nvPr/>
            </p:nvSpPr>
            <p:spPr>
              <a:xfrm>
                <a:off x="486796" y="3836461"/>
                <a:ext cx="11218407" cy="762581"/>
              </a:xfrm>
              <a:prstGeom prst="rect">
                <a:avLst/>
              </a:prstGeom>
              <a:noFill/>
            </p:spPr>
            <p:txBody>
              <a:bodyPr wrap="square" lIns="0" tIns="0" rIns="0" bIns="0" rtlCol="0">
                <a:spAutoFit/>
              </a:bodyPr>
              <a:lstStyle/>
              <a:p>
                <a14:m>
                  <m:oMath xmlns:m="http://schemas.openxmlformats.org/officeDocument/2006/math">
                    <m:r>
                      <a:rPr lang="es-ES" sz="3200" b="0" i="1" smtClean="0">
                        <a:latin typeface="Cambria Math" panose="02040503050406030204" pitchFamily="18" charset="0"/>
                      </a:rPr>
                      <m:t>𝑉𝑃𝑁</m:t>
                    </m:r>
                    <m:r>
                      <a:rPr lang="es-ES" sz="3200" b="0" i="1" smtClean="0">
                        <a:latin typeface="Cambria Math" panose="02040503050406030204" pitchFamily="18" charset="0"/>
                      </a:rPr>
                      <m:t>=−100,000+</m:t>
                    </m:r>
                    <m:f>
                      <m:fPr>
                        <m:ctrlPr>
                          <a:rPr lang="es-ES" sz="3200" b="0" i="1" smtClean="0">
                            <a:latin typeface="Cambria Math" panose="02040503050406030204" pitchFamily="18" charset="0"/>
                          </a:rPr>
                        </m:ctrlPr>
                      </m:fPr>
                      <m:num>
                        <m:r>
                          <a:rPr lang="es-ES" sz="3200" b="0" i="1" smtClean="0">
                            <a:latin typeface="Cambria Math" panose="02040503050406030204" pitchFamily="18" charset="0"/>
                          </a:rPr>
                          <m:t>30,000</m:t>
                        </m:r>
                      </m:num>
                      <m:den>
                        <m:sSup>
                          <m:sSupPr>
                            <m:ctrlPr>
                              <a:rPr lang="es-ES" sz="3200" b="0" i="1" smtClean="0">
                                <a:latin typeface="Cambria Math" panose="02040503050406030204" pitchFamily="18" charset="0"/>
                              </a:rPr>
                            </m:ctrlPr>
                          </m:sSupPr>
                          <m:e>
                            <m:d>
                              <m:dPr>
                                <m:ctrlPr>
                                  <a:rPr lang="es-ES" sz="3200" b="0" i="1" smtClean="0">
                                    <a:latin typeface="Cambria Math" panose="02040503050406030204" pitchFamily="18" charset="0"/>
                                  </a:rPr>
                                </m:ctrlPr>
                              </m:dPr>
                              <m:e>
                                <m:r>
                                  <a:rPr lang="es-ES" sz="3200" b="0" i="1" smtClean="0">
                                    <a:latin typeface="Cambria Math" panose="02040503050406030204" pitchFamily="18" charset="0"/>
                                  </a:rPr>
                                  <m:t>1+0.1</m:t>
                                </m:r>
                              </m:e>
                            </m:d>
                          </m:e>
                          <m:sup>
                            <m:r>
                              <a:rPr lang="es-ES" sz="3200" b="0" i="1" smtClean="0">
                                <a:latin typeface="Cambria Math" panose="02040503050406030204" pitchFamily="18" charset="0"/>
                              </a:rPr>
                              <m:t>1</m:t>
                            </m:r>
                          </m:sup>
                        </m:sSup>
                      </m:den>
                    </m:f>
                    <m:r>
                      <a:rPr lang="es-ES" sz="3200" b="0" i="1" smtClean="0">
                        <a:latin typeface="Cambria Math" panose="02040503050406030204" pitchFamily="18" charset="0"/>
                      </a:rPr>
                      <m:t>+</m:t>
                    </m:r>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d>
                              <m:dPr>
                                <m:ctrlPr>
                                  <a:rPr lang="es-ES" sz="3200" i="1">
                                    <a:latin typeface="Cambria Math" panose="02040503050406030204" pitchFamily="18" charset="0"/>
                                  </a:rPr>
                                </m:ctrlPr>
                              </m:dPr>
                              <m:e>
                                <m:r>
                                  <a:rPr lang="es-ES" sz="3200" i="1">
                                    <a:latin typeface="Cambria Math" panose="02040503050406030204" pitchFamily="18" charset="0"/>
                                  </a:rPr>
                                  <m:t>1+0.1</m:t>
                                </m:r>
                              </m:e>
                            </m:d>
                          </m:e>
                          <m:sup>
                            <m:r>
                              <a:rPr lang="es-ES" sz="3200" b="0" i="1" smtClean="0">
                                <a:latin typeface="Cambria Math" panose="02040503050406030204" pitchFamily="18" charset="0"/>
                              </a:rPr>
                              <m:t>2</m:t>
                            </m:r>
                          </m:sup>
                        </m:sSup>
                      </m:den>
                    </m:f>
                    <m:r>
                      <a:rPr lang="es-ES" sz="3200" b="0" i="1" smtClean="0">
                        <a:latin typeface="Cambria Math" panose="02040503050406030204" pitchFamily="18" charset="0"/>
                      </a:rPr>
                      <m:t>+</m:t>
                    </m:r>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(1+0.1)</m:t>
                            </m:r>
                          </m:e>
                          <m:sup>
                            <m:r>
                              <a:rPr lang="es-ES" sz="3200" b="0" i="1" smtClean="0">
                                <a:latin typeface="Cambria Math" panose="02040503050406030204" pitchFamily="18" charset="0"/>
                              </a:rPr>
                              <m:t>3</m:t>
                            </m:r>
                          </m:sup>
                        </m:sSup>
                      </m:den>
                    </m:f>
                  </m:oMath>
                </a14:m>
                <a:r>
                  <a:rPr lang="es-MX" sz="3200" dirty="0"/>
                  <a:t>+</a:t>
                </a:r>
                <a:r>
                  <a:rPr lang="es-ES" sz="3200" dirty="0"/>
                  <a:t> </a:t>
                </a:r>
                <a14:m>
                  <m:oMath xmlns:m="http://schemas.openxmlformats.org/officeDocument/2006/math">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(1+0.1)</m:t>
                            </m:r>
                          </m:e>
                          <m:sup>
                            <m:r>
                              <a:rPr lang="es-ES" sz="3200" b="0" i="1" smtClean="0">
                                <a:latin typeface="Cambria Math" panose="02040503050406030204" pitchFamily="18" charset="0"/>
                              </a:rPr>
                              <m:t>4</m:t>
                            </m:r>
                          </m:sup>
                        </m:sSup>
                      </m:den>
                    </m:f>
                  </m:oMath>
                </a14:m>
                <a:r>
                  <a:rPr lang="es-MX" sz="3200" dirty="0"/>
                  <a:t>+</a:t>
                </a:r>
                <a:r>
                  <a:rPr lang="es-ES" sz="3200" dirty="0"/>
                  <a:t> </a:t>
                </a:r>
                <a14:m>
                  <m:oMath xmlns:m="http://schemas.openxmlformats.org/officeDocument/2006/math">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(1+0.1)</m:t>
                            </m:r>
                          </m:e>
                          <m:sup>
                            <m:r>
                              <a:rPr lang="es-ES" sz="3200" b="0" i="1" smtClean="0">
                                <a:latin typeface="Cambria Math" panose="02040503050406030204" pitchFamily="18" charset="0"/>
                              </a:rPr>
                              <m:t>5</m:t>
                            </m:r>
                          </m:sup>
                        </m:sSup>
                      </m:den>
                    </m:f>
                  </m:oMath>
                </a14:m>
                <a:endParaRPr lang="es-MX" sz="2800" dirty="0"/>
              </a:p>
            </p:txBody>
          </p:sp>
        </mc:Choice>
        <mc:Fallback xmlns="">
          <p:sp>
            <p:nvSpPr>
              <p:cNvPr id="4" name="CuadroTexto 3">
                <a:extLst>
                  <a:ext uri="{FF2B5EF4-FFF2-40B4-BE49-F238E27FC236}">
                    <a16:creationId xmlns:a16="http://schemas.microsoft.com/office/drawing/2014/main" id="{91BD52B2-83D5-4D37-A4AC-28AA7746C9D1}"/>
                  </a:ext>
                </a:extLst>
              </p:cNvPr>
              <p:cNvSpPr txBox="1">
                <a:spLocks noRot="1" noChangeAspect="1" noMove="1" noResize="1" noEditPoints="1" noAdjustHandles="1" noChangeArrowheads="1" noChangeShapeType="1" noTextEdit="1"/>
              </p:cNvSpPr>
              <p:nvPr/>
            </p:nvSpPr>
            <p:spPr>
              <a:xfrm>
                <a:off x="486796" y="3836461"/>
                <a:ext cx="11218407" cy="762581"/>
              </a:xfrm>
              <a:prstGeom prst="rect">
                <a:avLst/>
              </a:prstGeom>
              <a:blipFill>
                <a:blip r:embed="rId5"/>
                <a:stretch>
                  <a:fillRect t="-1600" b="-112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F4F7FCA-3E9A-4FFD-BFDF-D5406BB921D2}"/>
                  </a:ext>
                </a:extLst>
              </p:cNvPr>
              <p:cNvSpPr txBox="1"/>
              <p:nvPr/>
            </p:nvSpPr>
            <p:spPr>
              <a:xfrm>
                <a:off x="486796" y="4944457"/>
                <a:ext cx="11218407" cy="369332"/>
              </a:xfrm>
              <a:prstGeom prst="rect">
                <a:avLst/>
              </a:prstGeom>
              <a:noFill/>
            </p:spPr>
            <p:txBody>
              <a:bodyPr wrap="square" lIns="0" tIns="0" rIns="0" bIns="0" rtlCol="0">
                <a:spAutoFit/>
              </a:bodyPr>
              <a:lstStyle/>
              <a:p>
                <a14:m>
                  <m:oMath xmlns:m="http://schemas.openxmlformats.org/officeDocument/2006/math">
                    <m:r>
                      <a:rPr lang="es-ES" sz="2400" b="0" i="1" smtClean="0">
                        <a:latin typeface="Cambria Math" panose="02040503050406030204" pitchFamily="18" charset="0"/>
                      </a:rPr>
                      <m:t>𝑉𝑃𝑁</m:t>
                    </m:r>
                    <m:r>
                      <a:rPr lang="es-ES" sz="2400" b="0" i="1" smtClean="0">
                        <a:latin typeface="Cambria Math" panose="02040503050406030204" pitchFamily="18" charset="0"/>
                      </a:rPr>
                      <m:t>=−100,000+27,272.73+</m:t>
                    </m:r>
                  </m:oMath>
                </a14:m>
                <a:r>
                  <a:rPr lang="es-ES" sz="2400" dirty="0"/>
                  <a:t> </a:t>
                </a:r>
                <a14:m>
                  <m:oMath xmlns:m="http://schemas.openxmlformats.org/officeDocument/2006/math">
                    <m:r>
                      <a:rPr lang="es-MX" sz="2400">
                        <a:latin typeface="Cambria Math" panose="02040503050406030204" pitchFamily="18" charset="0"/>
                      </a:rPr>
                      <m:t>24,793.39</m:t>
                    </m:r>
                    <m:r>
                      <a:rPr lang="es-ES" sz="2400">
                        <a:latin typeface="Cambria Math" panose="02040503050406030204" pitchFamily="18" charset="0"/>
                      </a:rPr>
                      <m:t>+</m:t>
                    </m:r>
                  </m:oMath>
                </a14:m>
                <a:r>
                  <a:rPr lang="es-ES" sz="2400" dirty="0">
                    <a:latin typeface="Cambria Math" panose="02040503050406030204" pitchFamily="18" charset="0"/>
                  </a:rPr>
                  <a:t> 22,539.44</a:t>
                </a:r>
                <a14:m>
                  <m:oMath xmlns:m="http://schemas.openxmlformats.org/officeDocument/2006/math">
                    <m:r>
                      <a:rPr lang="es-ES" sz="2400">
                        <a:latin typeface="Cambria Math" panose="02040503050406030204" pitchFamily="18" charset="0"/>
                      </a:rPr>
                      <m:t>+</m:t>
                    </m:r>
                  </m:oMath>
                </a14:m>
                <a:r>
                  <a:rPr lang="es-ES" sz="2400" dirty="0">
                    <a:latin typeface="Cambria Math" panose="02040503050406030204" pitchFamily="18" charset="0"/>
                  </a:rPr>
                  <a:t> 20,490.40</a:t>
                </a:r>
                <a14:m>
                  <m:oMath xmlns:m="http://schemas.openxmlformats.org/officeDocument/2006/math">
                    <m:r>
                      <a:rPr lang="es-ES" sz="2400">
                        <a:latin typeface="Cambria Math" panose="02040503050406030204" pitchFamily="18" charset="0"/>
                      </a:rPr>
                      <m:t>+</m:t>
                    </m:r>
                  </m:oMath>
                </a14:m>
                <a:r>
                  <a:rPr lang="es-ES" sz="2400" dirty="0">
                    <a:latin typeface="Cambria Math" panose="02040503050406030204" pitchFamily="18" charset="0"/>
                  </a:rPr>
                  <a:t> 18,627.64</a:t>
                </a:r>
                <a:endParaRPr lang="es-MX" sz="2400" dirty="0">
                  <a:latin typeface="Cambria Math" panose="02040503050406030204" pitchFamily="18" charset="0"/>
                </a:endParaRPr>
              </a:p>
            </p:txBody>
          </p:sp>
        </mc:Choice>
        <mc:Fallback xmlns="">
          <p:sp>
            <p:nvSpPr>
              <p:cNvPr id="15" name="CuadroTexto 14">
                <a:extLst>
                  <a:ext uri="{FF2B5EF4-FFF2-40B4-BE49-F238E27FC236}">
                    <a16:creationId xmlns:a16="http://schemas.microsoft.com/office/drawing/2014/main" id="{2F4F7FCA-3E9A-4FFD-BFDF-D5406BB921D2}"/>
                  </a:ext>
                </a:extLst>
              </p:cNvPr>
              <p:cNvSpPr txBox="1">
                <a:spLocks noRot="1" noChangeAspect="1" noMove="1" noResize="1" noEditPoints="1" noAdjustHandles="1" noChangeArrowheads="1" noChangeShapeType="1" noTextEdit="1"/>
              </p:cNvSpPr>
              <p:nvPr/>
            </p:nvSpPr>
            <p:spPr>
              <a:xfrm>
                <a:off x="486796" y="4944457"/>
                <a:ext cx="11218407" cy="369332"/>
              </a:xfrm>
              <a:prstGeom prst="rect">
                <a:avLst/>
              </a:prstGeom>
              <a:blipFill>
                <a:blip r:embed="rId6"/>
                <a:stretch>
                  <a:fillRect l="-978" t="-27869" b="-459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648610-2147-434B-86ED-F9EECE57AFDC}"/>
                  </a:ext>
                </a:extLst>
              </p:cNvPr>
              <p:cNvSpPr txBox="1"/>
              <p:nvPr/>
            </p:nvSpPr>
            <p:spPr>
              <a:xfrm>
                <a:off x="486796" y="5718582"/>
                <a:ext cx="11218407" cy="43088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s-ES" sz="2800" b="1" i="1" smtClean="0">
                          <a:latin typeface="Cambria Math" panose="02040503050406030204" pitchFamily="18" charset="0"/>
                        </a:rPr>
                        <m:t>𝑽𝑷𝑵</m:t>
                      </m:r>
                      <m:r>
                        <a:rPr lang="es-ES" sz="2800" b="1" i="1" smtClean="0">
                          <a:latin typeface="Cambria Math" panose="02040503050406030204" pitchFamily="18" charset="0"/>
                        </a:rPr>
                        <m:t>=</m:t>
                      </m:r>
                      <m:r>
                        <a:rPr lang="es-MX" sz="2800" b="1" i="1" smtClean="0">
                          <a:latin typeface="Cambria Math" panose="02040503050406030204" pitchFamily="18" charset="0"/>
                        </a:rPr>
                        <m:t>𝟏𝟑</m:t>
                      </m:r>
                      <m:r>
                        <a:rPr lang="es-MX" sz="2800" b="1" i="1" smtClean="0">
                          <a:latin typeface="Cambria Math" panose="02040503050406030204" pitchFamily="18" charset="0"/>
                        </a:rPr>
                        <m:t>,</m:t>
                      </m:r>
                      <m:r>
                        <a:rPr lang="es-MX" sz="2800" b="1" i="1" smtClean="0">
                          <a:latin typeface="Cambria Math" panose="02040503050406030204" pitchFamily="18" charset="0"/>
                        </a:rPr>
                        <m:t>𝟕𝟐𝟑</m:t>
                      </m:r>
                      <m:r>
                        <a:rPr lang="es-MX" sz="2800" b="1" i="1" smtClean="0">
                          <a:latin typeface="Cambria Math" panose="02040503050406030204" pitchFamily="18" charset="0"/>
                        </a:rPr>
                        <m:t>.</m:t>
                      </m:r>
                      <m:r>
                        <a:rPr lang="es-MX" sz="2800" b="1" i="1" smtClean="0">
                          <a:latin typeface="Cambria Math" panose="02040503050406030204" pitchFamily="18" charset="0"/>
                        </a:rPr>
                        <m:t>𝟔𝟎</m:t>
                      </m:r>
                    </m:oMath>
                  </m:oMathPara>
                </a14:m>
                <a:endParaRPr lang="es-MX" sz="2600" b="1" dirty="0"/>
              </a:p>
            </p:txBody>
          </p:sp>
        </mc:Choice>
        <mc:Fallback xmlns="">
          <p:sp>
            <p:nvSpPr>
              <p:cNvPr id="16" name="CuadroTexto 15">
                <a:extLst>
                  <a:ext uri="{FF2B5EF4-FFF2-40B4-BE49-F238E27FC236}">
                    <a16:creationId xmlns:a16="http://schemas.microsoft.com/office/drawing/2014/main" id="{FC648610-2147-434B-86ED-F9EECE57AFDC}"/>
                  </a:ext>
                </a:extLst>
              </p:cNvPr>
              <p:cNvSpPr txBox="1">
                <a:spLocks noRot="1" noChangeAspect="1" noMove="1" noResize="1" noEditPoints="1" noAdjustHandles="1" noChangeArrowheads="1" noChangeShapeType="1" noTextEdit="1"/>
              </p:cNvSpPr>
              <p:nvPr/>
            </p:nvSpPr>
            <p:spPr>
              <a:xfrm>
                <a:off x="486796" y="5718582"/>
                <a:ext cx="11218407" cy="430887"/>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24890801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167</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 – Ejercicio de clase</a:t>
            </a:r>
            <a:endParaRPr lang="es-ES" sz="24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48666" y="1761028"/>
            <a:ext cx="10958464" cy="1723549"/>
          </a:xfrm>
          <a:prstGeom prst="rect">
            <a:avLst/>
          </a:prstGeom>
          <a:noFill/>
        </p:spPr>
        <p:txBody>
          <a:bodyPr wrap="square">
            <a:spAutoFit/>
          </a:bodyPr>
          <a:lstStyle/>
          <a:p>
            <a:pPr algn="just">
              <a:spcAft>
                <a:spcPts val="1200"/>
              </a:spcAft>
            </a:pPr>
            <a:r>
              <a:rPr lang="es-ES" sz="2400" b="1" dirty="0">
                <a:latin typeface="Montserrat" panose="00000500000000000000" pitchFamily="2" charset="0"/>
              </a:rPr>
              <a:t>Datos:</a:t>
            </a:r>
          </a:p>
          <a:p>
            <a:pPr marL="742950" lvl="1" indent="-285750" algn="just">
              <a:buFont typeface="Arial" panose="020B0604020202020204" pitchFamily="34" charset="0"/>
              <a:buChar char="•"/>
            </a:pPr>
            <a:r>
              <a:rPr lang="es-ES" sz="2400" b="1" dirty="0">
                <a:latin typeface="Montserrat" panose="00000500000000000000" pitchFamily="2" charset="0"/>
              </a:rPr>
              <a:t>Inversión inicial:</a:t>
            </a:r>
            <a:r>
              <a:rPr lang="es-ES" sz="2400" dirty="0">
                <a:latin typeface="Montserrat" panose="00000500000000000000" pitchFamily="2" charset="0"/>
              </a:rPr>
              <a:t> $100,000</a:t>
            </a:r>
          </a:p>
          <a:p>
            <a:pPr marL="742950" lvl="1" indent="-285750" algn="just">
              <a:buFont typeface="Arial" panose="020B0604020202020204" pitchFamily="34" charset="0"/>
              <a:buChar char="•"/>
            </a:pPr>
            <a:r>
              <a:rPr lang="es-ES" sz="2400" b="1" dirty="0">
                <a:latin typeface="Montserrat" panose="00000500000000000000" pitchFamily="2" charset="0"/>
              </a:rPr>
              <a:t>Flujos de efectivo anuales:</a:t>
            </a:r>
            <a:r>
              <a:rPr lang="es-ES" sz="2400" dirty="0">
                <a:latin typeface="Montserrat" panose="00000500000000000000" pitchFamily="2" charset="0"/>
              </a:rPr>
              <a:t> $30,000 durante 5 años</a:t>
            </a:r>
          </a:p>
          <a:p>
            <a:pPr marL="742950" lvl="1" indent="-285750" algn="just">
              <a:buFont typeface="Arial" panose="020B0604020202020204" pitchFamily="34" charset="0"/>
              <a:buChar char="•"/>
            </a:pPr>
            <a:r>
              <a:rPr lang="es-ES" sz="2400" b="1" dirty="0">
                <a:latin typeface="Montserrat" panose="00000500000000000000" pitchFamily="2" charset="0"/>
              </a:rPr>
              <a:t>Tasa de descuento:</a:t>
            </a:r>
            <a:r>
              <a:rPr lang="es-ES" sz="2400" dirty="0">
                <a:latin typeface="Montserrat" panose="00000500000000000000" pitchFamily="2" charset="0"/>
              </a:rPr>
              <a:t> 8%</a:t>
            </a:r>
            <a:endParaRPr lang="es-ES" u="sng" dirty="0">
              <a:latin typeface="Montserrat" panose="00000500000000000000" pitchFamily="2" charset="0"/>
            </a:endParaRPr>
          </a:p>
        </p:txBody>
      </p:sp>
      <p:sp>
        <p:nvSpPr>
          <p:cNvPr id="10" name="CuadroTexto 9">
            <a:extLst>
              <a:ext uri="{FF2B5EF4-FFF2-40B4-BE49-F238E27FC236}">
                <a16:creationId xmlns:a16="http://schemas.microsoft.com/office/drawing/2014/main" id="{84C79754-49E9-439B-8706-452C61E5E798}"/>
              </a:ext>
            </a:extLst>
          </p:cNvPr>
          <p:cNvSpPr txBox="1"/>
          <p:nvPr/>
        </p:nvSpPr>
        <p:spPr>
          <a:xfrm>
            <a:off x="616768" y="4138153"/>
            <a:ext cx="10958464" cy="1723549"/>
          </a:xfrm>
          <a:prstGeom prst="rect">
            <a:avLst/>
          </a:prstGeom>
          <a:noFill/>
        </p:spPr>
        <p:txBody>
          <a:bodyPr wrap="square">
            <a:spAutoFit/>
          </a:bodyPr>
          <a:lstStyle/>
          <a:p>
            <a:pPr algn="just">
              <a:spcAft>
                <a:spcPts val="1200"/>
              </a:spcAft>
            </a:pPr>
            <a:r>
              <a:rPr lang="es-ES" sz="2400" b="1" dirty="0">
                <a:latin typeface="Montserrat" panose="00000500000000000000" pitchFamily="2" charset="0"/>
              </a:rPr>
              <a:t>Datos:</a:t>
            </a:r>
          </a:p>
          <a:p>
            <a:pPr marL="742950" lvl="1" indent="-285750" algn="just">
              <a:buFont typeface="Arial" panose="020B0604020202020204" pitchFamily="34" charset="0"/>
              <a:buChar char="•"/>
            </a:pPr>
            <a:r>
              <a:rPr lang="es-ES" sz="2400" b="1" dirty="0">
                <a:latin typeface="Montserrat" panose="00000500000000000000" pitchFamily="2" charset="0"/>
              </a:rPr>
              <a:t>Inversión inicial:</a:t>
            </a:r>
            <a:r>
              <a:rPr lang="es-ES" sz="2400" dirty="0">
                <a:latin typeface="Montserrat" panose="00000500000000000000" pitchFamily="2" charset="0"/>
              </a:rPr>
              <a:t> $100,000</a:t>
            </a:r>
          </a:p>
          <a:p>
            <a:pPr marL="742950" lvl="1" indent="-285750" algn="just">
              <a:buFont typeface="Arial" panose="020B0604020202020204" pitchFamily="34" charset="0"/>
              <a:buChar char="•"/>
            </a:pPr>
            <a:r>
              <a:rPr lang="es-ES" sz="2400" b="1" dirty="0">
                <a:latin typeface="Montserrat" panose="00000500000000000000" pitchFamily="2" charset="0"/>
              </a:rPr>
              <a:t>Flujos de efectivo anuales:</a:t>
            </a:r>
            <a:r>
              <a:rPr lang="es-ES" sz="2400" dirty="0">
                <a:latin typeface="Montserrat" panose="00000500000000000000" pitchFamily="2" charset="0"/>
              </a:rPr>
              <a:t> $30,000 durante 5 años</a:t>
            </a:r>
          </a:p>
          <a:p>
            <a:pPr marL="742950" lvl="1" indent="-285750" algn="just">
              <a:buFont typeface="Arial" panose="020B0604020202020204" pitchFamily="34" charset="0"/>
              <a:buChar char="•"/>
            </a:pPr>
            <a:r>
              <a:rPr lang="es-ES" sz="2400" b="1" dirty="0">
                <a:latin typeface="Montserrat" panose="00000500000000000000" pitchFamily="2" charset="0"/>
              </a:rPr>
              <a:t>Tasa de descuento:</a:t>
            </a:r>
            <a:r>
              <a:rPr lang="es-ES" sz="2400" dirty="0">
                <a:latin typeface="Montserrat" panose="00000500000000000000" pitchFamily="2" charset="0"/>
              </a:rPr>
              <a:t> 12%</a:t>
            </a:r>
            <a:endParaRPr lang="es-ES" u="sng" dirty="0">
              <a:latin typeface="Montserrat" panose="00000500000000000000" pitchFamily="2" charset="0"/>
            </a:endParaRPr>
          </a:p>
        </p:txBody>
      </p:sp>
    </p:spTree>
    <p:extLst>
      <p:ext uri="{BB962C8B-B14F-4D97-AF65-F5344CB8AC3E}">
        <p14:creationId xmlns:p14="http://schemas.microsoft.com/office/powerpoint/2010/main" val="195653221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168</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 - Ejemplo</a:t>
            </a:r>
            <a:endParaRPr lang="es-ES" sz="2400" b="1" dirty="0">
              <a:solidFill>
                <a:srgbClr val="131D3F"/>
              </a:solidFill>
              <a:latin typeface="Montserrat SemiBold" panose="00000700000000000000" pitchFamily="2" charset="0"/>
            </a:endParaRPr>
          </a:p>
        </p:txBody>
      </p:sp>
      <p:sp>
        <p:nvSpPr>
          <p:cNvPr id="13" name="CuadroTexto 12">
            <a:extLst>
              <a:ext uri="{FF2B5EF4-FFF2-40B4-BE49-F238E27FC236}">
                <a16:creationId xmlns:a16="http://schemas.microsoft.com/office/drawing/2014/main" id="{05363137-33FA-4EA8-92EF-D3EDF1DC38AD}"/>
              </a:ext>
            </a:extLst>
          </p:cNvPr>
          <p:cNvSpPr txBox="1"/>
          <p:nvPr/>
        </p:nvSpPr>
        <p:spPr>
          <a:xfrm>
            <a:off x="748666" y="3228945"/>
            <a:ext cx="4722386" cy="400110"/>
          </a:xfrm>
          <a:prstGeom prst="rect">
            <a:avLst/>
          </a:prstGeom>
          <a:noFill/>
        </p:spPr>
        <p:txBody>
          <a:bodyPr wrap="square">
            <a:spAutoFit/>
          </a:bodyPr>
          <a:lstStyle/>
          <a:p>
            <a:pPr algn="just"/>
            <a:r>
              <a:rPr lang="es-ES" sz="2000" b="1" dirty="0">
                <a:latin typeface="Montserrat" panose="00000500000000000000" pitchFamily="2" charset="0"/>
              </a:rPr>
              <a:t>Cálculo:</a:t>
            </a: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48666" y="1544211"/>
            <a:ext cx="10958464" cy="1477328"/>
          </a:xfrm>
          <a:prstGeom prst="rect">
            <a:avLst/>
          </a:prstGeom>
          <a:noFill/>
        </p:spPr>
        <p:txBody>
          <a:bodyPr wrap="square">
            <a:spAutoFit/>
          </a:bodyPr>
          <a:lstStyle/>
          <a:p>
            <a:pPr algn="just">
              <a:spcAft>
                <a:spcPts val="1200"/>
              </a:spcAft>
            </a:pPr>
            <a:r>
              <a:rPr lang="es-ES" sz="2000" b="1" dirty="0">
                <a:latin typeface="Montserrat" panose="00000500000000000000" pitchFamily="2" charset="0"/>
              </a:rPr>
              <a:t>Datos:</a:t>
            </a:r>
          </a:p>
          <a:p>
            <a:pPr marL="285750" indent="-285750" algn="just">
              <a:buFont typeface="Arial" panose="020B0604020202020204" pitchFamily="34" charset="0"/>
              <a:buChar char="•"/>
            </a:pPr>
            <a:r>
              <a:rPr lang="es-ES" sz="2000" b="1" dirty="0">
                <a:latin typeface="Montserrat" panose="00000500000000000000" pitchFamily="2" charset="0"/>
              </a:rPr>
              <a:t>Inversión inicial:</a:t>
            </a:r>
            <a:r>
              <a:rPr lang="es-ES" sz="2000" dirty="0">
                <a:latin typeface="Montserrat" panose="00000500000000000000" pitchFamily="2" charset="0"/>
              </a:rPr>
              <a:t> $100,000</a:t>
            </a:r>
          </a:p>
          <a:p>
            <a:pPr marL="285750" indent="-285750" algn="just">
              <a:buFont typeface="Arial" panose="020B0604020202020204" pitchFamily="34" charset="0"/>
              <a:buChar char="•"/>
            </a:pPr>
            <a:r>
              <a:rPr lang="es-ES" sz="2000" b="1" dirty="0">
                <a:latin typeface="Montserrat" panose="00000500000000000000" pitchFamily="2" charset="0"/>
              </a:rPr>
              <a:t>Flujos de efectivo anuales:</a:t>
            </a:r>
            <a:r>
              <a:rPr lang="es-ES" sz="2000" dirty="0">
                <a:latin typeface="Montserrat" panose="00000500000000000000" pitchFamily="2" charset="0"/>
              </a:rPr>
              <a:t> $30,000 durante 5 años</a:t>
            </a:r>
          </a:p>
          <a:p>
            <a:pPr marL="285750" indent="-285750" algn="just">
              <a:buFont typeface="Arial" panose="020B0604020202020204" pitchFamily="34" charset="0"/>
              <a:buChar char="•"/>
            </a:pPr>
            <a:r>
              <a:rPr lang="es-ES" sz="2000" b="1" dirty="0">
                <a:latin typeface="Montserrat" panose="00000500000000000000" pitchFamily="2" charset="0"/>
              </a:rPr>
              <a:t>Tasa de descuento:</a:t>
            </a:r>
            <a:r>
              <a:rPr lang="es-ES" sz="2000" dirty="0">
                <a:latin typeface="Montserrat" panose="00000500000000000000" pitchFamily="2" charset="0"/>
              </a:rPr>
              <a:t> 8%</a:t>
            </a:r>
            <a:endParaRPr lang="es-ES" sz="1600" u="sng" dirty="0">
              <a:latin typeface="Montserrat" panose="00000500000000000000" pitchFamily="2" charset="0"/>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1BD52B2-83D5-4D37-A4AC-28AA7746C9D1}"/>
                  </a:ext>
                </a:extLst>
              </p:cNvPr>
              <p:cNvSpPr txBox="1"/>
              <p:nvPr/>
            </p:nvSpPr>
            <p:spPr>
              <a:xfrm>
                <a:off x="486796" y="3836461"/>
                <a:ext cx="11218407" cy="762581"/>
              </a:xfrm>
              <a:prstGeom prst="rect">
                <a:avLst/>
              </a:prstGeom>
              <a:noFill/>
            </p:spPr>
            <p:txBody>
              <a:bodyPr wrap="square" lIns="0" tIns="0" rIns="0" bIns="0" rtlCol="0">
                <a:spAutoFit/>
              </a:bodyPr>
              <a:lstStyle/>
              <a:p>
                <a14:m>
                  <m:oMath xmlns:m="http://schemas.openxmlformats.org/officeDocument/2006/math">
                    <m:r>
                      <a:rPr lang="es-ES" sz="2800" b="0" i="1" smtClean="0">
                        <a:latin typeface="Cambria Math" panose="02040503050406030204" pitchFamily="18" charset="0"/>
                      </a:rPr>
                      <m:t>𝑉𝑃𝑁</m:t>
                    </m:r>
                    <m:r>
                      <a:rPr lang="es-ES" sz="2800" b="0" i="1" smtClean="0">
                        <a:latin typeface="Cambria Math" panose="02040503050406030204" pitchFamily="18" charset="0"/>
                      </a:rPr>
                      <m:t>=−100,000+</m:t>
                    </m:r>
                    <m:f>
                      <m:fPr>
                        <m:ctrlPr>
                          <a:rPr lang="es-ES" sz="2800" b="0" i="1" smtClean="0">
                            <a:latin typeface="Cambria Math" panose="02040503050406030204" pitchFamily="18" charset="0"/>
                          </a:rPr>
                        </m:ctrlPr>
                      </m:fPr>
                      <m:num>
                        <m:r>
                          <a:rPr lang="es-ES" sz="2800" b="0" i="1" smtClean="0">
                            <a:latin typeface="Cambria Math" panose="02040503050406030204" pitchFamily="18" charset="0"/>
                          </a:rPr>
                          <m:t>30,000</m:t>
                        </m:r>
                      </m:num>
                      <m:den>
                        <m:sSup>
                          <m:sSupPr>
                            <m:ctrlPr>
                              <a:rPr lang="es-ES" sz="2800" b="0" i="1" smtClean="0">
                                <a:latin typeface="Cambria Math" panose="02040503050406030204" pitchFamily="18" charset="0"/>
                              </a:rPr>
                            </m:ctrlPr>
                          </m:sSupPr>
                          <m:e>
                            <m:d>
                              <m:dPr>
                                <m:ctrlPr>
                                  <a:rPr lang="es-ES" sz="2800" b="0" i="1" smtClean="0">
                                    <a:latin typeface="Cambria Math" panose="02040503050406030204" pitchFamily="18" charset="0"/>
                                  </a:rPr>
                                </m:ctrlPr>
                              </m:dPr>
                              <m:e>
                                <m:r>
                                  <a:rPr lang="es-ES" sz="2800" b="0" i="1" smtClean="0">
                                    <a:latin typeface="Cambria Math" panose="02040503050406030204" pitchFamily="18" charset="0"/>
                                  </a:rPr>
                                  <m:t>1+0.</m:t>
                                </m:r>
                                <m:r>
                                  <a:rPr lang="es-MX" sz="2800" b="0" i="1" smtClean="0">
                                    <a:latin typeface="Cambria Math" panose="02040503050406030204" pitchFamily="18" charset="0"/>
                                  </a:rPr>
                                  <m:t>08</m:t>
                                </m:r>
                              </m:e>
                            </m:d>
                          </m:e>
                          <m:sup>
                            <m:r>
                              <a:rPr lang="es-ES" sz="2800" b="0" i="1" smtClean="0">
                                <a:latin typeface="Cambria Math" panose="02040503050406030204" pitchFamily="18" charset="0"/>
                              </a:rPr>
                              <m:t>1</m:t>
                            </m:r>
                          </m:sup>
                        </m:sSup>
                      </m:den>
                    </m:f>
                    <m:r>
                      <a:rPr lang="es-ES" sz="2800" b="0" i="1" smtClean="0">
                        <a:latin typeface="Cambria Math" panose="02040503050406030204" pitchFamily="18" charset="0"/>
                      </a:rPr>
                      <m:t>+</m:t>
                    </m:r>
                    <m:f>
                      <m:fPr>
                        <m:ctrlPr>
                          <a:rPr lang="es-ES" sz="2800" i="1">
                            <a:latin typeface="Cambria Math" panose="02040503050406030204" pitchFamily="18" charset="0"/>
                          </a:rPr>
                        </m:ctrlPr>
                      </m:fPr>
                      <m:num>
                        <m:r>
                          <a:rPr lang="es-ES" sz="2800" i="1">
                            <a:latin typeface="Cambria Math" panose="02040503050406030204" pitchFamily="18" charset="0"/>
                          </a:rPr>
                          <m:t>30,000</m:t>
                        </m:r>
                      </m:num>
                      <m:den>
                        <m:sSup>
                          <m:sSupPr>
                            <m:ctrlPr>
                              <a:rPr lang="es-ES" sz="2800" i="1">
                                <a:latin typeface="Cambria Math" panose="02040503050406030204" pitchFamily="18" charset="0"/>
                              </a:rPr>
                            </m:ctrlPr>
                          </m:sSupPr>
                          <m:e>
                            <m:d>
                              <m:dPr>
                                <m:ctrlPr>
                                  <a:rPr lang="es-ES" sz="2800" i="1">
                                    <a:latin typeface="Cambria Math" panose="02040503050406030204" pitchFamily="18" charset="0"/>
                                  </a:rPr>
                                </m:ctrlPr>
                              </m:dPr>
                              <m:e>
                                <m:r>
                                  <a:rPr lang="es-ES" sz="2800" i="1">
                                    <a:latin typeface="Cambria Math" panose="02040503050406030204" pitchFamily="18" charset="0"/>
                                  </a:rPr>
                                  <m:t>1+0.</m:t>
                                </m:r>
                                <m:r>
                                  <a:rPr lang="es-MX" sz="2800" b="0" i="1" smtClean="0">
                                    <a:latin typeface="Cambria Math" panose="02040503050406030204" pitchFamily="18" charset="0"/>
                                  </a:rPr>
                                  <m:t>08</m:t>
                                </m:r>
                              </m:e>
                            </m:d>
                          </m:e>
                          <m:sup>
                            <m:r>
                              <a:rPr lang="es-ES" sz="2800" b="0" i="1" smtClean="0">
                                <a:latin typeface="Cambria Math" panose="02040503050406030204" pitchFamily="18" charset="0"/>
                              </a:rPr>
                              <m:t>2</m:t>
                            </m:r>
                          </m:sup>
                        </m:sSup>
                      </m:den>
                    </m:f>
                    <m:r>
                      <a:rPr lang="es-ES" sz="2800" b="0" i="1" smtClean="0">
                        <a:latin typeface="Cambria Math" panose="02040503050406030204" pitchFamily="18" charset="0"/>
                      </a:rPr>
                      <m:t>+</m:t>
                    </m:r>
                    <m:f>
                      <m:fPr>
                        <m:ctrlPr>
                          <a:rPr lang="es-ES" sz="2800" i="1">
                            <a:latin typeface="Cambria Math" panose="02040503050406030204" pitchFamily="18" charset="0"/>
                          </a:rPr>
                        </m:ctrlPr>
                      </m:fPr>
                      <m:num>
                        <m:r>
                          <a:rPr lang="es-ES" sz="2800" i="1">
                            <a:latin typeface="Cambria Math" panose="02040503050406030204" pitchFamily="18" charset="0"/>
                          </a:rPr>
                          <m:t>30,000</m:t>
                        </m:r>
                      </m:num>
                      <m:den>
                        <m:sSup>
                          <m:sSupPr>
                            <m:ctrlPr>
                              <a:rPr lang="es-ES" sz="2800" i="1">
                                <a:latin typeface="Cambria Math" panose="02040503050406030204" pitchFamily="18" charset="0"/>
                              </a:rPr>
                            </m:ctrlPr>
                          </m:sSupPr>
                          <m:e>
                            <m:r>
                              <a:rPr lang="es-ES" sz="2800" i="1">
                                <a:latin typeface="Cambria Math" panose="02040503050406030204" pitchFamily="18" charset="0"/>
                              </a:rPr>
                              <m:t>(1+0.</m:t>
                            </m:r>
                            <m:r>
                              <a:rPr lang="es-MX" sz="2800" b="0" i="1" smtClean="0">
                                <a:latin typeface="Cambria Math" panose="02040503050406030204" pitchFamily="18" charset="0"/>
                              </a:rPr>
                              <m:t>08</m:t>
                            </m:r>
                            <m:r>
                              <a:rPr lang="es-ES" sz="2800" i="1">
                                <a:latin typeface="Cambria Math" panose="02040503050406030204" pitchFamily="18" charset="0"/>
                              </a:rPr>
                              <m:t>)</m:t>
                            </m:r>
                          </m:e>
                          <m:sup>
                            <m:r>
                              <a:rPr lang="es-ES" sz="2800" b="0" i="1" smtClean="0">
                                <a:latin typeface="Cambria Math" panose="02040503050406030204" pitchFamily="18" charset="0"/>
                              </a:rPr>
                              <m:t>3</m:t>
                            </m:r>
                          </m:sup>
                        </m:sSup>
                      </m:den>
                    </m:f>
                  </m:oMath>
                </a14:m>
                <a:r>
                  <a:rPr lang="es-MX" sz="3200" dirty="0"/>
                  <a:t>+</a:t>
                </a:r>
                <a:r>
                  <a:rPr lang="es-ES" sz="3200" dirty="0"/>
                  <a:t> </a:t>
                </a:r>
                <a14:m>
                  <m:oMath xmlns:m="http://schemas.openxmlformats.org/officeDocument/2006/math">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m:t>
                            </m:r>
                            <m:r>
                              <a:rPr lang="es-MX" sz="3200" b="0" i="1" smtClean="0">
                                <a:latin typeface="Cambria Math" panose="02040503050406030204" pitchFamily="18" charset="0"/>
                              </a:rPr>
                              <m:t>08</m:t>
                            </m:r>
                            <m:r>
                              <a:rPr lang="es-ES" sz="3200" i="1">
                                <a:latin typeface="Cambria Math" panose="02040503050406030204" pitchFamily="18" charset="0"/>
                              </a:rPr>
                              <m:t>)</m:t>
                            </m:r>
                          </m:e>
                          <m:sup>
                            <m:r>
                              <a:rPr lang="es-ES" sz="3200" b="0" i="1" smtClean="0">
                                <a:latin typeface="Cambria Math" panose="02040503050406030204" pitchFamily="18" charset="0"/>
                              </a:rPr>
                              <m:t>4</m:t>
                            </m:r>
                          </m:sup>
                        </m:sSup>
                      </m:den>
                    </m:f>
                  </m:oMath>
                </a14:m>
                <a:r>
                  <a:rPr lang="es-MX" sz="3200" dirty="0"/>
                  <a:t>+</a:t>
                </a:r>
                <a:r>
                  <a:rPr lang="es-ES" sz="3200" dirty="0"/>
                  <a:t> </a:t>
                </a:r>
                <a14:m>
                  <m:oMath xmlns:m="http://schemas.openxmlformats.org/officeDocument/2006/math">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m:t>
                            </m:r>
                            <m:r>
                              <a:rPr lang="es-MX" sz="3200" b="0" i="1" smtClean="0">
                                <a:latin typeface="Cambria Math" panose="02040503050406030204" pitchFamily="18" charset="0"/>
                              </a:rPr>
                              <m:t>08</m:t>
                            </m:r>
                            <m:r>
                              <a:rPr lang="es-ES" sz="3200" i="1">
                                <a:latin typeface="Cambria Math" panose="02040503050406030204" pitchFamily="18" charset="0"/>
                              </a:rPr>
                              <m:t>)</m:t>
                            </m:r>
                          </m:e>
                          <m:sup>
                            <m:r>
                              <a:rPr lang="es-ES" sz="3200" b="0" i="1" smtClean="0">
                                <a:latin typeface="Cambria Math" panose="02040503050406030204" pitchFamily="18" charset="0"/>
                              </a:rPr>
                              <m:t>5</m:t>
                            </m:r>
                          </m:sup>
                        </m:sSup>
                      </m:den>
                    </m:f>
                  </m:oMath>
                </a14:m>
                <a:endParaRPr lang="es-MX" sz="2800" dirty="0"/>
              </a:p>
            </p:txBody>
          </p:sp>
        </mc:Choice>
        <mc:Fallback xmlns="">
          <p:sp>
            <p:nvSpPr>
              <p:cNvPr id="4" name="CuadroTexto 3">
                <a:extLst>
                  <a:ext uri="{FF2B5EF4-FFF2-40B4-BE49-F238E27FC236}">
                    <a16:creationId xmlns:a16="http://schemas.microsoft.com/office/drawing/2014/main" id="{91BD52B2-83D5-4D37-A4AC-28AA7746C9D1}"/>
                  </a:ext>
                </a:extLst>
              </p:cNvPr>
              <p:cNvSpPr txBox="1">
                <a:spLocks noRot="1" noChangeAspect="1" noMove="1" noResize="1" noEditPoints="1" noAdjustHandles="1" noChangeArrowheads="1" noChangeShapeType="1" noTextEdit="1"/>
              </p:cNvSpPr>
              <p:nvPr/>
            </p:nvSpPr>
            <p:spPr>
              <a:xfrm>
                <a:off x="486796" y="3836461"/>
                <a:ext cx="11218407" cy="762581"/>
              </a:xfrm>
              <a:prstGeom prst="rect">
                <a:avLst/>
              </a:prstGeom>
              <a:blipFill>
                <a:blip r:embed="rId5"/>
                <a:stretch>
                  <a:fillRect t="-1600" b="-112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F4F7FCA-3E9A-4FFD-BFDF-D5406BB921D2}"/>
                  </a:ext>
                </a:extLst>
              </p:cNvPr>
              <p:cNvSpPr txBox="1"/>
              <p:nvPr/>
            </p:nvSpPr>
            <p:spPr>
              <a:xfrm>
                <a:off x="486796" y="4874641"/>
                <a:ext cx="11218407" cy="369332"/>
              </a:xfrm>
              <a:prstGeom prst="rect">
                <a:avLst/>
              </a:prstGeom>
              <a:noFill/>
            </p:spPr>
            <p:txBody>
              <a:bodyPr wrap="square" lIns="0" tIns="0" rIns="0" bIns="0" rtlCol="0">
                <a:spAutoFit/>
              </a:bodyPr>
              <a:lstStyle/>
              <a:p>
                <a14:m>
                  <m:oMath xmlns:m="http://schemas.openxmlformats.org/officeDocument/2006/math">
                    <m:r>
                      <a:rPr lang="es-ES" sz="2400" b="0" i="1" smtClean="0">
                        <a:latin typeface="Cambria Math" panose="02040503050406030204" pitchFamily="18" charset="0"/>
                      </a:rPr>
                      <m:t>𝑉𝑃𝑁</m:t>
                    </m:r>
                    <m:r>
                      <a:rPr lang="es-ES" sz="2400" b="0" i="1" smtClean="0">
                        <a:latin typeface="Cambria Math" panose="02040503050406030204" pitchFamily="18" charset="0"/>
                      </a:rPr>
                      <m:t>=−100,000+27,777.78+</m:t>
                    </m:r>
                  </m:oMath>
                </a14:m>
                <a:r>
                  <a:rPr lang="es-ES" sz="2400" dirty="0"/>
                  <a:t> </a:t>
                </a:r>
                <a14:m>
                  <m:oMath xmlns:m="http://schemas.openxmlformats.org/officeDocument/2006/math">
                    <m:r>
                      <a:rPr lang="es-MX" sz="2400">
                        <a:latin typeface="Cambria Math" panose="02040503050406030204" pitchFamily="18" charset="0"/>
                      </a:rPr>
                      <m:t>25,720.16</m:t>
                    </m:r>
                    <m:r>
                      <a:rPr lang="es-ES" sz="2400">
                        <a:latin typeface="Cambria Math" panose="02040503050406030204" pitchFamily="18" charset="0"/>
                      </a:rPr>
                      <m:t>+</m:t>
                    </m:r>
                  </m:oMath>
                </a14:m>
                <a:r>
                  <a:rPr lang="es-ES" sz="2400" dirty="0">
                    <a:latin typeface="Cambria Math" panose="02040503050406030204" pitchFamily="18" charset="0"/>
                  </a:rPr>
                  <a:t> 23,814.97</a:t>
                </a:r>
                <a14:m>
                  <m:oMath xmlns:m="http://schemas.openxmlformats.org/officeDocument/2006/math">
                    <m:r>
                      <a:rPr lang="es-ES" sz="2400">
                        <a:latin typeface="Cambria Math" panose="02040503050406030204" pitchFamily="18" charset="0"/>
                      </a:rPr>
                      <m:t>+</m:t>
                    </m:r>
                  </m:oMath>
                </a14:m>
                <a:r>
                  <a:rPr lang="es-ES" sz="2400" dirty="0">
                    <a:latin typeface="Cambria Math" panose="02040503050406030204" pitchFamily="18" charset="0"/>
                  </a:rPr>
                  <a:t> 22,050.90</a:t>
                </a:r>
                <a14:m>
                  <m:oMath xmlns:m="http://schemas.openxmlformats.org/officeDocument/2006/math">
                    <m:r>
                      <a:rPr lang="es-ES" sz="2400">
                        <a:latin typeface="Cambria Math" panose="02040503050406030204" pitchFamily="18" charset="0"/>
                      </a:rPr>
                      <m:t>+</m:t>
                    </m:r>
                  </m:oMath>
                </a14:m>
                <a:r>
                  <a:rPr lang="es-ES" sz="2400" dirty="0">
                    <a:latin typeface="Cambria Math" panose="02040503050406030204" pitchFamily="18" charset="0"/>
                  </a:rPr>
                  <a:t> 20,417.50</a:t>
                </a:r>
                <a:endParaRPr lang="es-MX" sz="2400" dirty="0">
                  <a:latin typeface="Cambria Math" panose="02040503050406030204" pitchFamily="18" charset="0"/>
                </a:endParaRPr>
              </a:p>
            </p:txBody>
          </p:sp>
        </mc:Choice>
        <mc:Fallback xmlns="">
          <p:sp>
            <p:nvSpPr>
              <p:cNvPr id="15" name="CuadroTexto 14">
                <a:extLst>
                  <a:ext uri="{FF2B5EF4-FFF2-40B4-BE49-F238E27FC236}">
                    <a16:creationId xmlns:a16="http://schemas.microsoft.com/office/drawing/2014/main" id="{2F4F7FCA-3E9A-4FFD-BFDF-D5406BB921D2}"/>
                  </a:ext>
                </a:extLst>
              </p:cNvPr>
              <p:cNvSpPr txBox="1">
                <a:spLocks noRot="1" noChangeAspect="1" noMove="1" noResize="1" noEditPoints="1" noAdjustHandles="1" noChangeArrowheads="1" noChangeShapeType="1" noTextEdit="1"/>
              </p:cNvSpPr>
              <p:nvPr/>
            </p:nvSpPr>
            <p:spPr>
              <a:xfrm>
                <a:off x="486796" y="4874641"/>
                <a:ext cx="11218407" cy="369332"/>
              </a:xfrm>
              <a:prstGeom prst="rect">
                <a:avLst/>
              </a:prstGeom>
              <a:blipFill>
                <a:blip r:embed="rId6"/>
                <a:stretch>
                  <a:fillRect l="-978" t="-30000" b="-46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648610-2147-434B-86ED-F9EECE57AFDC}"/>
                  </a:ext>
                </a:extLst>
              </p:cNvPr>
              <p:cNvSpPr txBox="1"/>
              <p:nvPr/>
            </p:nvSpPr>
            <p:spPr>
              <a:xfrm>
                <a:off x="486796" y="5718582"/>
                <a:ext cx="11218407" cy="43088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s-ES" sz="2800" b="1" i="1" smtClean="0">
                          <a:latin typeface="Cambria Math" panose="02040503050406030204" pitchFamily="18" charset="0"/>
                        </a:rPr>
                        <m:t>𝑽𝑷𝑵</m:t>
                      </m:r>
                      <m:r>
                        <a:rPr lang="es-ES" sz="2800" b="1" i="1" smtClean="0">
                          <a:latin typeface="Cambria Math" panose="02040503050406030204" pitchFamily="18" charset="0"/>
                        </a:rPr>
                        <m:t>=</m:t>
                      </m:r>
                      <m:r>
                        <a:rPr lang="es-MX" sz="2800" b="1" i="1" smtClean="0">
                          <a:latin typeface="Cambria Math" panose="02040503050406030204" pitchFamily="18" charset="0"/>
                        </a:rPr>
                        <m:t>𝟏𝟗</m:t>
                      </m:r>
                      <m:r>
                        <a:rPr lang="es-MX" sz="2800" b="1" i="1" smtClean="0">
                          <a:latin typeface="Cambria Math" panose="02040503050406030204" pitchFamily="18" charset="0"/>
                        </a:rPr>
                        <m:t>,</m:t>
                      </m:r>
                      <m:r>
                        <a:rPr lang="es-MX" sz="2800" b="1" i="1" smtClean="0">
                          <a:latin typeface="Cambria Math" panose="02040503050406030204" pitchFamily="18" charset="0"/>
                        </a:rPr>
                        <m:t>𝟕𝟖𝟏</m:t>
                      </m:r>
                      <m:r>
                        <a:rPr lang="es-MX" sz="2800" b="1" i="1" smtClean="0">
                          <a:latin typeface="Cambria Math" panose="02040503050406030204" pitchFamily="18" charset="0"/>
                        </a:rPr>
                        <m:t>.</m:t>
                      </m:r>
                      <m:r>
                        <a:rPr lang="es-MX" sz="2800" b="1" i="1" smtClean="0">
                          <a:latin typeface="Cambria Math" panose="02040503050406030204" pitchFamily="18" charset="0"/>
                        </a:rPr>
                        <m:t>𝟑𝟎</m:t>
                      </m:r>
                    </m:oMath>
                  </m:oMathPara>
                </a14:m>
                <a:endParaRPr lang="es-MX" sz="2600" b="1" dirty="0"/>
              </a:p>
            </p:txBody>
          </p:sp>
        </mc:Choice>
        <mc:Fallback xmlns="">
          <p:sp>
            <p:nvSpPr>
              <p:cNvPr id="16" name="CuadroTexto 15">
                <a:extLst>
                  <a:ext uri="{FF2B5EF4-FFF2-40B4-BE49-F238E27FC236}">
                    <a16:creationId xmlns:a16="http://schemas.microsoft.com/office/drawing/2014/main" id="{FC648610-2147-434B-86ED-F9EECE57AFDC}"/>
                  </a:ext>
                </a:extLst>
              </p:cNvPr>
              <p:cNvSpPr txBox="1">
                <a:spLocks noRot="1" noChangeAspect="1" noMove="1" noResize="1" noEditPoints="1" noAdjustHandles="1" noChangeArrowheads="1" noChangeShapeType="1" noTextEdit="1"/>
              </p:cNvSpPr>
              <p:nvPr/>
            </p:nvSpPr>
            <p:spPr>
              <a:xfrm>
                <a:off x="486796" y="5718582"/>
                <a:ext cx="11218407" cy="430887"/>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08839607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169</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riesgo.</a:t>
            </a:r>
            <a:endParaRPr lang="es-ES" sz="2400" b="1" dirty="0">
              <a:solidFill>
                <a:srgbClr val="131D3F"/>
              </a:solidFill>
              <a:latin typeface="Montserrat SemiBold" panose="00000700000000000000" pitchFamily="2" charset="0"/>
            </a:endParaRPr>
          </a:p>
          <a:p>
            <a:pPr lvl="1"/>
            <a:r>
              <a:rPr lang="es-ES" sz="2400" b="1" dirty="0">
                <a:solidFill>
                  <a:srgbClr val="131D3F"/>
                </a:solidFill>
                <a:latin typeface="Montserrat" panose="00000500000000000000" pitchFamily="2" charset="0"/>
              </a:rPr>
              <a:t>Análisis de Sensibilidad - Ejemplo</a:t>
            </a:r>
            <a:endParaRPr lang="es-ES" sz="2400" b="1" dirty="0">
              <a:solidFill>
                <a:srgbClr val="131D3F"/>
              </a:solidFill>
              <a:latin typeface="Montserrat SemiBold" panose="00000700000000000000" pitchFamily="2" charset="0"/>
            </a:endParaRPr>
          </a:p>
        </p:txBody>
      </p:sp>
      <p:sp>
        <p:nvSpPr>
          <p:cNvPr id="13" name="CuadroTexto 12">
            <a:extLst>
              <a:ext uri="{FF2B5EF4-FFF2-40B4-BE49-F238E27FC236}">
                <a16:creationId xmlns:a16="http://schemas.microsoft.com/office/drawing/2014/main" id="{05363137-33FA-4EA8-92EF-D3EDF1DC38AD}"/>
              </a:ext>
            </a:extLst>
          </p:cNvPr>
          <p:cNvSpPr txBox="1"/>
          <p:nvPr/>
        </p:nvSpPr>
        <p:spPr>
          <a:xfrm>
            <a:off x="748666" y="3228945"/>
            <a:ext cx="4722386" cy="400110"/>
          </a:xfrm>
          <a:prstGeom prst="rect">
            <a:avLst/>
          </a:prstGeom>
          <a:noFill/>
        </p:spPr>
        <p:txBody>
          <a:bodyPr wrap="square">
            <a:spAutoFit/>
          </a:bodyPr>
          <a:lstStyle/>
          <a:p>
            <a:pPr algn="just"/>
            <a:r>
              <a:rPr lang="es-ES" sz="2000" b="1" dirty="0">
                <a:latin typeface="Montserrat" panose="00000500000000000000" pitchFamily="2" charset="0"/>
              </a:rPr>
              <a:t>Cálculo:</a:t>
            </a: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48666" y="1544211"/>
            <a:ext cx="10958464" cy="1477328"/>
          </a:xfrm>
          <a:prstGeom prst="rect">
            <a:avLst/>
          </a:prstGeom>
          <a:noFill/>
        </p:spPr>
        <p:txBody>
          <a:bodyPr wrap="square">
            <a:spAutoFit/>
          </a:bodyPr>
          <a:lstStyle/>
          <a:p>
            <a:pPr algn="just">
              <a:spcAft>
                <a:spcPts val="1200"/>
              </a:spcAft>
            </a:pPr>
            <a:r>
              <a:rPr lang="es-ES" sz="2000" b="1" dirty="0">
                <a:latin typeface="Montserrat" panose="00000500000000000000" pitchFamily="2" charset="0"/>
              </a:rPr>
              <a:t>Datos:</a:t>
            </a:r>
          </a:p>
          <a:p>
            <a:pPr marL="285750" indent="-285750" algn="just">
              <a:buFont typeface="Arial" panose="020B0604020202020204" pitchFamily="34" charset="0"/>
              <a:buChar char="•"/>
            </a:pPr>
            <a:r>
              <a:rPr lang="es-ES" sz="2000" b="1" dirty="0">
                <a:latin typeface="Montserrat" panose="00000500000000000000" pitchFamily="2" charset="0"/>
              </a:rPr>
              <a:t>Inversión inicial:</a:t>
            </a:r>
            <a:r>
              <a:rPr lang="es-ES" sz="2000" dirty="0">
                <a:latin typeface="Montserrat" panose="00000500000000000000" pitchFamily="2" charset="0"/>
              </a:rPr>
              <a:t> $100,000</a:t>
            </a:r>
          </a:p>
          <a:p>
            <a:pPr marL="285750" indent="-285750" algn="just">
              <a:buFont typeface="Arial" panose="020B0604020202020204" pitchFamily="34" charset="0"/>
              <a:buChar char="•"/>
            </a:pPr>
            <a:r>
              <a:rPr lang="es-ES" sz="2000" b="1" dirty="0">
                <a:latin typeface="Montserrat" panose="00000500000000000000" pitchFamily="2" charset="0"/>
              </a:rPr>
              <a:t>Flujos de efectivo anuales:</a:t>
            </a:r>
            <a:r>
              <a:rPr lang="es-ES" sz="2000" dirty="0">
                <a:latin typeface="Montserrat" panose="00000500000000000000" pitchFamily="2" charset="0"/>
              </a:rPr>
              <a:t> $30,000 durante 5 años</a:t>
            </a:r>
          </a:p>
          <a:p>
            <a:pPr marL="285750" indent="-285750" algn="just">
              <a:buFont typeface="Arial" panose="020B0604020202020204" pitchFamily="34" charset="0"/>
              <a:buChar char="•"/>
            </a:pPr>
            <a:r>
              <a:rPr lang="es-ES" sz="2000" b="1" dirty="0">
                <a:latin typeface="Montserrat" panose="00000500000000000000" pitchFamily="2" charset="0"/>
              </a:rPr>
              <a:t>Tasa de descuento:</a:t>
            </a:r>
            <a:r>
              <a:rPr lang="es-ES" sz="2000" dirty="0">
                <a:latin typeface="Montserrat" panose="00000500000000000000" pitchFamily="2" charset="0"/>
              </a:rPr>
              <a:t> 12%</a:t>
            </a:r>
            <a:endParaRPr lang="es-ES" sz="1600" u="sng" dirty="0">
              <a:latin typeface="Montserrat" panose="00000500000000000000" pitchFamily="2" charset="0"/>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1BD52B2-83D5-4D37-A4AC-28AA7746C9D1}"/>
                  </a:ext>
                </a:extLst>
              </p:cNvPr>
              <p:cNvSpPr txBox="1"/>
              <p:nvPr/>
            </p:nvSpPr>
            <p:spPr>
              <a:xfrm>
                <a:off x="486796" y="3836461"/>
                <a:ext cx="11218407" cy="762581"/>
              </a:xfrm>
              <a:prstGeom prst="rect">
                <a:avLst/>
              </a:prstGeom>
              <a:noFill/>
            </p:spPr>
            <p:txBody>
              <a:bodyPr wrap="square" lIns="0" tIns="0" rIns="0" bIns="0" rtlCol="0">
                <a:spAutoFit/>
              </a:bodyPr>
              <a:lstStyle/>
              <a:p>
                <a14:m>
                  <m:oMath xmlns:m="http://schemas.openxmlformats.org/officeDocument/2006/math">
                    <m:r>
                      <a:rPr lang="es-ES" sz="2800" b="0" i="1" smtClean="0">
                        <a:latin typeface="Cambria Math" panose="02040503050406030204" pitchFamily="18" charset="0"/>
                      </a:rPr>
                      <m:t>𝑉𝑃𝑁</m:t>
                    </m:r>
                    <m:r>
                      <a:rPr lang="es-ES" sz="2800" b="0" i="1" smtClean="0">
                        <a:latin typeface="Cambria Math" panose="02040503050406030204" pitchFamily="18" charset="0"/>
                      </a:rPr>
                      <m:t>=−100,000+</m:t>
                    </m:r>
                    <m:f>
                      <m:fPr>
                        <m:ctrlPr>
                          <a:rPr lang="es-ES" sz="2800" b="0" i="1" smtClean="0">
                            <a:latin typeface="Cambria Math" panose="02040503050406030204" pitchFamily="18" charset="0"/>
                          </a:rPr>
                        </m:ctrlPr>
                      </m:fPr>
                      <m:num>
                        <m:r>
                          <a:rPr lang="es-ES" sz="2800" b="0" i="1" smtClean="0">
                            <a:latin typeface="Cambria Math" panose="02040503050406030204" pitchFamily="18" charset="0"/>
                          </a:rPr>
                          <m:t>30,000</m:t>
                        </m:r>
                      </m:num>
                      <m:den>
                        <m:sSup>
                          <m:sSupPr>
                            <m:ctrlPr>
                              <a:rPr lang="es-ES" sz="2800" b="0" i="1" smtClean="0">
                                <a:latin typeface="Cambria Math" panose="02040503050406030204" pitchFamily="18" charset="0"/>
                              </a:rPr>
                            </m:ctrlPr>
                          </m:sSupPr>
                          <m:e>
                            <m:d>
                              <m:dPr>
                                <m:ctrlPr>
                                  <a:rPr lang="es-ES" sz="2800" b="0" i="1" smtClean="0">
                                    <a:latin typeface="Cambria Math" panose="02040503050406030204" pitchFamily="18" charset="0"/>
                                  </a:rPr>
                                </m:ctrlPr>
                              </m:dPr>
                              <m:e>
                                <m:r>
                                  <a:rPr lang="es-ES" sz="2800" b="0" i="1" smtClean="0">
                                    <a:latin typeface="Cambria Math" panose="02040503050406030204" pitchFamily="18" charset="0"/>
                                  </a:rPr>
                                  <m:t>1+0.</m:t>
                                </m:r>
                                <m:r>
                                  <a:rPr lang="es-MX" sz="2800" b="0" i="1" smtClean="0">
                                    <a:latin typeface="Cambria Math" panose="02040503050406030204" pitchFamily="18" charset="0"/>
                                  </a:rPr>
                                  <m:t>12</m:t>
                                </m:r>
                              </m:e>
                            </m:d>
                          </m:e>
                          <m:sup>
                            <m:r>
                              <a:rPr lang="es-ES" sz="2800" b="0" i="1" smtClean="0">
                                <a:latin typeface="Cambria Math" panose="02040503050406030204" pitchFamily="18" charset="0"/>
                              </a:rPr>
                              <m:t>1</m:t>
                            </m:r>
                          </m:sup>
                        </m:sSup>
                      </m:den>
                    </m:f>
                    <m:r>
                      <a:rPr lang="es-ES" sz="2800" b="0" i="1" smtClean="0">
                        <a:latin typeface="Cambria Math" panose="02040503050406030204" pitchFamily="18" charset="0"/>
                      </a:rPr>
                      <m:t>+</m:t>
                    </m:r>
                    <m:f>
                      <m:fPr>
                        <m:ctrlPr>
                          <a:rPr lang="es-ES" sz="2800" i="1">
                            <a:latin typeface="Cambria Math" panose="02040503050406030204" pitchFamily="18" charset="0"/>
                          </a:rPr>
                        </m:ctrlPr>
                      </m:fPr>
                      <m:num>
                        <m:r>
                          <a:rPr lang="es-ES" sz="2800" i="1">
                            <a:latin typeface="Cambria Math" panose="02040503050406030204" pitchFamily="18" charset="0"/>
                          </a:rPr>
                          <m:t>30,000</m:t>
                        </m:r>
                      </m:num>
                      <m:den>
                        <m:sSup>
                          <m:sSupPr>
                            <m:ctrlPr>
                              <a:rPr lang="es-ES" sz="2800" i="1">
                                <a:latin typeface="Cambria Math" panose="02040503050406030204" pitchFamily="18" charset="0"/>
                              </a:rPr>
                            </m:ctrlPr>
                          </m:sSupPr>
                          <m:e>
                            <m:d>
                              <m:dPr>
                                <m:ctrlPr>
                                  <a:rPr lang="es-ES" sz="2800" i="1">
                                    <a:latin typeface="Cambria Math" panose="02040503050406030204" pitchFamily="18" charset="0"/>
                                  </a:rPr>
                                </m:ctrlPr>
                              </m:dPr>
                              <m:e>
                                <m:r>
                                  <a:rPr lang="es-ES" sz="2800" i="1">
                                    <a:latin typeface="Cambria Math" panose="02040503050406030204" pitchFamily="18" charset="0"/>
                                  </a:rPr>
                                  <m:t>1+0.</m:t>
                                </m:r>
                                <m:r>
                                  <a:rPr lang="es-MX" sz="2800" b="0" i="1" smtClean="0">
                                    <a:latin typeface="Cambria Math" panose="02040503050406030204" pitchFamily="18" charset="0"/>
                                  </a:rPr>
                                  <m:t>12</m:t>
                                </m:r>
                              </m:e>
                            </m:d>
                          </m:e>
                          <m:sup>
                            <m:r>
                              <a:rPr lang="es-ES" sz="2800" b="0" i="1" smtClean="0">
                                <a:latin typeface="Cambria Math" panose="02040503050406030204" pitchFamily="18" charset="0"/>
                              </a:rPr>
                              <m:t>2</m:t>
                            </m:r>
                          </m:sup>
                        </m:sSup>
                      </m:den>
                    </m:f>
                    <m:r>
                      <a:rPr lang="es-ES" sz="2800" b="0" i="1" smtClean="0">
                        <a:latin typeface="Cambria Math" panose="02040503050406030204" pitchFamily="18" charset="0"/>
                      </a:rPr>
                      <m:t>+</m:t>
                    </m:r>
                    <m:f>
                      <m:fPr>
                        <m:ctrlPr>
                          <a:rPr lang="es-ES" sz="2800" i="1">
                            <a:latin typeface="Cambria Math" panose="02040503050406030204" pitchFamily="18" charset="0"/>
                          </a:rPr>
                        </m:ctrlPr>
                      </m:fPr>
                      <m:num>
                        <m:r>
                          <a:rPr lang="es-ES" sz="2800" i="1">
                            <a:latin typeface="Cambria Math" panose="02040503050406030204" pitchFamily="18" charset="0"/>
                          </a:rPr>
                          <m:t>30,000</m:t>
                        </m:r>
                      </m:num>
                      <m:den>
                        <m:sSup>
                          <m:sSupPr>
                            <m:ctrlPr>
                              <a:rPr lang="es-ES" sz="2800" i="1">
                                <a:latin typeface="Cambria Math" panose="02040503050406030204" pitchFamily="18" charset="0"/>
                              </a:rPr>
                            </m:ctrlPr>
                          </m:sSupPr>
                          <m:e>
                            <m:r>
                              <a:rPr lang="es-ES" sz="2800" i="1">
                                <a:latin typeface="Cambria Math" panose="02040503050406030204" pitchFamily="18" charset="0"/>
                              </a:rPr>
                              <m:t>(1+0.</m:t>
                            </m:r>
                            <m:r>
                              <a:rPr lang="es-MX" sz="2800" b="0" i="1" smtClean="0">
                                <a:latin typeface="Cambria Math" panose="02040503050406030204" pitchFamily="18" charset="0"/>
                              </a:rPr>
                              <m:t>12</m:t>
                            </m:r>
                            <m:r>
                              <a:rPr lang="es-ES" sz="2800" i="1">
                                <a:latin typeface="Cambria Math" panose="02040503050406030204" pitchFamily="18" charset="0"/>
                              </a:rPr>
                              <m:t>)</m:t>
                            </m:r>
                          </m:e>
                          <m:sup>
                            <m:r>
                              <a:rPr lang="es-ES" sz="2800" b="0" i="1" smtClean="0">
                                <a:latin typeface="Cambria Math" panose="02040503050406030204" pitchFamily="18" charset="0"/>
                              </a:rPr>
                              <m:t>3</m:t>
                            </m:r>
                          </m:sup>
                        </m:sSup>
                      </m:den>
                    </m:f>
                  </m:oMath>
                </a14:m>
                <a:r>
                  <a:rPr lang="es-MX" sz="3200" dirty="0"/>
                  <a:t>+</a:t>
                </a:r>
                <a:r>
                  <a:rPr lang="es-ES" sz="3200" dirty="0"/>
                  <a:t> </a:t>
                </a:r>
                <a14:m>
                  <m:oMath xmlns:m="http://schemas.openxmlformats.org/officeDocument/2006/math">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m:t>
                            </m:r>
                            <m:r>
                              <a:rPr lang="es-MX" sz="3200" b="0" i="1" smtClean="0">
                                <a:latin typeface="Cambria Math" panose="02040503050406030204" pitchFamily="18" charset="0"/>
                              </a:rPr>
                              <m:t>12</m:t>
                            </m:r>
                            <m:r>
                              <a:rPr lang="es-ES" sz="3200" i="1">
                                <a:latin typeface="Cambria Math" panose="02040503050406030204" pitchFamily="18" charset="0"/>
                              </a:rPr>
                              <m:t>)</m:t>
                            </m:r>
                          </m:e>
                          <m:sup>
                            <m:r>
                              <a:rPr lang="es-ES" sz="3200" b="0" i="1" smtClean="0">
                                <a:latin typeface="Cambria Math" panose="02040503050406030204" pitchFamily="18" charset="0"/>
                              </a:rPr>
                              <m:t>4</m:t>
                            </m:r>
                          </m:sup>
                        </m:sSup>
                      </m:den>
                    </m:f>
                  </m:oMath>
                </a14:m>
                <a:r>
                  <a:rPr lang="es-MX" sz="3200" dirty="0"/>
                  <a:t>+</a:t>
                </a:r>
                <a:r>
                  <a:rPr lang="es-ES" sz="3200" dirty="0"/>
                  <a:t> </a:t>
                </a:r>
                <a14:m>
                  <m:oMath xmlns:m="http://schemas.openxmlformats.org/officeDocument/2006/math">
                    <m:f>
                      <m:fPr>
                        <m:ctrlPr>
                          <a:rPr lang="es-ES" sz="3200" i="1">
                            <a:latin typeface="Cambria Math" panose="02040503050406030204" pitchFamily="18" charset="0"/>
                          </a:rPr>
                        </m:ctrlPr>
                      </m:fPr>
                      <m:num>
                        <m:r>
                          <a:rPr lang="es-ES" sz="3200" i="1">
                            <a:latin typeface="Cambria Math" panose="02040503050406030204" pitchFamily="18" charset="0"/>
                          </a:rPr>
                          <m:t>30,000</m:t>
                        </m:r>
                      </m:num>
                      <m:den>
                        <m:sSup>
                          <m:sSupPr>
                            <m:ctrlPr>
                              <a:rPr lang="es-ES" sz="3200" i="1">
                                <a:latin typeface="Cambria Math" panose="02040503050406030204" pitchFamily="18" charset="0"/>
                              </a:rPr>
                            </m:ctrlPr>
                          </m:sSupPr>
                          <m:e>
                            <m:r>
                              <a:rPr lang="es-ES" sz="3200" i="1">
                                <a:latin typeface="Cambria Math" panose="02040503050406030204" pitchFamily="18" charset="0"/>
                              </a:rPr>
                              <m:t>(1+0.</m:t>
                            </m:r>
                            <m:r>
                              <a:rPr lang="es-MX" sz="3200" b="0" i="1" smtClean="0">
                                <a:latin typeface="Cambria Math" panose="02040503050406030204" pitchFamily="18" charset="0"/>
                              </a:rPr>
                              <m:t>12</m:t>
                            </m:r>
                            <m:r>
                              <a:rPr lang="es-ES" sz="3200" i="1">
                                <a:latin typeface="Cambria Math" panose="02040503050406030204" pitchFamily="18" charset="0"/>
                              </a:rPr>
                              <m:t>)</m:t>
                            </m:r>
                          </m:e>
                          <m:sup>
                            <m:r>
                              <a:rPr lang="es-ES" sz="3200" b="0" i="1" smtClean="0">
                                <a:latin typeface="Cambria Math" panose="02040503050406030204" pitchFamily="18" charset="0"/>
                              </a:rPr>
                              <m:t>5</m:t>
                            </m:r>
                          </m:sup>
                        </m:sSup>
                      </m:den>
                    </m:f>
                  </m:oMath>
                </a14:m>
                <a:endParaRPr lang="es-MX" sz="2800" dirty="0"/>
              </a:p>
            </p:txBody>
          </p:sp>
        </mc:Choice>
        <mc:Fallback xmlns="">
          <p:sp>
            <p:nvSpPr>
              <p:cNvPr id="4" name="CuadroTexto 3">
                <a:extLst>
                  <a:ext uri="{FF2B5EF4-FFF2-40B4-BE49-F238E27FC236}">
                    <a16:creationId xmlns:a16="http://schemas.microsoft.com/office/drawing/2014/main" id="{91BD52B2-83D5-4D37-A4AC-28AA7746C9D1}"/>
                  </a:ext>
                </a:extLst>
              </p:cNvPr>
              <p:cNvSpPr txBox="1">
                <a:spLocks noRot="1" noChangeAspect="1" noMove="1" noResize="1" noEditPoints="1" noAdjustHandles="1" noChangeArrowheads="1" noChangeShapeType="1" noTextEdit="1"/>
              </p:cNvSpPr>
              <p:nvPr/>
            </p:nvSpPr>
            <p:spPr>
              <a:xfrm>
                <a:off x="486796" y="3836461"/>
                <a:ext cx="11218407" cy="762581"/>
              </a:xfrm>
              <a:prstGeom prst="rect">
                <a:avLst/>
              </a:prstGeom>
              <a:blipFill>
                <a:blip r:embed="rId5"/>
                <a:stretch>
                  <a:fillRect t="-1600" b="-112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F4F7FCA-3E9A-4FFD-BFDF-D5406BB921D2}"/>
                  </a:ext>
                </a:extLst>
              </p:cNvPr>
              <p:cNvSpPr txBox="1"/>
              <p:nvPr/>
            </p:nvSpPr>
            <p:spPr>
              <a:xfrm>
                <a:off x="486796" y="4874641"/>
                <a:ext cx="11218407" cy="369332"/>
              </a:xfrm>
              <a:prstGeom prst="rect">
                <a:avLst/>
              </a:prstGeom>
              <a:noFill/>
            </p:spPr>
            <p:txBody>
              <a:bodyPr wrap="square" lIns="0" tIns="0" rIns="0" bIns="0" rtlCol="0">
                <a:spAutoFit/>
              </a:bodyPr>
              <a:lstStyle/>
              <a:p>
                <a14:m>
                  <m:oMath xmlns:m="http://schemas.openxmlformats.org/officeDocument/2006/math">
                    <m:r>
                      <a:rPr lang="es-ES" sz="2400" b="0" i="1" smtClean="0">
                        <a:latin typeface="Cambria Math" panose="02040503050406030204" pitchFamily="18" charset="0"/>
                      </a:rPr>
                      <m:t>𝑉𝑃𝑁</m:t>
                    </m:r>
                    <m:r>
                      <a:rPr lang="es-ES" sz="2400" b="0" i="1" smtClean="0">
                        <a:latin typeface="Cambria Math" panose="02040503050406030204" pitchFamily="18" charset="0"/>
                      </a:rPr>
                      <m:t>=−100,000+26,785.71+23,915.82</m:t>
                    </m:r>
                  </m:oMath>
                </a14:m>
                <a:r>
                  <a:rPr lang="es-MX" sz="2400" dirty="0">
                    <a:latin typeface="Cambria Math" panose="02040503050406030204" pitchFamily="18" charset="0"/>
                  </a:rPr>
                  <a:t>+21,353.41+19,065.54+17,022.81</a:t>
                </a:r>
              </a:p>
            </p:txBody>
          </p:sp>
        </mc:Choice>
        <mc:Fallback xmlns="">
          <p:sp>
            <p:nvSpPr>
              <p:cNvPr id="15" name="CuadroTexto 14">
                <a:extLst>
                  <a:ext uri="{FF2B5EF4-FFF2-40B4-BE49-F238E27FC236}">
                    <a16:creationId xmlns:a16="http://schemas.microsoft.com/office/drawing/2014/main" id="{2F4F7FCA-3E9A-4FFD-BFDF-D5406BB921D2}"/>
                  </a:ext>
                </a:extLst>
              </p:cNvPr>
              <p:cNvSpPr txBox="1">
                <a:spLocks noRot="1" noChangeAspect="1" noMove="1" noResize="1" noEditPoints="1" noAdjustHandles="1" noChangeArrowheads="1" noChangeShapeType="1" noTextEdit="1"/>
              </p:cNvSpPr>
              <p:nvPr/>
            </p:nvSpPr>
            <p:spPr>
              <a:xfrm>
                <a:off x="486796" y="4874641"/>
                <a:ext cx="11218407" cy="369332"/>
              </a:xfrm>
              <a:prstGeom prst="rect">
                <a:avLst/>
              </a:prstGeom>
              <a:blipFill>
                <a:blip r:embed="rId6"/>
                <a:stretch>
                  <a:fillRect l="-978" t="-26667" b="-50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648610-2147-434B-86ED-F9EECE57AFDC}"/>
                  </a:ext>
                </a:extLst>
              </p:cNvPr>
              <p:cNvSpPr txBox="1"/>
              <p:nvPr/>
            </p:nvSpPr>
            <p:spPr>
              <a:xfrm>
                <a:off x="486796" y="5718582"/>
                <a:ext cx="11218407" cy="43088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s-ES" sz="2800" b="1" i="1" smtClean="0">
                          <a:latin typeface="Cambria Math" panose="02040503050406030204" pitchFamily="18" charset="0"/>
                        </a:rPr>
                        <m:t>𝑽𝑷𝑵</m:t>
                      </m:r>
                      <m:r>
                        <a:rPr lang="es-ES" sz="2800" b="1" i="1" smtClean="0">
                          <a:latin typeface="Cambria Math" panose="02040503050406030204" pitchFamily="18" charset="0"/>
                        </a:rPr>
                        <m:t>=</m:t>
                      </m:r>
                      <m:r>
                        <a:rPr lang="es-MX" sz="2800" b="1" i="1" smtClean="0">
                          <a:latin typeface="Cambria Math" panose="02040503050406030204" pitchFamily="18" charset="0"/>
                        </a:rPr>
                        <m:t>𝟖</m:t>
                      </m:r>
                      <m:r>
                        <a:rPr lang="es-MX" sz="2800" b="1" i="1" smtClean="0">
                          <a:latin typeface="Cambria Math" panose="02040503050406030204" pitchFamily="18" charset="0"/>
                        </a:rPr>
                        <m:t>,</m:t>
                      </m:r>
                      <m:r>
                        <a:rPr lang="es-MX" sz="2800" b="1" i="1" smtClean="0">
                          <a:latin typeface="Cambria Math" panose="02040503050406030204" pitchFamily="18" charset="0"/>
                        </a:rPr>
                        <m:t>𝟏𝟒𝟑</m:t>
                      </m:r>
                      <m:r>
                        <a:rPr lang="es-MX" sz="2800" b="1" i="1" smtClean="0">
                          <a:latin typeface="Cambria Math" panose="02040503050406030204" pitchFamily="18" charset="0"/>
                        </a:rPr>
                        <m:t>.</m:t>
                      </m:r>
                      <m:r>
                        <a:rPr lang="es-MX" sz="2800" b="1" i="1" smtClean="0">
                          <a:latin typeface="Cambria Math" panose="02040503050406030204" pitchFamily="18" charset="0"/>
                        </a:rPr>
                        <m:t>𝟐𝟗</m:t>
                      </m:r>
                    </m:oMath>
                  </m:oMathPara>
                </a14:m>
                <a:endParaRPr lang="es-MX" sz="2600" b="1" dirty="0"/>
              </a:p>
            </p:txBody>
          </p:sp>
        </mc:Choice>
        <mc:Fallback xmlns="">
          <p:sp>
            <p:nvSpPr>
              <p:cNvPr id="16" name="CuadroTexto 15">
                <a:extLst>
                  <a:ext uri="{FF2B5EF4-FFF2-40B4-BE49-F238E27FC236}">
                    <a16:creationId xmlns:a16="http://schemas.microsoft.com/office/drawing/2014/main" id="{FC648610-2147-434B-86ED-F9EECE57AFDC}"/>
                  </a:ext>
                </a:extLst>
              </p:cNvPr>
              <p:cNvSpPr txBox="1">
                <a:spLocks noRot="1" noChangeAspect="1" noMove="1" noResize="1" noEditPoints="1" noAdjustHandles="1" noChangeArrowheads="1" noChangeShapeType="1" noTextEdit="1"/>
              </p:cNvSpPr>
              <p:nvPr/>
            </p:nvSpPr>
            <p:spPr>
              <a:xfrm>
                <a:off x="486796" y="5718582"/>
                <a:ext cx="11218407" cy="430887"/>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5623931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170</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incertidumbre.</a:t>
            </a:r>
            <a:endParaRPr lang="es-ES" sz="24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902431"/>
            <a:ext cx="10958464" cy="3847207"/>
          </a:xfrm>
          <a:prstGeom prst="rect">
            <a:avLst/>
          </a:prstGeom>
          <a:noFill/>
        </p:spPr>
        <p:txBody>
          <a:bodyPr wrap="square">
            <a:spAutoFit/>
          </a:bodyPr>
          <a:lstStyle/>
          <a:p>
            <a:pPr algn="just">
              <a:spcAft>
                <a:spcPts val="1200"/>
              </a:spcAft>
            </a:pPr>
            <a:r>
              <a:rPr lang="es-ES" sz="2800" dirty="0">
                <a:latin typeface="Montserrat" panose="00000500000000000000" pitchFamily="2" charset="0"/>
              </a:rPr>
              <a:t>Las decisiones bajo incertidumbre se refieren al proceso de tomar decisiones cuando no se tiene certeza sobre los resultados o condiciones futuras. En situaciones de incertidumbre, se debe evaluar alternativas considerando riesgos y probabilidades asociadas a cada opción. </a:t>
            </a:r>
          </a:p>
          <a:p>
            <a:pPr algn="just">
              <a:spcAft>
                <a:spcPts val="1200"/>
              </a:spcAft>
            </a:pPr>
            <a:endParaRPr lang="es-ES" sz="2800" u="sng" dirty="0">
              <a:latin typeface="Montserrat" panose="00000500000000000000" pitchFamily="2" charset="0"/>
            </a:endParaRPr>
          </a:p>
          <a:p>
            <a:pPr algn="ctr">
              <a:spcAft>
                <a:spcPts val="1200"/>
              </a:spcAft>
            </a:pPr>
            <a:r>
              <a:rPr lang="es-ES" sz="2800" u="sng" dirty="0">
                <a:latin typeface="Montserrat" panose="00000500000000000000" pitchFamily="2" charset="0"/>
              </a:rPr>
              <a:t>Ocasiones en las que no se pueden asignar probabilidades a los eventos posibles.</a:t>
            </a:r>
            <a:endParaRPr lang="es-ES" sz="2000" u="sng" dirty="0">
              <a:latin typeface="Montserrat" panose="00000500000000000000" pitchFamily="2" charset="0"/>
            </a:endParaRPr>
          </a:p>
        </p:txBody>
      </p:sp>
    </p:spTree>
    <p:extLst>
      <p:ext uri="{BB962C8B-B14F-4D97-AF65-F5344CB8AC3E}">
        <p14:creationId xmlns:p14="http://schemas.microsoft.com/office/powerpoint/2010/main" val="177049553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171</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incertidumbre.</a:t>
            </a:r>
          </a:p>
          <a:p>
            <a:r>
              <a:rPr lang="es-ES" sz="2000" b="1" dirty="0">
                <a:solidFill>
                  <a:srgbClr val="131D3F"/>
                </a:solidFill>
                <a:latin typeface="Montserrat SemiBold" panose="00000700000000000000" pitchFamily="2" charset="0"/>
              </a:rPr>
              <a:t>	</a:t>
            </a:r>
            <a:r>
              <a:rPr lang="es-ES" sz="2400" b="1" dirty="0">
                <a:solidFill>
                  <a:srgbClr val="131D3F"/>
                </a:solidFill>
                <a:latin typeface="Montserrat SemiBold" panose="00000700000000000000" pitchFamily="2" charset="0"/>
              </a:rPr>
              <a:t>Matriz de Pagos</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346824"/>
            <a:ext cx="10958464" cy="5016758"/>
          </a:xfrm>
          <a:prstGeom prst="rect">
            <a:avLst/>
          </a:prstGeom>
          <a:noFill/>
        </p:spPr>
        <p:txBody>
          <a:bodyPr wrap="square">
            <a:spAutoFit/>
          </a:bodyPr>
          <a:lstStyle/>
          <a:p>
            <a:pPr algn="just">
              <a:spcAft>
                <a:spcPts val="1200"/>
              </a:spcAft>
            </a:pPr>
            <a:r>
              <a:rPr lang="es-ES" sz="2800" dirty="0">
                <a:latin typeface="Montserrat" panose="00000500000000000000" pitchFamily="2" charset="0"/>
              </a:rPr>
              <a:t>Una herramienta útil para la toma de decisiones bajo incertidumbre es la </a:t>
            </a:r>
            <a:r>
              <a:rPr lang="es-ES" sz="2800" u="sng" dirty="0">
                <a:latin typeface="Montserrat" panose="00000500000000000000" pitchFamily="2" charset="0"/>
              </a:rPr>
              <a:t>Matriz de Pagos</a:t>
            </a:r>
            <a:r>
              <a:rPr lang="es-ES" sz="2800" dirty="0">
                <a:latin typeface="Montserrat" panose="00000500000000000000" pitchFamily="2" charset="0"/>
              </a:rPr>
              <a:t>, especialmente en contextos donde se enfrentan múltiples alternativas y posibles resultados. </a:t>
            </a:r>
          </a:p>
          <a:p>
            <a:pPr algn="just">
              <a:spcAft>
                <a:spcPts val="1200"/>
              </a:spcAft>
            </a:pPr>
            <a:r>
              <a:rPr lang="es-ES" sz="2800" dirty="0">
                <a:latin typeface="Montserrat" panose="00000500000000000000" pitchFamily="2" charset="0"/>
              </a:rPr>
              <a:t>Se compone de Alternativas (Hechos que podemos controlar) y Eventos (Hechos que no podemos controlar).</a:t>
            </a:r>
          </a:p>
          <a:p>
            <a:pPr algn="just">
              <a:spcAft>
                <a:spcPts val="1200"/>
              </a:spcAft>
            </a:pPr>
            <a:endParaRPr lang="es-ES" sz="2800" dirty="0">
              <a:latin typeface="Montserrat" panose="00000500000000000000" pitchFamily="2" charset="0"/>
            </a:endParaRPr>
          </a:p>
          <a:p>
            <a:pPr algn="just">
              <a:spcAft>
                <a:spcPts val="1200"/>
              </a:spcAft>
            </a:pPr>
            <a:r>
              <a:rPr lang="es-ES" sz="2800" u="sng" dirty="0">
                <a:effectLst>
                  <a:outerShdw blurRad="38100" dist="38100" dir="2700000" algn="tl">
                    <a:srgbClr val="000000">
                      <a:alpha val="43137"/>
                    </a:srgbClr>
                  </a:outerShdw>
                </a:effectLst>
                <a:latin typeface="Montserrat" panose="00000500000000000000" pitchFamily="2" charset="0"/>
              </a:rPr>
              <a:t>Por ejemplo:</a:t>
            </a:r>
          </a:p>
          <a:p>
            <a:pPr algn="just">
              <a:spcAft>
                <a:spcPts val="1200"/>
              </a:spcAft>
            </a:pPr>
            <a:r>
              <a:rPr lang="es-ES" sz="2800" dirty="0">
                <a:effectLst>
                  <a:outerShdw blurRad="38100" dist="38100" dir="2700000" algn="tl">
                    <a:srgbClr val="000000">
                      <a:alpha val="43137"/>
                    </a:srgbClr>
                  </a:outerShdw>
                </a:effectLst>
                <a:latin typeface="Montserrat" panose="00000500000000000000" pitchFamily="2" charset="0"/>
              </a:rPr>
              <a:t>Que cantidad de producto debemos comprar ante posibles escenarios de demanda.</a:t>
            </a:r>
          </a:p>
        </p:txBody>
      </p:sp>
    </p:spTree>
    <p:extLst>
      <p:ext uri="{BB962C8B-B14F-4D97-AF65-F5344CB8AC3E}">
        <p14:creationId xmlns:p14="http://schemas.microsoft.com/office/powerpoint/2010/main" val="185155155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172</a:t>
            </a:fld>
            <a:endParaRPr lang="es-MX" sz="1800" b="1" dirty="0">
              <a:solidFill>
                <a:srgbClr val="BA955B"/>
              </a:solidFill>
              <a:latin typeface="Montserrat SemiBold" panose="00000700000000000000" pitchFamily="2" charset="0"/>
            </a:endParaRPr>
          </a:p>
        </p:txBody>
      </p:sp>
      <p:graphicFrame>
        <p:nvGraphicFramePr>
          <p:cNvPr id="2" name="Tabla 1">
            <a:extLst>
              <a:ext uri="{FF2B5EF4-FFF2-40B4-BE49-F238E27FC236}">
                <a16:creationId xmlns:a16="http://schemas.microsoft.com/office/drawing/2014/main" id="{FFEE26AA-BAE3-453C-9CB3-C8BC34A99569}"/>
              </a:ext>
            </a:extLst>
          </p:cNvPr>
          <p:cNvGraphicFramePr>
            <a:graphicFrameLocks noGrp="1"/>
          </p:cNvGraphicFramePr>
          <p:nvPr>
            <p:extLst>
              <p:ext uri="{D42A27DB-BD31-4B8C-83A1-F6EECF244321}">
                <p14:modId xmlns:p14="http://schemas.microsoft.com/office/powerpoint/2010/main" val="15541996"/>
              </p:ext>
            </p:extLst>
          </p:nvPr>
        </p:nvGraphicFramePr>
        <p:xfrm>
          <a:off x="682717" y="3265240"/>
          <a:ext cx="10826566" cy="2804160"/>
        </p:xfrm>
        <a:graphic>
          <a:graphicData uri="http://schemas.openxmlformats.org/drawingml/2006/table">
            <a:tbl>
              <a:tblPr>
                <a:tableStyleId>{5C22544A-7EE6-4342-B048-85BDC9FD1C3A}</a:tableStyleId>
              </a:tblPr>
              <a:tblGrid>
                <a:gridCol w="1587623">
                  <a:extLst>
                    <a:ext uri="{9D8B030D-6E8A-4147-A177-3AD203B41FA5}">
                      <a16:colId xmlns:a16="http://schemas.microsoft.com/office/drawing/2014/main" val="1774068880"/>
                    </a:ext>
                  </a:extLst>
                </a:gridCol>
                <a:gridCol w="1587623">
                  <a:extLst>
                    <a:ext uri="{9D8B030D-6E8A-4147-A177-3AD203B41FA5}">
                      <a16:colId xmlns:a16="http://schemas.microsoft.com/office/drawing/2014/main" val="1160758140"/>
                    </a:ext>
                  </a:extLst>
                </a:gridCol>
                <a:gridCol w="1275220">
                  <a:extLst>
                    <a:ext uri="{9D8B030D-6E8A-4147-A177-3AD203B41FA5}">
                      <a16:colId xmlns:a16="http://schemas.microsoft.com/office/drawing/2014/main" val="2223744527"/>
                    </a:ext>
                  </a:extLst>
                </a:gridCol>
                <a:gridCol w="1275220">
                  <a:extLst>
                    <a:ext uri="{9D8B030D-6E8A-4147-A177-3AD203B41FA5}">
                      <a16:colId xmlns:a16="http://schemas.microsoft.com/office/drawing/2014/main" val="2980488034"/>
                    </a:ext>
                  </a:extLst>
                </a:gridCol>
                <a:gridCol w="1275220">
                  <a:extLst>
                    <a:ext uri="{9D8B030D-6E8A-4147-A177-3AD203B41FA5}">
                      <a16:colId xmlns:a16="http://schemas.microsoft.com/office/drawing/2014/main" val="3203781145"/>
                    </a:ext>
                  </a:extLst>
                </a:gridCol>
                <a:gridCol w="1275220">
                  <a:extLst>
                    <a:ext uri="{9D8B030D-6E8A-4147-A177-3AD203B41FA5}">
                      <a16:colId xmlns:a16="http://schemas.microsoft.com/office/drawing/2014/main" val="3221417844"/>
                    </a:ext>
                  </a:extLst>
                </a:gridCol>
                <a:gridCol w="1275220">
                  <a:extLst>
                    <a:ext uri="{9D8B030D-6E8A-4147-A177-3AD203B41FA5}">
                      <a16:colId xmlns:a16="http://schemas.microsoft.com/office/drawing/2014/main" val="1089753527"/>
                    </a:ext>
                  </a:extLst>
                </a:gridCol>
                <a:gridCol w="1275220">
                  <a:extLst>
                    <a:ext uri="{9D8B030D-6E8A-4147-A177-3AD203B41FA5}">
                      <a16:colId xmlns:a16="http://schemas.microsoft.com/office/drawing/2014/main" val="3737087147"/>
                    </a:ext>
                  </a:extLst>
                </a:gridCol>
              </a:tblGrid>
              <a:tr h="381000">
                <a:tc rowSpan="2" gridSpan="2">
                  <a:txBody>
                    <a:bodyPr/>
                    <a:lstStyle/>
                    <a:p>
                      <a:pPr algn="ctr" fontAlgn="ctr"/>
                      <a:r>
                        <a:rPr lang="es-ES" sz="2000" b="1" i="0" u="none" strike="noStrike" dirty="0">
                          <a:solidFill>
                            <a:srgbClr val="000000"/>
                          </a:solidFill>
                          <a:effectLst/>
                          <a:latin typeface="Montserrat" panose="00000500000000000000" pitchFamily="2" charset="0"/>
                        </a:rPr>
                        <a:t>Venta de árboles de navidad</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rowSpan="2" hMerge="1">
                  <a:txBody>
                    <a:bodyPr/>
                    <a:lstStyle/>
                    <a:p>
                      <a:pPr algn="ctr" fontAlgn="ctr"/>
                      <a:endParaRPr lang="es-MX" sz="1100" b="0" i="0" u="none" strike="noStrike" dirty="0">
                        <a:solidFill>
                          <a:srgbClr val="000000"/>
                        </a:solidFill>
                        <a:effectLst/>
                        <a:latin typeface="Calibri" panose="020F0502020204030204" pitchFamily="34" charset="0"/>
                      </a:endParaRPr>
                    </a:p>
                  </a:txBody>
                  <a:tcPr marL="7620" marR="7620" marT="7620" marB="0" anchor="ctr"/>
                </a:tc>
                <a:tc gridSpan="6">
                  <a:txBody>
                    <a:bodyPr/>
                    <a:lstStyle/>
                    <a:p>
                      <a:pPr algn="ctr" fontAlgn="ctr"/>
                      <a:r>
                        <a:rPr lang="es-MX" sz="2000" b="1" u="none" strike="noStrike" dirty="0">
                          <a:effectLst/>
                          <a:latin typeface="Montserrat" panose="00000500000000000000" pitchFamily="2" charset="0"/>
                        </a:rPr>
                        <a:t>Evento:</a:t>
                      </a:r>
                      <a:br>
                        <a:rPr lang="es-MX" sz="2000" b="1" u="none" strike="noStrike" dirty="0">
                          <a:effectLst/>
                          <a:latin typeface="Montserrat" panose="00000500000000000000" pitchFamily="2" charset="0"/>
                        </a:rPr>
                      </a:br>
                      <a:r>
                        <a:rPr lang="es-MX" sz="2000" b="1" u="none" strike="noStrike" dirty="0">
                          <a:effectLst/>
                          <a:latin typeface="Montserrat" panose="00000500000000000000" pitchFamily="2" charset="0"/>
                        </a:rPr>
                        <a:t> Demanda del Mes</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4009900569"/>
                  </a:ext>
                </a:extLst>
              </a:tr>
              <a:tr h="182880">
                <a:tc gridSpan="2" vMerge="1">
                  <a:txBody>
                    <a:bodyPr/>
                    <a:lstStyle/>
                    <a:p>
                      <a:pPr algn="ctr" fontAlgn="ctr"/>
                      <a:endParaRPr lang="es-MX" sz="1100" b="0" i="0" u="none" strike="noStrike">
                        <a:solidFill>
                          <a:srgbClr val="000000"/>
                        </a:solidFill>
                        <a:effectLst/>
                        <a:latin typeface="Calibri" panose="020F0502020204030204" pitchFamily="34" charset="0"/>
                      </a:endParaRPr>
                    </a:p>
                  </a:txBody>
                  <a:tcPr marL="7620" marR="7620" marT="7620" marB="0" anchor="ctr"/>
                </a:tc>
                <a:tc hMerge="1" vMerge="1">
                  <a:txBody>
                    <a:bodyPr/>
                    <a:lstStyle/>
                    <a:p>
                      <a:pPr algn="ctr" fontAlgn="ctr"/>
                      <a:endParaRPr lang="es-MX"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s-MX" sz="2000" b="1" u="none" strike="noStrike">
                          <a:effectLst/>
                          <a:latin typeface="Montserrat" panose="00000500000000000000" pitchFamily="2" charset="0"/>
                        </a:rPr>
                        <a:t>1,000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1,100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1,200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1,300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1,400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dirty="0">
                          <a:effectLst/>
                          <a:latin typeface="Montserrat" panose="00000500000000000000" pitchFamily="2" charset="0"/>
                        </a:rPr>
                        <a:t>1500</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448602012"/>
                  </a:ext>
                </a:extLst>
              </a:tr>
              <a:tr h="253365">
                <a:tc rowSpan="6">
                  <a:txBody>
                    <a:bodyPr/>
                    <a:lstStyle/>
                    <a:p>
                      <a:pPr algn="ctr" fontAlgn="ctr"/>
                      <a:r>
                        <a:rPr lang="es-MX" sz="2000" b="1" u="none" strike="noStrike">
                          <a:effectLst/>
                          <a:latin typeface="Montserrat" panose="00000500000000000000" pitchFamily="2" charset="0"/>
                        </a:rPr>
                        <a:t>Alternativa: </a:t>
                      </a:r>
                      <a:br>
                        <a:rPr lang="es-MX" sz="2000" b="1" u="none" strike="noStrike">
                          <a:effectLst/>
                          <a:latin typeface="Montserrat" panose="00000500000000000000" pitchFamily="2" charset="0"/>
                        </a:rPr>
                      </a:br>
                      <a:r>
                        <a:rPr lang="es-MX" sz="2000" b="1" u="none" strike="noStrike">
                          <a:effectLst/>
                          <a:latin typeface="Montserrat" panose="00000500000000000000" pitchFamily="2" charset="0"/>
                        </a:rPr>
                        <a:t>Cantidad a producir </a:t>
                      </a:r>
                      <a:endParaRPr lang="es-MX" sz="2000" b="1" i="0" u="none" strike="noStrike">
                        <a:solidFill>
                          <a:srgbClr val="000000"/>
                        </a:solidFill>
                        <a:effectLst/>
                        <a:latin typeface="Montserrat" panose="00000500000000000000" pitchFamily="2" charset="0"/>
                      </a:endParaRPr>
                    </a:p>
                  </a:txBody>
                  <a:tcPr marL="7620" marR="7620" marT="7620" marB="0" vert="vert270" anchor="ctr">
                    <a:noFill/>
                  </a:tcPr>
                </a:tc>
                <a:tc>
                  <a:txBody>
                    <a:bodyPr/>
                    <a:lstStyle/>
                    <a:p>
                      <a:pPr algn="ctr" fontAlgn="ctr"/>
                      <a:r>
                        <a:rPr lang="es-MX" sz="2000" b="1" u="none" strike="noStrike">
                          <a:effectLst/>
                          <a:latin typeface="Montserrat" panose="00000500000000000000" pitchFamily="2" charset="0"/>
                        </a:rPr>
                        <a:t>1,000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35,000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462830236"/>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1,100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33,500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35,750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dirty="0">
                          <a:effectLst/>
                          <a:latin typeface="Montserrat" panose="00000500000000000000" pitchFamily="2" charset="0"/>
                        </a:rPr>
                        <a:t>35,750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1947192443"/>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1,200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37,000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42,000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302320997"/>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1,300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30,500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40,500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45,500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627010683"/>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1,400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29,000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34,000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39,000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43,750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48,500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48,500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1573126377"/>
                  </a:ext>
                </a:extLst>
              </a:tr>
              <a:tr h="253365">
                <a:tc vMerge="1">
                  <a:txBody>
                    <a:bodyPr/>
                    <a:lstStyle/>
                    <a:p>
                      <a:endParaRPr lang="es-MX"/>
                    </a:p>
                  </a:txBody>
                  <a:tcPr/>
                </a:tc>
                <a:tc>
                  <a:txBody>
                    <a:bodyPr/>
                    <a:lstStyle/>
                    <a:p>
                      <a:pPr algn="ctr" fontAlgn="ctr"/>
                      <a:r>
                        <a:rPr lang="es-MX" sz="2000" b="1" u="none" strike="noStrike" dirty="0">
                          <a:effectLst/>
                          <a:latin typeface="Montserrat" panose="00000500000000000000" pitchFamily="2" charset="0"/>
                        </a:rPr>
                        <a:t>1,500</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27500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32,500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37,500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47,500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52,500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extLst>
                  <a:ext uri="{0D108BD9-81ED-4DB2-BD59-A6C34878D82A}">
                    <a16:rowId xmlns:a16="http://schemas.microsoft.com/office/drawing/2014/main" val="1123418831"/>
                  </a:ext>
                </a:extLst>
              </a:tr>
            </a:tbl>
          </a:graphicData>
        </a:graphic>
      </p:graphicFrame>
      <p:sp>
        <p:nvSpPr>
          <p:cNvPr id="12" name="Título 3">
            <a:extLst>
              <a:ext uri="{FF2B5EF4-FFF2-40B4-BE49-F238E27FC236}">
                <a16:creationId xmlns:a16="http://schemas.microsoft.com/office/drawing/2014/main" id="{5E883BC2-EB56-4548-9378-508887B83154}"/>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incertidumbre.</a:t>
            </a:r>
          </a:p>
          <a:p>
            <a:r>
              <a:rPr lang="es-ES" sz="2000" b="1" dirty="0">
                <a:solidFill>
                  <a:srgbClr val="131D3F"/>
                </a:solidFill>
                <a:latin typeface="Montserrat SemiBold" panose="00000700000000000000" pitchFamily="2" charset="0"/>
              </a:rPr>
              <a:t>	</a:t>
            </a:r>
            <a:r>
              <a:rPr lang="es-ES" sz="2400" b="1" dirty="0">
                <a:solidFill>
                  <a:srgbClr val="131D3F"/>
                </a:solidFill>
                <a:latin typeface="Montserrat SemiBold" panose="00000700000000000000" pitchFamily="2" charset="0"/>
              </a:rPr>
              <a:t>Matriz de Pagos - Ejemplo</a:t>
            </a:r>
            <a:endParaRPr lang="es-ES" sz="2000" b="1" dirty="0">
              <a:solidFill>
                <a:srgbClr val="131D3F"/>
              </a:solidFill>
              <a:latin typeface="Montserrat SemiBold" panose="00000700000000000000" pitchFamily="2" charset="0"/>
            </a:endParaRPr>
          </a:p>
        </p:txBody>
      </p:sp>
      <p:sp>
        <p:nvSpPr>
          <p:cNvPr id="13" name="CuadroTexto 12">
            <a:extLst>
              <a:ext uri="{FF2B5EF4-FFF2-40B4-BE49-F238E27FC236}">
                <a16:creationId xmlns:a16="http://schemas.microsoft.com/office/drawing/2014/main" id="{2262AA7E-C56B-4BF6-A2DE-1AA8090DBBDF}"/>
              </a:ext>
            </a:extLst>
          </p:cNvPr>
          <p:cNvSpPr txBox="1"/>
          <p:nvPr/>
        </p:nvSpPr>
        <p:spPr>
          <a:xfrm>
            <a:off x="616768" y="1346824"/>
            <a:ext cx="10958464" cy="1569660"/>
          </a:xfrm>
          <a:prstGeom prst="rect">
            <a:avLst/>
          </a:prstGeom>
          <a:noFill/>
        </p:spPr>
        <p:txBody>
          <a:bodyPr wrap="square">
            <a:spAutoFit/>
          </a:bodyPr>
          <a:lstStyle/>
          <a:p>
            <a:pPr algn="just">
              <a:spcAft>
                <a:spcPts val="1200"/>
              </a:spcAft>
            </a:pPr>
            <a:r>
              <a:rPr lang="es-ES" sz="2400" dirty="0">
                <a:latin typeface="Montserrat" panose="00000500000000000000" pitchFamily="2" charset="0"/>
              </a:rPr>
              <a:t>Un comerciante esta incursionando en la venta de árboles de navidad, es su primer año vendiendo y no tiene un histórico que le permita determinar el volumen de ventas. Debe hacer el pedido con 6 meses de anticipación y no puede solicitar más en caso de venderlos pronto.</a:t>
            </a:r>
          </a:p>
        </p:txBody>
      </p:sp>
    </p:spTree>
    <p:extLst>
      <p:ext uri="{BB962C8B-B14F-4D97-AF65-F5344CB8AC3E}">
        <p14:creationId xmlns:p14="http://schemas.microsoft.com/office/powerpoint/2010/main" val="211664551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173</a:t>
            </a:fld>
            <a:endParaRPr lang="es-MX" sz="1800" b="1" dirty="0">
              <a:solidFill>
                <a:srgbClr val="BA955B"/>
              </a:solidFill>
              <a:latin typeface="Montserrat SemiBold" panose="00000700000000000000" pitchFamily="2" charset="0"/>
            </a:endParaRPr>
          </a:p>
        </p:txBody>
      </p:sp>
      <p:sp>
        <p:nvSpPr>
          <p:cNvPr id="12" name="Título 3">
            <a:extLst>
              <a:ext uri="{FF2B5EF4-FFF2-40B4-BE49-F238E27FC236}">
                <a16:creationId xmlns:a16="http://schemas.microsoft.com/office/drawing/2014/main" id="{5E883BC2-EB56-4548-9378-508887B83154}"/>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incertidumbre.</a:t>
            </a:r>
          </a:p>
          <a:p>
            <a:r>
              <a:rPr lang="es-ES" sz="2000" b="1" dirty="0">
                <a:solidFill>
                  <a:srgbClr val="131D3F"/>
                </a:solidFill>
                <a:latin typeface="Montserrat SemiBold" panose="00000700000000000000" pitchFamily="2" charset="0"/>
              </a:rPr>
              <a:t>	</a:t>
            </a:r>
            <a:r>
              <a:rPr lang="es-ES" sz="2400" b="1" dirty="0">
                <a:solidFill>
                  <a:srgbClr val="131D3F"/>
                </a:solidFill>
                <a:latin typeface="Montserrat SemiBold" panose="00000700000000000000" pitchFamily="2" charset="0"/>
              </a:rPr>
              <a:t>Matriz de Pagos - Ejemplo</a:t>
            </a:r>
            <a:endParaRPr lang="es-ES" sz="2000" b="1" dirty="0">
              <a:solidFill>
                <a:srgbClr val="131D3F"/>
              </a:solidFill>
              <a:latin typeface="Montserrat SemiBold" panose="00000700000000000000" pitchFamily="2" charset="0"/>
            </a:endParaRPr>
          </a:p>
        </p:txBody>
      </p:sp>
      <p:sp>
        <p:nvSpPr>
          <p:cNvPr id="13" name="CuadroTexto 12">
            <a:extLst>
              <a:ext uri="{FF2B5EF4-FFF2-40B4-BE49-F238E27FC236}">
                <a16:creationId xmlns:a16="http://schemas.microsoft.com/office/drawing/2014/main" id="{2262AA7E-C56B-4BF6-A2DE-1AA8090DBBDF}"/>
              </a:ext>
            </a:extLst>
          </p:cNvPr>
          <p:cNvSpPr txBox="1"/>
          <p:nvPr/>
        </p:nvSpPr>
        <p:spPr>
          <a:xfrm>
            <a:off x="616768" y="1346824"/>
            <a:ext cx="10958464" cy="830997"/>
          </a:xfrm>
          <a:prstGeom prst="rect">
            <a:avLst/>
          </a:prstGeom>
          <a:noFill/>
        </p:spPr>
        <p:txBody>
          <a:bodyPr wrap="square">
            <a:spAutoFit/>
          </a:bodyPr>
          <a:lstStyle/>
          <a:p>
            <a:pPr algn="just">
              <a:spcAft>
                <a:spcPts val="1200"/>
              </a:spcAft>
            </a:pPr>
            <a:r>
              <a:rPr lang="es-ES" sz="2400" dirty="0">
                <a:latin typeface="Montserrat" panose="00000500000000000000" pitchFamily="2" charset="0"/>
              </a:rPr>
              <a:t>Existen 3 criterios a la hora de valorar los resultados para tomar una decisión en condiciones de incertidumbre</a:t>
            </a:r>
          </a:p>
        </p:txBody>
      </p:sp>
      <p:graphicFrame>
        <p:nvGraphicFramePr>
          <p:cNvPr id="3" name="Diagrama 2">
            <a:extLst>
              <a:ext uri="{FF2B5EF4-FFF2-40B4-BE49-F238E27FC236}">
                <a16:creationId xmlns:a16="http://schemas.microsoft.com/office/drawing/2014/main" id="{D6A40465-A43F-41DA-9C04-FCF121D87024}"/>
              </a:ext>
            </a:extLst>
          </p:cNvPr>
          <p:cNvGraphicFramePr/>
          <p:nvPr>
            <p:extLst>
              <p:ext uri="{D42A27DB-BD31-4B8C-83A1-F6EECF244321}">
                <p14:modId xmlns:p14="http://schemas.microsoft.com/office/powerpoint/2010/main" val="3309068483"/>
              </p:ext>
            </p:extLst>
          </p:nvPr>
        </p:nvGraphicFramePr>
        <p:xfrm>
          <a:off x="748666" y="2140963"/>
          <a:ext cx="10826566" cy="42797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49495046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174</a:t>
            </a:fld>
            <a:endParaRPr lang="es-MX" sz="1800" b="1" dirty="0">
              <a:solidFill>
                <a:srgbClr val="BA955B"/>
              </a:solidFill>
              <a:latin typeface="Montserrat SemiBold" panose="00000700000000000000" pitchFamily="2" charset="0"/>
            </a:endParaRPr>
          </a:p>
        </p:txBody>
      </p:sp>
      <p:graphicFrame>
        <p:nvGraphicFramePr>
          <p:cNvPr id="2" name="Tabla 1">
            <a:extLst>
              <a:ext uri="{FF2B5EF4-FFF2-40B4-BE49-F238E27FC236}">
                <a16:creationId xmlns:a16="http://schemas.microsoft.com/office/drawing/2014/main" id="{FFEE26AA-BAE3-453C-9CB3-C8BC34A99569}"/>
              </a:ext>
            </a:extLst>
          </p:cNvPr>
          <p:cNvGraphicFramePr>
            <a:graphicFrameLocks noGrp="1"/>
          </p:cNvGraphicFramePr>
          <p:nvPr>
            <p:extLst>
              <p:ext uri="{D42A27DB-BD31-4B8C-83A1-F6EECF244321}">
                <p14:modId xmlns:p14="http://schemas.microsoft.com/office/powerpoint/2010/main" val="1079116808"/>
              </p:ext>
            </p:extLst>
          </p:nvPr>
        </p:nvGraphicFramePr>
        <p:xfrm>
          <a:off x="682717" y="1346824"/>
          <a:ext cx="10826566" cy="2804160"/>
        </p:xfrm>
        <a:graphic>
          <a:graphicData uri="http://schemas.openxmlformats.org/drawingml/2006/table">
            <a:tbl>
              <a:tblPr>
                <a:tableStyleId>{5C22544A-7EE6-4342-B048-85BDC9FD1C3A}</a:tableStyleId>
              </a:tblPr>
              <a:tblGrid>
                <a:gridCol w="1587623">
                  <a:extLst>
                    <a:ext uri="{9D8B030D-6E8A-4147-A177-3AD203B41FA5}">
                      <a16:colId xmlns:a16="http://schemas.microsoft.com/office/drawing/2014/main" val="1774068880"/>
                    </a:ext>
                  </a:extLst>
                </a:gridCol>
                <a:gridCol w="1587623">
                  <a:extLst>
                    <a:ext uri="{9D8B030D-6E8A-4147-A177-3AD203B41FA5}">
                      <a16:colId xmlns:a16="http://schemas.microsoft.com/office/drawing/2014/main" val="1160758140"/>
                    </a:ext>
                  </a:extLst>
                </a:gridCol>
                <a:gridCol w="1275220">
                  <a:extLst>
                    <a:ext uri="{9D8B030D-6E8A-4147-A177-3AD203B41FA5}">
                      <a16:colId xmlns:a16="http://schemas.microsoft.com/office/drawing/2014/main" val="2223744527"/>
                    </a:ext>
                  </a:extLst>
                </a:gridCol>
                <a:gridCol w="1275220">
                  <a:extLst>
                    <a:ext uri="{9D8B030D-6E8A-4147-A177-3AD203B41FA5}">
                      <a16:colId xmlns:a16="http://schemas.microsoft.com/office/drawing/2014/main" val="2980488034"/>
                    </a:ext>
                  </a:extLst>
                </a:gridCol>
                <a:gridCol w="1275220">
                  <a:extLst>
                    <a:ext uri="{9D8B030D-6E8A-4147-A177-3AD203B41FA5}">
                      <a16:colId xmlns:a16="http://schemas.microsoft.com/office/drawing/2014/main" val="3203781145"/>
                    </a:ext>
                  </a:extLst>
                </a:gridCol>
                <a:gridCol w="1275220">
                  <a:extLst>
                    <a:ext uri="{9D8B030D-6E8A-4147-A177-3AD203B41FA5}">
                      <a16:colId xmlns:a16="http://schemas.microsoft.com/office/drawing/2014/main" val="3221417844"/>
                    </a:ext>
                  </a:extLst>
                </a:gridCol>
                <a:gridCol w="1275220">
                  <a:extLst>
                    <a:ext uri="{9D8B030D-6E8A-4147-A177-3AD203B41FA5}">
                      <a16:colId xmlns:a16="http://schemas.microsoft.com/office/drawing/2014/main" val="1089753527"/>
                    </a:ext>
                  </a:extLst>
                </a:gridCol>
                <a:gridCol w="1275220">
                  <a:extLst>
                    <a:ext uri="{9D8B030D-6E8A-4147-A177-3AD203B41FA5}">
                      <a16:colId xmlns:a16="http://schemas.microsoft.com/office/drawing/2014/main" val="3737087147"/>
                    </a:ext>
                  </a:extLst>
                </a:gridCol>
              </a:tblGrid>
              <a:tr h="381000">
                <a:tc rowSpan="2" gridSpan="2">
                  <a:txBody>
                    <a:bodyPr/>
                    <a:lstStyle/>
                    <a:p>
                      <a:pPr algn="ctr" fontAlgn="ctr"/>
                      <a:r>
                        <a:rPr lang="es-ES" sz="2000" b="1" i="0" u="none" strike="noStrike" dirty="0">
                          <a:solidFill>
                            <a:srgbClr val="000000"/>
                          </a:solidFill>
                          <a:effectLst/>
                          <a:latin typeface="Montserrat" panose="00000500000000000000" pitchFamily="2" charset="0"/>
                        </a:rPr>
                        <a:t>Venta de árboles de navidad</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rowSpan="2" hMerge="1">
                  <a:txBody>
                    <a:bodyPr/>
                    <a:lstStyle/>
                    <a:p>
                      <a:pPr algn="ctr" fontAlgn="ctr"/>
                      <a:endParaRPr lang="es-MX" sz="1100" b="0" i="0" u="none" strike="noStrike" dirty="0">
                        <a:solidFill>
                          <a:srgbClr val="000000"/>
                        </a:solidFill>
                        <a:effectLst/>
                        <a:latin typeface="Calibri" panose="020F0502020204030204" pitchFamily="34" charset="0"/>
                      </a:endParaRPr>
                    </a:p>
                  </a:txBody>
                  <a:tcPr marL="7620" marR="7620" marT="7620" marB="0" anchor="ctr"/>
                </a:tc>
                <a:tc gridSpan="6">
                  <a:txBody>
                    <a:bodyPr/>
                    <a:lstStyle/>
                    <a:p>
                      <a:pPr algn="ctr" fontAlgn="ctr"/>
                      <a:r>
                        <a:rPr lang="es-MX" sz="2000" b="1" u="none" strike="noStrike" dirty="0">
                          <a:effectLst/>
                          <a:latin typeface="Montserrat" panose="00000500000000000000" pitchFamily="2" charset="0"/>
                        </a:rPr>
                        <a:t>Evento:</a:t>
                      </a:r>
                      <a:br>
                        <a:rPr lang="es-MX" sz="2000" b="1" u="none" strike="noStrike" dirty="0">
                          <a:effectLst/>
                          <a:latin typeface="Montserrat" panose="00000500000000000000" pitchFamily="2" charset="0"/>
                        </a:rPr>
                      </a:br>
                      <a:r>
                        <a:rPr lang="es-MX" sz="2000" b="1" u="none" strike="noStrike" dirty="0">
                          <a:effectLst/>
                          <a:latin typeface="Montserrat" panose="00000500000000000000" pitchFamily="2" charset="0"/>
                        </a:rPr>
                        <a:t> Demanda del Mes</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4009900569"/>
                  </a:ext>
                </a:extLst>
              </a:tr>
              <a:tr h="182880">
                <a:tc gridSpan="2" vMerge="1">
                  <a:txBody>
                    <a:bodyPr/>
                    <a:lstStyle/>
                    <a:p>
                      <a:pPr algn="ctr" fontAlgn="ctr"/>
                      <a:endParaRPr lang="es-MX" sz="1100" b="0" i="0" u="none" strike="noStrike">
                        <a:solidFill>
                          <a:srgbClr val="000000"/>
                        </a:solidFill>
                        <a:effectLst/>
                        <a:latin typeface="Calibri" panose="020F0502020204030204" pitchFamily="34" charset="0"/>
                      </a:endParaRPr>
                    </a:p>
                  </a:txBody>
                  <a:tcPr marL="7620" marR="7620" marT="7620" marB="0" anchor="ctr"/>
                </a:tc>
                <a:tc hMerge="1" vMerge="1">
                  <a:txBody>
                    <a:bodyPr/>
                    <a:lstStyle/>
                    <a:p>
                      <a:pPr algn="ctr" fontAlgn="ctr"/>
                      <a:endParaRPr lang="es-MX"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s-MX" sz="2000" b="1" u="none" strike="noStrike">
                          <a:effectLst/>
                          <a:latin typeface="Montserrat" panose="00000500000000000000" pitchFamily="2" charset="0"/>
                        </a:rPr>
                        <a:t>1,000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1,100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1,200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1,300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1,400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dirty="0">
                          <a:effectLst/>
                          <a:latin typeface="Montserrat" panose="00000500000000000000" pitchFamily="2" charset="0"/>
                        </a:rPr>
                        <a:t>1500</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448602012"/>
                  </a:ext>
                </a:extLst>
              </a:tr>
              <a:tr h="253365">
                <a:tc rowSpan="6">
                  <a:txBody>
                    <a:bodyPr/>
                    <a:lstStyle/>
                    <a:p>
                      <a:pPr algn="ctr" fontAlgn="ctr"/>
                      <a:r>
                        <a:rPr lang="es-MX" sz="2000" b="1" u="none" strike="noStrike">
                          <a:effectLst/>
                          <a:latin typeface="Montserrat" panose="00000500000000000000" pitchFamily="2" charset="0"/>
                        </a:rPr>
                        <a:t>Alternativa: </a:t>
                      </a:r>
                      <a:br>
                        <a:rPr lang="es-MX" sz="2000" b="1" u="none" strike="noStrike">
                          <a:effectLst/>
                          <a:latin typeface="Montserrat" panose="00000500000000000000" pitchFamily="2" charset="0"/>
                        </a:rPr>
                      </a:br>
                      <a:r>
                        <a:rPr lang="es-MX" sz="2000" b="1" u="none" strike="noStrike">
                          <a:effectLst/>
                          <a:latin typeface="Montserrat" panose="00000500000000000000" pitchFamily="2" charset="0"/>
                        </a:rPr>
                        <a:t>Cantidad a producir </a:t>
                      </a:r>
                      <a:endParaRPr lang="es-MX" sz="2000" b="1" i="0" u="none" strike="noStrike">
                        <a:solidFill>
                          <a:srgbClr val="000000"/>
                        </a:solidFill>
                        <a:effectLst/>
                        <a:latin typeface="Montserrat" panose="00000500000000000000" pitchFamily="2" charset="0"/>
                      </a:endParaRPr>
                    </a:p>
                  </a:txBody>
                  <a:tcPr marL="7620" marR="7620" marT="7620" marB="0" vert="vert270" anchor="ctr">
                    <a:noFill/>
                  </a:tcPr>
                </a:tc>
                <a:tc>
                  <a:txBody>
                    <a:bodyPr/>
                    <a:lstStyle/>
                    <a:p>
                      <a:pPr algn="ctr" fontAlgn="ctr"/>
                      <a:r>
                        <a:rPr lang="es-MX" sz="2000" b="1" u="none" strike="noStrike">
                          <a:effectLst/>
                          <a:latin typeface="Montserrat" panose="00000500000000000000" pitchFamily="2" charset="0"/>
                        </a:rPr>
                        <a:t>1,000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35,000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462830236"/>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1,100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33,500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35,750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dirty="0">
                          <a:effectLst/>
                          <a:latin typeface="Montserrat" panose="00000500000000000000" pitchFamily="2" charset="0"/>
                        </a:rPr>
                        <a:t>35,750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1947192443"/>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1,200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37,000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42,000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302320997"/>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1,300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30,500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40,500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45,500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3627010683"/>
                  </a:ext>
                </a:extLst>
              </a:tr>
              <a:tr h="253365">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1,400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29,000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34,000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39,000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43,750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48,500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48,500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extLst>
                  <a:ext uri="{0D108BD9-81ED-4DB2-BD59-A6C34878D82A}">
                    <a16:rowId xmlns:a16="http://schemas.microsoft.com/office/drawing/2014/main" val="1573126377"/>
                  </a:ext>
                </a:extLst>
              </a:tr>
              <a:tr h="253365">
                <a:tc vMerge="1">
                  <a:txBody>
                    <a:bodyPr/>
                    <a:lstStyle/>
                    <a:p>
                      <a:endParaRPr lang="es-MX"/>
                    </a:p>
                  </a:txBody>
                  <a:tcPr/>
                </a:tc>
                <a:tc>
                  <a:txBody>
                    <a:bodyPr/>
                    <a:lstStyle/>
                    <a:p>
                      <a:pPr algn="ctr" fontAlgn="ctr"/>
                      <a:r>
                        <a:rPr lang="es-MX" sz="2000" b="1" u="none" strike="noStrike" dirty="0">
                          <a:effectLst/>
                          <a:latin typeface="Montserrat" panose="00000500000000000000" pitchFamily="2" charset="0"/>
                        </a:rPr>
                        <a:t>1,500</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27500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32,500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37,500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47,500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52,500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extLst>
                  <a:ext uri="{0D108BD9-81ED-4DB2-BD59-A6C34878D82A}">
                    <a16:rowId xmlns:a16="http://schemas.microsoft.com/office/drawing/2014/main" val="1123418831"/>
                  </a:ext>
                </a:extLst>
              </a:tr>
            </a:tbl>
          </a:graphicData>
        </a:graphic>
      </p:graphicFrame>
      <p:sp>
        <p:nvSpPr>
          <p:cNvPr id="12" name="Título 3">
            <a:extLst>
              <a:ext uri="{FF2B5EF4-FFF2-40B4-BE49-F238E27FC236}">
                <a16:creationId xmlns:a16="http://schemas.microsoft.com/office/drawing/2014/main" id="{5E883BC2-EB56-4548-9378-508887B83154}"/>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incertidumbre.</a:t>
            </a:r>
          </a:p>
          <a:p>
            <a:r>
              <a:rPr lang="es-ES" sz="2000" b="1" dirty="0">
                <a:solidFill>
                  <a:srgbClr val="131D3F"/>
                </a:solidFill>
                <a:latin typeface="Montserrat SemiBold" panose="00000700000000000000" pitchFamily="2" charset="0"/>
              </a:rPr>
              <a:t>	</a:t>
            </a:r>
            <a:r>
              <a:rPr lang="es-ES" sz="2400" b="1" dirty="0">
                <a:solidFill>
                  <a:srgbClr val="131D3F"/>
                </a:solidFill>
                <a:latin typeface="Montserrat SemiBold" panose="00000700000000000000" pitchFamily="2" charset="0"/>
              </a:rPr>
              <a:t>Matriz de Pagos - Ejemplo</a:t>
            </a:r>
            <a:endParaRPr lang="es-ES" sz="2000" b="1" dirty="0">
              <a:solidFill>
                <a:srgbClr val="131D3F"/>
              </a:solidFill>
              <a:latin typeface="Montserrat SemiBold" panose="00000700000000000000" pitchFamily="2" charset="0"/>
            </a:endParaRPr>
          </a:p>
        </p:txBody>
      </p:sp>
      <p:graphicFrame>
        <p:nvGraphicFramePr>
          <p:cNvPr id="9" name="Diagrama 8">
            <a:extLst>
              <a:ext uri="{FF2B5EF4-FFF2-40B4-BE49-F238E27FC236}">
                <a16:creationId xmlns:a16="http://schemas.microsoft.com/office/drawing/2014/main" id="{E24F06D0-1F44-42EF-8EAF-2CE1F8A0CBDE}"/>
              </a:ext>
            </a:extLst>
          </p:cNvPr>
          <p:cNvGraphicFramePr/>
          <p:nvPr>
            <p:extLst>
              <p:ext uri="{D42A27DB-BD31-4B8C-83A1-F6EECF244321}">
                <p14:modId xmlns:p14="http://schemas.microsoft.com/office/powerpoint/2010/main" val="1404948168"/>
              </p:ext>
            </p:extLst>
          </p:nvPr>
        </p:nvGraphicFramePr>
        <p:xfrm>
          <a:off x="682717" y="3661650"/>
          <a:ext cx="10826566" cy="42797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2097259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175</a:t>
            </a:fld>
            <a:endParaRPr lang="es-MX" sz="1800" b="1" dirty="0">
              <a:solidFill>
                <a:srgbClr val="BA955B"/>
              </a:solidFill>
              <a:latin typeface="Montserrat SemiBold" panose="00000700000000000000" pitchFamily="2" charset="0"/>
            </a:endParaRPr>
          </a:p>
        </p:txBody>
      </p:sp>
      <p:sp>
        <p:nvSpPr>
          <p:cNvPr id="12" name="Título 3">
            <a:extLst>
              <a:ext uri="{FF2B5EF4-FFF2-40B4-BE49-F238E27FC236}">
                <a16:creationId xmlns:a16="http://schemas.microsoft.com/office/drawing/2014/main" id="{5E883BC2-EB56-4548-9378-508887B83154}"/>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3.5 Decisiones bajo incertidumbre.</a:t>
            </a:r>
          </a:p>
          <a:p>
            <a:r>
              <a:rPr lang="es-ES" sz="2000" b="1" dirty="0">
                <a:solidFill>
                  <a:srgbClr val="131D3F"/>
                </a:solidFill>
                <a:latin typeface="Montserrat SemiBold" panose="00000700000000000000" pitchFamily="2" charset="0"/>
              </a:rPr>
              <a:t>	</a:t>
            </a:r>
            <a:r>
              <a:rPr lang="es-ES" sz="2400" b="1" dirty="0">
                <a:solidFill>
                  <a:srgbClr val="131D3F"/>
                </a:solidFill>
                <a:latin typeface="Montserrat SemiBold" panose="00000700000000000000" pitchFamily="2" charset="0"/>
              </a:rPr>
              <a:t>Matriz de Pagos - Ejemplo</a:t>
            </a:r>
            <a:endParaRPr lang="es-ES" sz="2000" b="1" dirty="0">
              <a:solidFill>
                <a:srgbClr val="131D3F"/>
              </a:solidFill>
              <a:latin typeface="Montserrat SemiBold" panose="00000700000000000000" pitchFamily="2" charset="0"/>
            </a:endParaRPr>
          </a:p>
        </p:txBody>
      </p:sp>
      <p:graphicFrame>
        <p:nvGraphicFramePr>
          <p:cNvPr id="5" name="Tabla 4">
            <a:extLst>
              <a:ext uri="{FF2B5EF4-FFF2-40B4-BE49-F238E27FC236}">
                <a16:creationId xmlns:a16="http://schemas.microsoft.com/office/drawing/2014/main" id="{E6B36469-E7A4-4B7F-B97E-A7BE3E95FB91}"/>
              </a:ext>
            </a:extLst>
          </p:cNvPr>
          <p:cNvGraphicFramePr>
            <a:graphicFrameLocks noGrp="1"/>
          </p:cNvGraphicFramePr>
          <p:nvPr>
            <p:extLst>
              <p:ext uri="{D42A27DB-BD31-4B8C-83A1-F6EECF244321}">
                <p14:modId xmlns:p14="http://schemas.microsoft.com/office/powerpoint/2010/main" val="3477678530"/>
              </p:ext>
            </p:extLst>
          </p:nvPr>
        </p:nvGraphicFramePr>
        <p:xfrm>
          <a:off x="337929" y="2387600"/>
          <a:ext cx="11629142" cy="3257824"/>
        </p:xfrm>
        <a:graphic>
          <a:graphicData uri="http://schemas.openxmlformats.org/drawingml/2006/table">
            <a:tbl>
              <a:tblPr>
                <a:tableStyleId>{5C22544A-7EE6-4342-B048-85BDC9FD1C3A}</a:tableStyleId>
              </a:tblPr>
              <a:tblGrid>
                <a:gridCol w="1267974">
                  <a:extLst>
                    <a:ext uri="{9D8B030D-6E8A-4147-A177-3AD203B41FA5}">
                      <a16:colId xmlns:a16="http://schemas.microsoft.com/office/drawing/2014/main" val="243405069"/>
                    </a:ext>
                  </a:extLst>
                </a:gridCol>
                <a:gridCol w="1050608">
                  <a:extLst>
                    <a:ext uri="{9D8B030D-6E8A-4147-A177-3AD203B41FA5}">
                      <a16:colId xmlns:a16="http://schemas.microsoft.com/office/drawing/2014/main" val="53089350"/>
                    </a:ext>
                  </a:extLst>
                </a:gridCol>
                <a:gridCol w="1050608">
                  <a:extLst>
                    <a:ext uri="{9D8B030D-6E8A-4147-A177-3AD203B41FA5}">
                      <a16:colId xmlns:a16="http://schemas.microsoft.com/office/drawing/2014/main" val="341554425"/>
                    </a:ext>
                  </a:extLst>
                </a:gridCol>
                <a:gridCol w="1050608">
                  <a:extLst>
                    <a:ext uri="{9D8B030D-6E8A-4147-A177-3AD203B41FA5}">
                      <a16:colId xmlns:a16="http://schemas.microsoft.com/office/drawing/2014/main" val="640835569"/>
                    </a:ext>
                  </a:extLst>
                </a:gridCol>
                <a:gridCol w="1050608">
                  <a:extLst>
                    <a:ext uri="{9D8B030D-6E8A-4147-A177-3AD203B41FA5}">
                      <a16:colId xmlns:a16="http://schemas.microsoft.com/office/drawing/2014/main" val="4220570799"/>
                    </a:ext>
                  </a:extLst>
                </a:gridCol>
                <a:gridCol w="1050608">
                  <a:extLst>
                    <a:ext uri="{9D8B030D-6E8A-4147-A177-3AD203B41FA5}">
                      <a16:colId xmlns:a16="http://schemas.microsoft.com/office/drawing/2014/main" val="3824141970"/>
                    </a:ext>
                  </a:extLst>
                </a:gridCol>
                <a:gridCol w="1050608">
                  <a:extLst>
                    <a:ext uri="{9D8B030D-6E8A-4147-A177-3AD203B41FA5}">
                      <a16:colId xmlns:a16="http://schemas.microsoft.com/office/drawing/2014/main" val="3506196899"/>
                    </a:ext>
                  </a:extLst>
                </a:gridCol>
                <a:gridCol w="1050608">
                  <a:extLst>
                    <a:ext uri="{9D8B030D-6E8A-4147-A177-3AD203B41FA5}">
                      <a16:colId xmlns:a16="http://schemas.microsoft.com/office/drawing/2014/main" val="480816485"/>
                    </a:ext>
                  </a:extLst>
                </a:gridCol>
                <a:gridCol w="1503456">
                  <a:extLst>
                    <a:ext uri="{9D8B030D-6E8A-4147-A177-3AD203B41FA5}">
                      <a16:colId xmlns:a16="http://schemas.microsoft.com/office/drawing/2014/main" val="3791911032"/>
                    </a:ext>
                  </a:extLst>
                </a:gridCol>
                <a:gridCol w="1503456">
                  <a:extLst>
                    <a:ext uri="{9D8B030D-6E8A-4147-A177-3AD203B41FA5}">
                      <a16:colId xmlns:a16="http://schemas.microsoft.com/office/drawing/2014/main" val="3065751333"/>
                    </a:ext>
                  </a:extLst>
                </a:gridCol>
              </a:tblGrid>
              <a:tr h="717076">
                <a:tc rowSpan="2" gridSpan="2">
                  <a:txBody>
                    <a:bodyPr/>
                    <a:lstStyle/>
                    <a:p>
                      <a:pPr algn="ctr" fontAlgn="ctr"/>
                      <a:r>
                        <a:rPr lang="es-MX" sz="2000" b="1" u="none" strike="noStrike" dirty="0">
                          <a:effectLst/>
                          <a:latin typeface="Montserrat" panose="00000500000000000000" pitchFamily="2" charset="0"/>
                        </a:rPr>
                        <a:t>Venta de árboles de navidad</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rowSpan="2" hMerge="1">
                  <a:txBody>
                    <a:bodyPr/>
                    <a:lstStyle/>
                    <a:p>
                      <a:endParaRPr lang="es-MX"/>
                    </a:p>
                  </a:txBody>
                  <a:tcPr/>
                </a:tc>
                <a:tc gridSpan="6">
                  <a:txBody>
                    <a:bodyPr/>
                    <a:lstStyle/>
                    <a:p>
                      <a:pPr algn="ctr" fontAlgn="ctr"/>
                      <a:r>
                        <a:rPr lang="es-MX" sz="2000" b="1" u="none" strike="noStrike" dirty="0">
                          <a:effectLst/>
                          <a:latin typeface="Montserrat" panose="00000500000000000000" pitchFamily="2" charset="0"/>
                        </a:rPr>
                        <a:t>Evento:</a:t>
                      </a:r>
                      <a:br>
                        <a:rPr lang="es-MX" sz="2000" b="1" u="none" strike="noStrike" dirty="0">
                          <a:effectLst/>
                          <a:latin typeface="Montserrat" panose="00000500000000000000" pitchFamily="2" charset="0"/>
                        </a:rPr>
                      </a:br>
                      <a:r>
                        <a:rPr lang="es-MX" sz="2000" b="1" u="none" strike="noStrike" dirty="0">
                          <a:effectLst/>
                          <a:latin typeface="Montserrat" panose="00000500000000000000" pitchFamily="2" charset="0"/>
                        </a:rPr>
                        <a:t> Demanda del Mes</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gridSpan="2">
                  <a:txBody>
                    <a:bodyPr/>
                    <a:lstStyle/>
                    <a:p>
                      <a:pPr algn="ctr" fontAlgn="b"/>
                      <a:r>
                        <a:rPr lang="es-MX" sz="2000" b="1" u="none" strike="noStrike" dirty="0">
                          <a:effectLst/>
                          <a:latin typeface="Montserrat" panose="00000500000000000000" pitchFamily="2" charset="0"/>
                        </a:rPr>
                        <a:t>Comparativa de resultados</a:t>
                      </a:r>
                      <a:endParaRPr lang="es-MX" sz="2000" b="1" i="0" u="none" strike="noStrike" dirty="0">
                        <a:solidFill>
                          <a:srgbClr val="000000"/>
                        </a:solidFill>
                        <a:effectLst/>
                        <a:latin typeface="Montserrat" panose="00000500000000000000" pitchFamily="2" charset="0"/>
                      </a:endParaRPr>
                    </a:p>
                  </a:txBody>
                  <a:tcPr marL="7620" marR="7620" marT="7620" marB="0" anchor="b">
                    <a:noFill/>
                  </a:tcPr>
                </a:tc>
                <a:tc hMerge="1">
                  <a:txBody>
                    <a:bodyPr/>
                    <a:lstStyle/>
                    <a:p>
                      <a:endParaRPr lang="es-MX"/>
                    </a:p>
                  </a:txBody>
                  <a:tcPr/>
                </a:tc>
                <a:extLst>
                  <a:ext uri="{0D108BD9-81ED-4DB2-BD59-A6C34878D82A}">
                    <a16:rowId xmlns:a16="http://schemas.microsoft.com/office/drawing/2014/main" val="2165209013"/>
                  </a:ext>
                </a:extLst>
              </a:tr>
              <a:tr h="362964">
                <a:tc gridSpan="2" vMerge="1">
                  <a:txBody>
                    <a:bodyPr/>
                    <a:lstStyle/>
                    <a:p>
                      <a:endParaRPr lang="es-MX"/>
                    </a:p>
                  </a:txBody>
                  <a:tcPr/>
                </a:tc>
                <a:tc hMerge="1"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1,000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1,100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1,200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1,300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1,400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b="1" u="none" strike="noStrike">
                          <a:effectLst/>
                          <a:latin typeface="Montserrat" panose="00000500000000000000" pitchFamily="2" charset="0"/>
                        </a:rPr>
                        <a:t>1500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b"/>
                      <a:r>
                        <a:rPr lang="es-MX" sz="1600" b="1" u="none" strike="noStrike">
                          <a:effectLst/>
                          <a:latin typeface="Montserrat" panose="00000500000000000000" pitchFamily="2" charset="0"/>
                        </a:rPr>
                        <a:t>Rendimiento</a:t>
                      </a:r>
                      <a:endParaRPr lang="es-MX" sz="1600" b="1" i="0" u="none" strike="noStrike">
                        <a:solidFill>
                          <a:srgbClr val="000000"/>
                        </a:solidFill>
                        <a:effectLst/>
                        <a:latin typeface="Montserrat" panose="00000500000000000000" pitchFamily="2" charset="0"/>
                      </a:endParaRPr>
                    </a:p>
                  </a:txBody>
                  <a:tcPr marL="7620" marR="7620" marT="7620" marB="0" anchor="b">
                    <a:noFill/>
                  </a:tcPr>
                </a:tc>
                <a:tc>
                  <a:txBody>
                    <a:bodyPr/>
                    <a:lstStyle/>
                    <a:p>
                      <a:pPr algn="ctr" fontAlgn="b"/>
                      <a:r>
                        <a:rPr lang="es-MX" sz="1600" b="1" u="none" strike="noStrike" dirty="0">
                          <a:effectLst/>
                          <a:latin typeface="Montserrat" panose="00000500000000000000" pitchFamily="2" charset="0"/>
                        </a:rPr>
                        <a:t>Variación</a:t>
                      </a:r>
                      <a:endParaRPr lang="es-MX" sz="1600" b="1" i="0" u="none" strike="noStrike" dirty="0">
                        <a:solidFill>
                          <a:srgbClr val="000000"/>
                        </a:solidFill>
                        <a:effectLst/>
                        <a:latin typeface="Montserrat" panose="00000500000000000000" pitchFamily="2" charset="0"/>
                      </a:endParaRPr>
                    </a:p>
                  </a:txBody>
                  <a:tcPr marL="7620" marR="7620" marT="7620" marB="0" anchor="b">
                    <a:noFill/>
                  </a:tcPr>
                </a:tc>
                <a:extLst>
                  <a:ext uri="{0D108BD9-81ED-4DB2-BD59-A6C34878D82A}">
                    <a16:rowId xmlns:a16="http://schemas.microsoft.com/office/drawing/2014/main" val="1614951370"/>
                  </a:ext>
                </a:extLst>
              </a:tr>
              <a:tr h="362964">
                <a:tc rowSpan="6">
                  <a:txBody>
                    <a:bodyPr/>
                    <a:lstStyle/>
                    <a:p>
                      <a:pPr algn="ctr" fontAlgn="ctr"/>
                      <a:r>
                        <a:rPr lang="es-MX" sz="2000" b="1" u="none" strike="noStrike">
                          <a:effectLst/>
                          <a:latin typeface="Montserrat" panose="00000500000000000000" pitchFamily="2" charset="0"/>
                        </a:rPr>
                        <a:t>Alternativa: </a:t>
                      </a:r>
                      <a:br>
                        <a:rPr lang="es-MX" sz="2000" b="1" u="none" strike="noStrike">
                          <a:effectLst/>
                          <a:latin typeface="Montserrat" panose="00000500000000000000" pitchFamily="2" charset="0"/>
                        </a:rPr>
                      </a:br>
                      <a:r>
                        <a:rPr lang="es-MX" sz="2000" b="1" u="none" strike="noStrike">
                          <a:effectLst/>
                          <a:latin typeface="Montserrat" panose="00000500000000000000" pitchFamily="2" charset="0"/>
                        </a:rPr>
                        <a:t>Cantidad a producir </a:t>
                      </a:r>
                      <a:endParaRPr lang="es-MX" sz="2000" b="1" i="0" u="none" strike="noStrike">
                        <a:solidFill>
                          <a:srgbClr val="000000"/>
                        </a:solidFill>
                        <a:effectLst/>
                        <a:latin typeface="Montserrat" panose="00000500000000000000" pitchFamily="2" charset="0"/>
                      </a:endParaRPr>
                    </a:p>
                  </a:txBody>
                  <a:tcPr marL="7620" marR="7620" marT="7620" marB="0" vert="vert270" anchor="ctr">
                    <a:noFill/>
                  </a:tcPr>
                </a:tc>
                <a:tc>
                  <a:txBody>
                    <a:bodyPr/>
                    <a:lstStyle/>
                    <a:p>
                      <a:pPr algn="ctr" fontAlgn="ctr"/>
                      <a:r>
                        <a:rPr lang="es-MX" sz="2000" b="1" u="none" strike="noStrike">
                          <a:effectLst/>
                          <a:latin typeface="Montserrat" panose="00000500000000000000" pitchFamily="2" charset="0"/>
                        </a:rPr>
                        <a:t>1,000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35,000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b"/>
                      <a:r>
                        <a:rPr lang="es-MX" sz="2000" u="none" strike="noStrike" dirty="0">
                          <a:effectLst/>
                          <a:latin typeface="Montserrat" panose="00000500000000000000" pitchFamily="2" charset="0"/>
                        </a:rPr>
                        <a:t>35,000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tc>
                  <a:txBody>
                    <a:bodyPr/>
                    <a:lstStyle/>
                    <a:p>
                      <a:pPr algn="ctr" fontAlgn="b"/>
                      <a:r>
                        <a:rPr lang="es-MX" sz="2000" u="none" strike="noStrike">
                          <a:effectLst/>
                          <a:latin typeface="Montserrat" panose="00000500000000000000" pitchFamily="2" charset="0"/>
                        </a:rPr>
                        <a:t>--</a:t>
                      </a:r>
                      <a:endParaRPr lang="es-MX" sz="2000" b="0" i="0" u="none" strike="noStrike">
                        <a:solidFill>
                          <a:srgbClr val="000000"/>
                        </a:solidFill>
                        <a:effectLst/>
                        <a:latin typeface="Montserrat" panose="00000500000000000000" pitchFamily="2" charset="0"/>
                      </a:endParaRPr>
                    </a:p>
                  </a:txBody>
                  <a:tcPr marL="7620" marR="7620" marT="7620" marB="0" anchor="b">
                    <a:noFill/>
                  </a:tcPr>
                </a:tc>
                <a:extLst>
                  <a:ext uri="{0D108BD9-81ED-4DB2-BD59-A6C34878D82A}">
                    <a16:rowId xmlns:a16="http://schemas.microsoft.com/office/drawing/2014/main" val="360344520"/>
                  </a:ext>
                </a:extLst>
              </a:tr>
              <a:tr h="362964">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1,100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33,500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35,750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b"/>
                      <a:r>
                        <a:rPr lang="es-MX" sz="2000" u="none" strike="noStrike" dirty="0">
                          <a:effectLst/>
                          <a:latin typeface="Montserrat" panose="00000500000000000000" pitchFamily="2" charset="0"/>
                        </a:rPr>
                        <a:t>35,750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tc>
                  <a:txBody>
                    <a:bodyPr/>
                    <a:lstStyle/>
                    <a:p>
                      <a:pPr algn="ctr" fontAlgn="b"/>
                      <a:r>
                        <a:rPr lang="es-MX" sz="2000" u="none" strike="noStrike">
                          <a:effectLst/>
                          <a:latin typeface="Montserrat" panose="00000500000000000000" pitchFamily="2" charset="0"/>
                        </a:rPr>
                        <a:t>750</a:t>
                      </a:r>
                      <a:endParaRPr lang="es-MX" sz="2000" b="0" i="0" u="none" strike="noStrike">
                        <a:solidFill>
                          <a:srgbClr val="000000"/>
                        </a:solidFill>
                        <a:effectLst/>
                        <a:latin typeface="Montserrat" panose="00000500000000000000" pitchFamily="2" charset="0"/>
                      </a:endParaRPr>
                    </a:p>
                  </a:txBody>
                  <a:tcPr marL="7620" marR="7620" marT="7620" marB="0" anchor="b">
                    <a:noFill/>
                  </a:tcPr>
                </a:tc>
                <a:extLst>
                  <a:ext uri="{0D108BD9-81ED-4DB2-BD59-A6C34878D82A}">
                    <a16:rowId xmlns:a16="http://schemas.microsoft.com/office/drawing/2014/main" val="66123726"/>
                  </a:ext>
                </a:extLst>
              </a:tr>
              <a:tr h="362964">
                <a:tc vMerge="1">
                  <a:txBody>
                    <a:bodyPr/>
                    <a:lstStyle/>
                    <a:p>
                      <a:endParaRPr lang="es-MX"/>
                    </a:p>
                  </a:txBody>
                  <a:tcPr/>
                </a:tc>
                <a:tc>
                  <a:txBody>
                    <a:bodyPr/>
                    <a:lstStyle/>
                    <a:p>
                      <a:pPr algn="ctr" fontAlgn="ctr"/>
                      <a:r>
                        <a:rPr lang="es-MX" sz="2000" b="1" u="none" strike="noStrike" dirty="0">
                          <a:effectLst/>
                          <a:latin typeface="Montserrat" panose="00000500000000000000" pitchFamily="2" charset="0"/>
                        </a:rPr>
                        <a:t>1,200</a:t>
                      </a:r>
                      <a:endParaRPr lang="es-MX" sz="2000" b="1" i="0" u="none" strike="noStrike" dirty="0">
                        <a:solidFill>
                          <a:srgbClr val="000000"/>
                        </a:solidFill>
                        <a:effectLst/>
                        <a:latin typeface="Montserrat" panose="00000500000000000000" pitchFamily="2" charset="0"/>
                      </a:endParaRPr>
                    </a:p>
                  </a:txBody>
                  <a:tcPr marL="7620" marR="7620" marT="7620" marB="0" anchor="ctr">
                    <a:solidFill>
                      <a:schemeClr val="bg1">
                        <a:lumMod val="75000"/>
                      </a:schemeClr>
                    </a:solidFill>
                  </a:tcPr>
                </a:tc>
                <a:tc>
                  <a:txBody>
                    <a:bodyPr/>
                    <a:lstStyle/>
                    <a:p>
                      <a:pPr algn="ctr" fontAlgn="ctr"/>
                      <a:r>
                        <a:rPr lang="es-MX" sz="2000" u="none" strike="noStrike">
                          <a:effectLst/>
                          <a:latin typeface="Montserrat" panose="00000500000000000000" pitchFamily="2" charset="0"/>
                        </a:rPr>
                        <a:t>32,000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37,000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42,000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b"/>
                      <a:r>
                        <a:rPr lang="es-MX" sz="2000" u="none" strike="noStrike" dirty="0">
                          <a:effectLst/>
                          <a:latin typeface="Montserrat" panose="00000500000000000000" pitchFamily="2" charset="0"/>
                        </a:rPr>
                        <a:t>42,000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tc>
                  <a:txBody>
                    <a:bodyPr/>
                    <a:lstStyle/>
                    <a:p>
                      <a:pPr algn="ctr" fontAlgn="b"/>
                      <a:r>
                        <a:rPr lang="es-MX" sz="2000" u="none" strike="noStrike" dirty="0">
                          <a:effectLst/>
                          <a:latin typeface="Montserrat" panose="00000500000000000000" pitchFamily="2" charset="0"/>
                        </a:rPr>
                        <a:t>6,250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extLst>
                  <a:ext uri="{0D108BD9-81ED-4DB2-BD59-A6C34878D82A}">
                    <a16:rowId xmlns:a16="http://schemas.microsoft.com/office/drawing/2014/main" val="1512754588"/>
                  </a:ext>
                </a:extLst>
              </a:tr>
              <a:tr h="362964">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1,300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30,500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40,500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45,500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a:effectLst/>
                          <a:latin typeface="Montserrat" panose="00000500000000000000" pitchFamily="2" charset="0"/>
                        </a:rPr>
                        <a:t>45,500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45,500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b"/>
                      <a:r>
                        <a:rPr lang="es-MX" sz="2000" u="none" strike="noStrike" dirty="0">
                          <a:effectLst/>
                          <a:latin typeface="Montserrat" panose="00000500000000000000" pitchFamily="2" charset="0"/>
                        </a:rPr>
                        <a:t>45,500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tc>
                  <a:txBody>
                    <a:bodyPr/>
                    <a:lstStyle/>
                    <a:p>
                      <a:pPr algn="ctr" fontAlgn="b"/>
                      <a:r>
                        <a:rPr lang="es-MX" sz="2000" u="none" strike="noStrike">
                          <a:effectLst/>
                          <a:latin typeface="Montserrat" panose="00000500000000000000" pitchFamily="2" charset="0"/>
                        </a:rPr>
                        <a:t>3,500</a:t>
                      </a:r>
                      <a:endParaRPr lang="es-MX" sz="2000" b="0" i="0" u="none" strike="noStrike">
                        <a:solidFill>
                          <a:srgbClr val="000000"/>
                        </a:solidFill>
                        <a:effectLst/>
                        <a:latin typeface="Montserrat" panose="00000500000000000000" pitchFamily="2" charset="0"/>
                      </a:endParaRPr>
                    </a:p>
                  </a:txBody>
                  <a:tcPr marL="7620" marR="7620" marT="7620" marB="0" anchor="b">
                    <a:noFill/>
                  </a:tcPr>
                </a:tc>
                <a:extLst>
                  <a:ext uri="{0D108BD9-81ED-4DB2-BD59-A6C34878D82A}">
                    <a16:rowId xmlns:a16="http://schemas.microsoft.com/office/drawing/2014/main" val="213197473"/>
                  </a:ext>
                </a:extLst>
              </a:tr>
              <a:tr h="362964">
                <a:tc vMerge="1">
                  <a:txBody>
                    <a:bodyPr/>
                    <a:lstStyle/>
                    <a:p>
                      <a:endParaRPr lang="es-MX"/>
                    </a:p>
                  </a:txBody>
                  <a:tcPr/>
                </a:tc>
                <a:tc>
                  <a:txBody>
                    <a:bodyPr/>
                    <a:lstStyle/>
                    <a:p>
                      <a:pPr algn="ctr" fontAlgn="ctr"/>
                      <a:r>
                        <a:rPr lang="es-MX" sz="2000" b="1" u="none" strike="noStrike">
                          <a:effectLst/>
                          <a:latin typeface="Montserrat" panose="00000500000000000000" pitchFamily="2" charset="0"/>
                        </a:rPr>
                        <a:t>1,400</a:t>
                      </a:r>
                      <a:endParaRPr lang="es-MX" sz="2000" b="1"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29,000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34,000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39,000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43,750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48,500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ctr"/>
                      <a:r>
                        <a:rPr lang="es-MX" sz="2000" u="none" strike="noStrike" dirty="0">
                          <a:effectLst/>
                          <a:latin typeface="Montserrat" panose="00000500000000000000" pitchFamily="2" charset="0"/>
                        </a:rPr>
                        <a:t>48,500</a:t>
                      </a:r>
                      <a:endParaRPr lang="es-MX" sz="2000" b="0"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b"/>
                      <a:r>
                        <a:rPr lang="es-MX" sz="2000" u="none" strike="noStrike" dirty="0">
                          <a:effectLst/>
                          <a:latin typeface="Montserrat" panose="00000500000000000000" pitchFamily="2" charset="0"/>
                        </a:rPr>
                        <a:t>48,500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tc>
                  <a:txBody>
                    <a:bodyPr/>
                    <a:lstStyle/>
                    <a:p>
                      <a:pPr algn="ctr" fontAlgn="b"/>
                      <a:r>
                        <a:rPr lang="es-MX" sz="2000" u="none" strike="noStrike">
                          <a:effectLst/>
                          <a:latin typeface="Montserrat" panose="00000500000000000000" pitchFamily="2" charset="0"/>
                        </a:rPr>
                        <a:t>3,000</a:t>
                      </a:r>
                      <a:endParaRPr lang="es-MX" sz="2000" b="0" i="0" u="none" strike="noStrike">
                        <a:solidFill>
                          <a:srgbClr val="000000"/>
                        </a:solidFill>
                        <a:effectLst/>
                        <a:latin typeface="Montserrat" panose="00000500000000000000" pitchFamily="2" charset="0"/>
                      </a:endParaRPr>
                    </a:p>
                  </a:txBody>
                  <a:tcPr marL="7620" marR="7620" marT="7620" marB="0" anchor="b">
                    <a:noFill/>
                  </a:tcPr>
                </a:tc>
                <a:extLst>
                  <a:ext uri="{0D108BD9-81ED-4DB2-BD59-A6C34878D82A}">
                    <a16:rowId xmlns:a16="http://schemas.microsoft.com/office/drawing/2014/main" val="3843197579"/>
                  </a:ext>
                </a:extLst>
              </a:tr>
              <a:tr h="362964">
                <a:tc vMerge="1">
                  <a:txBody>
                    <a:bodyPr/>
                    <a:lstStyle/>
                    <a:p>
                      <a:endParaRPr lang="es-MX"/>
                    </a:p>
                  </a:txBody>
                  <a:tcPr/>
                </a:tc>
                <a:tc>
                  <a:txBody>
                    <a:bodyPr/>
                    <a:lstStyle/>
                    <a:p>
                      <a:pPr algn="ctr" fontAlgn="ctr"/>
                      <a:r>
                        <a:rPr lang="es-MX" sz="2000" b="1" u="none" strike="noStrike" dirty="0">
                          <a:effectLst/>
                          <a:latin typeface="Montserrat" panose="00000500000000000000" pitchFamily="2" charset="0"/>
                        </a:rPr>
                        <a:t>1,500</a:t>
                      </a:r>
                      <a:endParaRPr lang="es-MX" sz="2000" b="1" i="0" u="none" strike="noStrike" dirty="0">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27500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32,500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37,500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42,500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a:effectLst/>
                          <a:latin typeface="Montserrat" panose="00000500000000000000" pitchFamily="2" charset="0"/>
                        </a:rPr>
                        <a:t>47,500</a:t>
                      </a:r>
                      <a:endParaRPr lang="es-MX" sz="2000" b="0" i="0" u="none" strike="noStrike">
                        <a:solidFill>
                          <a:srgbClr val="000000"/>
                        </a:solidFill>
                        <a:effectLst/>
                        <a:latin typeface="Montserrat" panose="00000500000000000000" pitchFamily="2" charset="0"/>
                      </a:endParaRPr>
                    </a:p>
                  </a:txBody>
                  <a:tcPr marL="7620" marR="7620" marT="7620" marB="0" anchor="ctr">
                    <a:noFill/>
                  </a:tcPr>
                </a:tc>
                <a:tc>
                  <a:txBody>
                    <a:bodyPr/>
                    <a:lstStyle/>
                    <a:p>
                      <a:pPr algn="ctr" fontAlgn="ctr"/>
                      <a:r>
                        <a:rPr lang="es-MX" sz="2000" u="none" strike="noStrike" dirty="0">
                          <a:effectLst/>
                          <a:latin typeface="Montserrat" panose="00000500000000000000" pitchFamily="2" charset="0"/>
                        </a:rPr>
                        <a:t>52,500</a:t>
                      </a:r>
                      <a:endParaRPr lang="es-MX" sz="2000" b="0" i="0" u="none" strike="noStrike" dirty="0">
                        <a:solidFill>
                          <a:srgbClr val="000000"/>
                        </a:solidFill>
                        <a:effectLst/>
                        <a:latin typeface="Montserrat" panose="00000500000000000000" pitchFamily="2" charset="0"/>
                      </a:endParaRPr>
                    </a:p>
                  </a:txBody>
                  <a:tcPr marL="7620" marR="7620" marT="7620" marB="0" anchor="ctr">
                    <a:solidFill>
                      <a:schemeClr val="bg1">
                        <a:lumMod val="75000"/>
                        <a:alpha val="50000"/>
                      </a:schemeClr>
                    </a:solidFill>
                  </a:tcPr>
                </a:tc>
                <a:tc>
                  <a:txBody>
                    <a:bodyPr/>
                    <a:lstStyle/>
                    <a:p>
                      <a:pPr algn="ctr" fontAlgn="b"/>
                      <a:r>
                        <a:rPr lang="es-MX" sz="2000" u="none" strike="noStrike" dirty="0">
                          <a:effectLst/>
                          <a:latin typeface="Montserrat" panose="00000500000000000000" pitchFamily="2" charset="0"/>
                        </a:rPr>
                        <a:t>52,500</a:t>
                      </a:r>
                      <a:endParaRPr lang="es-MX" sz="2000" b="0" i="0" u="none" strike="noStrike" dirty="0">
                        <a:solidFill>
                          <a:srgbClr val="000000"/>
                        </a:solidFill>
                        <a:effectLst/>
                        <a:latin typeface="Montserrat" panose="00000500000000000000" pitchFamily="2" charset="0"/>
                      </a:endParaRPr>
                    </a:p>
                  </a:txBody>
                  <a:tcPr marL="7620" marR="7620" marT="7620" marB="0" anchor="b">
                    <a:solidFill>
                      <a:schemeClr val="bg1">
                        <a:lumMod val="75000"/>
                      </a:schemeClr>
                    </a:solidFill>
                  </a:tcPr>
                </a:tc>
                <a:tc>
                  <a:txBody>
                    <a:bodyPr/>
                    <a:lstStyle/>
                    <a:p>
                      <a:pPr algn="ctr" fontAlgn="b"/>
                      <a:r>
                        <a:rPr lang="es-MX" sz="2000" u="none" strike="noStrike" dirty="0">
                          <a:effectLst/>
                          <a:latin typeface="Montserrat" panose="00000500000000000000" pitchFamily="2" charset="0"/>
                        </a:rPr>
                        <a:t>4,000</a:t>
                      </a:r>
                      <a:endParaRPr lang="es-MX" sz="2000" b="0" i="0" u="none" strike="noStrike" dirty="0">
                        <a:solidFill>
                          <a:srgbClr val="000000"/>
                        </a:solidFill>
                        <a:effectLst/>
                        <a:latin typeface="Montserrat" panose="00000500000000000000" pitchFamily="2" charset="0"/>
                      </a:endParaRPr>
                    </a:p>
                  </a:txBody>
                  <a:tcPr marL="7620" marR="7620" marT="7620" marB="0" anchor="b">
                    <a:noFill/>
                  </a:tcPr>
                </a:tc>
                <a:extLst>
                  <a:ext uri="{0D108BD9-81ED-4DB2-BD59-A6C34878D82A}">
                    <a16:rowId xmlns:a16="http://schemas.microsoft.com/office/drawing/2014/main" val="1700227129"/>
                  </a:ext>
                </a:extLst>
              </a:tr>
            </a:tbl>
          </a:graphicData>
        </a:graphic>
      </p:graphicFrame>
      <p:grpSp>
        <p:nvGrpSpPr>
          <p:cNvPr id="10" name="Grupo 9">
            <a:extLst>
              <a:ext uri="{FF2B5EF4-FFF2-40B4-BE49-F238E27FC236}">
                <a16:creationId xmlns:a16="http://schemas.microsoft.com/office/drawing/2014/main" id="{22EB4A32-BBCF-41EF-85C5-8883C04415B6}"/>
              </a:ext>
            </a:extLst>
          </p:cNvPr>
          <p:cNvGrpSpPr/>
          <p:nvPr/>
        </p:nvGrpSpPr>
        <p:grpSpPr>
          <a:xfrm>
            <a:off x="337929" y="1577519"/>
            <a:ext cx="3298719" cy="570348"/>
            <a:chOff x="7524463" y="641056"/>
            <a:chExt cx="3298719" cy="570348"/>
          </a:xfrm>
          <a:scene3d>
            <a:camera prst="orthographicFront"/>
            <a:lightRig rig="threePt" dir="t"/>
          </a:scene3d>
        </p:grpSpPr>
        <p:sp>
          <p:nvSpPr>
            <p:cNvPr id="11" name="Rectángulo 10">
              <a:extLst>
                <a:ext uri="{FF2B5EF4-FFF2-40B4-BE49-F238E27FC236}">
                  <a16:creationId xmlns:a16="http://schemas.microsoft.com/office/drawing/2014/main" id="{55A6F9AB-F3EE-4A04-9F56-101EB693E714}"/>
                </a:ext>
              </a:extLst>
            </p:cNvPr>
            <p:cNvSpPr/>
            <p:nvPr/>
          </p:nvSpPr>
          <p:spPr>
            <a:xfrm>
              <a:off x="7524463" y="641056"/>
              <a:ext cx="3298719" cy="570348"/>
            </a:xfrm>
            <a:prstGeom prst="rect">
              <a:avLst/>
            </a:prstGeom>
            <a:solidFill>
              <a:srgbClr val="2F3E46"/>
            </a:solidFill>
            <a:sp3d>
              <a:bevelT/>
            </a:sp3d>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CuadroTexto 12">
              <a:extLst>
                <a:ext uri="{FF2B5EF4-FFF2-40B4-BE49-F238E27FC236}">
                  <a16:creationId xmlns:a16="http://schemas.microsoft.com/office/drawing/2014/main" id="{3C94C2E4-70AD-4736-8259-ED19B7F70F65}"/>
                </a:ext>
              </a:extLst>
            </p:cNvPr>
            <p:cNvSpPr txBox="1"/>
            <p:nvPr/>
          </p:nvSpPr>
          <p:spPr>
            <a:xfrm>
              <a:off x="7524463" y="641056"/>
              <a:ext cx="3298719" cy="57034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bg1"/>
                  </a:solidFill>
                  <a:latin typeface="Montserrat" panose="00000500000000000000" pitchFamily="2" charset="0"/>
                </a:rPr>
                <a:t>Frustración mínima</a:t>
              </a:r>
              <a:endParaRPr lang="es-MX" sz="2000" b="1" kern="1200" dirty="0">
                <a:solidFill>
                  <a:schemeClr val="bg1"/>
                </a:solidFill>
                <a:latin typeface="Montserrat" panose="00000500000000000000" pitchFamily="2" charset="0"/>
              </a:endParaRPr>
            </a:p>
          </p:txBody>
        </p:sp>
      </p:grpSp>
    </p:spTree>
    <p:extLst>
      <p:ext uri="{BB962C8B-B14F-4D97-AF65-F5344CB8AC3E}">
        <p14:creationId xmlns:p14="http://schemas.microsoft.com/office/powerpoint/2010/main" val="164703603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6378" y="436676"/>
            <a:ext cx="10515600" cy="840219"/>
          </a:xfrm>
        </p:spPr>
        <p:txBody>
          <a:bodyPr>
            <a:normAutofit/>
          </a:bodyPr>
          <a:lstStyle/>
          <a:p>
            <a:pPr algn="ctr"/>
            <a:r>
              <a:rPr lang="es-ES" sz="4800" b="1" dirty="0">
                <a:latin typeface="Montserrat" panose="00000500000000000000" pitchFamily="2" charset="0"/>
              </a:rPr>
              <a:t>Clase 12°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836378" y="1276895"/>
            <a:ext cx="10515600" cy="9711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4</a:t>
            </a:r>
            <a:r>
              <a:rPr lang="es-ES" sz="4800" dirty="0">
                <a:latin typeface="Montserrat" panose="00000500000000000000" pitchFamily="2" charset="0"/>
              </a:rPr>
              <a:t> </a:t>
            </a:r>
            <a:r>
              <a:rPr lang="es-ES" sz="4800" b="1" dirty="0">
                <a:latin typeface="Montserrat" panose="00000500000000000000" pitchFamily="2" charset="0"/>
              </a:rPr>
              <a:t>Métodos para el análisis económico</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4178" y="6246183"/>
            <a:ext cx="4423063" cy="46340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25 de octubre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754144" y="2293659"/>
            <a:ext cx="10897528" cy="25517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0000">
              <a:lnSpc>
                <a:spcPct val="100000"/>
              </a:lnSpc>
              <a:spcAft>
                <a:spcPts val="1200"/>
              </a:spcAft>
            </a:pPr>
            <a:r>
              <a:rPr lang="es-MX" sz="3600" b="1" dirty="0">
                <a:latin typeface="Montserrat" panose="00000500000000000000" pitchFamily="2" charset="0"/>
              </a:rPr>
              <a:t>4.1 </a:t>
            </a:r>
            <a:r>
              <a:rPr lang="es-ES" sz="3600" b="1" dirty="0">
                <a:latin typeface="Montserrat" panose="00000500000000000000" pitchFamily="2" charset="0"/>
              </a:rPr>
              <a:t>Análisis de decisiones con fines de lucro.</a:t>
            </a:r>
            <a:r>
              <a:rPr lang="es-MX" sz="3600" b="1" dirty="0">
                <a:latin typeface="Montserrat" panose="00000500000000000000" pitchFamily="2" charset="0"/>
              </a:rPr>
              <a:t> </a:t>
            </a:r>
          </a:p>
          <a:p>
            <a:pPr marL="720000">
              <a:lnSpc>
                <a:spcPct val="100000"/>
              </a:lnSpc>
              <a:spcAft>
                <a:spcPts val="1200"/>
              </a:spcAft>
            </a:pPr>
            <a:r>
              <a:rPr lang="es-MX" sz="3600" b="1" dirty="0">
                <a:latin typeface="Montserrat" panose="00000500000000000000" pitchFamily="2" charset="0"/>
              </a:rPr>
              <a:t>4.2 MARR.</a:t>
            </a:r>
          </a:p>
        </p:txBody>
      </p:sp>
    </p:spTree>
    <p:extLst>
      <p:ext uri="{BB962C8B-B14F-4D97-AF65-F5344CB8AC3E}">
        <p14:creationId xmlns:p14="http://schemas.microsoft.com/office/powerpoint/2010/main" val="4054827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177</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 </a:t>
            </a:r>
            <a:r>
              <a:rPr lang="es-ES" sz="3600" dirty="0">
                <a:solidFill>
                  <a:srgbClr val="131D3F"/>
                </a:solidFill>
                <a:latin typeface="Montserrat" panose="00000500000000000000" pitchFamily="2" charset="0"/>
              </a:rPr>
              <a:t>Métodos para el análisis económico</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573067"/>
            <a:ext cx="10958464" cy="4154984"/>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Son herramientas y técnicas que se utilizan para </a:t>
            </a:r>
            <a:r>
              <a:rPr lang="es-ES" sz="2800" b="1" dirty="0">
                <a:solidFill>
                  <a:srgbClr val="131D3F"/>
                </a:solidFill>
                <a:latin typeface="Montserrat" panose="00000500000000000000" pitchFamily="2" charset="0"/>
              </a:rPr>
              <a:t>evaluar la viabilidad, rentabilidad y eficiencia de proyectos</a:t>
            </a:r>
            <a:r>
              <a:rPr lang="es-ES" sz="2800" dirty="0">
                <a:solidFill>
                  <a:srgbClr val="131D3F"/>
                </a:solidFill>
                <a:latin typeface="Montserrat" panose="00000500000000000000" pitchFamily="2" charset="0"/>
              </a:rPr>
              <a:t>, inversiones o políticas económicas. </a:t>
            </a:r>
          </a:p>
          <a:p>
            <a:pPr algn="just">
              <a:spcAft>
                <a:spcPts val="1200"/>
              </a:spcAft>
            </a:pPr>
            <a:r>
              <a:rPr lang="es-ES" sz="2800" dirty="0">
                <a:solidFill>
                  <a:srgbClr val="131D3F"/>
                </a:solidFill>
                <a:latin typeface="Montserrat" panose="00000500000000000000" pitchFamily="2" charset="0"/>
              </a:rPr>
              <a:t>Permiten, entre otros:</a:t>
            </a:r>
          </a:p>
          <a:p>
            <a:pPr marL="514350" indent="-514350" algn="just">
              <a:spcAft>
                <a:spcPts val="1200"/>
              </a:spcAft>
              <a:buFont typeface="+mj-lt"/>
              <a:buAutoNum type="arabicPeriod"/>
            </a:pPr>
            <a:r>
              <a:rPr lang="es-ES" sz="2800" dirty="0">
                <a:solidFill>
                  <a:srgbClr val="131D3F"/>
                </a:solidFill>
                <a:latin typeface="Montserrat" panose="00000500000000000000" pitchFamily="2" charset="0"/>
              </a:rPr>
              <a:t>Analizar diferentes escenarios; </a:t>
            </a:r>
          </a:p>
          <a:p>
            <a:pPr marL="514350" indent="-514350" algn="just">
              <a:spcAft>
                <a:spcPts val="1200"/>
              </a:spcAft>
              <a:buFont typeface="+mj-lt"/>
              <a:buAutoNum type="arabicPeriod"/>
            </a:pPr>
            <a:r>
              <a:rPr lang="es-ES" sz="2800" dirty="0">
                <a:solidFill>
                  <a:srgbClr val="131D3F"/>
                </a:solidFill>
                <a:latin typeface="Montserrat" panose="00000500000000000000" pitchFamily="2" charset="0"/>
              </a:rPr>
              <a:t>Comparar opciones; y </a:t>
            </a:r>
          </a:p>
          <a:p>
            <a:pPr marL="514350" indent="-514350" algn="just">
              <a:spcAft>
                <a:spcPts val="1200"/>
              </a:spcAft>
              <a:buFont typeface="+mj-lt"/>
              <a:buAutoNum type="arabicPeriod"/>
            </a:pPr>
            <a:r>
              <a:rPr lang="es-ES" sz="2800" dirty="0">
                <a:solidFill>
                  <a:srgbClr val="131D3F"/>
                </a:solidFill>
                <a:latin typeface="Montserrat" panose="00000500000000000000" pitchFamily="2" charset="0"/>
              </a:rPr>
              <a:t>Comprender el impacto de variables económicas en los resultados esperados.</a:t>
            </a:r>
            <a:endParaRPr lang="es-ES" sz="2800"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Tree>
    <p:extLst>
      <p:ext uri="{BB962C8B-B14F-4D97-AF65-F5344CB8AC3E}">
        <p14:creationId xmlns:p14="http://schemas.microsoft.com/office/powerpoint/2010/main" val="10648246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178</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 </a:t>
            </a:r>
            <a:r>
              <a:rPr lang="es-ES" sz="3600" dirty="0">
                <a:solidFill>
                  <a:srgbClr val="131D3F"/>
                </a:solidFill>
                <a:latin typeface="Montserrat" panose="00000500000000000000" pitchFamily="2" charset="0"/>
              </a:rPr>
              <a:t>Métodos para el análisis económico</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775818"/>
            <a:ext cx="10958464" cy="1538883"/>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Existen varios métodos para realizar un análisis económico que ayudan a </a:t>
            </a:r>
            <a:r>
              <a:rPr lang="es-ES" sz="2800" b="1" dirty="0">
                <a:solidFill>
                  <a:srgbClr val="131D3F"/>
                </a:solidFill>
                <a:latin typeface="Montserrat" panose="00000500000000000000" pitchFamily="2" charset="0"/>
              </a:rPr>
              <a:t>evaluar proyectos</a:t>
            </a:r>
            <a:r>
              <a:rPr lang="es-ES" sz="2800" dirty="0">
                <a:solidFill>
                  <a:srgbClr val="131D3F"/>
                </a:solidFill>
                <a:latin typeface="Montserrat" panose="00000500000000000000" pitchFamily="2" charset="0"/>
              </a:rPr>
              <a:t>, inversiones o políticas. </a:t>
            </a:r>
          </a:p>
          <a:p>
            <a:pPr algn="just">
              <a:spcAft>
                <a:spcPts val="1200"/>
              </a:spcAft>
            </a:pPr>
            <a:r>
              <a:rPr lang="es-ES" sz="2800" dirty="0">
                <a:solidFill>
                  <a:srgbClr val="131D3F"/>
                </a:solidFill>
                <a:latin typeface="Montserrat" panose="00000500000000000000" pitchFamily="2" charset="0"/>
              </a:rPr>
              <a:t>A continuación, se presentan algunos de los más utilizados:</a:t>
            </a:r>
            <a:endParaRPr lang="es-ES" sz="2800"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
        <p:nvSpPr>
          <p:cNvPr id="6" name="CuadroTexto 5">
            <a:extLst>
              <a:ext uri="{FF2B5EF4-FFF2-40B4-BE49-F238E27FC236}">
                <a16:creationId xmlns:a16="http://schemas.microsoft.com/office/drawing/2014/main" id="{7A34F32D-AFFA-489C-8253-81DDB984211A}"/>
              </a:ext>
            </a:extLst>
          </p:cNvPr>
          <p:cNvSpPr txBox="1"/>
          <p:nvPr/>
        </p:nvSpPr>
        <p:spPr>
          <a:xfrm>
            <a:off x="594332" y="3746051"/>
            <a:ext cx="5372835" cy="2308324"/>
          </a:xfrm>
          <a:prstGeom prst="rect">
            <a:avLst/>
          </a:prstGeom>
          <a:noFill/>
        </p:spPr>
        <p:txBody>
          <a:bodyPr wrap="square">
            <a:spAutoFit/>
          </a:bodyPr>
          <a:lstStyle/>
          <a:p>
            <a:pPr marL="457200" indent="-457200" algn="just">
              <a:buFont typeface="Arial" panose="020B0604020202020204" pitchFamily="34" charset="0"/>
              <a:buChar char="•"/>
            </a:pPr>
            <a:r>
              <a:rPr lang="es-ES" sz="2400" dirty="0">
                <a:solidFill>
                  <a:srgbClr val="131D3F"/>
                </a:solidFill>
                <a:latin typeface="Montserrat" panose="00000500000000000000" pitchFamily="2" charset="0"/>
              </a:rPr>
              <a:t>Análisis Costo - Beneficio (ACB)</a:t>
            </a: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Valor Presente Neto (VPN)</a:t>
            </a:r>
            <a:endParaRPr lang="es-ES" sz="2400" dirty="0">
              <a:solidFill>
                <a:srgbClr val="131D3F"/>
              </a:solidFill>
              <a:latin typeface="Montserrat" panose="00000500000000000000" pitchFamily="2" charset="0"/>
            </a:endParaRP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Tasa Interna de Retorno (TIR)</a:t>
            </a:r>
            <a:endParaRPr lang="es-ES" sz="2400" dirty="0">
              <a:solidFill>
                <a:srgbClr val="131D3F"/>
              </a:solidFill>
              <a:latin typeface="Montserrat" panose="00000500000000000000" pitchFamily="2" charset="0"/>
            </a:endParaRP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Análisis de Sensibilidad</a:t>
            </a:r>
            <a:endParaRPr lang="es-ES" sz="2400" dirty="0">
              <a:solidFill>
                <a:srgbClr val="131D3F"/>
              </a:solidFill>
              <a:latin typeface="Montserrat" panose="00000500000000000000" pitchFamily="2" charset="0"/>
            </a:endParaRP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Análisis de Escenarios</a:t>
            </a:r>
            <a:endParaRPr lang="es-ES" sz="2400" dirty="0">
              <a:solidFill>
                <a:srgbClr val="131D3F"/>
              </a:solidFill>
              <a:latin typeface="Montserrat" panose="00000500000000000000" pitchFamily="2" charset="0"/>
            </a:endParaRPr>
          </a:p>
        </p:txBody>
      </p:sp>
      <p:sp>
        <p:nvSpPr>
          <p:cNvPr id="10" name="CuadroTexto 9">
            <a:extLst>
              <a:ext uri="{FF2B5EF4-FFF2-40B4-BE49-F238E27FC236}">
                <a16:creationId xmlns:a16="http://schemas.microsoft.com/office/drawing/2014/main" id="{2E0C5A06-5E7F-4D49-B430-D83CA0422DFF}"/>
              </a:ext>
            </a:extLst>
          </p:cNvPr>
          <p:cNvSpPr txBox="1"/>
          <p:nvPr/>
        </p:nvSpPr>
        <p:spPr>
          <a:xfrm>
            <a:off x="6335433" y="3748408"/>
            <a:ext cx="5372835" cy="2308324"/>
          </a:xfrm>
          <a:prstGeom prst="rect">
            <a:avLst/>
          </a:prstGeom>
          <a:noFill/>
        </p:spPr>
        <p:txBody>
          <a:bodyPr wrap="square">
            <a:spAutoFit/>
          </a:bodyPr>
          <a:lstStyle/>
          <a:p>
            <a:pPr marL="457200" indent="-457200" algn="just">
              <a:buFont typeface="Arial" panose="020B0604020202020204" pitchFamily="34" charset="0"/>
              <a:buChar char="•"/>
            </a:pPr>
            <a:r>
              <a:rPr lang="es-ES" sz="2400" dirty="0">
                <a:solidFill>
                  <a:srgbClr val="131D3F"/>
                </a:solidFill>
                <a:latin typeface="Montserrat" panose="00000500000000000000" pitchFamily="2" charset="0"/>
              </a:rPr>
              <a:t>Análisis de Punto de Equilibrio</a:t>
            </a: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Análisis Multicriterio</a:t>
            </a:r>
            <a:endParaRPr lang="es-ES" sz="2400" dirty="0">
              <a:solidFill>
                <a:srgbClr val="131D3F"/>
              </a:solidFill>
              <a:latin typeface="Montserrat" panose="00000500000000000000" pitchFamily="2" charset="0"/>
            </a:endParaRPr>
          </a:p>
          <a:p>
            <a:pPr marL="457200" indent="-457200" algn="just">
              <a:buFont typeface="Arial" panose="020B0604020202020204" pitchFamily="34" charset="0"/>
              <a:buChar char="•"/>
            </a:pPr>
            <a:r>
              <a:rPr lang="es-ES" sz="2400" dirty="0">
                <a:solidFill>
                  <a:srgbClr val="131D3F"/>
                </a:solidFill>
                <a:latin typeface="Montserrat" panose="00000500000000000000" pitchFamily="2" charset="0"/>
              </a:rPr>
              <a:t>Análisis del Ciclo de Vida (ACV)</a:t>
            </a: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Simulación Monte Carlo</a:t>
            </a:r>
            <a:endParaRPr lang="es-ES" sz="2400" dirty="0">
              <a:solidFill>
                <a:srgbClr val="131D3F"/>
              </a:solidFill>
              <a:latin typeface="Montserrat" panose="00000500000000000000" pitchFamily="2" charset="0"/>
            </a:endParaRPr>
          </a:p>
          <a:p>
            <a:pPr marL="457200" indent="-457200" algn="just">
              <a:buFont typeface="Arial" panose="020B0604020202020204" pitchFamily="34" charset="0"/>
              <a:buChar char="•"/>
            </a:pPr>
            <a:r>
              <a:rPr lang="es-MX" sz="2400" dirty="0">
                <a:solidFill>
                  <a:srgbClr val="131D3F"/>
                </a:solidFill>
                <a:latin typeface="Montserrat" panose="00000500000000000000" pitchFamily="2" charset="0"/>
              </a:rPr>
              <a:t>Análisis de Costos Incrementales</a:t>
            </a:r>
            <a:endParaRPr lang="es-ES" sz="2400" dirty="0">
              <a:solidFill>
                <a:srgbClr val="131D3F"/>
              </a:solidFill>
              <a:effectLst>
                <a:outerShdw blurRad="38100" dist="38100" dir="2700000" algn="tl">
                  <a:srgbClr val="000000">
                    <a:alpha val="43137"/>
                  </a:srgbClr>
                </a:outerShdw>
              </a:effectLst>
              <a:latin typeface="Montserrat" panose="00000500000000000000" pitchFamily="2" charset="0"/>
            </a:endParaRPr>
          </a:p>
        </p:txBody>
      </p:sp>
    </p:spTree>
    <p:extLst>
      <p:ext uri="{BB962C8B-B14F-4D97-AF65-F5344CB8AC3E}">
        <p14:creationId xmlns:p14="http://schemas.microsoft.com/office/powerpoint/2010/main" val="152619412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179</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4.1 </a:t>
            </a:r>
            <a:r>
              <a:rPr lang="es-ES" sz="3600" dirty="0">
                <a:solidFill>
                  <a:srgbClr val="131D3F"/>
                </a:solidFill>
                <a:latin typeface="Montserrat" panose="00000500000000000000" pitchFamily="2" charset="0"/>
              </a:rPr>
              <a:t>Análisis de decisiones con fines de lucro. </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583372" y="1346824"/>
            <a:ext cx="10958464" cy="4862870"/>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La diferencia entre el análisis de decisiones </a:t>
            </a:r>
            <a:r>
              <a:rPr lang="es-ES" sz="2800" b="1" dirty="0">
                <a:solidFill>
                  <a:srgbClr val="131D3F"/>
                </a:solidFill>
                <a:latin typeface="Montserrat" panose="00000500000000000000" pitchFamily="2" charset="0"/>
              </a:rPr>
              <a:t>con fines de lucro</a:t>
            </a:r>
            <a:r>
              <a:rPr lang="es-ES" sz="2800" dirty="0">
                <a:solidFill>
                  <a:srgbClr val="131D3F"/>
                </a:solidFill>
                <a:latin typeface="Montserrat" panose="00000500000000000000" pitchFamily="2" charset="0"/>
              </a:rPr>
              <a:t> y </a:t>
            </a:r>
            <a:r>
              <a:rPr lang="es-ES" sz="2800" b="1" dirty="0">
                <a:solidFill>
                  <a:srgbClr val="131D3F"/>
                </a:solidFill>
                <a:latin typeface="Montserrat" panose="00000500000000000000" pitchFamily="2" charset="0"/>
              </a:rPr>
              <a:t>sin fines de lucro</a:t>
            </a:r>
            <a:r>
              <a:rPr lang="es-ES" sz="2800" dirty="0">
                <a:solidFill>
                  <a:srgbClr val="131D3F"/>
                </a:solidFill>
                <a:latin typeface="Montserrat" panose="00000500000000000000" pitchFamily="2" charset="0"/>
              </a:rPr>
              <a:t> radica principalmente en los </a:t>
            </a:r>
            <a:r>
              <a:rPr lang="es-ES" sz="2800" u="sng" dirty="0">
                <a:solidFill>
                  <a:srgbClr val="131D3F"/>
                </a:solidFill>
                <a:latin typeface="Montserrat" panose="00000500000000000000" pitchFamily="2" charset="0"/>
              </a:rPr>
              <a:t>objetivos</a:t>
            </a:r>
            <a:r>
              <a:rPr lang="es-ES" sz="2800" dirty="0">
                <a:solidFill>
                  <a:srgbClr val="131D3F"/>
                </a:solidFill>
                <a:latin typeface="Montserrat" panose="00000500000000000000" pitchFamily="2" charset="0"/>
              </a:rPr>
              <a:t>, </a:t>
            </a:r>
            <a:r>
              <a:rPr lang="es-ES" sz="2800" u="sng" dirty="0">
                <a:solidFill>
                  <a:srgbClr val="131D3F"/>
                </a:solidFill>
                <a:latin typeface="Montserrat" panose="00000500000000000000" pitchFamily="2" charset="0"/>
              </a:rPr>
              <a:t>enfoques</a:t>
            </a:r>
            <a:r>
              <a:rPr lang="es-ES" sz="2800" dirty="0">
                <a:solidFill>
                  <a:srgbClr val="131D3F"/>
                </a:solidFill>
                <a:latin typeface="Montserrat" panose="00000500000000000000" pitchFamily="2" charset="0"/>
              </a:rPr>
              <a:t> y </a:t>
            </a:r>
            <a:r>
              <a:rPr lang="es-ES" sz="2800" u="sng" dirty="0">
                <a:solidFill>
                  <a:srgbClr val="131D3F"/>
                </a:solidFill>
                <a:latin typeface="Montserrat" panose="00000500000000000000" pitchFamily="2" charset="0"/>
              </a:rPr>
              <a:t>criterios</a:t>
            </a:r>
            <a:r>
              <a:rPr lang="es-ES" sz="2800" dirty="0">
                <a:solidFill>
                  <a:srgbClr val="131D3F"/>
                </a:solidFill>
                <a:latin typeface="Montserrat" panose="00000500000000000000" pitchFamily="2" charset="0"/>
              </a:rPr>
              <a:t> utilizados en la toma de decisiones.</a:t>
            </a:r>
          </a:p>
          <a:p>
            <a:pPr algn="just">
              <a:spcAft>
                <a:spcPts val="1200"/>
              </a:spcAft>
            </a:pPr>
            <a:endParaRPr lang="es-ES" sz="2800" dirty="0">
              <a:solidFill>
                <a:srgbClr val="131D3F"/>
              </a:solidFill>
              <a:latin typeface="Montserrat" panose="00000500000000000000" pitchFamily="2" charset="0"/>
            </a:endParaRPr>
          </a:p>
          <a:p>
            <a:pPr marL="457200" indent="-457200" algn="just">
              <a:spcAft>
                <a:spcPts val="1200"/>
              </a:spcAft>
              <a:buFont typeface="Arial" panose="020B0604020202020204" pitchFamily="34" charset="0"/>
              <a:buChar char="•"/>
            </a:pPr>
            <a:r>
              <a:rPr lang="es-ES" sz="2800" b="1" dirty="0">
                <a:solidFill>
                  <a:srgbClr val="131D3F"/>
                </a:solidFill>
                <a:latin typeface="Montserrat" panose="00000500000000000000" pitchFamily="2" charset="0"/>
              </a:rPr>
              <a:t>Fines de lucro: </a:t>
            </a:r>
            <a:r>
              <a:rPr lang="es-ES" sz="2800" dirty="0">
                <a:solidFill>
                  <a:srgbClr val="131D3F"/>
                </a:solidFill>
                <a:latin typeface="Montserrat" panose="00000500000000000000" pitchFamily="2" charset="0"/>
              </a:rPr>
              <a:t>El análisis se centra en </a:t>
            </a:r>
            <a:r>
              <a:rPr lang="es-ES" sz="2800" b="1" dirty="0">
                <a:solidFill>
                  <a:srgbClr val="131D3F"/>
                </a:solidFill>
                <a:latin typeface="Montserrat" panose="00000500000000000000" pitchFamily="2" charset="0"/>
              </a:rPr>
              <a:t>maximizar beneficios económicos</a:t>
            </a:r>
            <a:r>
              <a:rPr lang="es-ES" sz="2800" dirty="0">
                <a:solidFill>
                  <a:srgbClr val="131D3F"/>
                </a:solidFill>
                <a:latin typeface="Montserrat" panose="00000500000000000000" pitchFamily="2" charset="0"/>
              </a:rPr>
              <a:t> y se basa en </a:t>
            </a:r>
            <a:r>
              <a:rPr lang="es-ES" sz="2800" u="sng" dirty="0">
                <a:solidFill>
                  <a:srgbClr val="131D3F"/>
                </a:solidFill>
                <a:latin typeface="Montserrat" panose="00000500000000000000" pitchFamily="2" charset="0"/>
              </a:rPr>
              <a:t>criterios financieros</a:t>
            </a:r>
            <a:r>
              <a:rPr lang="es-ES" sz="2800" dirty="0">
                <a:solidFill>
                  <a:srgbClr val="131D3F"/>
                </a:solidFill>
                <a:latin typeface="Montserrat" panose="00000500000000000000" pitchFamily="2" charset="0"/>
              </a:rPr>
              <a:t>.</a:t>
            </a:r>
          </a:p>
          <a:p>
            <a:pPr marL="457200" indent="-457200" algn="just">
              <a:spcAft>
                <a:spcPts val="1200"/>
              </a:spcAft>
              <a:buFont typeface="Arial" panose="020B0604020202020204" pitchFamily="34" charset="0"/>
              <a:buChar char="•"/>
            </a:pPr>
            <a:r>
              <a:rPr lang="es-ES" sz="2800" b="1" dirty="0">
                <a:solidFill>
                  <a:srgbClr val="131D3F"/>
                </a:solidFill>
                <a:latin typeface="Montserrat" panose="00000500000000000000" pitchFamily="2" charset="0"/>
              </a:rPr>
              <a:t>Sin fines de lucro: </a:t>
            </a:r>
            <a:r>
              <a:rPr lang="es-ES" sz="2800" dirty="0">
                <a:solidFill>
                  <a:srgbClr val="131D3F"/>
                </a:solidFill>
                <a:latin typeface="Montserrat" panose="00000500000000000000" pitchFamily="2" charset="0"/>
              </a:rPr>
              <a:t>El análisis busca </a:t>
            </a:r>
            <a:r>
              <a:rPr lang="es-ES" sz="2800" b="1" dirty="0">
                <a:solidFill>
                  <a:srgbClr val="131D3F"/>
                </a:solidFill>
                <a:latin typeface="Montserrat" panose="00000500000000000000" pitchFamily="2" charset="0"/>
              </a:rPr>
              <a:t>maximizar el impacto social y comunitario</a:t>
            </a:r>
            <a:r>
              <a:rPr lang="es-ES" sz="2800" dirty="0">
                <a:solidFill>
                  <a:srgbClr val="131D3F"/>
                </a:solidFill>
                <a:latin typeface="Montserrat" panose="00000500000000000000" pitchFamily="2" charset="0"/>
              </a:rPr>
              <a:t>, con un </a:t>
            </a:r>
            <a:r>
              <a:rPr lang="es-ES" sz="2800" u="sng" dirty="0">
                <a:solidFill>
                  <a:srgbClr val="131D3F"/>
                </a:solidFill>
                <a:latin typeface="Montserrat" panose="00000500000000000000" pitchFamily="2" charset="0"/>
              </a:rPr>
              <a:t>enfoque en sostenibilidad y efectividad</a:t>
            </a:r>
            <a:r>
              <a:rPr lang="es-ES" sz="2800" dirty="0">
                <a:solidFill>
                  <a:srgbClr val="131D3F"/>
                </a:solidFill>
                <a:latin typeface="Montserrat" panose="00000500000000000000" pitchFamily="2" charset="0"/>
              </a:rPr>
              <a:t>. </a:t>
            </a:r>
          </a:p>
        </p:txBody>
      </p:sp>
    </p:spTree>
    <p:extLst>
      <p:ext uri="{BB962C8B-B14F-4D97-AF65-F5344CB8AC3E}">
        <p14:creationId xmlns:p14="http://schemas.microsoft.com/office/powerpoint/2010/main" val="101072844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180</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4.1 </a:t>
            </a:r>
            <a:r>
              <a:rPr lang="es-ES" sz="3600" dirty="0">
                <a:solidFill>
                  <a:srgbClr val="131D3F"/>
                </a:solidFill>
                <a:latin typeface="Montserrat" panose="00000500000000000000" pitchFamily="2" charset="0"/>
              </a:rPr>
              <a:t>Análisis de decisiones con fines de lucro. </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224927" y="1234089"/>
            <a:ext cx="5584879" cy="5093702"/>
          </a:xfrm>
          <a:prstGeom prst="rect">
            <a:avLst/>
          </a:prstGeom>
          <a:noFill/>
        </p:spPr>
        <p:txBody>
          <a:bodyPr wrap="square">
            <a:spAutoFit/>
          </a:bodyPr>
          <a:lstStyle/>
          <a:p>
            <a:pPr algn="ctr">
              <a:spcAft>
                <a:spcPts val="1200"/>
              </a:spcAft>
            </a:pPr>
            <a:r>
              <a:rPr lang="es-ES" sz="2000" b="1" dirty="0">
                <a:solidFill>
                  <a:srgbClr val="131D3F"/>
                </a:solidFill>
                <a:latin typeface="Montserrat" panose="00000500000000000000" pitchFamily="2" charset="0"/>
              </a:rPr>
              <a:t>Análisis de Decisiones con Fines de Lucro</a:t>
            </a:r>
          </a:p>
          <a:p>
            <a:pPr algn="just">
              <a:spcAft>
                <a:spcPts val="600"/>
              </a:spcAft>
            </a:pPr>
            <a:r>
              <a:rPr lang="es-ES" sz="2000" b="1" dirty="0">
                <a:solidFill>
                  <a:srgbClr val="131D3F"/>
                </a:solidFill>
                <a:latin typeface="Montserrat" panose="00000500000000000000" pitchFamily="2" charset="0"/>
              </a:rPr>
              <a:t>Objetivo: </a:t>
            </a:r>
            <a:r>
              <a:rPr lang="es-ES" sz="2000" dirty="0">
                <a:solidFill>
                  <a:srgbClr val="131D3F"/>
                </a:solidFill>
                <a:latin typeface="Montserrat" panose="00000500000000000000" pitchFamily="2" charset="0"/>
              </a:rPr>
              <a:t>Maximizar el beneficio económico y rentabilidad de la inversión.</a:t>
            </a:r>
          </a:p>
          <a:p>
            <a:pPr algn="just">
              <a:spcAft>
                <a:spcPts val="600"/>
              </a:spcAft>
            </a:pPr>
            <a:r>
              <a:rPr lang="es-ES" sz="2000" b="1" dirty="0">
                <a:solidFill>
                  <a:srgbClr val="131D3F"/>
                </a:solidFill>
                <a:latin typeface="Montserrat" panose="00000500000000000000" pitchFamily="2" charset="0"/>
              </a:rPr>
              <a:t>Criterios de Evaluación: </a:t>
            </a:r>
            <a:r>
              <a:rPr lang="es-ES" sz="2000" dirty="0">
                <a:solidFill>
                  <a:srgbClr val="131D3F"/>
                </a:solidFill>
                <a:latin typeface="Montserrat" panose="00000500000000000000" pitchFamily="2" charset="0"/>
              </a:rPr>
              <a:t>Utiliza métricas como Valor Presente Neto (VPN), Tasa Interna de Retorno (TIR) y retorno sobre la inversión (ROI).</a:t>
            </a:r>
          </a:p>
          <a:p>
            <a:pPr algn="just">
              <a:spcAft>
                <a:spcPts val="600"/>
              </a:spcAft>
            </a:pPr>
            <a:r>
              <a:rPr lang="es-ES" sz="2000" b="1" dirty="0">
                <a:solidFill>
                  <a:srgbClr val="131D3F"/>
                </a:solidFill>
                <a:latin typeface="Montserrat" panose="00000500000000000000" pitchFamily="2" charset="0"/>
              </a:rPr>
              <a:t>Perspectiva Financiera: </a:t>
            </a:r>
            <a:r>
              <a:rPr lang="es-ES" sz="2000" dirty="0">
                <a:solidFill>
                  <a:srgbClr val="131D3F"/>
                </a:solidFill>
                <a:latin typeface="Montserrat" panose="00000500000000000000" pitchFamily="2" charset="0"/>
              </a:rPr>
              <a:t>Se enfoca en costos, ingresos y ganancias. Basado en la maximización de utilidades.</a:t>
            </a:r>
          </a:p>
          <a:p>
            <a:pPr algn="just">
              <a:spcAft>
                <a:spcPts val="600"/>
              </a:spcAft>
            </a:pPr>
            <a:r>
              <a:rPr lang="es-ES" sz="2000" b="1" dirty="0">
                <a:solidFill>
                  <a:srgbClr val="131D3F"/>
                </a:solidFill>
                <a:latin typeface="Montserrat" panose="00000500000000000000" pitchFamily="2" charset="0"/>
              </a:rPr>
              <a:t>Riesgo: </a:t>
            </a:r>
            <a:r>
              <a:rPr lang="es-ES" sz="2000" dirty="0">
                <a:solidFill>
                  <a:srgbClr val="131D3F"/>
                </a:solidFill>
                <a:latin typeface="Montserrat" panose="00000500000000000000" pitchFamily="2" charset="0"/>
              </a:rPr>
              <a:t>El análisis de riesgos se centra en la variabilidad de los ingresos y costos, así como en la posibilidad de pérdidas financieras.</a:t>
            </a:r>
          </a:p>
        </p:txBody>
      </p:sp>
      <p:sp>
        <p:nvSpPr>
          <p:cNvPr id="6" name="CuadroTexto 5">
            <a:extLst>
              <a:ext uri="{FF2B5EF4-FFF2-40B4-BE49-F238E27FC236}">
                <a16:creationId xmlns:a16="http://schemas.microsoft.com/office/drawing/2014/main" id="{EA28F5C7-240B-444B-BDB1-173242F34222}"/>
              </a:ext>
            </a:extLst>
          </p:cNvPr>
          <p:cNvSpPr txBox="1"/>
          <p:nvPr/>
        </p:nvSpPr>
        <p:spPr>
          <a:xfrm>
            <a:off x="6459434" y="1234089"/>
            <a:ext cx="5584879" cy="5401479"/>
          </a:xfrm>
          <a:prstGeom prst="rect">
            <a:avLst/>
          </a:prstGeom>
          <a:noFill/>
        </p:spPr>
        <p:txBody>
          <a:bodyPr wrap="square">
            <a:spAutoFit/>
          </a:bodyPr>
          <a:lstStyle/>
          <a:p>
            <a:pPr algn="ctr">
              <a:spcAft>
                <a:spcPts val="1200"/>
              </a:spcAft>
            </a:pPr>
            <a:r>
              <a:rPr lang="es-ES" sz="2000" b="1" dirty="0">
                <a:solidFill>
                  <a:srgbClr val="131D3F"/>
                </a:solidFill>
                <a:latin typeface="Montserrat" panose="00000500000000000000" pitchFamily="2" charset="0"/>
              </a:rPr>
              <a:t>Análisis de Decisiones sin Fines de Lucro</a:t>
            </a:r>
          </a:p>
          <a:p>
            <a:pPr algn="just">
              <a:spcAft>
                <a:spcPts val="600"/>
              </a:spcAft>
            </a:pPr>
            <a:r>
              <a:rPr lang="es-ES" sz="2000" b="1" dirty="0">
                <a:solidFill>
                  <a:srgbClr val="131D3F"/>
                </a:solidFill>
                <a:latin typeface="Montserrat" panose="00000500000000000000" pitchFamily="2" charset="0"/>
              </a:rPr>
              <a:t>Objetivo: </a:t>
            </a:r>
            <a:r>
              <a:rPr lang="es-ES" sz="2000" dirty="0">
                <a:solidFill>
                  <a:srgbClr val="131D3F"/>
                </a:solidFill>
                <a:latin typeface="Montserrat" panose="00000500000000000000" pitchFamily="2" charset="0"/>
              </a:rPr>
              <a:t>Impacto social, ambiental o comunitario, y no en beneficios económicos.</a:t>
            </a:r>
          </a:p>
          <a:p>
            <a:pPr algn="just">
              <a:spcAft>
                <a:spcPts val="600"/>
              </a:spcAft>
            </a:pPr>
            <a:r>
              <a:rPr lang="es-ES" sz="2000" b="1" dirty="0">
                <a:solidFill>
                  <a:srgbClr val="131D3F"/>
                </a:solidFill>
                <a:latin typeface="Montserrat" panose="00000500000000000000" pitchFamily="2" charset="0"/>
              </a:rPr>
              <a:t>Criterios de Evaluación: </a:t>
            </a:r>
            <a:r>
              <a:rPr lang="es-ES" sz="2000" dirty="0">
                <a:solidFill>
                  <a:srgbClr val="131D3F"/>
                </a:solidFill>
                <a:latin typeface="Montserrat" panose="00000500000000000000" pitchFamily="2" charset="0"/>
              </a:rPr>
              <a:t>Satisfacción del beneficiario, el impacto social y el costo-efectividad.</a:t>
            </a:r>
          </a:p>
          <a:p>
            <a:pPr algn="just">
              <a:spcAft>
                <a:spcPts val="600"/>
              </a:spcAft>
            </a:pPr>
            <a:r>
              <a:rPr lang="es-ES" sz="2000" b="1" dirty="0">
                <a:solidFill>
                  <a:srgbClr val="131D3F"/>
                </a:solidFill>
                <a:latin typeface="Montserrat" panose="00000500000000000000" pitchFamily="2" charset="0"/>
              </a:rPr>
              <a:t>Perspectiva Financiera: </a:t>
            </a:r>
            <a:r>
              <a:rPr lang="es-ES" sz="2000" dirty="0">
                <a:solidFill>
                  <a:srgbClr val="131D3F"/>
                </a:solidFill>
                <a:latin typeface="Montserrat" panose="00000500000000000000" pitchFamily="2" charset="0"/>
              </a:rPr>
              <a:t>Consideran costos e ingresos, pero se enfoca en la sostenibilidad y en cómo se utilizan los recursos para lograr el impacto deseado.</a:t>
            </a:r>
          </a:p>
          <a:p>
            <a:pPr algn="just">
              <a:spcAft>
                <a:spcPts val="600"/>
              </a:spcAft>
            </a:pPr>
            <a:r>
              <a:rPr lang="es-ES" sz="2000" b="1" dirty="0">
                <a:solidFill>
                  <a:srgbClr val="131D3F"/>
                </a:solidFill>
                <a:latin typeface="Montserrat" panose="00000500000000000000" pitchFamily="2" charset="0"/>
              </a:rPr>
              <a:t>Riesgo: </a:t>
            </a:r>
            <a:r>
              <a:rPr lang="es-ES" sz="2000" dirty="0">
                <a:solidFill>
                  <a:srgbClr val="131D3F"/>
                </a:solidFill>
                <a:latin typeface="Montserrat" panose="00000500000000000000" pitchFamily="2" charset="0"/>
              </a:rPr>
              <a:t>El análisis de riesgos se centra en cumplir con las metas sociales y comunitarias, y no en las pérdidas financieras.</a:t>
            </a:r>
          </a:p>
        </p:txBody>
      </p:sp>
    </p:spTree>
    <p:extLst>
      <p:ext uri="{BB962C8B-B14F-4D97-AF65-F5344CB8AC3E}">
        <p14:creationId xmlns:p14="http://schemas.microsoft.com/office/powerpoint/2010/main" val="67135546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181</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4.2 </a:t>
            </a:r>
            <a:r>
              <a:rPr lang="es-ES" sz="3600" dirty="0">
                <a:solidFill>
                  <a:srgbClr val="131D3F"/>
                </a:solidFill>
                <a:latin typeface="Montserrat" panose="00000500000000000000" pitchFamily="2" charset="0"/>
              </a:rPr>
              <a:t>MARR, (Tasa de Retorno Mínima Aceptable).</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594332" y="1799310"/>
            <a:ext cx="10958464" cy="3847207"/>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La </a:t>
            </a:r>
            <a:r>
              <a:rPr lang="es-ES" sz="2800" b="1" dirty="0">
                <a:solidFill>
                  <a:srgbClr val="131D3F"/>
                </a:solidFill>
                <a:latin typeface="Montserrat" panose="00000500000000000000" pitchFamily="2" charset="0"/>
              </a:rPr>
              <a:t>MARR</a:t>
            </a:r>
            <a:r>
              <a:rPr lang="es-ES" sz="2800" dirty="0">
                <a:solidFill>
                  <a:srgbClr val="131D3F"/>
                </a:solidFill>
                <a:latin typeface="Montserrat" panose="00000500000000000000" pitchFamily="2" charset="0"/>
              </a:rPr>
              <a:t> es la tasa de retorno mínima que una organización está dispuesta a aceptar para considerar una inversión. </a:t>
            </a:r>
          </a:p>
          <a:p>
            <a:pPr algn="just">
              <a:spcAft>
                <a:spcPts val="1200"/>
              </a:spcAft>
            </a:pPr>
            <a:r>
              <a:rPr lang="es-ES" sz="2800" dirty="0">
                <a:solidFill>
                  <a:srgbClr val="131D3F"/>
                </a:solidFill>
                <a:latin typeface="Montserrat" panose="00000500000000000000" pitchFamily="2" charset="0"/>
              </a:rPr>
              <a:t>Se establece en función de varios factores, incluyendo entre otros:</a:t>
            </a:r>
          </a:p>
          <a:p>
            <a:pPr marL="514350" indent="-514350" algn="just">
              <a:buFont typeface="+mj-lt"/>
              <a:buAutoNum type="arabicPeriod"/>
            </a:pPr>
            <a:r>
              <a:rPr lang="es-ES" sz="2800" dirty="0">
                <a:solidFill>
                  <a:srgbClr val="131D3F"/>
                </a:solidFill>
                <a:latin typeface="Montserrat" panose="00000500000000000000" pitchFamily="2" charset="0"/>
              </a:rPr>
              <a:t>El costo de capital; </a:t>
            </a:r>
          </a:p>
          <a:p>
            <a:pPr marL="514350" indent="-514350" algn="just">
              <a:buFont typeface="+mj-lt"/>
              <a:buAutoNum type="arabicPeriod"/>
            </a:pPr>
            <a:r>
              <a:rPr lang="es-ES" sz="2800" dirty="0">
                <a:solidFill>
                  <a:srgbClr val="131D3F"/>
                </a:solidFill>
                <a:latin typeface="Montserrat" panose="00000500000000000000" pitchFamily="2" charset="0"/>
              </a:rPr>
              <a:t>La tasa de retorno de inversiones alternativas; y </a:t>
            </a:r>
          </a:p>
          <a:p>
            <a:pPr marL="514350" indent="-514350" algn="just">
              <a:buFont typeface="+mj-lt"/>
              <a:buAutoNum type="arabicPeriod"/>
            </a:pPr>
            <a:r>
              <a:rPr lang="es-ES" sz="2800" dirty="0">
                <a:solidFill>
                  <a:srgbClr val="131D3F"/>
                </a:solidFill>
                <a:latin typeface="Montserrat" panose="00000500000000000000" pitchFamily="2" charset="0"/>
              </a:rPr>
              <a:t>el nivel de riesgo del proyecto.</a:t>
            </a:r>
          </a:p>
        </p:txBody>
      </p:sp>
    </p:spTree>
    <p:extLst>
      <p:ext uri="{BB962C8B-B14F-4D97-AF65-F5344CB8AC3E}">
        <p14:creationId xmlns:p14="http://schemas.microsoft.com/office/powerpoint/2010/main" val="156081871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182</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4.2 </a:t>
            </a:r>
            <a:r>
              <a:rPr lang="es-ES" sz="3600" dirty="0">
                <a:solidFill>
                  <a:srgbClr val="131D3F"/>
                </a:solidFill>
                <a:latin typeface="Montserrat" panose="00000500000000000000" pitchFamily="2" charset="0"/>
              </a:rPr>
              <a:t>MARR, (Tasa de Retorno Mínima Aceptable).</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594332" y="1478797"/>
            <a:ext cx="10958464" cy="2462213"/>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Proceso de Evaluación utilizando MARR</a:t>
            </a:r>
          </a:p>
          <a:p>
            <a:pPr marL="1257300" lvl="2" indent="-342900" algn="just">
              <a:buFont typeface="Arial" panose="020B0604020202020204" pitchFamily="34" charset="0"/>
              <a:buChar char="•"/>
            </a:pPr>
            <a:r>
              <a:rPr lang="es-ES" sz="2000" b="1" dirty="0">
                <a:solidFill>
                  <a:srgbClr val="131D3F"/>
                </a:solidFill>
                <a:latin typeface="Montserrat" panose="00000500000000000000" pitchFamily="2" charset="0"/>
              </a:rPr>
              <a:t>Establecer la MARR: </a:t>
            </a:r>
            <a:r>
              <a:rPr lang="es-ES" sz="2000" dirty="0">
                <a:solidFill>
                  <a:srgbClr val="131D3F"/>
                </a:solidFill>
                <a:latin typeface="Montserrat" panose="00000500000000000000" pitchFamily="2" charset="0"/>
              </a:rPr>
              <a:t>En función de sus políticas internas y el contexto del mercado.</a:t>
            </a:r>
          </a:p>
          <a:p>
            <a:pPr marL="1257300" lvl="2" indent="-342900" algn="just">
              <a:buFont typeface="Arial" panose="020B0604020202020204" pitchFamily="34" charset="0"/>
              <a:buChar char="•"/>
            </a:pPr>
            <a:r>
              <a:rPr lang="es-ES" sz="2000" b="1" dirty="0">
                <a:solidFill>
                  <a:srgbClr val="131D3F"/>
                </a:solidFill>
                <a:latin typeface="Montserrat" panose="00000500000000000000" pitchFamily="2" charset="0"/>
              </a:rPr>
              <a:t>Calcular Flujos de Efectivo: </a:t>
            </a:r>
            <a:r>
              <a:rPr lang="es-ES" sz="2000" dirty="0">
                <a:solidFill>
                  <a:srgbClr val="131D3F"/>
                </a:solidFill>
                <a:latin typeface="Montserrat" panose="00000500000000000000" pitchFamily="2" charset="0"/>
              </a:rPr>
              <a:t>Se proyectan los flujos de efectivo esperados del proyecto a lo largo de su vida útil.</a:t>
            </a:r>
          </a:p>
          <a:p>
            <a:pPr marL="1257300" lvl="2" indent="-342900" algn="just">
              <a:buFont typeface="Arial" panose="020B0604020202020204" pitchFamily="34" charset="0"/>
              <a:buChar char="•"/>
            </a:pPr>
            <a:r>
              <a:rPr lang="es-ES" sz="2000" b="1" dirty="0">
                <a:solidFill>
                  <a:srgbClr val="131D3F"/>
                </a:solidFill>
                <a:latin typeface="Montserrat" panose="00000500000000000000" pitchFamily="2" charset="0"/>
              </a:rPr>
              <a:t>Calcular el Valor Presente Neto: </a:t>
            </a:r>
            <a:r>
              <a:rPr lang="es-ES" sz="2000" dirty="0">
                <a:solidFill>
                  <a:srgbClr val="131D3F"/>
                </a:solidFill>
                <a:latin typeface="Montserrat" panose="00000500000000000000" pitchFamily="2" charset="0"/>
              </a:rPr>
              <a:t>Se utiliza la MARR como tasa de descuento para calcular el VPN de los flujos de efectivo</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C1D897A-F070-4FA4-82F0-9B8DAFE9633C}"/>
                  </a:ext>
                </a:extLst>
              </p:cNvPr>
              <p:cNvSpPr txBox="1"/>
              <p:nvPr/>
            </p:nvSpPr>
            <p:spPr>
              <a:xfrm>
                <a:off x="1027521" y="4080583"/>
                <a:ext cx="3047116"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solidFill>
                            <a:srgbClr val="131D3F"/>
                          </a:solidFill>
                          <a:latin typeface="Cambria Math" panose="02040503050406030204" pitchFamily="18" charset="0"/>
                        </a:rPr>
                        <m:t>𝑉𝑃𝑁</m:t>
                      </m:r>
                      <m:r>
                        <a:rPr lang="es-ES" b="0" i="1" smtClean="0">
                          <a:solidFill>
                            <a:srgbClr val="131D3F"/>
                          </a:solidFill>
                          <a:latin typeface="Cambria Math" panose="02040503050406030204" pitchFamily="18" charset="0"/>
                        </a:rPr>
                        <m:t>= </m:t>
                      </m:r>
                      <m:nary>
                        <m:naryPr>
                          <m:chr m:val="∑"/>
                          <m:subHide m:val="on"/>
                          <m:supHide m:val="on"/>
                          <m:ctrlPr>
                            <a:rPr lang="es-ES" b="0" i="1" smtClean="0">
                              <a:solidFill>
                                <a:srgbClr val="131D3F"/>
                              </a:solidFill>
                              <a:latin typeface="Cambria Math" panose="02040503050406030204" pitchFamily="18" charset="0"/>
                            </a:rPr>
                          </m:ctrlPr>
                        </m:naryPr>
                        <m:sub/>
                        <m:sup/>
                        <m:e>
                          <m:f>
                            <m:fPr>
                              <m:ctrlPr>
                                <a:rPr lang="es-ES" b="0" i="1" smtClean="0">
                                  <a:solidFill>
                                    <a:srgbClr val="131D3F"/>
                                  </a:solidFill>
                                  <a:latin typeface="Cambria Math" panose="02040503050406030204" pitchFamily="18" charset="0"/>
                                </a:rPr>
                              </m:ctrlPr>
                            </m:fPr>
                            <m:num>
                              <m:sSub>
                                <m:sSubPr>
                                  <m:ctrlPr>
                                    <a:rPr lang="es-ES" b="0" i="1" smtClean="0">
                                      <a:solidFill>
                                        <a:srgbClr val="131D3F"/>
                                      </a:solidFill>
                                      <a:latin typeface="Cambria Math" panose="02040503050406030204" pitchFamily="18" charset="0"/>
                                    </a:rPr>
                                  </m:ctrlPr>
                                </m:sSubPr>
                                <m:e>
                                  <m:r>
                                    <a:rPr lang="es-ES" b="0" i="1" smtClean="0">
                                      <a:solidFill>
                                        <a:srgbClr val="131D3F"/>
                                      </a:solidFill>
                                      <a:latin typeface="Cambria Math" panose="02040503050406030204" pitchFamily="18" charset="0"/>
                                    </a:rPr>
                                    <m:t>𝐶</m:t>
                                  </m:r>
                                </m:e>
                                <m:sub>
                                  <m:r>
                                    <a:rPr lang="es-ES" b="0" i="1" smtClean="0">
                                      <a:solidFill>
                                        <a:srgbClr val="131D3F"/>
                                      </a:solidFill>
                                      <a:latin typeface="Cambria Math" panose="02040503050406030204" pitchFamily="18" charset="0"/>
                                    </a:rPr>
                                    <m:t>𝑡</m:t>
                                  </m:r>
                                </m:sub>
                              </m:sSub>
                            </m:num>
                            <m:den>
                              <m:sSup>
                                <m:sSupPr>
                                  <m:ctrlPr>
                                    <a:rPr lang="es-ES" b="0" i="1" smtClean="0">
                                      <a:solidFill>
                                        <a:srgbClr val="131D3F"/>
                                      </a:solidFill>
                                      <a:latin typeface="Cambria Math" panose="02040503050406030204" pitchFamily="18" charset="0"/>
                                    </a:rPr>
                                  </m:ctrlPr>
                                </m:sSupPr>
                                <m:e>
                                  <m:r>
                                    <a:rPr lang="es-ES" b="0" i="1" smtClean="0">
                                      <a:solidFill>
                                        <a:srgbClr val="131D3F"/>
                                      </a:solidFill>
                                      <a:latin typeface="Cambria Math" panose="02040503050406030204" pitchFamily="18" charset="0"/>
                                    </a:rPr>
                                    <m:t>(1+</m:t>
                                  </m:r>
                                  <m:r>
                                    <a:rPr lang="es-ES" b="0" i="1" smtClean="0">
                                      <a:solidFill>
                                        <a:srgbClr val="131D3F"/>
                                      </a:solidFill>
                                      <a:latin typeface="Cambria Math" panose="02040503050406030204" pitchFamily="18" charset="0"/>
                                    </a:rPr>
                                    <m:t>𝑀𝐴𝑅𝑅</m:t>
                                  </m:r>
                                  <m:r>
                                    <a:rPr lang="es-ES" b="0" i="1" smtClean="0">
                                      <a:solidFill>
                                        <a:srgbClr val="131D3F"/>
                                      </a:solidFill>
                                      <a:latin typeface="Cambria Math" panose="02040503050406030204" pitchFamily="18" charset="0"/>
                                    </a:rPr>
                                    <m:t>)</m:t>
                                  </m:r>
                                </m:e>
                                <m:sup>
                                  <m:r>
                                    <a:rPr lang="es-ES" b="0" i="1" smtClean="0">
                                      <a:solidFill>
                                        <a:srgbClr val="131D3F"/>
                                      </a:solidFill>
                                      <a:latin typeface="Cambria Math" panose="02040503050406030204" pitchFamily="18" charset="0"/>
                                    </a:rPr>
                                    <m:t>𝑡</m:t>
                                  </m:r>
                                </m:sup>
                              </m:sSup>
                            </m:den>
                          </m:f>
                          <m:r>
                            <a:rPr lang="es-ES" b="0" i="1" smtClean="0">
                              <a:solidFill>
                                <a:srgbClr val="131D3F"/>
                              </a:solidFill>
                              <a:latin typeface="Cambria Math" panose="02040503050406030204" pitchFamily="18" charset="0"/>
                            </a:rPr>
                            <m:t>−</m:t>
                          </m:r>
                          <m:sSub>
                            <m:sSubPr>
                              <m:ctrlPr>
                                <a:rPr lang="es-ES" b="0" i="1" smtClean="0">
                                  <a:solidFill>
                                    <a:srgbClr val="131D3F"/>
                                  </a:solidFill>
                                  <a:latin typeface="Cambria Math" panose="02040503050406030204" pitchFamily="18" charset="0"/>
                                </a:rPr>
                              </m:ctrlPr>
                            </m:sSubPr>
                            <m:e>
                              <m:r>
                                <a:rPr lang="es-ES" b="0" i="1" smtClean="0">
                                  <a:solidFill>
                                    <a:srgbClr val="131D3F"/>
                                  </a:solidFill>
                                  <a:latin typeface="Cambria Math" panose="02040503050406030204" pitchFamily="18" charset="0"/>
                                </a:rPr>
                                <m:t>𝐶</m:t>
                              </m:r>
                            </m:e>
                            <m:sub>
                              <m:r>
                                <a:rPr lang="es-ES" b="0" i="1" smtClean="0">
                                  <a:solidFill>
                                    <a:srgbClr val="131D3F"/>
                                  </a:solidFill>
                                  <a:latin typeface="Cambria Math" panose="02040503050406030204" pitchFamily="18" charset="0"/>
                                </a:rPr>
                                <m:t>0</m:t>
                              </m:r>
                            </m:sub>
                          </m:sSub>
                        </m:e>
                      </m:nary>
                    </m:oMath>
                  </m:oMathPara>
                </a14:m>
                <a:endParaRPr lang="es-MX" dirty="0">
                  <a:solidFill>
                    <a:srgbClr val="131D3F"/>
                  </a:solidFill>
                </a:endParaRPr>
              </a:p>
            </p:txBody>
          </p:sp>
        </mc:Choice>
        <mc:Fallback xmlns="">
          <p:sp>
            <p:nvSpPr>
              <p:cNvPr id="3" name="CuadroTexto 2">
                <a:extLst>
                  <a:ext uri="{FF2B5EF4-FFF2-40B4-BE49-F238E27FC236}">
                    <a16:creationId xmlns:a16="http://schemas.microsoft.com/office/drawing/2014/main" id="{1C1D897A-F070-4FA4-82F0-9B8DAFE9633C}"/>
                  </a:ext>
                </a:extLst>
              </p:cNvPr>
              <p:cNvSpPr txBox="1">
                <a:spLocks noRot="1" noChangeAspect="1" noMove="1" noResize="1" noEditPoints="1" noAdjustHandles="1" noChangeArrowheads="1" noChangeShapeType="1" noTextEdit="1"/>
              </p:cNvSpPr>
              <p:nvPr/>
            </p:nvSpPr>
            <p:spPr>
              <a:xfrm>
                <a:off x="1027521" y="4080583"/>
                <a:ext cx="3047116" cy="670761"/>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1A6BBEF-574B-4538-BCB9-8D22B6B7F357}"/>
                  </a:ext>
                </a:extLst>
              </p:cNvPr>
              <p:cNvSpPr txBox="1"/>
              <p:nvPr/>
            </p:nvSpPr>
            <p:spPr>
              <a:xfrm>
                <a:off x="1027521" y="4890917"/>
                <a:ext cx="5325701" cy="1169551"/>
              </a:xfrm>
              <a:prstGeom prst="rect">
                <a:avLst/>
              </a:prstGeom>
              <a:noFill/>
            </p:spPr>
            <p:txBody>
              <a:bodyPr wrap="square">
                <a:spAutoFit/>
              </a:bodyPr>
              <a:lstStyle/>
              <a:p>
                <a:pPr algn="just">
                  <a:spcAft>
                    <a:spcPts val="1200"/>
                  </a:spcAft>
                </a:pPr>
                <a:r>
                  <a:rPr lang="es-ES" sz="2000" b="1" dirty="0">
                    <a:solidFill>
                      <a:srgbClr val="131D3F"/>
                    </a:solidFill>
                    <a:latin typeface="Montserrat" panose="00000500000000000000" pitchFamily="2" charset="0"/>
                  </a:rPr>
                  <a:t>Donde:</a:t>
                </a:r>
              </a:p>
              <a:p>
                <a:pPr algn="just"/>
                <a14:m>
                  <m:oMathPara xmlns:m="http://schemas.openxmlformats.org/officeDocument/2006/math">
                    <m:oMathParaPr>
                      <m:jc m:val="left"/>
                    </m:oMathParaPr>
                    <m:oMath xmlns:m="http://schemas.openxmlformats.org/officeDocument/2006/math">
                      <m:sSub>
                        <m:sSubPr>
                          <m:ctrlPr>
                            <a:rPr lang="es-ES" sz="2000" b="1" i="1" smtClean="0">
                              <a:solidFill>
                                <a:srgbClr val="131D3F"/>
                              </a:solidFill>
                              <a:latin typeface="Cambria Math" panose="02040503050406030204" pitchFamily="18" charset="0"/>
                            </a:rPr>
                          </m:ctrlPr>
                        </m:sSubPr>
                        <m:e>
                          <m:r>
                            <a:rPr lang="es-ES" sz="2000" b="1" i="1" smtClean="0">
                              <a:solidFill>
                                <a:srgbClr val="131D3F"/>
                              </a:solidFill>
                              <a:latin typeface="Cambria Math" panose="02040503050406030204" pitchFamily="18" charset="0"/>
                            </a:rPr>
                            <m:t>𝑪</m:t>
                          </m:r>
                        </m:e>
                        <m:sub>
                          <m:r>
                            <a:rPr lang="es-ES" sz="2000" b="1" i="1" smtClean="0">
                              <a:solidFill>
                                <a:srgbClr val="131D3F"/>
                              </a:solidFill>
                              <a:latin typeface="Cambria Math" panose="02040503050406030204" pitchFamily="18" charset="0"/>
                            </a:rPr>
                            <m:t>𝒕</m:t>
                          </m:r>
                        </m:sub>
                      </m:sSub>
                      <m:r>
                        <a:rPr lang="es-ES" sz="2000" b="1" i="1" smtClean="0">
                          <a:solidFill>
                            <a:srgbClr val="131D3F"/>
                          </a:solidFill>
                          <a:latin typeface="Cambria Math" panose="02040503050406030204" pitchFamily="18" charset="0"/>
                        </a:rPr>
                        <m:t>:</m:t>
                      </m:r>
                      <m:r>
                        <a:rPr lang="es-ES" sz="2000" b="0" i="1" smtClean="0">
                          <a:solidFill>
                            <a:srgbClr val="131D3F"/>
                          </a:solidFill>
                          <a:latin typeface="Cambria Math" panose="02040503050406030204" pitchFamily="18" charset="0"/>
                        </a:rPr>
                        <m:t>𝑆𝑜𝑛</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𝑙𝑜𝑠</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𝑓𝑙𝑢𝑗𝑜𝑠</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𝑑𝑒</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𝑒𝑓𝑒𝑐𝑡𝑖𝑣𝑜</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𝑒𝑛</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𝑒𝑙</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𝑡𝑖𝑒𝑚𝑝𝑜</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𝑡</m:t>
                      </m:r>
                    </m:oMath>
                  </m:oMathPara>
                </a14:m>
                <a:endParaRPr lang="es-ES" sz="2000" b="0" i="1" dirty="0">
                  <a:solidFill>
                    <a:srgbClr val="131D3F"/>
                  </a:solidFill>
                  <a:latin typeface="Cambria Math" panose="02040503050406030204" pitchFamily="18" charset="0"/>
                </a:endParaRPr>
              </a:p>
              <a:p>
                <a:pPr algn="just"/>
                <a14:m>
                  <m:oMathPara xmlns:m="http://schemas.openxmlformats.org/officeDocument/2006/math">
                    <m:oMathParaPr>
                      <m:jc m:val="left"/>
                    </m:oMathParaPr>
                    <m:oMath xmlns:m="http://schemas.openxmlformats.org/officeDocument/2006/math">
                      <m:sSub>
                        <m:sSubPr>
                          <m:ctrlPr>
                            <a:rPr lang="es-ES" sz="2000" b="1" i="1" smtClean="0">
                              <a:solidFill>
                                <a:srgbClr val="131D3F"/>
                              </a:solidFill>
                              <a:latin typeface="Cambria Math" panose="02040503050406030204" pitchFamily="18" charset="0"/>
                            </a:rPr>
                          </m:ctrlPr>
                        </m:sSubPr>
                        <m:e>
                          <m:r>
                            <a:rPr lang="es-ES" sz="2000" b="1" i="1" smtClean="0">
                              <a:solidFill>
                                <a:srgbClr val="131D3F"/>
                              </a:solidFill>
                              <a:latin typeface="Cambria Math" panose="02040503050406030204" pitchFamily="18" charset="0"/>
                            </a:rPr>
                            <m:t>𝑪</m:t>
                          </m:r>
                        </m:e>
                        <m:sub>
                          <m:r>
                            <a:rPr lang="es-ES" sz="2000" b="1" i="1" smtClean="0">
                              <a:solidFill>
                                <a:srgbClr val="131D3F"/>
                              </a:solidFill>
                              <a:latin typeface="Cambria Math" panose="02040503050406030204" pitchFamily="18" charset="0"/>
                            </a:rPr>
                            <m:t>𝟎</m:t>
                          </m:r>
                        </m:sub>
                      </m:sSub>
                      <m:r>
                        <a:rPr lang="es-ES" sz="2000" b="1" i="1" smtClean="0">
                          <a:solidFill>
                            <a:srgbClr val="131D3F"/>
                          </a:solidFill>
                          <a:latin typeface="Cambria Math" panose="02040503050406030204" pitchFamily="18" charset="0"/>
                        </a:rPr>
                        <m:t>:</m:t>
                      </m:r>
                      <m:r>
                        <a:rPr lang="es-ES" sz="2000" b="0" i="1" smtClean="0">
                          <a:solidFill>
                            <a:srgbClr val="131D3F"/>
                          </a:solidFill>
                          <a:latin typeface="Cambria Math" panose="02040503050406030204" pitchFamily="18" charset="0"/>
                        </a:rPr>
                        <m:t>𝐸𝑠</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𝑙𝑎</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𝑖𝑛𝑣𝑒𝑟𝑠𝑖</m:t>
                      </m:r>
                      <m:r>
                        <a:rPr lang="es-ES" sz="2000" b="0" i="1" smtClean="0">
                          <a:solidFill>
                            <a:srgbClr val="131D3F"/>
                          </a:solidFill>
                          <a:latin typeface="Cambria Math" panose="02040503050406030204" pitchFamily="18" charset="0"/>
                        </a:rPr>
                        <m:t>ó</m:t>
                      </m:r>
                      <m:r>
                        <a:rPr lang="es-ES" sz="2000" b="0" i="1" smtClean="0">
                          <a:solidFill>
                            <a:srgbClr val="131D3F"/>
                          </a:solidFill>
                          <a:latin typeface="Cambria Math" panose="02040503050406030204" pitchFamily="18" charset="0"/>
                        </a:rPr>
                        <m:t>𝑛</m:t>
                      </m:r>
                      <m:r>
                        <a:rPr lang="es-ES" sz="2000" b="0" i="1" smtClean="0">
                          <a:solidFill>
                            <a:srgbClr val="131D3F"/>
                          </a:solidFill>
                          <a:latin typeface="Cambria Math" panose="02040503050406030204" pitchFamily="18" charset="0"/>
                        </a:rPr>
                        <m:t> </m:t>
                      </m:r>
                      <m:r>
                        <a:rPr lang="es-ES" sz="2000" b="0" i="1" smtClean="0">
                          <a:solidFill>
                            <a:srgbClr val="131D3F"/>
                          </a:solidFill>
                          <a:latin typeface="Cambria Math" panose="02040503050406030204" pitchFamily="18" charset="0"/>
                        </a:rPr>
                        <m:t>𝑖𝑛𝑖𝑐𝑖𝑎𝑙</m:t>
                      </m:r>
                      <m:r>
                        <a:rPr lang="es-ES" sz="2000" b="0" i="1" smtClean="0">
                          <a:solidFill>
                            <a:srgbClr val="131D3F"/>
                          </a:solidFill>
                          <a:latin typeface="Cambria Math" panose="02040503050406030204" pitchFamily="18" charset="0"/>
                        </a:rPr>
                        <m:t> </m:t>
                      </m:r>
                    </m:oMath>
                  </m:oMathPara>
                </a14:m>
                <a:endParaRPr lang="es-ES" sz="2000" dirty="0">
                  <a:solidFill>
                    <a:srgbClr val="131D3F"/>
                  </a:solidFill>
                  <a:latin typeface="Montserrat" panose="00000500000000000000" pitchFamily="2" charset="0"/>
                </a:endParaRPr>
              </a:p>
            </p:txBody>
          </p:sp>
        </mc:Choice>
        <mc:Fallback xmlns="">
          <p:sp>
            <p:nvSpPr>
              <p:cNvPr id="12" name="CuadroTexto 11">
                <a:extLst>
                  <a:ext uri="{FF2B5EF4-FFF2-40B4-BE49-F238E27FC236}">
                    <a16:creationId xmlns:a16="http://schemas.microsoft.com/office/drawing/2014/main" id="{C1A6BBEF-574B-4538-BCB9-8D22B6B7F357}"/>
                  </a:ext>
                </a:extLst>
              </p:cNvPr>
              <p:cNvSpPr txBox="1">
                <a:spLocks noRot="1" noChangeAspect="1" noMove="1" noResize="1" noEditPoints="1" noAdjustHandles="1" noChangeArrowheads="1" noChangeShapeType="1" noTextEdit="1"/>
              </p:cNvSpPr>
              <p:nvPr/>
            </p:nvSpPr>
            <p:spPr>
              <a:xfrm>
                <a:off x="1027521" y="4890917"/>
                <a:ext cx="5325701" cy="1169551"/>
              </a:xfrm>
              <a:prstGeom prst="rect">
                <a:avLst/>
              </a:prstGeom>
              <a:blipFill>
                <a:blip r:embed="rId6"/>
                <a:stretch>
                  <a:fillRect l="-1260" t="-2083" b="-521"/>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id="{CB055281-C0F9-4FB6-B8C1-7EF87CA0CFBA}"/>
              </a:ext>
            </a:extLst>
          </p:cNvPr>
          <p:cNvSpPr txBox="1"/>
          <p:nvPr/>
        </p:nvSpPr>
        <p:spPr>
          <a:xfrm>
            <a:off x="6636470" y="4292192"/>
            <a:ext cx="4916326" cy="1938992"/>
          </a:xfrm>
          <a:prstGeom prst="rect">
            <a:avLst/>
          </a:prstGeom>
          <a:noFill/>
        </p:spPr>
        <p:txBody>
          <a:bodyPr wrap="square">
            <a:spAutoFit/>
          </a:bodyPr>
          <a:lstStyle/>
          <a:p>
            <a:pPr algn="just"/>
            <a:r>
              <a:rPr lang="es-ES" sz="2000" b="1" dirty="0">
                <a:solidFill>
                  <a:srgbClr val="131D3F"/>
                </a:solidFill>
                <a:latin typeface="Montserrat" panose="00000500000000000000" pitchFamily="2" charset="0"/>
              </a:rPr>
              <a:t>Si el VPN es positivo</a:t>
            </a:r>
            <a:r>
              <a:rPr lang="es-ES" sz="2000" dirty="0">
                <a:solidFill>
                  <a:srgbClr val="131D3F"/>
                </a:solidFill>
                <a:latin typeface="Montserrat" panose="00000500000000000000" pitchFamily="2" charset="0"/>
              </a:rPr>
              <a:t>, el proyecto genera un retorno superior a la MARR y se considera </a:t>
            </a:r>
            <a:r>
              <a:rPr lang="es-ES" sz="2000" u="sng" dirty="0">
                <a:solidFill>
                  <a:srgbClr val="131D3F"/>
                </a:solidFill>
                <a:latin typeface="Montserrat" panose="00000500000000000000" pitchFamily="2" charset="0"/>
              </a:rPr>
              <a:t>aceptable.</a:t>
            </a:r>
          </a:p>
          <a:p>
            <a:pPr algn="just"/>
            <a:r>
              <a:rPr lang="es-ES" sz="2000" b="1" dirty="0">
                <a:solidFill>
                  <a:srgbClr val="131D3F"/>
                </a:solidFill>
                <a:latin typeface="Montserrat" panose="00000500000000000000" pitchFamily="2" charset="0"/>
              </a:rPr>
              <a:t>Si el VPN es negativo</a:t>
            </a:r>
            <a:r>
              <a:rPr lang="es-ES" sz="2000" dirty="0">
                <a:solidFill>
                  <a:srgbClr val="131D3F"/>
                </a:solidFill>
                <a:latin typeface="Montserrat" panose="00000500000000000000" pitchFamily="2" charset="0"/>
              </a:rPr>
              <a:t>, el proyecto no cumple con la tasa mínima de retorno y puede ser </a:t>
            </a:r>
            <a:r>
              <a:rPr lang="es-ES" sz="2000" u="sng" dirty="0">
                <a:solidFill>
                  <a:srgbClr val="131D3F"/>
                </a:solidFill>
                <a:latin typeface="Montserrat" panose="00000500000000000000" pitchFamily="2" charset="0"/>
              </a:rPr>
              <a:t>rechazado.</a:t>
            </a:r>
          </a:p>
        </p:txBody>
      </p:sp>
    </p:spTree>
    <p:extLst>
      <p:ext uri="{BB962C8B-B14F-4D97-AF65-F5344CB8AC3E}">
        <p14:creationId xmlns:p14="http://schemas.microsoft.com/office/powerpoint/2010/main" val="324371353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183</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48666"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4.2 </a:t>
            </a:r>
            <a:r>
              <a:rPr lang="es-ES" sz="3600" dirty="0">
                <a:solidFill>
                  <a:srgbClr val="131D3F"/>
                </a:solidFill>
                <a:latin typeface="Montserrat" panose="00000500000000000000" pitchFamily="2" charset="0"/>
              </a:rPr>
              <a:t>MARR, (Tasa de Retorno Mínima Aceptable).</a:t>
            </a:r>
            <a:endParaRPr lang="es-ES" sz="2000" b="1" dirty="0">
              <a:solidFill>
                <a:srgbClr val="131D3F"/>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594332" y="1478797"/>
            <a:ext cx="10958464" cy="4339650"/>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Ejercicio Práctico:</a:t>
            </a:r>
          </a:p>
          <a:p>
            <a:pPr algn="just">
              <a:spcAft>
                <a:spcPts val="1200"/>
              </a:spcAft>
            </a:pPr>
            <a:r>
              <a:rPr lang="es-ES" sz="2400" dirty="0">
                <a:solidFill>
                  <a:srgbClr val="131D3F"/>
                </a:solidFill>
                <a:latin typeface="Montserrat" panose="00000500000000000000" pitchFamily="2" charset="0"/>
              </a:rPr>
              <a:t>Determinar si el proyecto denominado Autopista, S.A. de C.V. es una opción válida con la MARR propuesta. </a:t>
            </a:r>
          </a:p>
          <a:p>
            <a:pPr algn="just">
              <a:spcAft>
                <a:spcPts val="1200"/>
              </a:spcAft>
            </a:pPr>
            <a:endParaRPr lang="es-ES" sz="2400" dirty="0">
              <a:solidFill>
                <a:srgbClr val="131D3F"/>
              </a:solidFill>
              <a:latin typeface="Montserrat" panose="00000500000000000000" pitchFamily="2" charset="0"/>
            </a:endParaRPr>
          </a:p>
          <a:p>
            <a:pPr algn="just">
              <a:spcAft>
                <a:spcPts val="1200"/>
              </a:spcAft>
            </a:pPr>
            <a:r>
              <a:rPr lang="es-ES" sz="2400" dirty="0">
                <a:solidFill>
                  <a:srgbClr val="131D3F"/>
                </a:solidFill>
                <a:latin typeface="Montserrat" panose="00000500000000000000" pitchFamily="2" charset="0"/>
              </a:rPr>
              <a:t>Supuestos para el calculo de la Tasa de Descuento:</a:t>
            </a:r>
          </a:p>
          <a:p>
            <a:pPr algn="just">
              <a:spcAft>
                <a:spcPts val="1200"/>
              </a:spcAft>
            </a:pPr>
            <a:r>
              <a:rPr lang="es-ES" sz="2400" b="1" dirty="0">
                <a:solidFill>
                  <a:srgbClr val="131D3F"/>
                </a:solidFill>
                <a:latin typeface="Montserrat" panose="00000500000000000000" pitchFamily="2" charset="0"/>
              </a:rPr>
              <a:t>MARR: </a:t>
            </a:r>
            <a:r>
              <a:rPr lang="es-ES" sz="2400" dirty="0">
                <a:solidFill>
                  <a:srgbClr val="131D3F"/>
                </a:solidFill>
                <a:latin typeface="Montserrat" panose="00000500000000000000" pitchFamily="2" charset="0"/>
              </a:rPr>
              <a:t>¿Cuál es la Tasa de Retorno Mínima que esperan recibir los accionistas por su inversión?</a:t>
            </a:r>
          </a:p>
          <a:p>
            <a:pPr algn="just">
              <a:spcAft>
                <a:spcPts val="1200"/>
              </a:spcAft>
            </a:pPr>
            <a:r>
              <a:rPr lang="es-ES" sz="2400" b="1" dirty="0">
                <a:solidFill>
                  <a:srgbClr val="131D3F"/>
                </a:solidFill>
                <a:latin typeface="Montserrat" panose="00000500000000000000" pitchFamily="2" charset="0"/>
              </a:rPr>
              <a:t>Costo de Capital: </a:t>
            </a:r>
            <a:r>
              <a:rPr lang="es-ES" sz="2400" dirty="0">
                <a:solidFill>
                  <a:srgbClr val="131D3F"/>
                </a:solidFill>
                <a:latin typeface="Montserrat" panose="00000500000000000000" pitchFamily="2" charset="0"/>
              </a:rPr>
              <a:t>¿?</a:t>
            </a:r>
          </a:p>
          <a:p>
            <a:pPr algn="just">
              <a:spcAft>
                <a:spcPts val="1200"/>
              </a:spcAft>
            </a:pPr>
            <a:r>
              <a:rPr lang="es-ES" sz="2400" b="1" dirty="0">
                <a:solidFill>
                  <a:srgbClr val="131D3F"/>
                </a:solidFill>
                <a:latin typeface="Montserrat" panose="00000500000000000000" pitchFamily="2" charset="0"/>
              </a:rPr>
              <a:t>Inflación: </a:t>
            </a:r>
            <a:r>
              <a:rPr lang="es-ES" sz="2400" dirty="0">
                <a:solidFill>
                  <a:srgbClr val="131D3F"/>
                </a:solidFill>
                <a:latin typeface="Montserrat" panose="00000500000000000000" pitchFamily="2" charset="0"/>
              </a:rPr>
              <a:t>¿?</a:t>
            </a:r>
          </a:p>
        </p:txBody>
      </p:sp>
    </p:spTree>
    <p:extLst>
      <p:ext uri="{BB962C8B-B14F-4D97-AF65-F5344CB8AC3E}">
        <p14:creationId xmlns:p14="http://schemas.microsoft.com/office/powerpoint/2010/main" val="174197079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6378" y="436676"/>
            <a:ext cx="10515600" cy="840219"/>
          </a:xfrm>
        </p:spPr>
        <p:txBody>
          <a:bodyPr>
            <a:normAutofit/>
          </a:bodyPr>
          <a:lstStyle/>
          <a:p>
            <a:pPr algn="ctr"/>
            <a:r>
              <a:rPr lang="es-ES" sz="4800" b="1" dirty="0">
                <a:latin typeface="Montserrat" panose="00000500000000000000" pitchFamily="2" charset="0"/>
              </a:rPr>
              <a:t>Clase 13°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836378" y="1276895"/>
            <a:ext cx="10515600" cy="9711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4</a:t>
            </a:r>
            <a:r>
              <a:rPr lang="es-ES" sz="4800" dirty="0">
                <a:latin typeface="Montserrat" panose="00000500000000000000" pitchFamily="2" charset="0"/>
              </a:rPr>
              <a:t> </a:t>
            </a:r>
            <a:r>
              <a:rPr lang="es-ES" sz="4800" b="1" dirty="0">
                <a:latin typeface="Montserrat" panose="00000500000000000000" pitchFamily="2" charset="0"/>
              </a:rPr>
              <a:t>Métodos para el análisis económico</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4178" y="6246183"/>
            <a:ext cx="4423063" cy="46340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08 de noviembre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754144" y="2293658"/>
            <a:ext cx="10897528" cy="272674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0000">
              <a:lnSpc>
                <a:spcPct val="100000"/>
              </a:lnSpc>
              <a:spcAft>
                <a:spcPts val="1200"/>
              </a:spcAft>
            </a:pPr>
            <a:r>
              <a:rPr lang="es-MX" sz="3600" b="1" dirty="0">
                <a:latin typeface="Montserrat" panose="00000500000000000000" pitchFamily="2" charset="0"/>
              </a:rPr>
              <a:t>4.3 ROI.</a:t>
            </a:r>
          </a:p>
          <a:p>
            <a:pPr marL="720000">
              <a:lnSpc>
                <a:spcPct val="100000"/>
              </a:lnSpc>
              <a:spcAft>
                <a:spcPts val="1200"/>
              </a:spcAft>
            </a:pPr>
            <a:r>
              <a:rPr lang="es-MX" sz="3600" b="1" dirty="0">
                <a:latin typeface="Montserrat" panose="00000500000000000000" pitchFamily="2" charset="0"/>
              </a:rPr>
              <a:t>4.4 ROCE.</a:t>
            </a:r>
          </a:p>
          <a:p>
            <a:pPr marL="720000">
              <a:lnSpc>
                <a:spcPct val="100000"/>
              </a:lnSpc>
              <a:spcAft>
                <a:spcPts val="1200"/>
              </a:spcAft>
            </a:pPr>
            <a:r>
              <a:rPr lang="es-MX" sz="3600" b="1" dirty="0">
                <a:latin typeface="Montserrat" panose="00000500000000000000" pitchFamily="2" charset="0"/>
              </a:rPr>
              <a:t>4.5 Análisis costo-beneficio</a:t>
            </a:r>
          </a:p>
          <a:p>
            <a:pPr marL="720000">
              <a:lnSpc>
                <a:spcPct val="100000"/>
              </a:lnSpc>
              <a:spcAft>
                <a:spcPts val="1200"/>
              </a:spcAft>
            </a:pPr>
            <a:r>
              <a:rPr lang="es-MX" sz="3600" b="1" dirty="0">
                <a:latin typeface="Montserrat" panose="00000500000000000000" pitchFamily="2" charset="0"/>
              </a:rPr>
              <a:t>4.6 Análisis costo-efectividad</a:t>
            </a:r>
            <a:endParaRPr lang="es-ES" sz="3600" b="1" dirty="0">
              <a:latin typeface="Montserrat" panose="00000500000000000000" pitchFamily="2" charset="0"/>
            </a:endParaRPr>
          </a:p>
        </p:txBody>
      </p:sp>
    </p:spTree>
    <p:extLst>
      <p:ext uri="{BB962C8B-B14F-4D97-AF65-F5344CB8AC3E}">
        <p14:creationId xmlns:p14="http://schemas.microsoft.com/office/powerpoint/2010/main" val="375200936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185</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A868C174-7252-4490-B42A-E1C2DD9F4C45}"/>
              </a:ext>
            </a:extLst>
          </p:cNvPr>
          <p:cNvSpPr txBox="1">
            <a:spLocks/>
          </p:cNvSpPr>
          <p:nvPr/>
        </p:nvSpPr>
        <p:spPr>
          <a:xfrm>
            <a:off x="729812" y="646864"/>
            <a:ext cx="11218407" cy="10776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4.1 </a:t>
            </a:r>
            <a:r>
              <a:rPr lang="es-ES" sz="3600" dirty="0">
                <a:solidFill>
                  <a:srgbClr val="131D3F"/>
                </a:solidFill>
                <a:latin typeface="Montserrat" panose="00000500000000000000" pitchFamily="2" charset="0"/>
              </a:rPr>
              <a:t>Métodos para el análisis económico.</a:t>
            </a:r>
          </a:p>
          <a:p>
            <a:r>
              <a:rPr lang="es-ES" sz="36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TIR – Tasa Interna de Retorno</a:t>
            </a:r>
          </a:p>
        </p:txBody>
      </p:sp>
      <p:sp>
        <p:nvSpPr>
          <p:cNvPr id="11" name="CuadroTexto 10">
            <a:extLst>
              <a:ext uri="{FF2B5EF4-FFF2-40B4-BE49-F238E27FC236}">
                <a16:creationId xmlns:a16="http://schemas.microsoft.com/office/drawing/2014/main" id="{E922A490-CA2C-4455-BCAB-C3C72968012B}"/>
              </a:ext>
            </a:extLst>
          </p:cNvPr>
          <p:cNvSpPr txBox="1"/>
          <p:nvPr/>
        </p:nvSpPr>
        <p:spPr>
          <a:xfrm>
            <a:off x="594332" y="2270652"/>
            <a:ext cx="10958464" cy="2462213"/>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Es un indicador financiero que se utiliza para evaluar la rentabilidad de una inversión o proyecto. </a:t>
            </a:r>
          </a:p>
          <a:p>
            <a:pPr algn="just">
              <a:spcAft>
                <a:spcPts val="1200"/>
              </a:spcAft>
            </a:pPr>
            <a:r>
              <a:rPr lang="es-ES" sz="2400" dirty="0">
                <a:solidFill>
                  <a:srgbClr val="131D3F"/>
                </a:solidFill>
                <a:latin typeface="Montserrat" panose="00000500000000000000" pitchFamily="2" charset="0"/>
              </a:rPr>
              <a:t>Se define como la </a:t>
            </a:r>
            <a:r>
              <a:rPr lang="es-ES" sz="2400" b="1" dirty="0">
                <a:solidFill>
                  <a:srgbClr val="131D3F"/>
                </a:solidFill>
                <a:latin typeface="Montserrat" panose="00000500000000000000" pitchFamily="2" charset="0"/>
              </a:rPr>
              <a:t>tasa de descuento</a:t>
            </a:r>
            <a:r>
              <a:rPr lang="es-ES" sz="2400" dirty="0">
                <a:solidFill>
                  <a:srgbClr val="131D3F"/>
                </a:solidFill>
                <a:latin typeface="Montserrat" panose="00000500000000000000" pitchFamily="2" charset="0"/>
              </a:rPr>
              <a:t> que </a:t>
            </a:r>
            <a:r>
              <a:rPr lang="es-ES" sz="2400" u="sng" dirty="0">
                <a:solidFill>
                  <a:srgbClr val="131D3F"/>
                </a:solidFill>
                <a:latin typeface="Montserrat" panose="00000500000000000000" pitchFamily="2" charset="0"/>
              </a:rPr>
              <a:t>iguala el valor presente neto</a:t>
            </a:r>
            <a:r>
              <a:rPr lang="es-ES" sz="2400" dirty="0">
                <a:solidFill>
                  <a:srgbClr val="131D3F"/>
                </a:solidFill>
                <a:latin typeface="Montserrat" panose="00000500000000000000" pitchFamily="2" charset="0"/>
              </a:rPr>
              <a:t> (VPN) </a:t>
            </a:r>
            <a:r>
              <a:rPr lang="es-ES" sz="2400" u="sng" dirty="0">
                <a:solidFill>
                  <a:srgbClr val="131D3F"/>
                </a:solidFill>
                <a:latin typeface="Montserrat" panose="00000500000000000000" pitchFamily="2" charset="0"/>
              </a:rPr>
              <a:t>de los flujos de efectivo futuros de un proyecto a </a:t>
            </a:r>
            <a:r>
              <a:rPr lang="es-ES" sz="2400" b="1" u="sng" dirty="0">
                <a:solidFill>
                  <a:srgbClr val="131D3F"/>
                </a:solidFill>
                <a:latin typeface="Montserrat" panose="00000500000000000000" pitchFamily="2" charset="0"/>
              </a:rPr>
              <a:t>cero</a:t>
            </a:r>
            <a:r>
              <a:rPr lang="es-ES" sz="2400" dirty="0">
                <a:solidFill>
                  <a:srgbClr val="131D3F"/>
                </a:solidFill>
                <a:latin typeface="Montserrat" panose="00000500000000000000" pitchFamily="2" charset="0"/>
              </a:rPr>
              <a:t>. En otras palabras, es la tasa a la cual </a:t>
            </a:r>
            <a:r>
              <a:rPr lang="es-ES" sz="2400" b="1" dirty="0">
                <a:solidFill>
                  <a:srgbClr val="131D3F"/>
                </a:solidFill>
                <a:latin typeface="Montserrat" panose="00000500000000000000" pitchFamily="2" charset="0"/>
              </a:rPr>
              <a:t>los ingresos esperados de una inversión igualan sus costos</a:t>
            </a:r>
            <a:r>
              <a:rPr lang="es-ES" sz="2400" dirty="0">
                <a:solidFill>
                  <a:srgbClr val="131D3F"/>
                </a:solidFill>
                <a:latin typeface="Montserrat" panose="00000500000000000000" pitchFamily="2" charset="0"/>
              </a:rPr>
              <a:t>.</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4B7D94A2-E840-4962-9035-FEB1236E479B}"/>
                  </a:ext>
                </a:extLst>
              </p:cNvPr>
              <p:cNvSpPr txBox="1"/>
              <p:nvPr/>
            </p:nvSpPr>
            <p:spPr>
              <a:xfrm>
                <a:off x="4019766" y="5278986"/>
                <a:ext cx="3351995" cy="8943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0= </m:t>
                      </m:r>
                      <m:sSub>
                        <m:sSubPr>
                          <m:ctrlPr>
                            <a:rPr lang="es-ES" sz="2400" b="0" i="1" smtClean="0">
                              <a:solidFill>
                                <a:srgbClr val="131D3F"/>
                              </a:solidFill>
                              <a:latin typeface="Cambria Math" panose="02040503050406030204" pitchFamily="18" charset="0"/>
                            </a:rPr>
                          </m:ctrlPr>
                        </m:sSubPr>
                        <m:e>
                          <m:r>
                            <a:rPr lang="es-ES" sz="2400" b="0" i="1" smtClean="0">
                              <a:solidFill>
                                <a:srgbClr val="131D3F"/>
                              </a:solidFill>
                              <a:latin typeface="Cambria Math" panose="02040503050406030204" pitchFamily="18" charset="0"/>
                            </a:rPr>
                            <m:t>𝐶</m:t>
                          </m:r>
                        </m:e>
                        <m:sub>
                          <m:r>
                            <a:rPr lang="es-ES" sz="2400" b="0" i="1" smtClean="0">
                              <a:solidFill>
                                <a:srgbClr val="131D3F"/>
                              </a:solidFill>
                              <a:latin typeface="Cambria Math" panose="02040503050406030204" pitchFamily="18" charset="0"/>
                            </a:rPr>
                            <m:t>0</m:t>
                          </m:r>
                        </m:sub>
                      </m:sSub>
                      <m:r>
                        <a:rPr lang="es-ES" sz="2400" b="0" i="1" smtClean="0">
                          <a:solidFill>
                            <a:srgbClr val="131D3F"/>
                          </a:solidFill>
                          <a:latin typeface="Cambria Math" panose="02040503050406030204" pitchFamily="18" charset="0"/>
                        </a:rPr>
                        <m:t>+</m:t>
                      </m:r>
                      <m:nary>
                        <m:naryPr>
                          <m:chr m:val="∑"/>
                          <m:subHide m:val="on"/>
                          <m:supHide m:val="on"/>
                          <m:ctrlPr>
                            <a:rPr lang="es-ES" sz="2400" b="0" i="1" smtClean="0">
                              <a:solidFill>
                                <a:srgbClr val="131D3F"/>
                              </a:solidFill>
                              <a:latin typeface="Cambria Math" panose="02040503050406030204" pitchFamily="18" charset="0"/>
                            </a:rPr>
                          </m:ctrlPr>
                        </m:naryPr>
                        <m:sub/>
                        <m:sup/>
                        <m:e>
                          <m:f>
                            <m:fPr>
                              <m:ctrlPr>
                                <a:rPr lang="es-ES" sz="2400" b="0" i="1" smtClean="0">
                                  <a:solidFill>
                                    <a:srgbClr val="131D3F"/>
                                  </a:solidFill>
                                  <a:latin typeface="Cambria Math" panose="02040503050406030204" pitchFamily="18" charset="0"/>
                                </a:rPr>
                              </m:ctrlPr>
                            </m:fPr>
                            <m:num>
                              <m:sSub>
                                <m:sSubPr>
                                  <m:ctrlPr>
                                    <a:rPr lang="es-ES" sz="2400" b="0" i="1" smtClean="0">
                                      <a:solidFill>
                                        <a:srgbClr val="131D3F"/>
                                      </a:solidFill>
                                      <a:latin typeface="Cambria Math" panose="02040503050406030204" pitchFamily="18" charset="0"/>
                                    </a:rPr>
                                  </m:ctrlPr>
                                </m:sSubPr>
                                <m:e>
                                  <m:r>
                                    <a:rPr lang="es-ES" sz="2400" b="0" i="1" smtClean="0">
                                      <a:solidFill>
                                        <a:srgbClr val="131D3F"/>
                                      </a:solidFill>
                                      <a:latin typeface="Cambria Math" panose="02040503050406030204" pitchFamily="18" charset="0"/>
                                    </a:rPr>
                                    <m:t>𝐶</m:t>
                                  </m:r>
                                </m:e>
                                <m:sub>
                                  <m:r>
                                    <a:rPr lang="es-ES" sz="2400" b="0" i="1" smtClean="0">
                                      <a:solidFill>
                                        <a:srgbClr val="131D3F"/>
                                      </a:solidFill>
                                      <a:latin typeface="Cambria Math" panose="02040503050406030204" pitchFamily="18" charset="0"/>
                                    </a:rPr>
                                    <m:t>𝑡</m:t>
                                  </m:r>
                                </m:sub>
                              </m:sSub>
                            </m:num>
                            <m:den>
                              <m:sSup>
                                <m:sSupPr>
                                  <m:ctrlPr>
                                    <a:rPr lang="es-ES" sz="2400" b="0" i="1" smtClean="0">
                                      <a:solidFill>
                                        <a:srgbClr val="131D3F"/>
                                      </a:solidFill>
                                      <a:latin typeface="Cambria Math" panose="02040503050406030204" pitchFamily="18" charset="0"/>
                                    </a:rPr>
                                  </m:ctrlPr>
                                </m:sSupPr>
                                <m:e>
                                  <m:r>
                                    <a:rPr lang="es-ES" sz="2400" b="0" i="1" smtClean="0">
                                      <a:solidFill>
                                        <a:srgbClr val="131D3F"/>
                                      </a:solidFill>
                                      <a:latin typeface="Cambria Math" panose="02040503050406030204" pitchFamily="18" charset="0"/>
                                    </a:rPr>
                                    <m:t>(1+</m:t>
                                  </m:r>
                                  <m:r>
                                    <a:rPr lang="es-ES" sz="2400" b="0" i="1" smtClean="0">
                                      <a:solidFill>
                                        <a:srgbClr val="131D3F"/>
                                      </a:solidFill>
                                      <a:latin typeface="Cambria Math" panose="02040503050406030204" pitchFamily="18" charset="0"/>
                                    </a:rPr>
                                    <m:t>𝑇𝐼𝑅</m:t>
                                  </m:r>
                                  <m:r>
                                    <a:rPr lang="es-ES" sz="2400" b="0" i="1" smtClean="0">
                                      <a:solidFill>
                                        <a:srgbClr val="131D3F"/>
                                      </a:solidFill>
                                      <a:latin typeface="Cambria Math" panose="02040503050406030204" pitchFamily="18" charset="0"/>
                                    </a:rPr>
                                    <m:t>)</m:t>
                                  </m:r>
                                </m:e>
                                <m:sup>
                                  <m:r>
                                    <a:rPr lang="es-ES" sz="2400" b="0" i="1" smtClean="0">
                                      <a:solidFill>
                                        <a:srgbClr val="131D3F"/>
                                      </a:solidFill>
                                      <a:latin typeface="Cambria Math" panose="02040503050406030204" pitchFamily="18" charset="0"/>
                                    </a:rPr>
                                    <m:t>𝑡</m:t>
                                  </m:r>
                                </m:sup>
                              </m:sSup>
                            </m:den>
                          </m:f>
                        </m:e>
                      </m:nary>
                    </m:oMath>
                  </m:oMathPara>
                </a14:m>
                <a:endParaRPr lang="es-MX" sz="2400" dirty="0">
                  <a:solidFill>
                    <a:srgbClr val="131D3F"/>
                  </a:solidFill>
                </a:endParaRPr>
              </a:p>
            </p:txBody>
          </p:sp>
        </mc:Choice>
        <mc:Fallback xmlns="">
          <p:sp>
            <p:nvSpPr>
              <p:cNvPr id="3" name="CuadroTexto 2">
                <a:extLst>
                  <a:ext uri="{FF2B5EF4-FFF2-40B4-BE49-F238E27FC236}">
                    <a16:creationId xmlns:a16="http://schemas.microsoft.com/office/drawing/2014/main" id="{4B7D94A2-E840-4962-9035-FEB1236E479B}"/>
                  </a:ext>
                </a:extLst>
              </p:cNvPr>
              <p:cNvSpPr txBox="1">
                <a:spLocks noRot="1" noChangeAspect="1" noMove="1" noResize="1" noEditPoints="1" noAdjustHandles="1" noChangeArrowheads="1" noChangeShapeType="1" noTextEdit="1"/>
              </p:cNvSpPr>
              <p:nvPr/>
            </p:nvSpPr>
            <p:spPr>
              <a:xfrm>
                <a:off x="4019766" y="5278986"/>
                <a:ext cx="3351995" cy="894347"/>
              </a:xfrm>
              <a:prstGeom prst="rect">
                <a:avLst/>
              </a:prstGeom>
              <a:blipFill>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415567836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186</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2006701"/>
            <a:ext cx="10958464" cy="2677656"/>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Ejercicio Práctico:</a:t>
            </a:r>
          </a:p>
          <a:p>
            <a:pPr algn="just">
              <a:spcAft>
                <a:spcPts val="1200"/>
              </a:spcAft>
            </a:pPr>
            <a:r>
              <a:rPr lang="es-ES" sz="2400" dirty="0">
                <a:solidFill>
                  <a:srgbClr val="131D3F"/>
                </a:solidFill>
                <a:latin typeface="Montserrat" panose="00000500000000000000" pitchFamily="2" charset="0"/>
              </a:rPr>
              <a:t>Pedro realiza un proyecto de inversión que le supone un desembolso inicial de 500 euros en el momento actual. Con este proyecto recibirá unos flujos netos de caja de 200 euros dentro de un año y de 400 euros dentro de dos años</a:t>
            </a:r>
          </a:p>
          <a:p>
            <a:pPr lvl="1" algn="just">
              <a:spcAft>
                <a:spcPts val="1200"/>
              </a:spcAft>
            </a:pPr>
            <a:r>
              <a:rPr lang="es-ES" sz="2400" b="1" dirty="0">
                <a:solidFill>
                  <a:srgbClr val="131D3F"/>
                </a:solidFill>
                <a:latin typeface="Montserrat" panose="00000500000000000000" pitchFamily="2" charset="0"/>
              </a:rPr>
              <a:t>a)</a:t>
            </a:r>
            <a:r>
              <a:rPr lang="es-ES" sz="2400" dirty="0">
                <a:solidFill>
                  <a:srgbClr val="131D3F"/>
                </a:solidFill>
                <a:latin typeface="Montserrat" panose="00000500000000000000" pitchFamily="2" charset="0"/>
              </a:rPr>
              <a:t> Calcula la TIR del proyecto.</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9F6BA22-B61F-4199-B80A-4BA5A1B8AD82}"/>
                  </a:ext>
                </a:extLst>
              </p:cNvPr>
              <p:cNvSpPr txBox="1"/>
              <p:nvPr/>
            </p:nvSpPr>
            <p:spPr>
              <a:xfrm>
                <a:off x="3302926" y="4966527"/>
                <a:ext cx="5586147" cy="7593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0=−500+</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200</m:t>
                          </m:r>
                        </m:num>
                        <m:den>
                          <m:sSup>
                            <m:sSupPr>
                              <m:ctrlPr>
                                <a:rPr lang="es-ES" sz="2400" b="0" i="1" smtClean="0">
                                  <a:solidFill>
                                    <a:srgbClr val="131D3F"/>
                                  </a:solidFill>
                                  <a:latin typeface="Cambria Math" panose="02040503050406030204" pitchFamily="18" charset="0"/>
                                </a:rPr>
                              </m:ctrlPr>
                            </m:sSupPr>
                            <m:e>
                              <m:d>
                                <m:dPr>
                                  <m:ctrlPr>
                                    <a:rPr lang="es-ES" sz="2400" b="0" i="1" smtClean="0">
                                      <a:solidFill>
                                        <a:srgbClr val="131D3F"/>
                                      </a:solidFill>
                                      <a:latin typeface="Cambria Math" panose="02040503050406030204" pitchFamily="18" charset="0"/>
                                    </a:rPr>
                                  </m:ctrlPr>
                                </m:dPr>
                                <m:e>
                                  <m:r>
                                    <a:rPr lang="es-ES" sz="2400" b="0" i="1" smtClean="0">
                                      <a:solidFill>
                                        <a:srgbClr val="131D3F"/>
                                      </a:solidFill>
                                      <a:latin typeface="Cambria Math" panose="02040503050406030204" pitchFamily="18" charset="0"/>
                                    </a:rPr>
                                    <m:t>1+</m:t>
                                  </m:r>
                                  <m:r>
                                    <a:rPr lang="es-ES" sz="2400" b="0" i="1" smtClean="0">
                                      <a:solidFill>
                                        <a:srgbClr val="131D3F"/>
                                      </a:solidFill>
                                      <a:latin typeface="Cambria Math" panose="02040503050406030204" pitchFamily="18" charset="0"/>
                                    </a:rPr>
                                    <m:t>𝑇𝐼𝑅</m:t>
                                  </m:r>
                                </m:e>
                              </m:d>
                            </m:e>
                            <m:sup>
                              <m:r>
                                <a:rPr lang="es-ES" sz="2400" b="0" i="1" smtClean="0">
                                  <a:solidFill>
                                    <a:srgbClr val="131D3F"/>
                                  </a:solidFill>
                                  <a:latin typeface="Cambria Math" panose="02040503050406030204" pitchFamily="18" charset="0"/>
                                </a:rPr>
                                <m:t>1</m:t>
                              </m:r>
                            </m:sup>
                          </m:sSup>
                        </m:den>
                      </m:f>
                      <m:r>
                        <a:rPr lang="es-ES" sz="2400" b="0"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400</m:t>
                          </m:r>
                        </m:num>
                        <m:den>
                          <m:sSup>
                            <m:sSupPr>
                              <m:ctrlPr>
                                <a:rPr lang="es-ES" sz="2400" b="0" i="1" smtClean="0">
                                  <a:solidFill>
                                    <a:srgbClr val="131D3F"/>
                                  </a:solidFill>
                                  <a:latin typeface="Cambria Math" panose="02040503050406030204" pitchFamily="18" charset="0"/>
                                </a:rPr>
                              </m:ctrlPr>
                            </m:sSupPr>
                            <m:e>
                              <m:r>
                                <a:rPr lang="es-ES" sz="2400" b="0" i="1" smtClean="0">
                                  <a:solidFill>
                                    <a:srgbClr val="131D3F"/>
                                  </a:solidFill>
                                  <a:latin typeface="Cambria Math" panose="02040503050406030204" pitchFamily="18" charset="0"/>
                                </a:rPr>
                                <m:t>(1+</m:t>
                              </m:r>
                              <m:r>
                                <a:rPr lang="es-ES" sz="2400" b="0" i="1" smtClean="0">
                                  <a:solidFill>
                                    <a:srgbClr val="131D3F"/>
                                  </a:solidFill>
                                  <a:latin typeface="Cambria Math" panose="02040503050406030204" pitchFamily="18" charset="0"/>
                                </a:rPr>
                                <m:t>𝑇𝐼𝑅</m:t>
                              </m:r>
                              <m:r>
                                <a:rPr lang="es-ES" sz="2400" b="0" i="1" smtClean="0">
                                  <a:solidFill>
                                    <a:srgbClr val="131D3F"/>
                                  </a:solidFill>
                                  <a:latin typeface="Cambria Math" panose="02040503050406030204" pitchFamily="18" charset="0"/>
                                </a:rPr>
                                <m:t>)</m:t>
                              </m:r>
                            </m:e>
                            <m:sup>
                              <m:r>
                                <a:rPr lang="es-ES" sz="2400" b="0" i="1" smtClean="0">
                                  <a:solidFill>
                                    <a:srgbClr val="131D3F"/>
                                  </a:solidFill>
                                  <a:latin typeface="Cambria Math" panose="02040503050406030204" pitchFamily="18" charset="0"/>
                                </a:rPr>
                                <m:t>2</m:t>
                              </m:r>
                            </m:sup>
                          </m:sSup>
                        </m:den>
                      </m:f>
                    </m:oMath>
                  </m:oMathPara>
                </a14:m>
                <a:endParaRPr lang="es-MX" sz="2400" dirty="0">
                  <a:solidFill>
                    <a:srgbClr val="131D3F"/>
                  </a:solidFill>
                </a:endParaRPr>
              </a:p>
            </p:txBody>
          </p:sp>
        </mc:Choice>
        <mc:Fallback xmlns="">
          <p:sp>
            <p:nvSpPr>
              <p:cNvPr id="10" name="CuadroTexto 9">
                <a:extLst>
                  <a:ext uri="{FF2B5EF4-FFF2-40B4-BE49-F238E27FC236}">
                    <a16:creationId xmlns:a16="http://schemas.microsoft.com/office/drawing/2014/main" id="{39F6BA22-B61F-4199-B80A-4BA5A1B8AD82}"/>
                  </a:ext>
                </a:extLst>
              </p:cNvPr>
              <p:cNvSpPr txBox="1">
                <a:spLocks noRot="1" noChangeAspect="1" noMove="1" noResize="1" noEditPoints="1" noAdjustHandles="1" noChangeArrowheads="1" noChangeShapeType="1" noTextEdit="1"/>
              </p:cNvSpPr>
              <p:nvPr/>
            </p:nvSpPr>
            <p:spPr>
              <a:xfrm>
                <a:off x="3302926" y="4966527"/>
                <a:ext cx="5586147" cy="759375"/>
              </a:xfrm>
              <a:prstGeom prst="rect">
                <a:avLst/>
              </a:prstGeom>
              <a:blipFill>
                <a:blip r:embed="rId5"/>
                <a:stretch>
                  <a:fillRect/>
                </a:stretch>
              </a:blipFill>
            </p:spPr>
            <p:txBody>
              <a:bodyPr/>
              <a:lstStyle/>
              <a:p>
                <a:r>
                  <a:rPr lang="es-MX">
                    <a:noFill/>
                  </a:rPr>
                  <a:t> </a:t>
                </a:r>
              </a:p>
            </p:txBody>
          </p:sp>
        </mc:Fallback>
      </mc:AlternateContent>
      <p:sp>
        <p:nvSpPr>
          <p:cNvPr id="12" name="Título 3">
            <a:extLst>
              <a:ext uri="{FF2B5EF4-FFF2-40B4-BE49-F238E27FC236}">
                <a16:creationId xmlns:a16="http://schemas.microsoft.com/office/drawing/2014/main" id="{8ADEEFA9-EA6F-4A27-AB08-AF093A514157}"/>
              </a:ext>
            </a:extLst>
          </p:cNvPr>
          <p:cNvSpPr txBox="1">
            <a:spLocks/>
          </p:cNvSpPr>
          <p:nvPr/>
        </p:nvSpPr>
        <p:spPr>
          <a:xfrm>
            <a:off x="729812" y="646864"/>
            <a:ext cx="11218407" cy="10776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4.1 </a:t>
            </a:r>
            <a:r>
              <a:rPr lang="es-ES" sz="3600" dirty="0">
                <a:solidFill>
                  <a:srgbClr val="131D3F"/>
                </a:solidFill>
                <a:latin typeface="Montserrat" panose="00000500000000000000" pitchFamily="2" charset="0"/>
              </a:rPr>
              <a:t>Métodos para el análisis económico.</a:t>
            </a:r>
          </a:p>
          <a:p>
            <a:r>
              <a:rPr lang="es-ES" sz="36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TIR – Tasa Interna de Retorno</a:t>
            </a:r>
          </a:p>
        </p:txBody>
      </p:sp>
    </p:spTree>
    <p:extLst>
      <p:ext uri="{BB962C8B-B14F-4D97-AF65-F5344CB8AC3E}">
        <p14:creationId xmlns:p14="http://schemas.microsoft.com/office/powerpoint/2010/main" val="124128509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187</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2096382"/>
            <a:ext cx="10958464" cy="2985433"/>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Interpretación de la TIR:</a:t>
            </a:r>
          </a:p>
          <a:p>
            <a:pPr lvl="1" algn="just">
              <a:spcAft>
                <a:spcPts val="1200"/>
              </a:spcAft>
            </a:pPr>
            <a:r>
              <a:rPr lang="es-ES" sz="2800" b="1" dirty="0">
                <a:solidFill>
                  <a:srgbClr val="131D3F"/>
                </a:solidFill>
                <a:latin typeface="Montserrat" panose="00000500000000000000" pitchFamily="2" charset="0"/>
              </a:rPr>
              <a:t>TIR &gt; Tasa de Corte: </a:t>
            </a:r>
            <a:r>
              <a:rPr lang="es-ES" sz="2800" dirty="0">
                <a:solidFill>
                  <a:srgbClr val="131D3F"/>
                </a:solidFill>
                <a:latin typeface="Montserrat" panose="00000500000000000000" pitchFamily="2" charset="0"/>
              </a:rPr>
              <a:t>Si la TIR es mayor que la tasa de rendimiento mínima que la empresa espera, el proyecto es considerado atractivo.</a:t>
            </a:r>
          </a:p>
          <a:p>
            <a:pPr lvl="1" algn="just">
              <a:spcAft>
                <a:spcPts val="1200"/>
              </a:spcAft>
            </a:pPr>
            <a:r>
              <a:rPr lang="es-ES" sz="2800" b="1" dirty="0">
                <a:solidFill>
                  <a:srgbClr val="131D3F"/>
                </a:solidFill>
                <a:latin typeface="Montserrat" panose="00000500000000000000" pitchFamily="2" charset="0"/>
              </a:rPr>
              <a:t>TIR &lt; Tasa de Corte: </a:t>
            </a:r>
            <a:r>
              <a:rPr lang="es-ES" sz="2800" dirty="0">
                <a:solidFill>
                  <a:srgbClr val="131D3F"/>
                </a:solidFill>
                <a:latin typeface="Montserrat" panose="00000500000000000000" pitchFamily="2" charset="0"/>
              </a:rPr>
              <a:t>Si es menor, el proyecto puede ser rechazado.</a:t>
            </a:r>
            <a:endParaRPr lang="es-ES" sz="2400" dirty="0">
              <a:solidFill>
                <a:srgbClr val="131D3F"/>
              </a:solidFill>
              <a:latin typeface="Montserrat" panose="00000500000000000000" pitchFamily="2" charset="0"/>
            </a:endParaRPr>
          </a:p>
        </p:txBody>
      </p:sp>
      <p:sp>
        <p:nvSpPr>
          <p:cNvPr id="12" name="Título 3">
            <a:extLst>
              <a:ext uri="{FF2B5EF4-FFF2-40B4-BE49-F238E27FC236}">
                <a16:creationId xmlns:a16="http://schemas.microsoft.com/office/drawing/2014/main" id="{E0ADC22A-252B-4469-9A40-3AC94024CC74}"/>
              </a:ext>
            </a:extLst>
          </p:cNvPr>
          <p:cNvSpPr txBox="1">
            <a:spLocks/>
          </p:cNvSpPr>
          <p:nvPr/>
        </p:nvSpPr>
        <p:spPr>
          <a:xfrm>
            <a:off x="748666" y="528890"/>
            <a:ext cx="11218407" cy="10776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4.1 </a:t>
            </a:r>
            <a:r>
              <a:rPr lang="es-ES" sz="3600" dirty="0">
                <a:solidFill>
                  <a:srgbClr val="131D3F"/>
                </a:solidFill>
                <a:latin typeface="Montserrat" panose="00000500000000000000" pitchFamily="2" charset="0"/>
              </a:rPr>
              <a:t>Métodos para el análisis económico.</a:t>
            </a:r>
          </a:p>
          <a:p>
            <a:r>
              <a:rPr lang="es-ES" sz="36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TIR – Tasa Interna de Retorno</a:t>
            </a:r>
          </a:p>
        </p:txBody>
      </p:sp>
    </p:spTree>
    <p:extLst>
      <p:ext uri="{BB962C8B-B14F-4D97-AF65-F5344CB8AC3E}">
        <p14:creationId xmlns:p14="http://schemas.microsoft.com/office/powerpoint/2010/main" val="118399282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188</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917587"/>
            <a:ext cx="10958464" cy="2400657"/>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El ROI es una métrica financiera utilizada para evaluar la eficiencia y rentabilidad de una inversión. </a:t>
            </a:r>
          </a:p>
          <a:p>
            <a:pPr algn="just">
              <a:spcAft>
                <a:spcPts val="1200"/>
              </a:spcAft>
            </a:pPr>
            <a:r>
              <a:rPr lang="es-ES" sz="2800" dirty="0">
                <a:solidFill>
                  <a:srgbClr val="131D3F"/>
                </a:solidFill>
                <a:latin typeface="Montserrat" panose="00000500000000000000" pitchFamily="2" charset="0"/>
              </a:rPr>
              <a:t>Mide la rentabilidad que se obtiene en relación con la inversión inicial, expresado generalmente como un porcentaje.</a:t>
            </a:r>
            <a:endParaRPr lang="es-ES" sz="2400" dirty="0">
              <a:solidFill>
                <a:srgbClr val="131D3F"/>
              </a:solidFill>
              <a:latin typeface="Montserrat" panose="00000500000000000000" pitchFamily="2" charset="0"/>
            </a:endParaRPr>
          </a:p>
        </p:txBody>
      </p:sp>
      <p:sp>
        <p:nvSpPr>
          <p:cNvPr id="10" name="Título 3">
            <a:extLst>
              <a:ext uri="{FF2B5EF4-FFF2-40B4-BE49-F238E27FC236}">
                <a16:creationId xmlns:a16="http://schemas.microsoft.com/office/drawing/2014/main" id="{6A8180AD-F8FF-48BA-98B5-E03F595B7DCF}"/>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4.3 </a:t>
            </a:r>
            <a:r>
              <a:rPr lang="es-ES" sz="3600" dirty="0">
                <a:solidFill>
                  <a:srgbClr val="131D3F"/>
                </a:solidFill>
                <a:latin typeface="Montserrat" panose="00000500000000000000" pitchFamily="2" charset="0"/>
              </a:rPr>
              <a:t>ROI – Retorno Sobre la Inversión.</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30ED1F6-ABD1-4565-B9A1-65EA1D381E5D}"/>
                  </a:ext>
                </a:extLst>
              </p:cNvPr>
              <p:cNvSpPr txBox="1"/>
              <p:nvPr/>
            </p:nvSpPr>
            <p:spPr>
              <a:xfrm>
                <a:off x="3302926" y="4655442"/>
                <a:ext cx="5586147" cy="69884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𝑅𝑂𝐼</m:t>
                      </m:r>
                      <m:r>
                        <a:rPr lang="es-ES" sz="2400" b="0"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𝑅𝑒𝑠𝑢𝑙𝑡𝑎𝑑𝑜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𝑁𝑒𝑡𝑜</m:t>
                          </m:r>
                        </m:num>
                        <m:den>
                          <m:r>
                            <a:rPr lang="es-ES" sz="2400" b="0" i="1" smtClean="0">
                              <a:solidFill>
                                <a:srgbClr val="131D3F"/>
                              </a:solidFill>
                              <a:latin typeface="Cambria Math" panose="02040503050406030204" pitchFamily="18" charset="0"/>
                            </a:rPr>
                            <m:t>𝐼𝑛𝑣𝑒𝑟𝑠𝑖</m:t>
                          </m:r>
                          <m:r>
                            <a:rPr lang="es-ES" sz="2400" b="0" i="1" smtClean="0">
                              <a:solidFill>
                                <a:srgbClr val="131D3F"/>
                              </a:solidFill>
                              <a:latin typeface="Cambria Math" panose="02040503050406030204" pitchFamily="18" charset="0"/>
                            </a:rPr>
                            <m:t>ó</m:t>
                          </m:r>
                          <m:r>
                            <a:rPr lang="es-ES" sz="2400" b="0" i="1" smtClean="0">
                              <a:solidFill>
                                <a:srgbClr val="131D3F"/>
                              </a:solidFill>
                              <a:latin typeface="Cambria Math" panose="02040503050406030204" pitchFamily="18" charset="0"/>
                            </a:rPr>
                            <m:t>𝑛</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𝐼𝑛𝑖𝑐𝑖𝑎𝑙</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m:t>
                      </m:r>
                    </m:oMath>
                  </m:oMathPara>
                </a14:m>
                <a:endParaRPr lang="es-MX" sz="2400" dirty="0">
                  <a:solidFill>
                    <a:srgbClr val="131D3F"/>
                  </a:solidFill>
                </a:endParaRPr>
              </a:p>
            </p:txBody>
          </p:sp>
        </mc:Choice>
        <mc:Fallback xmlns="">
          <p:sp>
            <p:nvSpPr>
              <p:cNvPr id="12" name="CuadroTexto 11">
                <a:extLst>
                  <a:ext uri="{FF2B5EF4-FFF2-40B4-BE49-F238E27FC236}">
                    <a16:creationId xmlns:a16="http://schemas.microsoft.com/office/drawing/2014/main" id="{230ED1F6-ABD1-4565-B9A1-65EA1D381E5D}"/>
                  </a:ext>
                </a:extLst>
              </p:cNvPr>
              <p:cNvSpPr txBox="1">
                <a:spLocks noRot="1" noChangeAspect="1" noMove="1" noResize="1" noEditPoints="1" noAdjustHandles="1" noChangeArrowheads="1" noChangeShapeType="1" noTextEdit="1"/>
              </p:cNvSpPr>
              <p:nvPr/>
            </p:nvSpPr>
            <p:spPr>
              <a:xfrm>
                <a:off x="3302926" y="4655442"/>
                <a:ext cx="5586147" cy="698846"/>
              </a:xfrm>
              <a:prstGeom prst="rect">
                <a:avLst/>
              </a:prstGeom>
              <a:blipFill>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62558895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189</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917587"/>
            <a:ext cx="10958464" cy="2400657"/>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Ejemplo práctico:</a:t>
            </a:r>
          </a:p>
          <a:p>
            <a:pPr algn="just">
              <a:spcAft>
                <a:spcPts val="1200"/>
              </a:spcAft>
            </a:pPr>
            <a:r>
              <a:rPr lang="es-ES" sz="2800" dirty="0">
                <a:solidFill>
                  <a:srgbClr val="131D3F"/>
                </a:solidFill>
                <a:latin typeface="Montserrat" panose="00000500000000000000" pitchFamily="2" charset="0"/>
              </a:rPr>
              <a:t>Si una empresa invierte $100,000.00 en un proyecto farmacéutico y genera ingresos por $180,0000.00, con costos de operación y mantenimiento por $35,000.00, ¿Cuál será el ROI?</a:t>
            </a:r>
            <a:endParaRPr lang="es-ES" sz="2400"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30ED1F6-ABD1-4565-B9A1-65EA1D381E5D}"/>
                  </a:ext>
                </a:extLst>
              </p:cNvPr>
              <p:cNvSpPr txBox="1"/>
              <p:nvPr/>
            </p:nvSpPr>
            <p:spPr>
              <a:xfrm>
                <a:off x="3302926" y="5230477"/>
                <a:ext cx="5586147" cy="7552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𝑅𝑂𝐼</m:t>
                      </m:r>
                      <m:r>
                        <a:rPr lang="es-ES" sz="2400" b="0"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$145,000.00</m:t>
                          </m:r>
                        </m:num>
                        <m:den>
                          <m:r>
                            <a:rPr lang="es-ES" sz="2400" b="0" i="1" smtClean="0">
                              <a:solidFill>
                                <a:srgbClr val="131D3F"/>
                              </a:solidFill>
                              <a:latin typeface="Cambria Math" panose="02040503050406030204" pitchFamily="18" charset="0"/>
                            </a:rPr>
                            <m:t>$100,000.00</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100=145%</m:t>
                      </m:r>
                    </m:oMath>
                  </m:oMathPara>
                </a14:m>
                <a:endParaRPr lang="es-MX" sz="2400" dirty="0">
                  <a:solidFill>
                    <a:srgbClr val="131D3F"/>
                  </a:solidFill>
                </a:endParaRPr>
              </a:p>
            </p:txBody>
          </p:sp>
        </mc:Choice>
        <mc:Fallback xmlns="">
          <p:sp>
            <p:nvSpPr>
              <p:cNvPr id="12" name="CuadroTexto 11">
                <a:extLst>
                  <a:ext uri="{FF2B5EF4-FFF2-40B4-BE49-F238E27FC236}">
                    <a16:creationId xmlns:a16="http://schemas.microsoft.com/office/drawing/2014/main" id="{230ED1F6-ABD1-4565-B9A1-65EA1D381E5D}"/>
                  </a:ext>
                </a:extLst>
              </p:cNvPr>
              <p:cNvSpPr txBox="1">
                <a:spLocks noRot="1" noChangeAspect="1" noMove="1" noResize="1" noEditPoints="1" noAdjustHandles="1" noChangeArrowheads="1" noChangeShapeType="1" noTextEdit="1"/>
              </p:cNvSpPr>
              <p:nvPr/>
            </p:nvSpPr>
            <p:spPr>
              <a:xfrm>
                <a:off x="3302926" y="5230477"/>
                <a:ext cx="5586147" cy="755207"/>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91AE45E-8584-41FE-BA8C-55A25047E7EC}"/>
                  </a:ext>
                </a:extLst>
              </p:cNvPr>
              <p:cNvSpPr txBox="1"/>
              <p:nvPr/>
            </p:nvSpPr>
            <p:spPr>
              <a:xfrm>
                <a:off x="1978259" y="4318244"/>
                <a:ext cx="823548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𝑅𝑒𝑠𝑢𝑙𝑡𝑎𝑑𝑜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𝑁𝑒𝑡𝑜</m:t>
                      </m:r>
                      <m:r>
                        <a:rPr lang="es-ES" sz="2400" b="0" i="1" smtClean="0">
                          <a:solidFill>
                            <a:srgbClr val="131D3F"/>
                          </a:solidFill>
                          <a:latin typeface="Cambria Math" panose="02040503050406030204" pitchFamily="18" charset="0"/>
                        </a:rPr>
                        <m:t>=$180,000.00 −$35,000.00=$145,000.00</m:t>
                      </m:r>
                    </m:oMath>
                  </m:oMathPara>
                </a14:m>
                <a:endParaRPr lang="es-MX" sz="2400" dirty="0">
                  <a:solidFill>
                    <a:srgbClr val="131D3F"/>
                  </a:solidFill>
                </a:endParaRPr>
              </a:p>
            </p:txBody>
          </p:sp>
        </mc:Choice>
        <mc:Fallback xmlns="">
          <p:sp>
            <p:nvSpPr>
              <p:cNvPr id="9" name="CuadroTexto 8">
                <a:extLst>
                  <a:ext uri="{FF2B5EF4-FFF2-40B4-BE49-F238E27FC236}">
                    <a16:creationId xmlns:a16="http://schemas.microsoft.com/office/drawing/2014/main" id="{591AE45E-8584-41FE-BA8C-55A25047E7EC}"/>
                  </a:ext>
                </a:extLst>
              </p:cNvPr>
              <p:cNvSpPr txBox="1">
                <a:spLocks noRot="1" noChangeAspect="1" noMove="1" noResize="1" noEditPoints="1" noAdjustHandles="1" noChangeArrowheads="1" noChangeShapeType="1" noTextEdit="1"/>
              </p:cNvSpPr>
              <p:nvPr/>
            </p:nvSpPr>
            <p:spPr>
              <a:xfrm>
                <a:off x="1978259" y="4318244"/>
                <a:ext cx="8235482" cy="369332"/>
              </a:xfrm>
              <a:prstGeom prst="rect">
                <a:avLst/>
              </a:prstGeom>
              <a:blipFill>
                <a:blip r:embed="rId6"/>
                <a:stretch>
                  <a:fillRect l="-222" t="-1639" r="-296" b="-16393"/>
                </a:stretch>
              </a:blipFill>
            </p:spPr>
            <p:txBody>
              <a:bodyPr/>
              <a:lstStyle/>
              <a:p>
                <a:r>
                  <a:rPr lang="es-MX">
                    <a:noFill/>
                  </a:rPr>
                  <a:t> </a:t>
                </a:r>
              </a:p>
            </p:txBody>
          </p:sp>
        </mc:Fallback>
      </mc:AlternateContent>
      <p:sp>
        <p:nvSpPr>
          <p:cNvPr id="13" name="Título 3">
            <a:extLst>
              <a:ext uri="{FF2B5EF4-FFF2-40B4-BE49-F238E27FC236}">
                <a16:creationId xmlns:a16="http://schemas.microsoft.com/office/drawing/2014/main" id="{3499BCAE-ADDE-4986-9A4A-40CA63694419}"/>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4.3 </a:t>
            </a:r>
            <a:r>
              <a:rPr lang="es-ES" sz="3600" dirty="0">
                <a:solidFill>
                  <a:srgbClr val="131D3F"/>
                </a:solidFill>
                <a:latin typeface="Montserrat" panose="00000500000000000000" pitchFamily="2" charset="0"/>
              </a:rPr>
              <a:t>ROI – Retorno Sobre la Inversión.</a:t>
            </a:r>
          </a:p>
        </p:txBody>
      </p:sp>
    </p:spTree>
    <p:extLst>
      <p:ext uri="{BB962C8B-B14F-4D97-AF65-F5344CB8AC3E}">
        <p14:creationId xmlns:p14="http://schemas.microsoft.com/office/powerpoint/2010/main" val="209981825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190</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559368"/>
            <a:ext cx="10958464" cy="1569660"/>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El ROCE permite entender la capacidad de una empresa para generar ingresos en base al capital que se ha utilizado y a la eficiencia con que se emplea ese capital, por lo que podemos decir que es un ratio financiero que nos hace conocer la rentabilidad de la empresa.</a:t>
            </a:r>
          </a:p>
        </p:txBody>
      </p:sp>
      <p:sp>
        <p:nvSpPr>
          <p:cNvPr id="10" name="Título 3">
            <a:extLst>
              <a:ext uri="{FF2B5EF4-FFF2-40B4-BE49-F238E27FC236}">
                <a16:creationId xmlns:a16="http://schemas.microsoft.com/office/drawing/2014/main" id="{6A8180AD-F8FF-48BA-98B5-E03F595B7DCF}"/>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4.4 </a:t>
            </a:r>
            <a:r>
              <a:rPr lang="es-ES" sz="3600" dirty="0">
                <a:solidFill>
                  <a:srgbClr val="131D3F"/>
                </a:solidFill>
                <a:latin typeface="Montserrat" panose="00000500000000000000" pitchFamily="2" charset="0"/>
              </a:rPr>
              <a:t>ROCE – Retorno sobre el Capital Empleado	</a:t>
            </a:r>
            <a:endParaRPr lang="es-ES" sz="2400" b="1" dirty="0">
              <a:solidFill>
                <a:srgbClr val="131D3F"/>
              </a:solidFill>
              <a:latin typeface="Montserrat" panose="00000500000000000000" pitchFamily="2" charset="0"/>
            </a:endParaRP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1F89BF1-B086-4BD9-BBC4-9DB0EDFE7DBF}"/>
                  </a:ext>
                </a:extLst>
              </p:cNvPr>
              <p:cNvSpPr txBox="1"/>
              <p:nvPr/>
            </p:nvSpPr>
            <p:spPr>
              <a:xfrm>
                <a:off x="3302926" y="3429000"/>
                <a:ext cx="5586147" cy="76437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0" i="1" smtClean="0">
                          <a:solidFill>
                            <a:srgbClr val="131D3F"/>
                          </a:solidFill>
                          <a:latin typeface="Cambria Math" panose="02040503050406030204" pitchFamily="18" charset="0"/>
                        </a:rPr>
                        <m:t>𝑅𝑂𝐶𝐸</m:t>
                      </m:r>
                      <m:r>
                        <a:rPr lang="es-ES" sz="2400" b="0"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𝐵𝑒𝑛𝑒𝑓𝑖𝑐𝑖𝑜</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𝑂𝑝𝑒𝑟𝑎𝑡𝑖𝑣𝑜</m:t>
                          </m:r>
                        </m:num>
                        <m:den>
                          <m:r>
                            <a:rPr lang="es-ES" sz="2400" b="0" i="1" smtClean="0">
                              <a:solidFill>
                                <a:srgbClr val="131D3F"/>
                              </a:solidFill>
                              <a:latin typeface="Cambria Math" panose="02040503050406030204" pitchFamily="18" charset="0"/>
                            </a:rPr>
                            <m:t>𝐶𝑎𝑝𝑖𝑡𝑎𝑙</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𝐼𝑛𝑣𝑒𝑟𝑡𝑖𝑑𝑜</m:t>
                          </m:r>
                        </m:den>
                      </m:f>
                      <m:r>
                        <a:rPr lang="es-ES" sz="2400" b="0" i="1" smtClean="0">
                          <a:solidFill>
                            <a:srgbClr val="131D3F"/>
                          </a:solidFill>
                          <a:latin typeface="Cambria Math" panose="02040503050406030204" pitchFamily="18" charset="0"/>
                        </a:rPr>
                        <m:t>𝑥</m:t>
                      </m:r>
                      <m:r>
                        <a:rPr lang="es-ES" sz="2400" b="0" i="1" smtClean="0">
                          <a:solidFill>
                            <a:srgbClr val="131D3F"/>
                          </a:solidFill>
                          <a:latin typeface="Cambria Math" panose="02040503050406030204" pitchFamily="18" charset="0"/>
                        </a:rPr>
                        <m:t>100</m:t>
                      </m:r>
                    </m:oMath>
                  </m:oMathPara>
                </a14:m>
                <a:endParaRPr lang="es-MX" sz="2400" dirty="0">
                  <a:solidFill>
                    <a:srgbClr val="131D3F"/>
                  </a:solidFill>
                </a:endParaRPr>
              </a:p>
            </p:txBody>
          </p:sp>
        </mc:Choice>
        <mc:Fallback xmlns="">
          <p:sp>
            <p:nvSpPr>
              <p:cNvPr id="13" name="CuadroTexto 12">
                <a:extLst>
                  <a:ext uri="{FF2B5EF4-FFF2-40B4-BE49-F238E27FC236}">
                    <a16:creationId xmlns:a16="http://schemas.microsoft.com/office/drawing/2014/main" id="{C1F89BF1-B086-4BD9-BBC4-9DB0EDFE7DBF}"/>
                  </a:ext>
                </a:extLst>
              </p:cNvPr>
              <p:cNvSpPr txBox="1">
                <a:spLocks noRot="1" noChangeAspect="1" noMove="1" noResize="1" noEditPoints="1" noAdjustHandles="1" noChangeArrowheads="1" noChangeShapeType="1" noTextEdit="1"/>
              </p:cNvSpPr>
              <p:nvPr/>
            </p:nvSpPr>
            <p:spPr>
              <a:xfrm>
                <a:off x="3302926" y="3429000"/>
                <a:ext cx="5586147" cy="764376"/>
              </a:xfrm>
              <a:prstGeom prst="rect">
                <a:avLst/>
              </a:prstGeom>
              <a:blipFill>
                <a:blip r:embed="rId5"/>
                <a:stretch>
                  <a:fillRect/>
                </a:stretch>
              </a:blipFill>
            </p:spPr>
            <p:txBody>
              <a:bodyPr/>
              <a:lstStyle/>
              <a:p>
                <a:r>
                  <a:rPr lang="es-MX">
                    <a:noFill/>
                  </a:rPr>
                  <a:t> </a:t>
                </a:r>
              </a:p>
            </p:txBody>
          </p:sp>
        </mc:Fallback>
      </mc:AlternateContent>
      <p:sp>
        <p:nvSpPr>
          <p:cNvPr id="15" name="CuadroTexto 14">
            <a:extLst>
              <a:ext uri="{FF2B5EF4-FFF2-40B4-BE49-F238E27FC236}">
                <a16:creationId xmlns:a16="http://schemas.microsoft.com/office/drawing/2014/main" id="{8F1CC3D8-CD18-4BF9-AC73-BB5434AD0F03}"/>
              </a:ext>
            </a:extLst>
          </p:cNvPr>
          <p:cNvSpPr txBox="1"/>
          <p:nvPr/>
        </p:nvSpPr>
        <p:spPr>
          <a:xfrm>
            <a:off x="616768" y="4092460"/>
            <a:ext cx="10958464" cy="2246769"/>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Donde:</a:t>
            </a:r>
          </a:p>
          <a:p>
            <a:pPr algn="just">
              <a:spcAft>
                <a:spcPts val="1200"/>
              </a:spcAft>
            </a:pPr>
            <a:r>
              <a:rPr lang="es-ES" sz="2400" dirty="0">
                <a:solidFill>
                  <a:srgbClr val="131D3F"/>
                </a:solidFill>
                <a:latin typeface="Montserrat" panose="00000500000000000000" pitchFamily="2" charset="0"/>
              </a:rPr>
              <a:t>Beneficio Operativo: Es el ingreso que generado a partir de sus operaciones, antes de impuestos e intereses.</a:t>
            </a:r>
          </a:p>
          <a:p>
            <a:pPr algn="just">
              <a:spcAft>
                <a:spcPts val="1200"/>
              </a:spcAft>
            </a:pPr>
            <a:r>
              <a:rPr lang="es-ES" sz="2400" dirty="0">
                <a:solidFill>
                  <a:srgbClr val="131D3F"/>
                </a:solidFill>
                <a:latin typeface="Montserrat" panose="00000500000000000000" pitchFamily="2" charset="0"/>
              </a:rPr>
              <a:t>Capital Empleado: Capital que la empresa ha utilizado para financiar sus operaciones. Esto incluye el capital propio y deuda. </a:t>
            </a:r>
          </a:p>
        </p:txBody>
      </p:sp>
    </p:spTree>
    <p:extLst>
      <p:ext uri="{BB962C8B-B14F-4D97-AF65-F5344CB8AC3E}">
        <p14:creationId xmlns:p14="http://schemas.microsoft.com/office/powerpoint/2010/main" val="188574958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191</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346824"/>
            <a:ext cx="10958464" cy="1938992"/>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Se utiliza para evaluar la viabilidad de un proyecto o inversión, </a:t>
            </a:r>
            <a:r>
              <a:rPr lang="es-ES" sz="2400" u="sng" dirty="0">
                <a:solidFill>
                  <a:srgbClr val="131D3F"/>
                </a:solidFill>
                <a:latin typeface="Montserrat" panose="00000500000000000000" pitchFamily="2" charset="0"/>
              </a:rPr>
              <a:t>comparando los costos asociados con los beneficios</a:t>
            </a:r>
            <a:r>
              <a:rPr lang="es-ES" sz="2400" dirty="0">
                <a:solidFill>
                  <a:srgbClr val="131D3F"/>
                </a:solidFill>
                <a:latin typeface="Montserrat" panose="00000500000000000000" pitchFamily="2" charset="0"/>
              </a:rPr>
              <a:t> que se espera obtener. Este análisis ayuda a </a:t>
            </a:r>
            <a:r>
              <a:rPr lang="es-ES" sz="2400" b="1" dirty="0">
                <a:solidFill>
                  <a:srgbClr val="131D3F"/>
                </a:solidFill>
                <a:latin typeface="Montserrat" panose="00000500000000000000" pitchFamily="2" charset="0"/>
              </a:rPr>
              <a:t>determinar si los beneficios superan los costos</a:t>
            </a:r>
            <a:r>
              <a:rPr lang="es-ES" sz="2400" dirty="0">
                <a:solidFill>
                  <a:srgbClr val="131D3F"/>
                </a:solidFill>
                <a:latin typeface="Montserrat" panose="00000500000000000000" pitchFamily="2" charset="0"/>
              </a:rPr>
              <a:t> y, por lo tanto, si vale la pena realizar una inversión o tomar una decisión determinada.</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1F89BF1-B086-4BD9-BBC4-9DB0EDFE7DBF}"/>
                  </a:ext>
                </a:extLst>
              </p:cNvPr>
              <p:cNvSpPr txBox="1"/>
              <p:nvPr/>
            </p:nvSpPr>
            <p:spPr>
              <a:xfrm>
                <a:off x="1230923" y="3429000"/>
                <a:ext cx="9777045" cy="7021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400" b="1" i="1" smtClean="0">
                          <a:solidFill>
                            <a:srgbClr val="131D3F"/>
                          </a:solidFill>
                          <a:latin typeface="Cambria Math" panose="02040503050406030204" pitchFamily="18" charset="0"/>
                        </a:rPr>
                        <m:t>𝑹𝒂𝒕𝒊𝒐</m:t>
                      </m:r>
                      <m:r>
                        <a:rPr lang="es-ES" sz="2400" b="1" i="1" smtClean="0">
                          <a:solidFill>
                            <a:srgbClr val="131D3F"/>
                          </a:solidFill>
                          <a:latin typeface="Cambria Math" panose="02040503050406030204" pitchFamily="18" charset="0"/>
                        </a:rPr>
                        <m:t> </m:t>
                      </m:r>
                      <m:r>
                        <a:rPr lang="es-ES" sz="2400" b="1" i="1" smtClean="0">
                          <a:solidFill>
                            <a:srgbClr val="131D3F"/>
                          </a:solidFill>
                          <a:latin typeface="Cambria Math" panose="02040503050406030204" pitchFamily="18" charset="0"/>
                        </a:rPr>
                        <m:t>𝑪𝒐𝒔𝒕𝒐</m:t>
                      </m:r>
                      <m:r>
                        <a:rPr lang="es-ES" sz="2400" b="1" i="1" smtClean="0">
                          <a:solidFill>
                            <a:srgbClr val="131D3F"/>
                          </a:solidFill>
                          <a:latin typeface="Cambria Math" panose="02040503050406030204" pitchFamily="18" charset="0"/>
                        </a:rPr>
                        <m:t> −</m:t>
                      </m:r>
                      <m:r>
                        <a:rPr lang="es-ES" sz="2400" b="1" i="1" smtClean="0">
                          <a:solidFill>
                            <a:srgbClr val="131D3F"/>
                          </a:solidFill>
                          <a:latin typeface="Cambria Math" panose="02040503050406030204" pitchFamily="18" charset="0"/>
                        </a:rPr>
                        <m:t>𝑩𝒆𝒏𝒆𝒇𝒊𝒄𝒊𝒐</m:t>
                      </m:r>
                      <m:r>
                        <a:rPr lang="es-ES" sz="2400" b="0" i="1" smtClean="0">
                          <a:solidFill>
                            <a:srgbClr val="131D3F"/>
                          </a:solidFill>
                          <a:latin typeface="Cambria Math" panose="02040503050406030204" pitchFamily="18" charset="0"/>
                        </a:rPr>
                        <m:t>=</m:t>
                      </m:r>
                      <m:f>
                        <m:fPr>
                          <m:ctrlPr>
                            <a:rPr lang="es-ES" sz="2400" b="0" i="1" smtClean="0">
                              <a:solidFill>
                                <a:srgbClr val="131D3F"/>
                              </a:solidFill>
                              <a:latin typeface="Cambria Math" panose="02040503050406030204" pitchFamily="18" charset="0"/>
                            </a:rPr>
                          </m:ctrlPr>
                        </m:fPr>
                        <m:num>
                          <m:r>
                            <a:rPr lang="es-ES" sz="2400" b="0" i="1" smtClean="0">
                              <a:solidFill>
                                <a:srgbClr val="131D3F"/>
                              </a:solidFill>
                              <a:latin typeface="Cambria Math" panose="02040503050406030204" pitchFamily="18" charset="0"/>
                            </a:rPr>
                            <m:t>𝑉𝑎𝑙𝑜𝑟</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𝑃𝑟𝑒𝑠𝑒𝑛𝑡𝑒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𝑙𝑜𝑠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𝐵𝑒𝑛𝑒𝑓𝑖𝑐𝑖𝑜𝑠</m:t>
                          </m:r>
                        </m:num>
                        <m:den>
                          <m:r>
                            <a:rPr lang="es-ES" sz="2400" b="0" i="1" smtClean="0">
                              <a:solidFill>
                                <a:srgbClr val="131D3F"/>
                              </a:solidFill>
                              <a:latin typeface="Cambria Math" panose="02040503050406030204" pitchFamily="18" charset="0"/>
                            </a:rPr>
                            <m:t>𝑉𝑎𝑙𝑜𝑟</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𝑃𝑟𝑒𝑠𝑒𝑛𝑡𝑒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𝑑𝑒</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𝑙𝑜𝑠</m:t>
                          </m:r>
                          <m:r>
                            <a:rPr lang="es-ES" sz="2400" b="0" i="1" smtClean="0">
                              <a:solidFill>
                                <a:srgbClr val="131D3F"/>
                              </a:solidFill>
                              <a:latin typeface="Cambria Math" panose="02040503050406030204" pitchFamily="18" charset="0"/>
                            </a:rPr>
                            <m:t> </m:t>
                          </m:r>
                          <m:r>
                            <a:rPr lang="es-ES" sz="2400" b="0" i="1" smtClean="0">
                              <a:solidFill>
                                <a:srgbClr val="131D3F"/>
                              </a:solidFill>
                              <a:latin typeface="Cambria Math" panose="02040503050406030204" pitchFamily="18" charset="0"/>
                            </a:rPr>
                            <m:t>𝐶𝑜𝑠𝑡𝑜𝑠</m:t>
                          </m:r>
                        </m:den>
                      </m:f>
                    </m:oMath>
                  </m:oMathPara>
                </a14:m>
                <a:endParaRPr lang="es-MX" sz="2400" dirty="0">
                  <a:solidFill>
                    <a:srgbClr val="131D3F"/>
                  </a:solidFill>
                </a:endParaRPr>
              </a:p>
            </p:txBody>
          </p:sp>
        </mc:Choice>
        <mc:Fallback xmlns="">
          <p:sp>
            <p:nvSpPr>
              <p:cNvPr id="13" name="CuadroTexto 12">
                <a:extLst>
                  <a:ext uri="{FF2B5EF4-FFF2-40B4-BE49-F238E27FC236}">
                    <a16:creationId xmlns:a16="http://schemas.microsoft.com/office/drawing/2014/main" id="{C1F89BF1-B086-4BD9-BBC4-9DB0EDFE7DBF}"/>
                  </a:ext>
                </a:extLst>
              </p:cNvPr>
              <p:cNvSpPr txBox="1">
                <a:spLocks noRot="1" noChangeAspect="1" noMove="1" noResize="1" noEditPoints="1" noAdjustHandles="1" noChangeArrowheads="1" noChangeShapeType="1" noTextEdit="1"/>
              </p:cNvSpPr>
              <p:nvPr/>
            </p:nvSpPr>
            <p:spPr>
              <a:xfrm>
                <a:off x="1230923" y="3429000"/>
                <a:ext cx="9777045" cy="702180"/>
              </a:xfrm>
              <a:prstGeom prst="rect">
                <a:avLst/>
              </a:prstGeom>
              <a:blipFill>
                <a:blip r:embed="rId5"/>
                <a:stretch>
                  <a:fillRect/>
                </a:stretch>
              </a:blipFill>
            </p:spPr>
            <p:txBody>
              <a:bodyPr/>
              <a:lstStyle/>
              <a:p>
                <a:r>
                  <a:rPr lang="es-MX">
                    <a:noFill/>
                  </a:rPr>
                  <a:t> </a:t>
                </a:r>
              </a:p>
            </p:txBody>
          </p:sp>
        </mc:Fallback>
      </mc:AlternateContent>
      <p:sp>
        <p:nvSpPr>
          <p:cNvPr id="15" name="CuadroTexto 14">
            <a:extLst>
              <a:ext uri="{FF2B5EF4-FFF2-40B4-BE49-F238E27FC236}">
                <a16:creationId xmlns:a16="http://schemas.microsoft.com/office/drawing/2014/main" id="{8F1CC3D8-CD18-4BF9-AC73-BB5434AD0F03}"/>
              </a:ext>
            </a:extLst>
          </p:cNvPr>
          <p:cNvSpPr txBox="1"/>
          <p:nvPr/>
        </p:nvSpPr>
        <p:spPr>
          <a:xfrm>
            <a:off x="594332" y="4488114"/>
            <a:ext cx="10958464" cy="1723549"/>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¿Cuál sería el resultado esperado?</a:t>
            </a:r>
          </a:p>
          <a:p>
            <a:pPr marL="800100" lvl="1" indent="-342900" algn="just">
              <a:buFont typeface="Arial" panose="020B0604020202020204" pitchFamily="34" charset="0"/>
              <a:buChar char="•"/>
            </a:pPr>
            <a:r>
              <a:rPr lang="es-ES" sz="2400" dirty="0">
                <a:solidFill>
                  <a:srgbClr val="131D3F"/>
                </a:solidFill>
                <a:latin typeface="Montserrat" panose="00000500000000000000" pitchFamily="2" charset="0"/>
              </a:rPr>
              <a:t>Si el ratio es mayor que 1</a:t>
            </a:r>
          </a:p>
          <a:p>
            <a:pPr marL="800100" lvl="1" indent="-342900" algn="just">
              <a:buFont typeface="Arial" panose="020B0604020202020204" pitchFamily="34" charset="0"/>
              <a:buChar char="•"/>
            </a:pPr>
            <a:r>
              <a:rPr lang="es-ES" sz="2400" dirty="0">
                <a:solidFill>
                  <a:srgbClr val="131D3F"/>
                </a:solidFill>
                <a:latin typeface="Montserrat" panose="00000500000000000000" pitchFamily="2" charset="0"/>
              </a:rPr>
              <a:t>Si el ratio es igual a 1</a:t>
            </a:r>
          </a:p>
          <a:p>
            <a:pPr marL="800100" lvl="1" indent="-342900" algn="just">
              <a:buFont typeface="Arial" panose="020B0604020202020204" pitchFamily="34" charset="0"/>
              <a:buChar char="•"/>
            </a:pPr>
            <a:r>
              <a:rPr lang="es-ES" sz="2400" dirty="0">
                <a:solidFill>
                  <a:srgbClr val="131D3F"/>
                </a:solidFill>
                <a:latin typeface="Montserrat" panose="00000500000000000000" pitchFamily="2" charset="0"/>
              </a:rPr>
              <a:t>Si el ratio es menor que 1</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4.5 </a:t>
            </a:r>
            <a:r>
              <a:rPr lang="es-ES" sz="3600" dirty="0">
                <a:solidFill>
                  <a:srgbClr val="131D3F"/>
                </a:solidFill>
                <a:latin typeface="Montserrat" panose="00000500000000000000" pitchFamily="2" charset="0"/>
              </a:rPr>
              <a:t>Análisis costo-beneficio (ACB)	</a:t>
            </a:r>
            <a:endParaRPr lang="es-ES" sz="2400" b="1" dirty="0">
              <a:solidFill>
                <a:srgbClr val="131D3F"/>
              </a:solidFill>
              <a:latin typeface="Montserrat" panose="00000500000000000000" pitchFamily="2" charset="0"/>
            </a:endParaRPr>
          </a:p>
        </p:txBody>
      </p:sp>
      <p:pic>
        <p:nvPicPr>
          <p:cNvPr id="1034" name="Picture 10" descr="Cómo tomar decisiones financieras | Blog Máster MBAMálaga">
            <a:extLst>
              <a:ext uri="{FF2B5EF4-FFF2-40B4-BE49-F238E27FC236}">
                <a16:creationId xmlns:a16="http://schemas.microsoft.com/office/drawing/2014/main" id="{DCA914A7-020E-4674-ADEC-71A9550B94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3985" y="4488114"/>
            <a:ext cx="3072041" cy="1943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87835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192</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601801"/>
            <a:ext cx="10958464" cy="4462760"/>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Costos:</a:t>
            </a:r>
          </a:p>
          <a:p>
            <a:pPr lvl="1" algn="just">
              <a:spcAft>
                <a:spcPts val="1200"/>
              </a:spcAft>
            </a:pPr>
            <a:r>
              <a:rPr lang="es-ES" sz="2400" b="1" dirty="0">
                <a:solidFill>
                  <a:srgbClr val="131D3F"/>
                </a:solidFill>
                <a:latin typeface="Montserrat" panose="00000500000000000000" pitchFamily="2" charset="0"/>
              </a:rPr>
              <a:t>Costos iniciales: </a:t>
            </a:r>
            <a:r>
              <a:rPr lang="es-ES" sz="2400" dirty="0">
                <a:solidFill>
                  <a:srgbClr val="131D3F"/>
                </a:solidFill>
                <a:latin typeface="Montserrat" panose="00000500000000000000" pitchFamily="2" charset="0"/>
              </a:rPr>
              <a:t>Son los costos que se incurren al inicio de un proyecto (infraestructura, maquinaria, administrativos, etc.).</a:t>
            </a:r>
          </a:p>
          <a:p>
            <a:pPr lvl="1" algn="just">
              <a:spcAft>
                <a:spcPts val="1200"/>
              </a:spcAft>
            </a:pPr>
            <a:r>
              <a:rPr lang="es-ES" sz="2400" b="1" dirty="0">
                <a:solidFill>
                  <a:srgbClr val="131D3F"/>
                </a:solidFill>
                <a:latin typeface="Montserrat" panose="00000500000000000000" pitchFamily="2" charset="0"/>
              </a:rPr>
              <a:t>Costos operativos: </a:t>
            </a:r>
            <a:r>
              <a:rPr lang="es-ES" sz="2400" dirty="0">
                <a:solidFill>
                  <a:srgbClr val="131D3F"/>
                </a:solidFill>
                <a:latin typeface="Montserrat" panose="00000500000000000000" pitchFamily="2" charset="0"/>
              </a:rPr>
              <a:t>Son los costos recurrentes para mantener el proyecto funcionando (salarios, materiales, mantenimiento, etc.).</a:t>
            </a:r>
          </a:p>
          <a:p>
            <a:pPr lvl="1" algn="just">
              <a:spcAft>
                <a:spcPts val="1200"/>
              </a:spcAft>
            </a:pPr>
            <a:r>
              <a:rPr lang="es-ES" sz="2400" b="1" dirty="0">
                <a:solidFill>
                  <a:srgbClr val="131D3F"/>
                </a:solidFill>
                <a:latin typeface="Montserrat" panose="00000500000000000000" pitchFamily="2" charset="0"/>
              </a:rPr>
              <a:t>Costos indirectos: </a:t>
            </a:r>
            <a:r>
              <a:rPr lang="es-ES" sz="2400" dirty="0">
                <a:solidFill>
                  <a:srgbClr val="131D3F"/>
                </a:solidFill>
                <a:latin typeface="Montserrat" panose="00000500000000000000" pitchFamily="2" charset="0"/>
              </a:rPr>
              <a:t>A veces es necesario considerar costos no directamente relacionados con el proyecto, como impactos sociales o medio ambientales.</a:t>
            </a:r>
          </a:p>
          <a:p>
            <a:pPr lvl="1" algn="just">
              <a:spcAft>
                <a:spcPts val="1200"/>
              </a:spcAft>
            </a:pPr>
            <a:r>
              <a:rPr lang="es-ES" sz="2400" b="1" dirty="0">
                <a:solidFill>
                  <a:srgbClr val="131D3F"/>
                </a:solidFill>
                <a:latin typeface="Montserrat" panose="00000500000000000000" pitchFamily="2" charset="0"/>
              </a:rPr>
              <a:t>Costos de oportunidad: </a:t>
            </a:r>
            <a:r>
              <a:rPr lang="es-ES" sz="2400" dirty="0">
                <a:solidFill>
                  <a:srgbClr val="131D3F"/>
                </a:solidFill>
                <a:latin typeface="Montserrat" panose="00000500000000000000" pitchFamily="2" charset="0"/>
              </a:rPr>
              <a:t>El valor de lo que se sacrifica al elegir un proyecto en lugar de otro.</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4.5 </a:t>
            </a:r>
            <a:r>
              <a:rPr lang="es-ES" sz="3600" dirty="0">
                <a:solidFill>
                  <a:srgbClr val="131D3F"/>
                </a:solidFill>
                <a:latin typeface="Montserrat" panose="00000500000000000000" pitchFamily="2" charset="0"/>
              </a:rPr>
              <a:t>Análisis costo-beneficio (ACB)</a:t>
            </a:r>
          </a:p>
          <a:p>
            <a:r>
              <a:rPr lang="es-ES" sz="36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Componentes del Análisis Costo-Beneficio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16426273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193</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751617"/>
            <a:ext cx="10958464" cy="3416320"/>
          </a:xfrm>
          <a:prstGeom prst="rect">
            <a:avLst/>
          </a:prstGeom>
          <a:noFill/>
        </p:spPr>
        <p:txBody>
          <a:bodyPr wrap="square">
            <a:spAutoFit/>
          </a:bodyPr>
          <a:lstStyle/>
          <a:p>
            <a:pPr algn="just">
              <a:spcAft>
                <a:spcPts val="1200"/>
              </a:spcAft>
            </a:pPr>
            <a:r>
              <a:rPr lang="es-ES" sz="2800" b="1" dirty="0">
                <a:solidFill>
                  <a:srgbClr val="131D3F"/>
                </a:solidFill>
                <a:latin typeface="Montserrat" panose="00000500000000000000" pitchFamily="2" charset="0"/>
              </a:rPr>
              <a:t>Beneficios:</a:t>
            </a:r>
          </a:p>
          <a:p>
            <a:pPr lvl="1" algn="just">
              <a:spcAft>
                <a:spcPts val="1200"/>
              </a:spcAft>
            </a:pPr>
            <a:r>
              <a:rPr lang="es-ES" sz="2400" b="1" dirty="0">
                <a:solidFill>
                  <a:srgbClr val="131D3F"/>
                </a:solidFill>
                <a:latin typeface="Montserrat" panose="00000500000000000000" pitchFamily="2" charset="0"/>
              </a:rPr>
              <a:t>Beneficios directos: </a:t>
            </a:r>
            <a:r>
              <a:rPr lang="es-ES" sz="2400" dirty="0">
                <a:solidFill>
                  <a:srgbClr val="131D3F"/>
                </a:solidFill>
                <a:latin typeface="Montserrat" panose="00000500000000000000" pitchFamily="2" charset="0"/>
              </a:rPr>
              <a:t>Estos ingresos provienen de actividades directamente relacionadas con el proyecto, por lo general, son la principal fuente de ingresos para el inversor o el operador del proyecto.</a:t>
            </a:r>
          </a:p>
          <a:p>
            <a:pPr lvl="1" algn="just">
              <a:spcAft>
                <a:spcPts val="1200"/>
              </a:spcAft>
            </a:pPr>
            <a:r>
              <a:rPr lang="es-ES" sz="2400" b="1" dirty="0">
                <a:solidFill>
                  <a:srgbClr val="131D3F"/>
                </a:solidFill>
                <a:latin typeface="Montserrat" panose="00000500000000000000" pitchFamily="2" charset="0"/>
              </a:rPr>
              <a:t>Beneficios indirectos: </a:t>
            </a:r>
            <a:r>
              <a:rPr lang="es-ES" sz="2400" dirty="0">
                <a:solidFill>
                  <a:srgbClr val="131D3F"/>
                </a:solidFill>
                <a:latin typeface="Montserrat" panose="00000500000000000000" pitchFamily="2" charset="0"/>
              </a:rPr>
              <a:t>Son aquellos que no provienen directamente de los usuarios del proyecto, pero que están relacionados con los efectos secundarios del proyecto.</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4.5 </a:t>
            </a:r>
            <a:r>
              <a:rPr lang="es-ES" sz="3600" dirty="0">
                <a:solidFill>
                  <a:srgbClr val="131D3F"/>
                </a:solidFill>
                <a:latin typeface="Montserrat" panose="00000500000000000000" pitchFamily="2" charset="0"/>
              </a:rPr>
              <a:t>Análisis costo-beneficio (ACB)</a:t>
            </a:r>
          </a:p>
          <a:p>
            <a:r>
              <a:rPr lang="es-ES" sz="36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Componentes del Análisis Costo-Beneficio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06550614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194</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725240"/>
            <a:ext cx="10958464" cy="4124206"/>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Se utiliza para evaluar diferentes alternativas de intervención o proyectos, especialmente </a:t>
            </a:r>
            <a:r>
              <a:rPr lang="es-ES" sz="2800" b="1" dirty="0">
                <a:solidFill>
                  <a:srgbClr val="131D3F"/>
                </a:solidFill>
                <a:latin typeface="Montserrat" panose="00000500000000000000" pitchFamily="2" charset="0"/>
              </a:rPr>
              <a:t>cuando los beneficios no pueden expresarse</a:t>
            </a:r>
            <a:r>
              <a:rPr lang="es-ES" sz="2800" dirty="0">
                <a:solidFill>
                  <a:srgbClr val="131D3F"/>
                </a:solidFill>
                <a:latin typeface="Montserrat" panose="00000500000000000000" pitchFamily="2" charset="0"/>
              </a:rPr>
              <a:t> </a:t>
            </a:r>
            <a:r>
              <a:rPr lang="es-ES" sz="2800" b="1" dirty="0">
                <a:solidFill>
                  <a:srgbClr val="131D3F"/>
                </a:solidFill>
                <a:latin typeface="Montserrat" panose="00000500000000000000" pitchFamily="2" charset="0"/>
              </a:rPr>
              <a:t>en términos monetarios</a:t>
            </a:r>
            <a:r>
              <a:rPr lang="es-ES" sz="2800" dirty="0">
                <a:solidFill>
                  <a:srgbClr val="131D3F"/>
                </a:solidFill>
                <a:latin typeface="Montserrat" panose="00000500000000000000" pitchFamily="2" charset="0"/>
              </a:rPr>
              <a:t>, como en el caso de proyectos de salud, educación, o medio ambiente. </a:t>
            </a:r>
          </a:p>
          <a:p>
            <a:pPr algn="just">
              <a:spcAft>
                <a:spcPts val="1200"/>
              </a:spcAft>
            </a:pPr>
            <a:r>
              <a:rPr lang="es-ES" sz="2800" dirty="0">
                <a:solidFill>
                  <a:srgbClr val="131D3F"/>
                </a:solidFill>
                <a:latin typeface="Montserrat" panose="00000500000000000000" pitchFamily="2" charset="0"/>
              </a:rPr>
              <a:t>Su objetivo principal es </a:t>
            </a:r>
            <a:r>
              <a:rPr lang="es-ES" sz="2800" u="sng" dirty="0">
                <a:solidFill>
                  <a:srgbClr val="131D3F"/>
                </a:solidFill>
                <a:latin typeface="Montserrat" panose="00000500000000000000" pitchFamily="2" charset="0"/>
              </a:rPr>
              <a:t>determinar cuál de las opciones disponibles ofrece el mejor resultado por unidad de costo</a:t>
            </a:r>
            <a:r>
              <a:rPr lang="es-ES" sz="2800" dirty="0">
                <a:solidFill>
                  <a:srgbClr val="131D3F"/>
                </a:solidFill>
                <a:latin typeface="Montserrat" panose="00000500000000000000" pitchFamily="2" charset="0"/>
              </a:rPr>
              <a:t>, sin necesariamente buscar la opción más barata, sino la que maximiza la efectividad en relación con el dinero invertido</a:t>
            </a:r>
            <a:endParaRPr lang="es-ES" sz="2400" dirty="0">
              <a:solidFill>
                <a:srgbClr val="131D3F"/>
              </a:solidFill>
              <a:latin typeface="Montserrat" panose="000005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4.6 </a:t>
            </a:r>
            <a:r>
              <a:rPr lang="es-ES" sz="3600" dirty="0">
                <a:solidFill>
                  <a:srgbClr val="131D3F"/>
                </a:solidFill>
                <a:latin typeface="Montserrat" panose="00000500000000000000" pitchFamily="2" charset="0"/>
              </a:rPr>
              <a:t>Análisis costo-efectividad (ACE)</a:t>
            </a:r>
            <a:r>
              <a:rPr lang="es-ES" sz="2400" b="1" dirty="0">
                <a:solidFill>
                  <a:srgbClr val="131D3F"/>
                </a:solidFill>
                <a:latin typeface="Montserrat" panose="00000500000000000000" pitchFamily="2" charset="0"/>
              </a:rPr>
              <a:t>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56827334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195</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725240"/>
            <a:ext cx="10958464" cy="4124206"/>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Se utiliza para evaluar diferentes alternativas de intervención o proyectos, especialmente </a:t>
            </a:r>
            <a:r>
              <a:rPr lang="es-ES" sz="2800" b="1" dirty="0">
                <a:solidFill>
                  <a:srgbClr val="131D3F"/>
                </a:solidFill>
                <a:latin typeface="Montserrat" panose="00000500000000000000" pitchFamily="2" charset="0"/>
              </a:rPr>
              <a:t>cuando los beneficios no pueden expresarse</a:t>
            </a:r>
            <a:r>
              <a:rPr lang="es-ES" sz="2800" dirty="0">
                <a:solidFill>
                  <a:srgbClr val="131D3F"/>
                </a:solidFill>
                <a:latin typeface="Montserrat" panose="00000500000000000000" pitchFamily="2" charset="0"/>
              </a:rPr>
              <a:t> </a:t>
            </a:r>
            <a:r>
              <a:rPr lang="es-ES" sz="2800" b="1" dirty="0">
                <a:solidFill>
                  <a:srgbClr val="131D3F"/>
                </a:solidFill>
                <a:latin typeface="Montserrat" panose="00000500000000000000" pitchFamily="2" charset="0"/>
              </a:rPr>
              <a:t>en términos monetarios</a:t>
            </a:r>
            <a:r>
              <a:rPr lang="es-ES" sz="2800" dirty="0">
                <a:solidFill>
                  <a:srgbClr val="131D3F"/>
                </a:solidFill>
                <a:latin typeface="Montserrat" panose="00000500000000000000" pitchFamily="2" charset="0"/>
              </a:rPr>
              <a:t>, como en el caso de proyectos de salud, educación, o medio ambiente. </a:t>
            </a:r>
          </a:p>
          <a:p>
            <a:pPr algn="just">
              <a:spcAft>
                <a:spcPts val="1200"/>
              </a:spcAft>
            </a:pPr>
            <a:r>
              <a:rPr lang="es-ES" sz="2800" dirty="0">
                <a:solidFill>
                  <a:srgbClr val="131D3F"/>
                </a:solidFill>
                <a:latin typeface="Montserrat" panose="00000500000000000000" pitchFamily="2" charset="0"/>
              </a:rPr>
              <a:t>Su objetivo principal es </a:t>
            </a:r>
            <a:r>
              <a:rPr lang="es-ES" sz="2800" u="sng" dirty="0">
                <a:solidFill>
                  <a:srgbClr val="131D3F"/>
                </a:solidFill>
                <a:latin typeface="Montserrat" panose="00000500000000000000" pitchFamily="2" charset="0"/>
              </a:rPr>
              <a:t>determinar cuál de las opciones disponibles ofrece el mejor resultado por unidad de costo</a:t>
            </a:r>
            <a:r>
              <a:rPr lang="es-ES" sz="2800" dirty="0">
                <a:solidFill>
                  <a:srgbClr val="131D3F"/>
                </a:solidFill>
                <a:latin typeface="Montserrat" panose="00000500000000000000" pitchFamily="2" charset="0"/>
              </a:rPr>
              <a:t>, sin necesariamente buscar la opción más barata, sino la que maximiza la efectividad en relación con el dinero invertido</a:t>
            </a:r>
            <a:endParaRPr lang="es-ES" sz="2400" dirty="0">
              <a:solidFill>
                <a:srgbClr val="131D3F"/>
              </a:solidFill>
              <a:latin typeface="Montserrat" panose="000005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4.6 </a:t>
            </a:r>
            <a:r>
              <a:rPr lang="es-ES" sz="3600" dirty="0">
                <a:solidFill>
                  <a:srgbClr val="131D3F"/>
                </a:solidFill>
                <a:latin typeface="Montserrat" panose="00000500000000000000" pitchFamily="2" charset="0"/>
              </a:rPr>
              <a:t>Análisis costo-efectividad (ACE)</a:t>
            </a:r>
            <a:r>
              <a:rPr lang="es-ES" sz="2400" b="1" dirty="0">
                <a:solidFill>
                  <a:srgbClr val="131D3F"/>
                </a:solidFill>
                <a:latin typeface="Montserrat" panose="00000500000000000000" pitchFamily="2" charset="0"/>
              </a:rPr>
              <a:t>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97196702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196</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2234288"/>
            <a:ext cx="10958464" cy="2677656"/>
          </a:xfrm>
          <a:prstGeom prst="rect">
            <a:avLst/>
          </a:prstGeom>
          <a:noFill/>
        </p:spPr>
        <p:txBody>
          <a:bodyPr wrap="square">
            <a:spAutoFit/>
          </a:bodyPr>
          <a:lstStyle/>
          <a:p>
            <a:pPr algn="just">
              <a:spcAft>
                <a:spcPts val="1200"/>
              </a:spcAft>
            </a:pPr>
            <a:r>
              <a:rPr lang="es-ES" sz="2800" dirty="0">
                <a:solidFill>
                  <a:srgbClr val="131D3F"/>
                </a:solidFill>
                <a:latin typeface="Montserrat" panose="00000500000000000000" pitchFamily="2" charset="0"/>
              </a:rPr>
              <a:t>A diferencia del análisis costo-beneficio (ACB), donde los beneficios se cuantifican en términos monetarios, el análisis costo-efectividad mide los resultados en unidades específicas que no necesariamente tienen valor monetario, como vidas salvadas, enfermedades prevenidas, o mejoras en la calidad de vida.</a:t>
            </a:r>
            <a:endParaRPr lang="es-ES" sz="2400" dirty="0">
              <a:solidFill>
                <a:srgbClr val="131D3F"/>
              </a:solidFill>
              <a:latin typeface="Montserrat" panose="000005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4.6 </a:t>
            </a:r>
            <a:r>
              <a:rPr lang="es-ES" sz="3600" dirty="0">
                <a:solidFill>
                  <a:srgbClr val="131D3F"/>
                </a:solidFill>
                <a:latin typeface="Montserrat" panose="00000500000000000000" pitchFamily="2" charset="0"/>
              </a:rPr>
              <a:t>Análisis costo-efectividad (ACE)</a:t>
            </a:r>
            <a:r>
              <a:rPr lang="es-ES" sz="2400" b="1" dirty="0">
                <a:solidFill>
                  <a:srgbClr val="131D3F"/>
                </a:solidFill>
                <a:latin typeface="Montserrat" panose="00000500000000000000" pitchFamily="2" charset="0"/>
              </a:rPr>
              <a:t>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42011173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197</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16768" y="1690062"/>
            <a:ext cx="10958464" cy="3477875"/>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El análisis de equilibrio financiero es un enfoque utilizado para estudiar la estabilidad y viabilidad de una empresa o entidad financiera. Su objetivo principal es evaluar si los flujos de ingresos y egresos de la empresa están balanceados de forma tal que se garantice su sostenibilidad a largo plazo.</a:t>
            </a:r>
          </a:p>
          <a:p>
            <a:pPr algn="just">
              <a:spcAft>
                <a:spcPts val="1200"/>
              </a:spcAft>
            </a:pPr>
            <a:r>
              <a:rPr lang="es-ES" sz="2000" dirty="0">
                <a:solidFill>
                  <a:srgbClr val="131D3F"/>
                </a:solidFill>
                <a:latin typeface="Montserrat" panose="00000500000000000000" pitchFamily="2" charset="0"/>
              </a:rPr>
              <a:t>Los principales componentes de este análisis incluyen: </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Equilibrio entre los ingresos y los gastos. </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Equilibrio entre activos y pasivos.</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Equilibrio en la estructura de capital. </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Equilibrio entre liquidez y rentabilidad.</a:t>
            </a:r>
          </a:p>
          <a:p>
            <a:pPr marL="800100" lvl="1" indent="-342900" algn="just">
              <a:buFont typeface="Arial" panose="020B0604020202020204" pitchFamily="34" charset="0"/>
              <a:buChar char="•"/>
            </a:pPr>
            <a:r>
              <a:rPr lang="es-ES" sz="2000" dirty="0">
                <a:solidFill>
                  <a:srgbClr val="131D3F"/>
                </a:solidFill>
                <a:latin typeface="Montserrat" panose="00000500000000000000" pitchFamily="2" charset="0"/>
              </a:rPr>
              <a:t>Equilibrio de los flujos de caja.</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4.7 </a:t>
            </a:r>
            <a:r>
              <a:rPr lang="es-ES" sz="3600" dirty="0">
                <a:solidFill>
                  <a:srgbClr val="131D3F"/>
                </a:solidFill>
                <a:latin typeface="Montserrat" panose="00000500000000000000" pitchFamily="2" charset="0"/>
              </a:rPr>
              <a:t>Análisis de Equilibrio</a:t>
            </a:r>
            <a:r>
              <a:rPr lang="es-ES" sz="2400" b="1" dirty="0">
                <a:solidFill>
                  <a:srgbClr val="131D3F"/>
                </a:solidFill>
                <a:latin typeface="Montserrat" panose="00000500000000000000" pitchFamily="2" charset="0"/>
              </a:rPr>
              <a:t>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283124393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198</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583372" y="1337786"/>
            <a:ext cx="10925759" cy="4862870"/>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Los principales componentes de este análisis incluyen: </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Equilibrio entre los ingresos y los gastos: </a:t>
            </a:r>
            <a:r>
              <a:rPr lang="es-ES" sz="2000" dirty="0">
                <a:solidFill>
                  <a:srgbClr val="131D3F"/>
                </a:solidFill>
                <a:latin typeface="Montserrat" panose="00000500000000000000" pitchFamily="2" charset="0"/>
              </a:rPr>
              <a:t>Implica que los ingresos generados por la empresa sean suficientes para cubrir todos los gastos operativos y financieros. </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Equilibrio entre activos y pasivos: </a:t>
            </a:r>
            <a:r>
              <a:rPr lang="es-ES" sz="2000" dirty="0">
                <a:solidFill>
                  <a:srgbClr val="131D3F"/>
                </a:solidFill>
                <a:latin typeface="Montserrat" panose="00000500000000000000" pitchFamily="2" charset="0"/>
              </a:rPr>
              <a:t>Evaluar la solvencia de la empresa, es decir, si tiene la capacidad de cumplir con sus obligaciones financieras a corto y largo plazo.</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Equilibrio en la estructura de capital: </a:t>
            </a:r>
            <a:r>
              <a:rPr lang="es-ES" sz="2000" dirty="0">
                <a:solidFill>
                  <a:srgbClr val="131D3F"/>
                </a:solidFill>
                <a:latin typeface="Montserrat" panose="00000500000000000000" pitchFamily="2" charset="0"/>
              </a:rPr>
              <a:t>Se refiere a la combinación de deuda y capital propio que se utiliza para financiar sus actividades. </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Equilibrio entre liquidez y rentabilidad: </a:t>
            </a:r>
            <a:r>
              <a:rPr lang="es-ES" sz="2000" dirty="0">
                <a:solidFill>
                  <a:srgbClr val="131D3F"/>
                </a:solidFill>
                <a:latin typeface="Montserrat" panose="00000500000000000000" pitchFamily="2" charset="0"/>
              </a:rPr>
              <a:t>Alta liquidez pero baja rentabilidad refleja ineficiencia en el uso de sus recursos. Alta rentabilidad pero baja liquidez representar dificultades para cubrir sus obligaciones a corto plazo.</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Equilibrio de los flujos de caja: </a:t>
            </a:r>
            <a:r>
              <a:rPr lang="es-ES" sz="2000" dirty="0">
                <a:solidFill>
                  <a:srgbClr val="131D3F"/>
                </a:solidFill>
                <a:latin typeface="Montserrat" panose="00000500000000000000" pitchFamily="2" charset="0"/>
              </a:rPr>
              <a:t>Asegurar que la empresa pueda financiar sus operaciones y cubrir sus obligaciones sin recurrir a financiamiento externo innecesario. Garantizar un flujo constante de efectivo.</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4.7 </a:t>
            </a:r>
            <a:r>
              <a:rPr lang="es-ES" sz="3600" dirty="0">
                <a:solidFill>
                  <a:srgbClr val="131D3F"/>
                </a:solidFill>
                <a:latin typeface="Montserrat" panose="00000500000000000000" pitchFamily="2" charset="0"/>
              </a:rPr>
              <a:t>Análisis de Equilibrio</a:t>
            </a:r>
            <a:r>
              <a:rPr lang="es-ES" sz="2400" b="1" dirty="0">
                <a:solidFill>
                  <a:srgbClr val="131D3F"/>
                </a:solidFill>
                <a:latin typeface="Montserrat" panose="00000500000000000000" pitchFamily="2" charset="0"/>
              </a:rPr>
              <a:t>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90371276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199</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63091" y="1382286"/>
            <a:ext cx="10925759" cy="4093428"/>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Desajustes y estrategias de corrección.</a:t>
            </a:r>
          </a:p>
          <a:p>
            <a:pPr algn="just">
              <a:spcAft>
                <a:spcPts val="1200"/>
              </a:spcAft>
            </a:pPr>
            <a:r>
              <a:rPr lang="es-ES" sz="2000" dirty="0">
                <a:solidFill>
                  <a:srgbClr val="131D3F"/>
                </a:solidFill>
                <a:latin typeface="Montserrat" panose="00000500000000000000" pitchFamily="2" charset="0"/>
              </a:rPr>
              <a:t>Cuando se presentan desajustes en el análisis de equilibrio financiero, es importante identificar las causas y diseñar estrategias para corregirlas. Algunas posibles estrategias incluyen:</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Reestructuración de deuda: </a:t>
            </a:r>
            <a:r>
              <a:rPr lang="es-ES" sz="2000" dirty="0">
                <a:solidFill>
                  <a:srgbClr val="131D3F"/>
                </a:solidFill>
                <a:latin typeface="Montserrat" panose="00000500000000000000" pitchFamily="2" charset="0"/>
              </a:rPr>
              <a:t>Renegociar con los prestamistas para reestructurar sus plazos de pago o reducir tasas de interés.</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Reducción de costos: </a:t>
            </a:r>
            <a:r>
              <a:rPr lang="es-ES" sz="2000" dirty="0">
                <a:solidFill>
                  <a:srgbClr val="131D3F"/>
                </a:solidFill>
                <a:latin typeface="Montserrat" panose="00000500000000000000" pitchFamily="2" charset="0"/>
              </a:rPr>
              <a:t>Reducir los costos fijos y variables, lo que puede mejorar la rentabilidad y el flujo de caja.</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Optimización del capital de trabajo: </a:t>
            </a:r>
            <a:r>
              <a:rPr lang="es-ES" sz="2000" dirty="0">
                <a:solidFill>
                  <a:srgbClr val="131D3F"/>
                </a:solidFill>
                <a:latin typeface="Montserrat" panose="00000500000000000000" pitchFamily="2" charset="0"/>
              </a:rPr>
              <a:t>Mejorar la gestión de inventarios, cuentas por cobrar y cuentas por pagar para garantizar una mayor liquidez.</a:t>
            </a:r>
          </a:p>
          <a:p>
            <a:pPr marL="800100" lvl="1" indent="-342900" algn="just">
              <a:buFont typeface="Arial" panose="020B0604020202020204" pitchFamily="34" charset="0"/>
              <a:buChar char="•"/>
            </a:pPr>
            <a:r>
              <a:rPr lang="es-ES" sz="2000" b="1" dirty="0">
                <a:solidFill>
                  <a:srgbClr val="131D3F"/>
                </a:solidFill>
                <a:latin typeface="Montserrat" panose="00000500000000000000" pitchFamily="2" charset="0"/>
              </a:rPr>
              <a:t>Aumento de ingresos: </a:t>
            </a:r>
            <a:r>
              <a:rPr lang="es-ES" sz="2000" dirty="0">
                <a:solidFill>
                  <a:srgbClr val="131D3F"/>
                </a:solidFill>
                <a:latin typeface="Montserrat" panose="00000500000000000000" pitchFamily="2" charset="0"/>
              </a:rPr>
              <a:t>Diversificar fuentes de ingresos o aumentar precios para generar mayores flujos de efectivo.</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4.7 </a:t>
            </a:r>
            <a:r>
              <a:rPr lang="es-ES" sz="3600" dirty="0">
                <a:solidFill>
                  <a:srgbClr val="131D3F"/>
                </a:solidFill>
                <a:latin typeface="Montserrat" panose="00000500000000000000" pitchFamily="2" charset="0"/>
              </a:rPr>
              <a:t>Análisis de Equilibrio</a:t>
            </a:r>
            <a:r>
              <a:rPr lang="es-ES" sz="2400" b="1" dirty="0">
                <a:solidFill>
                  <a:srgbClr val="131D3F"/>
                </a:solidFill>
                <a:latin typeface="Montserrat" panose="00000500000000000000" pitchFamily="2" charset="0"/>
              </a:rPr>
              <a:t>	</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61045183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200</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63091" y="2074783"/>
            <a:ext cx="10925759" cy="2708434"/>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Proceso utilizado para tomar decisiones en situaciones donde se deben considerar varios factores que afectan el rendimiento, el riesgo y otros aspectos importantes de una alternativa financiera. </a:t>
            </a:r>
          </a:p>
          <a:p>
            <a:pPr algn="just">
              <a:spcAft>
                <a:spcPts val="1200"/>
              </a:spcAft>
            </a:pPr>
            <a:r>
              <a:rPr lang="es-ES" sz="2000" dirty="0">
                <a:solidFill>
                  <a:srgbClr val="131D3F"/>
                </a:solidFill>
                <a:latin typeface="Montserrat" panose="00000500000000000000" pitchFamily="2" charset="0"/>
              </a:rPr>
              <a:t>Este tipo de análisis se utiliza para evaluar y comparar diferentes opciones de inversión, proyectos, activos, fuentes de financiamiento, entre otros, basándose en múltiples criterios, que van más allá de simples medidas de rentabilidad, y que incluyen aspectos como el </a:t>
            </a:r>
            <a:r>
              <a:rPr lang="es-ES" sz="2000" b="1" dirty="0">
                <a:solidFill>
                  <a:srgbClr val="131D3F"/>
                </a:solidFill>
                <a:latin typeface="Montserrat" panose="00000500000000000000" pitchFamily="2" charset="0"/>
              </a:rPr>
              <a:t>riesgo</a:t>
            </a:r>
            <a:r>
              <a:rPr lang="es-ES" sz="2000" dirty="0">
                <a:solidFill>
                  <a:srgbClr val="131D3F"/>
                </a:solidFill>
                <a:latin typeface="Montserrat" panose="00000500000000000000" pitchFamily="2" charset="0"/>
              </a:rPr>
              <a:t>, la </a:t>
            </a:r>
            <a:r>
              <a:rPr lang="es-ES" sz="2000" b="1" dirty="0">
                <a:solidFill>
                  <a:srgbClr val="131D3F"/>
                </a:solidFill>
                <a:latin typeface="Montserrat" panose="00000500000000000000" pitchFamily="2" charset="0"/>
              </a:rPr>
              <a:t>liquidez</a:t>
            </a:r>
            <a:r>
              <a:rPr lang="es-ES" sz="2000" dirty="0">
                <a:solidFill>
                  <a:srgbClr val="131D3F"/>
                </a:solidFill>
                <a:latin typeface="Montserrat" panose="00000500000000000000" pitchFamily="2" charset="0"/>
              </a:rPr>
              <a:t>, el </a:t>
            </a:r>
            <a:r>
              <a:rPr lang="es-ES" sz="2000" b="1" dirty="0">
                <a:solidFill>
                  <a:srgbClr val="131D3F"/>
                </a:solidFill>
                <a:latin typeface="Montserrat" panose="00000500000000000000" pitchFamily="2" charset="0"/>
              </a:rPr>
              <a:t>impacto fiscal</a:t>
            </a:r>
            <a:r>
              <a:rPr lang="es-ES" sz="2000" dirty="0">
                <a:solidFill>
                  <a:srgbClr val="131D3F"/>
                </a:solidFill>
                <a:latin typeface="Montserrat" panose="00000500000000000000" pitchFamily="2" charset="0"/>
              </a:rPr>
              <a:t>, el </a:t>
            </a:r>
            <a:r>
              <a:rPr lang="es-ES" sz="2000" b="1" dirty="0">
                <a:solidFill>
                  <a:srgbClr val="131D3F"/>
                </a:solidFill>
                <a:latin typeface="Montserrat" panose="00000500000000000000" pitchFamily="2" charset="0"/>
              </a:rPr>
              <a:t>costo de oportunidad</a:t>
            </a:r>
            <a:r>
              <a:rPr lang="es-ES" sz="2000" dirty="0">
                <a:solidFill>
                  <a:srgbClr val="131D3F"/>
                </a:solidFill>
                <a:latin typeface="Montserrat" panose="00000500000000000000" pitchFamily="2" charset="0"/>
              </a:rPr>
              <a:t>, entre otros.</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4.9 </a:t>
            </a:r>
            <a:r>
              <a:rPr lang="es-ES" sz="3600" dirty="0">
                <a:solidFill>
                  <a:srgbClr val="131D3F"/>
                </a:solidFill>
                <a:latin typeface="Montserrat" panose="00000500000000000000" pitchFamily="2" charset="0"/>
              </a:rPr>
              <a:t>Evaluación de atributos múltiples</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59908915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201</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63091" y="2090172"/>
            <a:ext cx="10925759" cy="2677656"/>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Métodos de evaluación:</a:t>
            </a:r>
          </a:p>
          <a:p>
            <a:pPr algn="just">
              <a:spcAft>
                <a:spcPts val="1200"/>
              </a:spcAft>
            </a:pPr>
            <a:r>
              <a:rPr lang="es-ES" sz="2000" b="1" dirty="0">
                <a:solidFill>
                  <a:srgbClr val="131D3F"/>
                </a:solidFill>
                <a:latin typeface="Montserrat" panose="00000500000000000000" pitchFamily="2" charset="0"/>
              </a:rPr>
              <a:t>Método de ponderación lineal: </a:t>
            </a:r>
            <a:r>
              <a:rPr lang="es-ES" sz="2000" dirty="0">
                <a:solidFill>
                  <a:srgbClr val="131D3F"/>
                </a:solidFill>
                <a:latin typeface="Montserrat" panose="00000500000000000000" pitchFamily="2" charset="0"/>
              </a:rPr>
              <a:t>Se asigna un peso a cada atributo y se multiplican los valores de los atributos de las alternativas por los pesos correspondientes. Se suman los resultados obtenidos y la alternativa con el puntaje más alto es la más preferida.</a:t>
            </a:r>
          </a:p>
          <a:p>
            <a:pPr algn="just">
              <a:spcAft>
                <a:spcPts val="1200"/>
              </a:spcAft>
            </a:pPr>
            <a:r>
              <a:rPr lang="es-ES" sz="2000" b="1" dirty="0">
                <a:solidFill>
                  <a:srgbClr val="131D3F"/>
                </a:solidFill>
                <a:latin typeface="Montserrat" panose="00000500000000000000" pitchFamily="2" charset="0"/>
              </a:rPr>
              <a:t>Métodos de optimización:</a:t>
            </a:r>
            <a:r>
              <a:rPr lang="es-ES" sz="2000" dirty="0">
                <a:solidFill>
                  <a:srgbClr val="131D3F"/>
                </a:solidFill>
                <a:latin typeface="Montserrat" panose="00000500000000000000" pitchFamily="2" charset="0"/>
              </a:rPr>
              <a:t> Se busca la mejor alternativa que maximice o minimice ciertos criterios.</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4.9 </a:t>
            </a:r>
            <a:r>
              <a:rPr lang="es-ES" sz="3600" dirty="0">
                <a:solidFill>
                  <a:srgbClr val="131D3F"/>
                </a:solidFill>
                <a:latin typeface="Montserrat" panose="00000500000000000000" pitchFamily="2" charset="0"/>
              </a:rPr>
              <a:t>Evaluación de atributos múltiples</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40940773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202</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763091" y="1911906"/>
            <a:ext cx="10925759" cy="1231106"/>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Métodos de evaluación:</a:t>
            </a:r>
          </a:p>
          <a:p>
            <a:pPr algn="just">
              <a:spcAft>
                <a:spcPts val="1200"/>
              </a:spcAft>
            </a:pPr>
            <a:r>
              <a:rPr lang="es-ES" sz="2000" dirty="0">
                <a:solidFill>
                  <a:srgbClr val="131D3F"/>
                </a:solidFill>
                <a:latin typeface="Montserrat" panose="00000500000000000000" pitchFamily="2" charset="0"/>
              </a:rPr>
              <a:t>Supongamos que una empresa quiere elegir entre tres proveedores para un servicio, y tiene los siguientes atributos para evaluar</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4.9 </a:t>
            </a:r>
            <a:r>
              <a:rPr lang="es-ES" sz="3600" dirty="0">
                <a:solidFill>
                  <a:srgbClr val="131D3F"/>
                </a:solidFill>
                <a:latin typeface="Montserrat" panose="00000500000000000000" pitchFamily="2" charset="0"/>
              </a:rPr>
              <a:t>Evaluación de atributos múltiples</a:t>
            </a:r>
            <a:endParaRPr lang="es-ES" sz="1600" b="1" dirty="0">
              <a:solidFill>
                <a:srgbClr val="131D3F"/>
              </a:solidFill>
              <a:latin typeface="Montserrat" panose="00000500000000000000" pitchFamily="2" charset="0"/>
            </a:endParaRPr>
          </a:p>
        </p:txBody>
      </p:sp>
      <p:graphicFrame>
        <p:nvGraphicFramePr>
          <p:cNvPr id="2" name="Tabla 1">
            <a:extLst>
              <a:ext uri="{FF2B5EF4-FFF2-40B4-BE49-F238E27FC236}">
                <a16:creationId xmlns:a16="http://schemas.microsoft.com/office/drawing/2014/main" id="{6ED0F5EF-9F69-4701-BBB2-ACCE91D47AC5}"/>
              </a:ext>
            </a:extLst>
          </p:cNvPr>
          <p:cNvGraphicFramePr>
            <a:graphicFrameLocks noGrp="1"/>
          </p:cNvGraphicFramePr>
          <p:nvPr>
            <p:extLst>
              <p:ext uri="{D42A27DB-BD31-4B8C-83A1-F6EECF244321}">
                <p14:modId xmlns:p14="http://schemas.microsoft.com/office/powerpoint/2010/main" val="2194567003"/>
              </p:ext>
            </p:extLst>
          </p:nvPr>
        </p:nvGraphicFramePr>
        <p:xfrm>
          <a:off x="763091" y="3554733"/>
          <a:ext cx="10925761" cy="2337956"/>
        </p:xfrm>
        <a:graphic>
          <a:graphicData uri="http://schemas.openxmlformats.org/drawingml/2006/table">
            <a:tbl>
              <a:tblPr>
                <a:tableStyleId>{5C22544A-7EE6-4342-B048-85BDC9FD1C3A}</a:tableStyleId>
              </a:tblPr>
              <a:tblGrid>
                <a:gridCol w="2726893">
                  <a:extLst>
                    <a:ext uri="{9D8B030D-6E8A-4147-A177-3AD203B41FA5}">
                      <a16:colId xmlns:a16="http://schemas.microsoft.com/office/drawing/2014/main" val="347804253"/>
                    </a:ext>
                  </a:extLst>
                </a:gridCol>
                <a:gridCol w="1408896">
                  <a:extLst>
                    <a:ext uri="{9D8B030D-6E8A-4147-A177-3AD203B41FA5}">
                      <a16:colId xmlns:a16="http://schemas.microsoft.com/office/drawing/2014/main" val="2824027567"/>
                    </a:ext>
                  </a:extLst>
                </a:gridCol>
                <a:gridCol w="1131662">
                  <a:extLst>
                    <a:ext uri="{9D8B030D-6E8A-4147-A177-3AD203B41FA5}">
                      <a16:colId xmlns:a16="http://schemas.microsoft.com/office/drawing/2014/main" val="3842842921"/>
                    </a:ext>
                  </a:extLst>
                </a:gridCol>
                <a:gridCol w="1131662">
                  <a:extLst>
                    <a:ext uri="{9D8B030D-6E8A-4147-A177-3AD203B41FA5}">
                      <a16:colId xmlns:a16="http://schemas.microsoft.com/office/drawing/2014/main" val="1744432429"/>
                    </a:ext>
                  </a:extLst>
                </a:gridCol>
                <a:gridCol w="1131662">
                  <a:extLst>
                    <a:ext uri="{9D8B030D-6E8A-4147-A177-3AD203B41FA5}">
                      <a16:colId xmlns:a16="http://schemas.microsoft.com/office/drawing/2014/main" val="983523450"/>
                    </a:ext>
                  </a:extLst>
                </a:gridCol>
                <a:gridCol w="1131662">
                  <a:extLst>
                    <a:ext uri="{9D8B030D-6E8A-4147-A177-3AD203B41FA5}">
                      <a16:colId xmlns:a16="http://schemas.microsoft.com/office/drawing/2014/main" val="149775861"/>
                    </a:ext>
                  </a:extLst>
                </a:gridCol>
                <a:gridCol w="1131662">
                  <a:extLst>
                    <a:ext uri="{9D8B030D-6E8A-4147-A177-3AD203B41FA5}">
                      <a16:colId xmlns:a16="http://schemas.microsoft.com/office/drawing/2014/main" val="552279032"/>
                    </a:ext>
                  </a:extLst>
                </a:gridCol>
                <a:gridCol w="1131662">
                  <a:extLst>
                    <a:ext uri="{9D8B030D-6E8A-4147-A177-3AD203B41FA5}">
                      <a16:colId xmlns:a16="http://schemas.microsoft.com/office/drawing/2014/main" val="926814558"/>
                    </a:ext>
                  </a:extLst>
                </a:gridCol>
              </a:tblGrid>
              <a:tr h="253112">
                <a:tc rowSpan="2">
                  <a:txBody>
                    <a:bodyPr/>
                    <a:lstStyle/>
                    <a:p>
                      <a:pPr algn="ctr" fontAlgn="ctr"/>
                      <a:r>
                        <a:rPr lang="es-MX" sz="1600" b="1" u="none" strike="noStrike" dirty="0">
                          <a:effectLst/>
                          <a:latin typeface="Montserrat" panose="00000500000000000000" pitchFamily="2" charset="0"/>
                        </a:rPr>
                        <a:t>Criterios</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r>
                        <a:rPr lang="es-MX" sz="1600" b="1" u="none" strike="noStrike" dirty="0">
                          <a:effectLst/>
                          <a:latin typeface="Montserrat" panose="00000500000000000000" pitchFamily="2" charset="0"/>
                        </a:rPr>
                        <a:t>Ponderación</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ctr"/>
                      <a:r>
                        <a:rPr lang="es-MX" sz="1600" b="1" u="none" strike="noStrike" dirty="0">
                          <a:effectLst/>
                          <a:latin typeface="Montserrat" panose="00000500000000000000" pitchFamily="2" charset="0"/>
                        </a:rPr>
                        <a:t>Proveedor 1</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MX"/>
                    </a:p>
                  </a:txBody>
                  <a:tcPr/>
                </a:tc>
                <a:tc gridSpan="2">
                  <a:txBody>
                    <a:bodyPr/>
                    <a:lstStyle/>
                    <a:p>
                      <a:pPr algn="ctr" fontAlgn="ctr"/>
                      <a:r>
                        <a:rPr lang="es-MX" sz="1600" b="1" u="none" strike="noStrike" dirty="0">
                          <a:effectLst/>
                          <a:latin typeface="Montserrat" panose="00000500000000000000" pitchFamily="2" charset="0"/>
                        </a:rPr>
                        <a:t>Proveedor 2</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MX"/>
                    </a:p>
                  </a:txBody>
                  <a:tcPr/>
                </a:tc>
                <a:tc gridSpan="2">
                  <a:txBody>
                    <a:bodyPr/>
                    <a:lstStyle/>
                    <a:p>
                      <a:pPr algn="ctr" fontAlgn="ctr"/>
                      <a:r>
                        <a:rPr lang="es-MX" sz="1600" b="1" u="none" strike="noStrike" dirty="0">
                          <a:effectLst/>
                          <a:latin typeface="Montserrat" panose="00000500000000000000" pitchFamily="2" charset="0"/>
                        </a:rPr>
                        <a:t>Proveedor 3</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MX"/>
                    </a:p>
                  </a:txBody>
                  <a:tcPr/>
                </a:tc>
                <a:extLst>
                  <a:ext uri="{0D108BD9-81ED-4DB2-BD59-A6C34878D82A}">
                    <a16:rowId xmlns:a16="http://schemas.microsoft.com/office/drawing/2014/main" val="1547049136"/>
                  </a:ext>
                </a:extLst>
              </a:tr>
              <a:tr h="253112">
                <a:tc vMerge="1">
                  <a:txBody>
                    <a:bodyPr/>
                    <a:lstStyle/>
                    <a:p>
                      <a:endParaRPr lang="es-MX"/>
                    </a:p>
                  </a:txBody>
                  <a:tcPr/>
                </a:tc>
                <a:tc vMerge="1">
                  <a:txBody>
                    <a:bodyPr/>
                    <a:lstStyle/>
                    <a:p>
                      <a:endParaRPr lang="es-MX"/>
                    </a:p>
                  </a:txBody>
                  <a:tcPr/>
                </a:tc>
                <a:tc>
                  <a:txBody>
                    <a:bodyPr/>
                    <a:lstStyle/>
                    <a:p>
                      <a:pPr algn="ctr" fontAlgn="ctr"/>
                      <a:r>
                        <a:rPr lang="es-ES" sz="1200" b="1" i="0" u="none" strike="noStrike" dirty="0">
                          <a:solidFill>
                            <a:srgbClr val="000000"/>
                          </a:solidFill>
                          <a:effectLst/>
                          <a:latin typeface="Montserrat" panose="00000500000000000000" pitchFamily="2" charset="0"/>
                        </a:rPr>
                        <a:t>C</a:t>
                      </a:r>
                      <a:r>
                        <a:rPr lang="es-MX" sz="1200" b="1" i="0" u="none" strike="noStrike" dirty="0" err="1">
                          <a:solidFill>
                            <a:srgbClr val="000000"/>
                          </a:solidFill>
                          <a:effectLst/>
                          <a:latin typeface="Montserrat" panose="00000500000000000000" pitchFamily="2" charset="0"/>
                        </a:rPr>
                        <a:t>alificación</a:t>
                      </a:r>
                      <a:endParaRPr lang="es-MX" sz="12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200" b="1" u="none" strike="noStrike" dirty="0">
                          <a:effectLst/>
                          <a:latin typeface="Montserrat" panose="00000500000000000000" pitchFamily="2" charset="0"/>
                        </a:rPr>
                        <a:t>Evaluación</a:t>
                      </a:r>
                      <a:endParaRPr lang="es-MX" sz="12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C</a:t>
                      </a:r>
                      <a:r>
                        <a:rPr kumimoji="0" lang="es-MX" sz="1200" b="1"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alificación</a:t>
                      </a:r>
                      <a:endParaRPr kumimoji="0" lang="es-MX" sz="12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200" b="1" u="none" strike="noStrike" dirty="0">
                          <a:effectLst/>
                          <a:latin typeface="Montserrat" panose="00000500000000000000" pitchFamily="2" charset="0"/>
                        </a:rPr>
                        <a:t>Evaluación</a:t>
                      </a:r>
                      <a:endParaRPr lang="es-MX" sz="12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rPr>
                        <a:t>C</a:t>
                      </a:r>
                      <a:r>
                        <a:rPr kumimoji="0" lang="es-MX" sz="1200" b="1" i="0" u="none" strike="noStrike" kern="1200" cap="none" spc="0" normalizeH="0" baseline="0" noProof="0" dirty="0" err="1">
                          <a:ln>
                            <a:noFill/>
                          </a:ln>
                          <a:solidFill>
                            <a:srgbClr val="000000"/>
                          </a:solidFill>
                          <a:effectLst/>
                          <a:uLnTx/>
                          <a:uFillTx/>
                          <a:latin typeface="Montserrat" panose="00000500000000000000" pitchFamily="2" charset="0"/>
                          <a:ea typeface="+mn-ea"/>
                          <a:cs typeface="+mn-cs"/>
                        </a:rPr>
                        <a:t>alificación</a:t>
                      </a:r>
                      <a:endParaRPr kumimoji="0" lang="es-MX" sz="1200" b="1" i="0" u="none" strike="noStrike" kern="1200" cap="none" spc="0" normalizeH="0" baseline="0" noProof="0" dirty="0">
                        <a:ln>
                          <a:noFill/>
                        </a:ln>
                        <a:solidFill>
                          <a:srgbClr val="000000"/>
                        </a:solidFill>
                        <a:effectLst/>
                        <a:uLnTx/>
                        <a:uFillTx/>
                        <a:latin typeface="Montserrat" panose="00000500000000000000" pitchFamily="2" charset="0"/>
                        <a:ea typeface="+mn-ea"/>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200" b="1" u="none" strike="noStrike" dirty="0">
                          <a:effectLst/>
                          <a:latin typeface="Montserrat" panose="00000500000000000000" pitchFamily="2" charset="0"/>
                        </a:rPr>
                        <a:t>Evaluación</a:t>
                      </a:r>
                      <a:endParaRPr lang="es-MX" sz="12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2640313"/>
                  </a:ext>
                </a:extLst>
              </a:tr>
              <a:tr h="334108">
                <a:tc>
                  <a:txBody>
                    <a:bodyPr/>
                    <a:lstStyle/>
                    <a:p>
                      <a:pPr algn="l" fontAlgn="ctr"/>
                      <a:r>
                        <a:rPr lang="es-MX" sz="1600" b="1" u="none" strike="noStrike" dirty="0">
                          <a:effectLst/>
                          <a:latin typeface="Montserrat" panose="00000500000000000000" pitchFamily="2" charset="0"/>
                        </a:rPr>
                        <a:t>Precio</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30%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8</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2.40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6</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1.80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9</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2.70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0617252"/>
                  </a:ext>
                </a:extLst>
              </a:tr>
              <a:tr h="334108">
                <a:tc>
                  <a:txBody>
                    <a:bodyPr/>
                    <a:lstStyle/>
                    <a:p>
                      <a:pPr algn="l" fontAlgn="ctr"/>
                      <a:r>
                        <a:rPr lang="es-MX" sz="1600" b="1" u="none" strike="noStrike" dirty="0">
                          <a:effectLst/>
                          <a:latin typeface="Montserrat" panose="00000500000000000000" pitchFamily="2" charset="0"/>
                        </a:rPr>
                        <a:t>Calidad</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40%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2.80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8</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3.20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2.00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4069340"/>
                  </a:ext>
                </a:extLst>
              </a:tr>
              <a:tr h="334108">
                <a:tc>
                  <a:txBody>
                    <a:bodyPr/>
                    <a:lstStyle/>
                    <a:p>
                      <a:pPr algn="l" fontAlgn="ctr"/>
                      <a:r>
                        <a:rPr lang="es-MX" sz="1600" b="1" u="none" strike="noStrike" dirty="0">
                          <a:effectLst/>
                          <a:latin typeface="Montserrat" panose="00000500000000000000" pitchFamily="2" charset="0"/>
                        </a:rPr>
                        <a:t>Tiempo de Entrega</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20%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5</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1.00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1.40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7</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1.40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2509736"/>
                  </a:ext>
                </a:extLst>
              </a:tr>
              <a:tr h="334108">
                <a:tc>
                  <a:txBody>
                    <a:bodyPr/>
                    <a:lstStyle/>
                    <a:p>
                      <a:pPr algn="l" fontAlgn="ctr"/>
                      <a:r>
                        <a:rPr lang="es-MX" sz="1600" b="1" u="none" strike="noStrike" dirty="0">
                          <a:effectLst/>
                          <a:latin typeface="Montserrat" panose="00000500000000000000" pitchFamily="2" charset="0"/>
                        </a:rPr>
                        <a:t>Reputación del Proveedor</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10%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9</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0.90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9</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0.90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6</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u="none" strike="noStrike">
                          <a:effectLst/>
                          <a:latin typeface="Montserrat" panose="00000500000000000000" pitchFamily="2" charset="0"/>
                        </a:rPr>
                        <a:t>0.60</a:t>
                      </a:r>
                      <a:endParaRPr lang="es-MX" sz="1600" b="0" i="0" u="none" strike="noStrike">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357232"/>
                  </a:ext>
                </a:extLst>
              </a:tr>
              <a:tr h="334108">
                <a:tc>
                  <a:txBody>
                    <a:bodyPr/>
                    <a:lstStyle/>
                    <a:p>
                      <a:pPr algn="l" fontAlgn="ctr"/>
                      <a:r>
                        <a:rPr lang="es-MX" sz="1600" b="1" u="none" strike="noStrike" dirty="0">
                          <a:effectLst/>
                          <a:latin typeface="Montserrat" panose="00000500000000000000" pitchFamily="2" charset="0"/>
                        </a:rPr>
                        <a:t>Total</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100%</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7.10</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7.30</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s-MX" sz="1600" b="1" u="none" strike="noStrike" dirty="0">
                          <a:effectLst/>
                          <a:latin typeface="Montserrat" panose="00000500000000000000" pitchFamily="2" charset="0"/>
                        </a:rPr>
                        <a:t>6.70</a:t>
                      </a:r>
                      <a:endParaRPr lang="es-MX" sz="1600" b="1" i="0" u="none" strike="noStrike" dirty="0">
                        <a:solidFill>
                          <a:srgbClr val="000000"/>
                        </a:solidFill>
                        <a:effectLst/>
                        <a:latin typeface="Montserrat" panose="00000500000000000000" pitchFamily="2"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077882"/>
                  </a:ext>
                </a:extLst>
              </a:tr>
            </a:tbl>
          </a:graphicData>
        </a:graphic>
      </p:graphicFrame>
    </p:spTree>
    <p:extLst>
      <p:ext uri="{BB962C8B-B14F-4D97-AF65-F5344CB8AC3E}">
        <p14:creationId xmlns:p14="http://schemas.microsoft.com/office/powerpoint/2010/main" val="218052290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203</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33120" y="1513855"/>
            <a:ext cx="10925759" cy="4893647"/>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El análisis de optimización es un proceso que busca encontrar la mejor solución posible a un problema bajo ciertas condiciones o restricciones. </a:t>
            </a:r>
          </a:p>
          <a:p>
            <a:pPr lvl="1" algn="just">
              <a:spcAft>
                <a:spcPts val="1200"/>
              </a:spcAft>
            </a:pPr>
            <a:r>
              <a:rPr lang="es-ES" sz="2000" b="1" dirty="0">
                <a:solidFill>
                  <a:srgbClr val="131D3F"/>
                </a:solidFill>
                <a:latin typeface="Montserrat" panose="00000500000000000000" pitchFamily="2" charset="0"/>
              </a:rPr>
              <a:t>Función objetivo: </a:t>
            </a:r>
            <a:r>
              <a:rPr lang="es-ES" sz="2000" dirty="0">
                <a:solidFill>
                  <a:srgbClr val="131D3F"/>
                </a:solidFill>
                <a:latin typeface="Montserrat" panose="00000500000000000000" pitchFamily="2" charset="0"/>
              </a:rPr>
              <a:t>Es la función que se desea maximizar o minimizar. Por ejemplo, la rentabilidad de una empresa (maximización) o los costos de producción (minimización).</a:t>
            </a:r>
          </a:p>
          <a:p>
            <a:pPr lvl="1" algn="just">
              <a:spcAft>
                <a:spcPts val="1200"/>
              </a:spcAft>
            </a:pPr>
            <a:r>
              <a:rPr lang="es-ES" sz="2000" b="1" dirty="0">
                <a:solidFill>
                  <a:srgbClr val="131D3F"/>
                </a:solidFill>
                <a:latin typeface="Montserrat" panose="00000500000000000000" pitchFamily="2" charset="0"/>
              </a:rPr>
              <a:t>Restricciones: </a:t>
            </a:r>
            <a:r>
              <a:rPr lang="es-ES" sz="2000" dirty="0">
                <a:solidFill>
                  <a:srgbClr val="131D3F"/>
                </a:solidFill>
                <a:latin typeface="Montserrat" panose="00000500000000000000" pitchFamily="2" charset="0"/>
              </a:rPr>
              <a:t>Condiciones que deben cumplirse en el problema y que limitan las soluciones posibles. Por ejemplo el </a:t>
            </a:r>
            <a:r>
              <a:rPr lang="es-ES" sz="2000" u="sng" dirty="0">
                <a:solidFill>
                  <a:srgbClr val="131D3F"/>
                </a:solidFill>
                <a:latin typeface="Montserrat" panose="00000500000000000000" pitchFamily="2" charset="0"/>
              </a:rPr>
              <a:t>presupuesto disponible</a:t>
            </a:r>
            <a:r>
              <a:rPr lang="es-ES" sz="2000" dirty="0">
                <a:solidFill>
                  <a:srgbClr val="131D3F"/>
                </a:solidFill>
                <a:latin typeface="Montserrat" panose="00000500000000000000" pitchFamily="2" charset="0"/>
              </a:rPr>
              <a:t>, la </a:t>
            </a:r>
            <a:r>
              <a:rPr lang="es-ES" sz="2000" u="sng" dirty="0">
                <a:solidFill>
                  <a:srgbClr val="131D3F"/>
                </a:solidFill>
                <a:latin typeface="Montserrat" panose="00000500000000000000" pitchFamily="2" charset="0"/>
              </a:rPr>
              <a:t>cantidad de recursos</a:t>
            </a:r>
            <a:r>
              <a:rPr lang="es-ES" sz="2000" dirty="0">
                <a:solidFill>
                  <a:srgbClr val="131D3F"/>
                </a:solidFill>
                <a:latin typeface="Montserrat" panose="00000500000000000000" pitchFamily="2" charset="0"/>
              </a:rPr>
              <a:t>, las </a:t>
            </a:r>
            <a:r>
              <a:rPr lang="es-ES" sz="2000" u="sng" dirty="0">
                <a:solidFill>
                  <a:srgbClr val="131D3F"/>
                </a:solidFill>
                <a:latin typeface="Montserrat" panose="00000500000000000000" pitchFamily="2" charset="0"/>
              </a:rPr>
              <a:t>capacidades de producción</a:t>
            </a:r>
            <a:r>
              <a:rPr lang="es-ES" sz="2000" dirty="0">
                <a:solidFill>
                  <a:srgbClr val="131D3F"/>
                </a:solidFill>
                <a:latin typeface="Montserrat" panose="00000500000000000000" pitchFamily="2" charset="0"/>
              </a:rPr>
              <a:t>, etc.</a:t>
            </a:r>
          </a:p>
          <a:p>
            <a:pPr lvl="1" algn="just">
              <a:spcAft>
                <a:spcPts val="1200"/>
              </a:spcAft>
            </a:pPr>
            <a:r>
              <a:rPr lang="es-ES" sz="2000" b="1" dirty="0">
                <a:solidFill>
                  <a:srgbClr val="131D3F"/>
                </a:solidFill>
                <a:latin typeface="Montserrat" panose="00000500000000000000" pitchFamily="2" charset="0"/>
              </a:rPr>
              <a:t>Variables de decisión: </a:t>
            </a:r>
            <a:r>
              <a:rPr lang="es-ES" sz="2000" dirty="0">
                <a:solidFill>
                  <a:srgbClr val="131D3F"/>
                </a:solidFill>
                <a:latin typeface="Montserrat" panose="00000500000000000000" pitchFamily="2" charset="0"/>
              </a:rPr>
              <a:t>Se ajustan para obtener la solución óptima. Determinan el valor de la función objetivo y  deben satisfacer las restricciones.</a:t>
            </a:r>
          </a:p>
          <a:p>
            <a:pPr lvl="1" algn="just">
              <a:spcAft>
                <a:spcPts val="1200"/>
              </a:spcAft>
            </a:pPr>
            <a:r>
              <a:rPr lang="es-ES" sz="2000" b="1" dirty="0">
                <a:solidFill>
                  <a:srgbClr val="131D3F"/>
                </a:solidFill>
                <a:latin typeface="Montserrat" panose="00000500000000000000" pitchFamily="2" charset="0"/>
              </a:rPr>
              <a:t>Espacio de soluciones: </a:t>
            </a:r>
            <a:r>
              <a:rPr lang="es-ES" sz="2000" dirty="0">
                <a:solidFill>
                  <a:srgbClr val="131D3F"/>
                </a:solidFill>
                <a:latin typeface="Montserrat" panose="00000500000000000000" pitchFamily="2" charset="0"/>
              </a:rPr>
              <a:t>el conjunto de todas las soluciones posibles que cumplen con las restricciones.</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4.10 </a:t>
            </a:r>
            <a:r>
              <a:rPr lang="es-ES" sz="3600" dirty="0">
                <a:solidFill>
                  <a:srgbClr val="131D3F"/>
                </a:solidFill>
                <a:latin typeface="Montserrat" panose="00000500000000000000" pitchFamily="2" charset="0"/>
              </a:rPr>
              <a:t>Análisis de Optimización</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74676393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4E6811-CD3B-4BD4-A112-A84D7B77139E}"/>
              </a:ext>
            </a:extLst>
          </p:cNvPr>
          <p:cNvSpPr>
            <a:spLocks noGrp="1"/>
          </p:cNvSpPr>
          <p:nvPr>
            <p:ph type="title"/>
          </p:nvPr>
        </p:nvSpPr>
        <p:spPr>
          <a:xfrm>
            <a:off x="836378" y="436676"/>
            <a:ext cx="10515600" cy="840219"/>
          </a:xfrm>
        </p:spPr>
        <p:txBody>
          <a:bodyPr>
            <a:normAutofit/>
          </a:bodyPr>
          <a:lstStyle/>
          <a:p>
            <a:pPr algn="ctr"/>
            <a:r>
              <a:rPr lang="es-ES" sz="4800" b="1" dirty="0">
                <a:latin typeface="Montserrat" panose="00000500000000000000" pitchFamily="2" charset="0"/>
              </a:rPr>
              <a:t>Clase 15° </a:t>
            </a:r>
            <a:endParaRPr lang="es-MX" sz="4800" b="1" dirty="0">
              <a:latin typeface="Montserrat" panose="00000500000000000000" pitchFamily="2" charset="0"/>
            </a:endParaRPr>
          </a:p>
        </p:txBody>
      </p:sp>
      <p:sp>
        <p:nvSpPr>
          <p:cNvPr id="5" name="Título 1">
            <a:extLst>
              <a:ext uri="{FF2B5EF4-FFF2-40B4-BE49-F238E27FC236}">
                <a16:creationId xmlns:a16="http://schemas.microsoft.com/office/drawing/2014/main" id="{30DEABA0-4FA1-4A18-85B8-FF641C13E857}"/>
              </a:ext>
            </a:extLst>
          </p:cNvPr>
          <p:cNvSpPr txBox="1">
            <a:spLocks/>
          </p:cNvSpPr>
          <p:nvPr/>
        </p:nvSpPr>
        <p:spPr>
          <a:xfrm>
            <a:off x="836378" y="1276895"/>
            <a:ext cx="10515600" cy="9711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s-ES" sz="4800" b="1" dirty="0">
                <a:latin typeface="Montserrat" panose="00000500000000000000" pitchFamily="2" charset="0"/>
              </a:rPr>
              <a:t>5</a:t>
            </a:r>
            <a:r>
              <a:rPr lang="es-ES" sz="4800" dirty="0">
                <a:latin typeface="Montserrat" panose="00000500000000000000" pitchFamily="2" charset="0"/>
              </a:rPr>
              <a:t> </a:t>
            </a:r>
            <a:r>
              <a:rPr lang="es-ES" sz="4800" b="1" dirty="0">
                <a:latin typeface="Montserrat" panose="00000500000000000000" pitchFamily="2" charset="0"/>
              </a:rPr>
              <a:t>Consideraciones prácticas</a:t>
            </a:r>
          </a:p>
        </p:txBody>
      </p:sp>
      <p:sp>
        <p:nvSpPr>
          <p:cNvPr id="6" name="Título 1">
            <a:extLst>
              <a:ext uri="{FF2B5EF4-FFF2-40B4-BE49-F238E27FC236}">
                <a16:creationId xmlns:a16="http://schemas.microsoft.com/office/drawing/2014/main" id="{66C66E69-2A28-4F50-B5FA-82AF4648F2D7}"/>
              </a:ext>
            </a:extLst>
          </p:cNvPr>
          <p:cNvSpPr txBox="1">
            <a:spLocks/>
          </p:cNvSpPr>
          <p:nvPr/>
        </p:nvSpPr>
        <p:spPr>
          <a:xfrm>
            <a:off x="6094178" y="6246183"/>
            <a:ext cx="4423063" cy="463405"/>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dirty="0">
                <a:latin typeface="Montserrat" panose="00000500000000000000" pitchFamily="2" charset="0"/>
              </a:rPr>
              <a:t>22 de noviembre de 2024</a:t>
            </a:r>
            <a:endParaRPr lang="es-MX" sz="4800" dirty="0">
              <a:latin typeface="Montserrat" panose="00000500000000000000" pitchFamily="2" charset="0"/>
            </a:endParaRPr>
          </a:p>
        </p:txBody>
      </p:sp>
      <p:sp>
        <p:nvSpPr>
          <p:cNvPr id="7" name="Título 1">
            <a:extLst>
              <a:ext uri="{FF2B5EF4-FFF2-40B4-BE49-F238E27FC236}">
                <a16:creationId xmlns:a16="http://schemas.microsoft.com/office/drawing/2014/main" id="{17A203F3-6E19-417B-BF09-4B7D57FBF745}"/>
              </a:ext>
            </a:extLst>
          </p:cNvPr>
          <p:cNvSpPr txBox="1">
            <a:spLocks/>
          </p:cNvSpPr>
          <p:nvPr/>
        </p:nvSpPr>
        <p:spPr>
          <a:xfrm>
            <a:off x="754144" y="2293658"/>
            <a:ext cx="10897528" cy="272674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0000">
              <a:lnSpc>
                <a:spcPct val="100000"/>
              </a:lnSpc>
              <a:spcAft>
                <a:spcPts val="1200"/>
              </a:spcAft>
            </a:pPr>
            <a:r>
              <a:rPr lang="es-ES" sz="3600" b="1" dirty="0">
                <a:latin typeface="Montserrat" panose="00000500000000000000" pitchFamily="2" charset="0"/>
              </a:rPr>
              <a:t>5.1 El principio de lo bueno es suficiente.</a:t>
            </a:r>
          </a:p>
          <a:p>
            <a:pPr marL="720000">
              <a:lnSpc>
                <a:spcPct val="100000"/>
              </a:lnSpc>
              <a:spcAft>
                <a:spcPts val="1200"/>
              </a:spcAft>
            </a:pPr>
            <a:r>
              <a:rPr lang="es-ES" sz="3600" b="1" dirty="0">
                <a:latin typeface="Montserrat" panose="00000500000000000000" pitchFamily="2" charset="0"/>
              </a:rPr>
              <a:t>5.2 Economía libre de ficción.</a:t>
            </a:r>
          </a:p>
          <a:p>
            <a:pPr marL="720000">
              <a:lnSpc>
                <a:spcPct val="100000"/>
              </a:lnSpc>
              <a:spcAft>
                <a:spcPts val="1200"/>
              </a:spcAft>
            </a:pPr>
            <a:r>
              <a:rPr lang="es-ES" sz="3600" b="1" dirty="0">
                <a:latin typeface="Montserrat" panose="00000500000000000000" pitchFamily="2" charset="0"/>
              </a:rPr>
              <a:t>5.3 Ecosistemas.</a:t>
            </a:r>
          </a:p>
          <a:p>
            <a:pPr marL="720000">
              <a:lnSpc>
                <a:spcPct val="100000"/>
              </a:lnSpc>
              <a:spcAft>
                <a:spcPts val="1200"/>
              </a:spcAft>
            </a:pPr>
            <a:r>
              <a:rPr lang="es-ES" sz="3600" b="1" dirty="0">
                <a:latin typeface="Montserrat" panose="00000500000000000000" pitchFamily="2" charset="0"/>
              </a:rPr>
              <a:t>5.4 </a:t>
            </a:r>
            <a:r>
              <a:rPr lang="es-ES" sz="3600" b="1" dirty="0" err="1">
                <a:latin typeface="Montserrat" panose="00000500000000000000" pitchFamily="2" charset="0"/>
              </a:rPr>
              <a:t>Offshoring</a:t>
            </a:r>
            <a:r>
              <a:rPr lang="es-ES" sz="3600" b="1" dirty="0">
                <a:latin typeface="Montserrat" panose="00000500000000000000" pitchFamily="2" charset="0"/>
              </a:rPr>
              <a:t> y outsourcing.</a:t>
            </a:r>
          </a:p>
        </p:txBody>
      </p:sp>
    </p:spTree>
    <p:extLst>
      <p:ext uri="{BB962C8B-B14F-4D97-AF65-F5344CB8AC3E}">
        <p14:creationId xmlns:p14="http://schemas.microsoft.com/office/powerpoint/2010/main" val="274910881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205</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33120" y="2117171"/>
            <a:ext cx="10925759" cy="3200876"/>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El principio de lo bueno es suficiente (también conocido como el principio de suficiencia o principio de la suficiencia práctica) se refiere a la idea de que no es necesario alcanzar la perfección, sino que es suficiente con alcanzar una solución que sea </a:t>
            </a:r>
            <a:r>
              <a:rPr lang="es-ES" sz="2400" b="1" dirty="0">
                <a:solidFill>
                  <a:srgbClr val="131D3F"/>
                </a:solidFill>
                <a:latin typeface="Montserrat" panose="00000500000000000000" pitchFamily="2" charset="0"/>
              </a:rPr>
              <a:t>"lo suficientemente bueno" </a:t>
            </a:r>
            <a:r>
              <a:rPr lang="es-ES" sz="2400" dirty="0">
                <a:solidFill>
                  <a:srgbClr val="131D3F"/>
                </a:solidFill>
                <a:latin typeface="Montserrat" panose="00000500000000000000" pitchFamily="2" charset="0"/>
              </a:rPr>
              <a:t>para cumplir con los objetivos establecidos o satisfacer las necesidades del momento. </a:t>
            </a:r>
          </a:p>
          <a:p>
            <a:pPr algn="just">
              <a:spcAft>
                <a:spcPts val="1200"/>
              </a:spcAft>
            </a:pPr>
            <a:r>
              <a:rPr lang="es-ES" sz="2400" dirty="0">
                <a:solidFill>
                  <a:srgbClr val="131D3F"/>
                </a:solidFill>
                <a:latin typeface="Montserrat" panose="00000500000000000000" pitchFamily="2" charset="0"/>
              </a:rPr>
              <a:t>En lugar de buscar una solución ideal o perfecta, se busca </a:t>
            </a:r>
            <a:r>
              <a:rPr lang="es-ES" sz="2400" b="1" dirty="0">
                <a:solidFill>
                  <a:srgbClr val="131D3F"/>
                </a:solidFill>
                <a:latin typeface="Montserrat" panose="00000500000000000000" pitchFamily="2" charset="0"/>
              </a:rPr>
              <a:t>una solución que sea satisfactoria.</a:t>
            </a:r>
            <a:endParaRPr lang="es-ES" sz="2000" dirty="0">
              <a:solidFill>
                <a:srgbClr val="131D3F"/>
              </a:solidFill>
              <a:latin typeface="Montserrat" panose="000005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5.1 </a:t>
            </a:r>
            <a:r>
              <a:rPr lang="es-ES" sz="3600" dirty="0">
                <a:solidFill>
                  <a:srgbClr val="131D3F"/>
                </a:solidFill>
                <a:latin typeface="Montserrat" panose="00000500000000000000" pitchFamily="2" charset="0"/>
              </a:rPr>
              <a:t>El principio de lo bueno es suficiente.</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88547355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206</a:t>
            </a:fld>
            <a:endParaRPr lang="es-MX" sz="1800" b="1" dirty="0">
              <a:solidFill>
                <a:srgbClr val="BA955B"/>
              </a:solidFill>
              <a:latin typeface="Montserrat SemiBold" panose="00000700000000000000" pitchFamily="2" charset="0"/>
            </a:endParaRPr>
          </a:p>
        </p:txBody>
      </p:sp>
      <p:sp>
        <p:nvSpPr>
          <p:cNvPr id="11" name="CuadroTexto 10">
            <a:extLst>
              <a:ext uri="{FF2B5EF4-FFF2-40B4-BE49-F238E27FC236}">
                <a16:creationId xmlns:a16="http://schemas.microsoft.com/office/drawing/2014/main" id="{E922A490-CA2C-4455-BCAB-C3C72968012B}"/>
              </a:ext>
            </a:extLst>
          </p:cNvPr>
          <p:cNvSpPr txBox="1"/>
          <p:nvPr/>
        </p:nvSpPr>
        <p:spPr>
          <a:xfrm>
            <a:off x="633120" y="1780457"/>
            <a:ext cx="10925759" cy="4154984"/>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Aplicación del principio de lo bueno es suficiente</a:t>
            </a:r>
          </a:p>
          <a:p>
            <a:pPr algn="just">
              <a:spcAft>
                <a:spcPts val="1200"/>
              </a:spcAft>
            </a:pPr>
            <a:r>
              <a:rPr lang="es-ES" sz="2200" b="1" dirty="0">
                <a:solidFill>
                  <a:srgbClr val="131D3F"/>
                </a:solidFill>
                <a:latin typeface="Montserrat" panose="00000500000000000000" pitchFamily="2" charset="0"/>
              </a:rPr>
              <a:t>Minimización de costos:</a:t>
            </a:r>
            <a:r>
              <a:rPr lang="es-ES" sz="2200" dirty="0">
                <a:solidFill>
                  <a:srgbClr val="131D3F"/>
                </a:solidFill>
                <a:latin typeface="Montserrat" panose="00000500000000000000" pitchFamily="2" charset="0"/>
              </a:rPr>
              <a:t> Cuando se diseñan productos o servicios, no siempre buscan la perfección o el producto de la más alta calidad, sino que lo suficiente para </a:t>
            </a:r>
            <a:r>
              <a:rPr lang="es-ES" sz="2200" b="1" dirty="0">
                <a:solidFill>
                  <a:srgbClr val="131D3F"/>
                </a:solidFill>
                <a:latin typeface="Montserrat" panose="00000500000000000000" pitchFamily="2" charset="0"/>
              </a:rPr>
              <a:t>cubrir las expectativas del mercado</a:t>
            </a:r>
            <a:r>
              <a:rPr lang="es-ES" sz="2200" dirty="0">
                <a:solidFill>
                  <a:srgbClr val="131D3F"/>
                </a:solidFill>
                <a:latin typeface="Montserrat" panose="00000500000000000000" pitchFamily="2" charset="0"/>
              </a:rPr>
              <a:t>, al mismo tiempo que mantienen los </a:t>
            </a:r>
            <a:r>
              <a:rPr lang="es-ES" sz="2200" b="1" dirty="0">
                <a:solidFill>
                  <a:srgbClr val="131D3F"/>
                </a:solidFill>
                <a:latin typeface="Montserrat" panose="00000500000000000000" pitchFamily="2" charset="0"/>
              </a:rPr>
              <a:t>costos bajo control</a:t>
            </a:r>
            <a:r>
              <a:rPr lang="es-ES" sz="2200" dirty="0">
                <a:solidFill>
                  <a:srgbClr val="131D3F"/>
                </a:solidFill>
                <a:latin typeface="Montserrat" panose="00000500000000000000" pitchFamily="2" charset="0"/>
              </a:rPr>
              <a:t>.</a:t>
            </a:r>
          </a:p>
          <a:p>
            <a:pPr algn="just">
              <a:spcAft>
                <a:spcPts val="1200"/>
              </a:spcAft>
            </a:pPr>
            <a:r>
              <a:rPr lang="es-ES" sz="2200" b="1" dirty="0">
                <a:solidFill>
                  <a:srgbClr val="131D3F"/>
                </a:solidFill>
                <a:latin typeface="Montserrat" panose="00000500000000000000" pitchFamily="2" charset="0"/>
              </a:rPr>
              <a:t>Optimización satisfactoria:</a:t>
            </a:r>
            <a:r>
              <a:rPr lang="es-ES" sz="2200" dirty="0">
                <a:solidFill>
                  <a:srgbClr val="131D3F"/>
                </a:solidFill>
                <a:latin typeface="Montserrat" panose="00000500000000000000" pitchFamily="2" charset="0"/>
              </a:rPr>
              <a:t> En problemas de optimización, cuando se trata de problemas complejos o con muchas variables, la búsqueda de la solución óptima puede ser costosa o prácticamente imposible. El principio de lo bueno es suficiente sugiere que es mejor buscar una solución que sea suficientemente buena, en lugar de gastar recursos tratando de encontrar la solución ideal.</a:t>
            </a: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5.1 </a:t>
            </a:r>
            <a:r>
              <a:rPr lang="es-ES" sz="3600" dirty="0">
                <a:solidFill>
                  <a:srgbClr val="131D3F"/>
                </a:solidFill>
                <a:latin typeface="Montserrat" panose="00000500000000000000" pitchFamily="2" charset="0"/>
              </a:rPr>
              <a:t>El principio de lo bueno es suficiente.</a:t>
            </a:r>
            <a:endParaRPr lang="es-ES" sz="1600" b="1"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394094601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207</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5.2 </a:t>
            </a:r>
            <a:r>
              <a:rPr lang="es-ES" sz="3600" dirty="0">
                <a:solidFill>
                  <a:srgbClr val="131D3F"/>
                </a:solidFill>
                <a:latin typeface="Montserrat" panose="00000500000000000000" pitchFamily="2" charset="0"/>
              </a:rPr>
              <a:t>Economía libre de ficción.</a:t>
            </a:r>
            <a:endParaRPr lang="es-ES" sz="1600" b="1" dirty="0">
              <a:solidFill>
                <a:srgbClr val="131D3F"/>
              </a:solidFill>
              <a:latin typeface="Montserrat" panose="00000500000000000000" pitchFamily="2" charset="0"/>
            </a:endParaRPr>
          </a:p>
        </p:txBody>
      </p:sp>
      <p:pic>
        <p:nvPicPr>
          <p:cNvPr id="2050" name="Picture 2" descr="Qué es la estafa piramidal del esquema Ponzi">
            <a:extLst>
              <a:ext uri="{FF2B5EF4-FFF2-40B4-BE49-F238E27FC236}">
                <a16:creationId xmlns:a16="http://schemas.microsoft.com/office/drawing/2014/main" id="{DFF125B0-CBF9-4C4F-851C-13B8A954E1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12" y="1427359"/>
            <a:ext cx="3603109" cy="20291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l creador de la criptomoneda Luna dice que no está huyendo aunque nadie  sabe dónde está">
            <a:extLst>
              <a:ext uri="{FF2B5EF4-FFF2-40B4-BE49-F238E27FC236}">
                <a16:creationId xmlns:a16="http://schemas.microsoft.com/office/drawing/2014/main" id="{F399417E-57C7-4AB6-AEE9-BFBF332DA0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4857" y="1423716"/>
            <a:ext cx="3607337" cy="202912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l Periódico de México | Versión para imprimir |  Columnas-MercadosBursatiles | Gamestop: una locura bursátil en cuatro claves">
            <a:extLst>
              <a:ext uri="{FF2B5EF4-FFF2-40B4-BE49-F238E27FC236}">
                <a16:creationId xmlns:a16="http://schemas.microsoft.com/office/drawing/2014/main" id="{C40DB9BB-15AD-4989-9E6D-7B3CC5A58D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1126" y="1423717"/>
            <a:ext cx="4629747" cy="2005284"/>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B350E84F-B380-419D-8F37-C911F0E3CA96}"/>
              </a:ext>
            </a:extLst>
          </p:cNvPr>
          <p:cNvSpPr txBox="1"/>
          <p:nvPr/>
        </p:nvSpPr>
        <p:spPr>
          <a:xfrm>
            <a:off x="566405" y="3890278"/>
            <a:ext cx="11059188" cy="2308324"/>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Se interpreta como una referencia a la idea de una economía </a:t>
            </a:r>
            <a:r>
              <a:rPr lang="es-ES" sz="2400" b="1" dirty="0">
                <a:solidFill>
                  <a:srgbClr val="131D3F"/>
                </a:solidFill>
                <a:latin typeface="Montserrat" panose="00000500000000000000" pitchFamily="2" charset="0"/>
              </a:rPr>
              <a:t>realista</a:t>
            </a:r>
            <a:r>
              <a:rPr lang="es-ES" sz="2400" dirty="0">
                <a:solidFill>
                  <a:srgbClr val="131D3F"/>
                </a:solidFill>
                <a:latin typeface="Montserrat" panose="00000500000000000000" pitchFamily="2" charset="0"/>
              </a:rPr>
              <a:t>, </a:t>
            </a:r>
            <a:r>
              <a:rPr lang="es-ES" sz="2400" b="1" dirty="0">
                <a:solidFill>
                  <a:srgbClr val="131D3F"/>
                </a:solidFill>
                <a:latin typeface="Montserrat" panose="00000500000000000000" pitchFamily="2" charset="0"/>
              </a:rPr>
              <a:t>auténtica</a:t>
            </a:r>
            <a:r>
              <a:rPr lang="es-ES" sz="2400" dirty="0">
                <a:solidFill>
                  <a:srgbClr val="131D3F"/>
                </a:solidFill>
                <a:latin typeface="Montserrat" panose="00000500000000000000" pitchFamily="2" charset="0"/>
              </a:rPr>
              <a:t> y </a:t>
            </a:r>
            <a:r>
              <a:rPr lang="es-ES" sz="2400" b="1" dirty="0">
                <a:solidFill>
                  <a:srgbClr val="131D3F"/>
                </a:solidFill>
                <a:latin typeface="Montserrat" panose="00000500000000000000" pitchFamily="2" charset="0"/>
              </a:rPr>
              <a:t>menos distorsionada </a:t>
            </a:r>
            <a:r>
              <a:rPr lang="es-ES" sz="2400" dirty="0">
                <a:solidFill>
                  <a:srgbClr val="131D3F"/>
                </a:solidFill>
                <a:latin typeface="Montserrat" panose="00000500000000000000" pitchFamily="2" charset="0"/>
              </a:rPr>
              <a:t>por teorías, suposiciones o políticas que no se corresponden con la realidad práctica. Es decir, una economía que no se basa en modelos ideales o en ficciones, sino en el análisis y la toma de decisiones fundamentados en la verdadera naturaleza de los mercados, los individuos y las instituciones.</a:t>
            </a:r>
            <a:endParaRPr lang="es-ES" sz="2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21873091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208</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5.3 </a:t>
            </a:r>
            <a:r>
              <a:rPr lang="es-ES" sz="3600" dirty="0">
                <a:solidFill>
                  <a:srgbClr val="131D3F"/>
                </a:solidFill>
                <a:latin typeface="Montserrat" panose="00000500000000000000" pitchFamily="2" charset="0"/>
              </a:rPr>
              <a:t>Ecosistemas.</a:t>
            </a:r>
            <a:endParaRPr lang="es-ES" sz="1600" b="1" dirty="0">
              <a:solidFill>
                <a:srgbClr val="131D3F"/>
              </a:solidFill>
              <a:latin typeface="Montserrat" panose="00000500000000000000" pitchFamily="2" charset="0"/>
            </a:endParaRPr>
          </a:p>
        </p:txBody>
      </p:sp>
      <p:sp>
        <p:nvSpPr>
          <p:cNvPr id="13" name="CuadroTexto 12">
            <a:extLst>
              <a:ext uri="{FF2B5EF4-FFF2-40B4-BE49-F238E27FC236}">
                <a16:creationId xmlns:a16="http://schemas.microsoft.com/office/drawing/2014/main" id="{B350E84F-B380-419D-8F37-C911F0E3CA96}"/>
              </a:ext>
            </a:extLst>
          </p:cNvPr>
          <p:cNvSpPr txBox="1"/>
          <p:nvPr/>
        </p:nvSpPr>
        <p:spPr>
          <a:xfrm>
            <a:off x="566406" y="2090172"/>
            <a:ext cx="11059188" cy="3200876"/>
          </a:xfrm>
          <a:prstGeom prst="rect">
            <a:avLst/>
          </a:prstGeom>
          <a:noFill/>
        </p:spPr>
        <p:txBody>
          <a:bodyPr wrap="square">
            <a:spAutoFit/>
          </a:bodyPr>
          <a:lstStyle/>
          <a:p>
            <a:pPr algn="just">
              <a:spcAft>
                <a:spcPts val="1200"/>
              </a:spcAft>
            </a:pPr>
            <a:r>
              <a:rPr lang="es-ES" sz="2400" dirty="0">
                <a:solidFill>
                  <a:srgbClr val="131D3F"/>
                </a:solidFill>
                <a:latin typeface="Montserrat" panose="00000500000000000000" pitchFamily="2" charset="0"/>
              </a:rPr>
              <a:t>En el contexto de las finanzas, un ecosistema financiero se refiere a un conjunto de actores, instituciones, tecnologías, productos y servicios interconectados que interactúan entre sí para facilitar el flujo de recursos y la provisión de servicios financieros a individuos, empresas y gobiernos. </a:t>
            </a:r>
          </a:p>
          <a:p>
            <a:pPr algn="just">
              <a:spcAft>
                <a:spcPts val="1200"/>
              </a:spcAft>
            </a:pPr>
            <a:r>
              <a:rPr lang="es-ES" sz="2400" dirty="0">
                <a:solidFill>
                  <a:srgbClr val="131D3F"/>
                </a:solidFill>
                <a:latin typeface="Montserrat" panose="00000500000000000000" pitchFamily="2" charset="0"/>
              </a:rPr>
              <a:t>Este ecosistema puede incluir a los bancos tradicionales, instituciones no bancarias, </a:t>
            </a:r>
            <a:r>
              <a:rPr lang="es-ES" sz="2400" dirty="0" err="1">
                <a:solidFill>
                  <a:srgbClr val="131D3F"/>
                </a:solidFill>
                <a:latin typeface="Montserrat" panose="00000500000000000000" pitchFamily="2" charset="0"/>
              </a:rPr>
              <a:t>fintechs</a:t>
            </a:r>
            <a:r>
              <a:rPr lang="es-ES" sz="2400" dirty="0">
                <a:solidFill>
                  <a:srgbClr val="131D3F"/>
                </a:solidFill>
                <a:latin typeface="Montserrat" panose="00000500000000000000" pitchFamily="2" charset="0"/>
              </a:rPr>
              <a:t>, plataformas digitales, inversores, reguladores, consumidores y mercados de capitales.</a:t>
            </a:r>
            <a:endParaRPr lang="es-ES" sz="22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190539666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209</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5.3 </a:t>
            </a:r>
            <a:r>
              <a:rPr lang="es-ES" sz="3600" dirty="0">
                <a:solidFill>
                  <a:srgbClr val="131D3F"/>
                </a:solidFill>
                <a:latin typeface="Montserrat" panose="00000500000000000000" pitchFamily="2" charset="0"/>
              </a:rPr>
              <a:t>Ecosistemas.</a:t>
            </a:r>
            <a:endParaRPr lang="es-ES" sz="1600" b="1" dirty="0">
              <a:solidFill>
                <a:srgbClr val="131D3F"/>
              </a:solidFill>
              <a:latin typeface="Montserrat" panose="00000500000000000000" pitchFamily="2" charset="0"/>
            </a:endParaRPr>
          </a:p>
        </p:txBody>
      </p:sp>
      <p:sp>
        <p:nvSpPr>
          <p:cNvPr id="13" name="CuadroTexto 12">
            <a:extLst>
              <a:ext uri="{FF2B5EF4-FFF2-40B4-BE49-F238E27FC236}">
                <a16:creationId xmlns:a16="http://schemas.microsoft.com/office/drawing/2014/main" id="{B350E84F-B380-419D-8F37-C911F0E3CA96}"/>
              </a:ext>
            </a:extLst>
          </p:cNvPr>
          <p:cNvSpPr txBox="1"/>
          <p:nvPr/>
        </p:nvSpPr>
        <p:spPr>
          <a:xfrm>
            <a:off x="516044" y="1196092"/>
            <a:ext cx="11059188" cy="5170646"/>
          </a:xfrm>
          <a:prstGeom prst="rect">
            <a:avLst/>
          </a:prstGeom>
          <a:noFill/>
        </p:spPr>
        <p:txBody>
          <a:bodyPr wrap="square">
            <a:spAutoFit/>
          </a:bodyPr>
          <a:lstStyle/>
          <a:p>
            <a:pPr algn="just">
              <a:spcAft>
                <a:spcPts val="1200"/>
              </a:spcAft>
            </a:pPr>
            <a:r>
              <a:rPr lang="es-ES" sz="2000" dirty="0">
                <a:solidFill>
                  <a:srgbClr val="131D3F"/>
                </a:solidFill>
                <a:latin typeface="Montserrat" panose="00000500000000000000" pitchFamily="2" charset="0"/>
              </a:rPr>
              <a:t>Características de los ecosistemas financieros</a:t>
            </a:r>
          </a:p>
          <a:p>
            <a:pPr algn="just">
              <a:spcAft>
                <a:spcPts val="1200"/>
              </a:spcAft>
            </a:pPr>
            <a:r>
              <a:rPr lang="es-ES" sz="2000" b="1" dirty="0">
                <a:solidFill>
                  <a:srgbClr val="131D3F"/>
                </a:solidFill>
                <a:latin typeface="Montserrat" panose="00000500000000000000" pitchFamily="2" charset="0"/>
              </a:rPr>
              <a:t>Interconexión: </a:t>
            </a:r>
            <a:r>
              <a:rPr lang="es-ES" sz="2000" dirty="0">
                <a:solidFill>
                  <a:srgbClr val="131D3F"/>
                </a:solidFill>
                <a:latin typeface="Montserrat" panose="00000500000000000000" pitchFamily="2" charset="0"/>
              </a:rPr>
              <a:t>Por ejemplo, los bancos dependen de los mercados financieros para obtener capital y los consumidores necesitan de la regulación gubernamental para asegurar la protección de sus fondos.</a:t>
            </a:r>
          </a:p>
          <a:p>
            <a:pPr algn="just">
              <a:spcAft>
                <a:spcPts val="1200"/>
              </a:spcAft>
            </a:pPr>
            <a:r>
              <a:rPr lang="es-ES" sz="2000" b="1" dirty="0">
                <a:solidFill>
                  <a:srgbClr val="131D3F"/>
                </a:solidFill>
                <a:latin typeface="Montserrat" panose="00000500000000000000" pitchFamily="2" charset="0"/>
              </a:rPr>
              <a:t>Innovación y digitalización: </a:t>
            </a:r>
            <a:r>
              <a:rPr lang="es-ES" sz="2000" dirty="0">
                <a:solidFill>
                  <a:srgbClr val="131D3F"/>
                </a:solidFill>
                <a:latin typeface="Montserrat" panose="00000500000000000000" pitchFamily="2" charset="0"/>
              </a:rPr>
              <a:t>La innovación tecnológica ha transformado el ecosistema financiero, impulsada la digitalización de servicios. </a:t>
            </a:r>
          </a:p>
          <a:p>
            <a:pPr algn="just">
              <a:spcAft>
                <a:spcPts val="1200"/>
              </a:spcAft>
            </a:pPr>
            <a:r>
              <a:rPr lang="es-ES" sz="2000" b="1" dirty="0">
                <a:solidFill>
                  <a:srgbClr val="131D3F"/>
                </a:solidFill>
                <a:latin typeface="Montserrat" panose="00000500000000000000" pitchFamily="2" charset="0"/>
              </a:rPr>
              <a:t>Acceso e inclusión financiera: </a:t>
            </a:r>
            <a:r>
              <a:rPr lang="es-ES" sz="2000" dirty="0">
                <a:solidFill>
                  <a:srgbClr val="131D3F"/>
                </a:solidFill>
                <a:latin typeface="Montserrat" panose="00000500000000000000" pitchFamily="2" charset="0"/>
              </a:rPr>
              <a:t>Facilitar el acceso a servicios financieros a segmentos de la población que tradicionalmente han estado excluidos del sistema bancario.</a:t>
            </a:r>
          </a:p>
          <a:p>
            <a:pPr algn="just">
              <a:spcAft>
                <a:spcPts val="1200"/>
              </a:spcAft>
            </a:pPr>
            <a:r>
              <a:rPr lang="es-ES" sz="2000" b="1" dirty="0">
                <a:solidFill>
                  <a:srgbClr val="131D3F"/>
                </a:solidFill>
                <a:latin typeface="Montserrat" panose="00000500000000000000" pitchFamily="2" charset="0"/>
              </a:rPr>
              <a:t>Regulación y supervisión: </a:t>
            </a:r>
            <a:r>
              <a:rPr lang="es-ES" sz="2000" dirty="0">
                <a:solidFill>
                  <a:srgbClr val="131D3F"/>
                </a:solidFill>
                <a:latin typeface="Montserrat" panose="00000500000000000000" pitchFamily="2" charset="0"/>
              </a:rPr>
              <a:t>Para garantizar la estabilidad y la confianza en el sistema, los ecosistemas financieros operan bajo una estructura regulatoria diseñada para prevenir fraudes, proteger a los consumidores y mantener la estabilidad económica.</a:t>
            </a:r>
          </a:p>
          <a:p>
            <a:pPr algn="just">
              <a:spcAft>
                <a:spcPts val="1200"/>
              </a:spcAft>
            </a:pPr>
            <a:r>
              <a:rPr lang="es-ES" sz="2000" b="1" dirty="0">
                <a:solidFill>
                  <a:srgbClr val="131D3F"/>
                </a:solidFill>
                <a:latin typeface="Montserrat" panose="00000500000000000000" pitchFamily="2" charset="0"/>
              </a:rPr>
              <a:t>Diversificación de actores y productos:</a:t>
            </a:r>
            <a:r>
              <a:rPr lang="es-ES" sz="2000" dirty="0">
                <a:solidFill>
                  <a:srgbClr val="131D3F"/>
                </a:solidFill>
                <a:latin typeface="Montserrat" panose="00000500000000000000" pitchFamily="2" charset="0"/>
              </a:rPr>
              <a:t> Un ecosistema financiero moderno no solo incluye a los bancos tradicionales, sino también a </a:t>
            </a:r>
            <a:r>
              <a:rPr lang="es-ES" sz="2000" dirty="0" err="1">
                <a:solidFill>
                  <a:srgbClr val="131D3F"/>
                </a:solidFill>
                <a:latin typeface="Montserrat" panose="00000500000000000000" pitchFamily="2" charset="0"/>
              </a:rPr>
              <a:t>fintechs</a:t>
            </a:r>
            <a:r>
              <a:rPr lang="es-ES" sz="2000" dirty="0">
                <a:solidFill>
                  <a:srgbClr val="131D3F"/>
                </a:solidFill>
                <a:latin typeface="Montserrat" panose="00000500000000000000" pitchFamily="2" charset="0"/>
              </a:rPr>
              <a:t>, </a:t>
            </a:r>
            <a:r>
              <a:rPr lang="es-ES" sz="2000" dirty="0" err="1">
                <a:solidFill>
                  <a:srgbClr val="131D3F"/>
                </a:solidFill>
                <a:latin typeface="Montserrat" panose="00000500000000000000" pitchFamily="2" charset="0"/>
              </a:rPr>
              <a:t>blockchain</a:t>
            </a:r>
            <a:r>
              <a:rPr lang="es-ES" sz="2000" dirty="0">
                <a:solidFill>
                  <a:srgbClr val="131D3F"/>
                </a:solidFill>
                <a:latin typeface="Montserrat" panose="00000500000000000000" pitchFamily="2" charset="0"/>
              </a:rPr>
              <a:t>, crowdfunding, y otros actores emergentes que brindan nuevos servicios y alternativas.</a:t>
            </a:r>
          </a:p>
        </p:txBody>
      </p:sp>
    </p:spTree>
    <p:extLst>
      <p:ext uri="{BB962C8B-B14F-4D97-AF65-F5344CB8AC3E}">
        <p14:creationId xmlns:p14="http://schemas.microsoft.com/office/powerpoint/2010/main" val="130103098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210</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5.4 </a:t>
            </a:r>
            <a:r>
              <a:rPr lang="es-ES" sz="3600" dirty="0" err="1">
                <a:solidFill>
                  <a:srgbClr val="131D3F"/>
                </a:solidFill>
                <a:latin typeface="Montserrat" panose="00000500000000000000" pitchFamily="2" charset="0"/>
              </a:rPr>
              <a:t>Offshoring</a:t>
            </a:r>
            <a:r>
              <a:rPr lang="es-ES" sz="3600" dirty="0">
                <a:solidFill>
                  <a:srgbClr val="131D3F"/>
                </a:solidFill>
                <a:latin typeface="Montserrat" panose="00000500000000000000" pitchFamily="2" charset="0"/>
              </a:rPr>
              <a:t> y outsourcing..</a:t>
            </a:r>
            <a:endParaRPr lang="es-ES" sz="1600" b="1" dirty="0">
              <a:solidFill>
                <a:srgbClr val="131D3F"/>
              </a:solidFill>
              <a:latin typeface="Montserrat" panose="00000500000000000000" pitchFamily="2" charset="0"/>
            </a:endParaRPr>
          </a:p>
        </p:txBody>
      </p:sp>
      <p:sp>
        <p:nvSpPr>
          <p:cNvPr id="13" name="CuadroTexto 12">
            <a:extLst>
              <a:ext uri="{FF2B5EF4-FFF2-40B4-BE49-F238E27FC236}">
                <a16:creationId xmlns:a16="http://schemas.microsoft.com/office/drawing/2014/main" id="{B350E84F-B380-419D-8F37-C911F0E3CA96}"/>
              </a:ext>
            </a:extLst>
          </p:cNvPr>
          <p:cNvSpPr txBox="1"/>
          <p:nvPr/>
        </p:nvSpPr>
        <p:spPr>
          <a:xfrm>
            <a:off x="429038" y="1368270"/>
            <a:ext cx="11059188" cy="2616101"/>
          </a:xfrm>
          <a:prstGeom prst="rect">
            <a:avLst/>
          </a:prstGeom>
          <a:noFill/>
        </p:spPr>
        <p:txBody>
          <a:bodyPr wrap="square">
            <a:spAutoFit/>
          </a:bodyPr>
          <a:lstStyle/>
          <a:p>
            <a:pPr algn="just">
              <a:spcAft>
                <a:spcPts val="1200"/>
              </a:spcAft>
            </a:pPr>
            <a:r>
              <a:rPr lang="es-ES" sz="2400" b="1" dirty="0" err="1">
                <a:solidFill>
                  <a:srgbClr val="131D3F"/>
                </a:solidFill>
                <a:latin typeface="Montserrat" panose="00000500000000000000" pitchFamily="2" charset="0"/>
              </a:rPr>
              <a:t>Offshoring</a:t>
            </a:r>
            <a:r>
              <a:rPr lang="es-ES" sz="2400" b="1" dirty="0">
                <a:solidFill>
                  <a:srgbClr val="131D3F"/>
                </a:solidFill>
                <a:latin typeface="Montserrat" panose="00000500000000000000" pitchFamily="2" charset="0"/>
              </a:rPr>
              <a:t> </a:t>
            </a:r>
          </a:p>
          <a:p>
            <a:pPr algn="just">
              <a:spcAft>
                <a:spcPts val="1200"/>
              </a:spcAft>
            </a:pPr>
            <a:r>
              <a:rPr lang="es-ES" sz="2000" dirty="0">
                <a:solidFill>
                  <a:srgbClr val="131D3F"/>
                </a:solidFill>
                <a:latin typeface="Montserrat" panose="00000500000000000000" pitchFamily="2" charset="0"/>
              </a:rPr>
              <a:t>Es una práctica empresarial que implica trasladar partes de los procesos de producción o servicios de una empresa a un país diferente al de su sede principal. </a:t>
            </a:r>
          </a:p>
          <a:p>
            <a:pPr algn="just">
              <a:spcAft>
                <a:spcPts val="1200"/>
              </a:spcAft>
            </a:pPr>
            <a:r>
              <a:rPr lang="es-ES" sz="2000" dirty="0">
                <a:solidFill>
                  <a:srgbClr val="131D3F"/>
                </a:solidFill>
                <a:latin typeface="Montserrat" panose="00000500000000000000" pitchFamily="2" charset="0"/>
              </a:rPr>
              <a:t>Generalmente, esto se hace en busca de ventajas económicas, como costos laborales más bajos, ventajas fiscales o acceso a mercados internacionales. El </a:t>
            </a:r>
            <a:r>
              <a:rPr lang="es-ES" sz="2000" dirty="0" err="1">
                <a:solidFill>
                  <a:srgbClr val="131D3F"/>
                </a:solidFill>
                <a:latin typeface="Montserrat" panose="00000500000000000000" pitchFamily="2" charset="0"/>
              </a:rPr>
              <a:t>offshoring</a:t>
            </a:r>
            <a:r>
              <a:rPr lang="es-ES" sz="2000" dirty="0">
                <a:solidFill>
                  <a:srgbClr val="131D3F"/>
                </a:solidFill>
                <a:latin typeface="Montserrat" panose="00000500000000000000" pitchFamily="2" charset="0"/>
              </a:rPr>
              <a:t> no solo afecta a la manufactura, sino que también se extiende a los servicios, como el soporte al cliente, la tecnología de la información (TI), y la atención médica.</a:t>
            </a:r>
          </a:p>
        </p:txBody>
      </p:sp>
      <p:pic>
        <p:nvPicPr>
          <p:cNvPr id="4098" name="Picture 2" descr="El detalle fino del Hecho en México • Red Forbes • Forbes México">
            <a:extLst>
              <a:ext uri="{FF2B5EF4-FFF2-40B4-BE49-F238E27FC236}">
                <a16:creationId xmlns:a16="http://schemas.microsoft.com/office/drawing/2014/main" id="{0F28C2C2-74BA-43FA-917B-F9C4AD3F1E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958" y="4416641"/>
            <a:ext cx="2781522" cy="197309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idado con el estigma: será “Hecho en México” mejor que “Hecho en China”?">
            <a:extLst>
              <a:ext uri="{FF2B5EF4-FFF2-40B4-BE49-F238E27FC236}">
                <a16:creationId xmlns:a16="http://schemas.microsoft.com/office/drawing/2014/main" id="{1638E481-8603-4E9A-838A-D325685B6D2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99" t="2651"/>
          <a:stretch/>
        </p:blipFill>
        <p:spPr bwMode="auto">
          <a:xfrm>
            <a:off x="7211581" y="4416641"/>
            <a:ext cx="3764546" cy="1973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1229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211</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5.4 </a:t>
            </a:r>
            <a:r>
              <a:rPr lang="es-ES" sz="3600" dirty="0" err="1">
                <a:solidFill>
                  <a:srgbClr val="131D3F"/>
                </a:solidFill>
                <a:latin typeface="Montserrat" panose="00000500000000000000" pitchFamily="2" charset="0"/>
              </a:rPr>
              <a:t>Offshoring</a:t>
            </a:r>
            <a:r>
              <a:rPr lang="es-ES" sz="3600" dirty="0">
                <a:solidFill>
                  <a:srgbClr val="131D3F"/>
                </a:solidFill>
                <a:latin typeface="Montserrat" panose="00000500000000000000" pitchFamily="2" charset="0"/>
              </a:rPr>
              <a:t> y outsourcing.</a:t>
            </a:r>
            <a:endParaRPr lang="es-ES" sz="1600" b="1" dirty="0">
              <a:solidFill>
                <a:srgbClr val="131D3F"/>
              </a:solidFill>
              <a:latin typeface="Montserrat" panose="00000500000000000000" pitchFamily="2" charset="0"/>
            </a:endParaRPr>
          </a:p>
        </p:txBody>
      </p:sp>
      <p:sp>
        <p:nvSpPr>
          <p:cNvPr id="13" name="CuadroTexto 12">
            <a:extLst>
              <a:ext uri="{FF2B5EF4-FFF2-40B4-BE49-F238E27FC236}">
                <a16:creationId xmlns:a16="http://schemas.microsoft.com/office/drawing/2014/main" id="{B350E84F-B380-419D-8F37-C911F0E3CA96}"/>
              </a:ext>
            </a:extLst>
          </p:cNvPr>
          <p:cNvSpPr txBox="1"/>
          <p:nvPr/>
        </p:nvSpPr>
        <p:spPr>
          <a:xfrm>
            <a:off x="571278" y="1581630"/>
            <a:ext cx="5524722" cy="4462760"/>
          </a:xfrm>
          <a:prstGeom prst="rect">
            <a:avLst/>
          </a:prstGeom>
          <a:noFill/>
        </p:spPr>
        <p:txBody>
          <a:bodyPr wrap="square">
            <a:spAutoFit/>
          </a:bodyPr>
          <a:lstStyle/>
          <a:p>
            <a:pPr algn="just">
              <a:spcAft>
                <a:spcPts val="1200"/>
              </a:spcAft>
            </a:pPr>
            <a:r>
              <a:rPr lang="es-ES" sz="2400" b="1" dirty="0" err="1">
                <a:solidFill>
                  <a:srgbClr val="131D3F"/>
                </a:solidFill>
                <a:latin typeface="Montserrat" panose="00000500000000000000" pitchFamily="2" charset="0"/>
              </a:rPr>
              <a:t>Nearshoring</a:t>
            </a:r>
            <a:endParaRPr lang="es-ES" sz="2400" b="1" dirty="0">
              <a:solidFill>
                <a:srgbClr val="131D3F"/>
              </a:solidFill>
              <a:latin typeface="Montserrat" panose="00000500000000000000" pitchFamily="2" charset="0"/>
            </a:endParaRPr>
          </a:p>
          <a:p>
            <a:pPr algn="just">
              <a:spcAft>
                <a:spcPts val="1200"/>
              </a:spcAft>
            </a:pPr>
            <a:r>
              <a:rPr lang="es-ES" sz="2000" dirty="0" err="1">
                <a:solidFill>
                  <a:srgbClr val="131D3F"/>
                </a:solidFill>
                <a:latin typeface="Montserrat" panose="00000500000000000000" pitchFamily="2" charset="0"/>
              </a:rPr>
              <a:t>Nearshoring</a:t>
            </a:r>
            <a:r>
              <a:rPr lang="es-ES" sz="2000" dirty="0">
                <a:solidFill>
                  <a:srgbClr val="131D3F"/>
                </a:solidFill>
                <a:latin typeface="Montserrat" panose="00000500000000000000" pitchFamily="2" charset="0"/>
              </a:rPr>
              <a:t> es una estrategia empresarial que consiste en trasladar parte de las operaciones de producción o servicios a un país cercano, en lugar de a un destino lejano, como ocurre en el </a:t>
            </a:r>
            <a:r>
              <a:rPr lang="es-ES" sz="2000" dirty="0" err="1">
                <a:solidFill>
                  <a:srgbClr val="131D3F"/>
                </a:solidFill>
                <a:latin typeface="Montserrat" panose="00000500000000000000" pitchFamily="2" charset="0"/>
              </a:rPr>
              <a:t>offshoring</a:t>
            </a:r>
            <a:r>
              <a:rPr lang="es-ES" sz="2000" dirty="0">
                <a:solidFill>
                  <a:srgbClr val="131D3F"/>
                </a:solidFill>
                <a:latin typeface="Montserrat" panose="00000500000000000000" pitchFamily="2" charset="0"/>
              </a:rPr>
              <a:t>. </a:t>
            </a:r>
          </a:p>
          <a:p>
            <a:pPr algn="just">
              <a:spcAft>
                <a:spcPts val="1200"/>
              </a:spcAft>
            </a:pPr>
            <a:r>
              <a:rPr lang="es-ES" sz="2000" dirty="0">
                <a:solidFill>
                  <a:srgbClr val="131D3F"/>
                </a:solidFill>
                <a:latin typeface="Montserrat" panose="00000500000000000000" pitchFamily="2" charset="0"/>
              </a:rPr>
              <a:t>El </a:t>
            </a:r>
            <a:r>
              <a:rPr lang="es-ES" sz="2000" dirty="0" err="1">
                <a:solidFill>
                  <a:srgbClr val="131D3F"/>
                </a:solidFill>
                <a:latin typeface="Montserrat" panose="00000500000000000000" pitchFamily="2" charset="0"/>
              </a:rPr>
              <a:t>nearshoring</a:t>
            </a:r>
            <a:r>
              <a:rPr lang="es-ES" sz="2000" dirty="0">
                <a:solidFill>
                  <a:srgbClr val="131D3F"/>
                </a:solidFill>
                <a:latin typeface="Montserrat" panose="00000500000000000000" pitchFamily="2" charset="0"/>
              </a:rPr>
              <a:t> busca aprovechar las ventajas de la proximidad geográfica, cultural y económica, lo que permite a las empresas reducir algunos de los problemas asociados con la subcontratación en países lejanos.</a:t>
            </a:r>
          </a:p>
        </p:txBody>
      </p:sp>
      <p:pic>
        <p:nvPicPr>
          <p:cNvPr id="5122" name="Picture 2" descr="Nuevo León y Tesla representan el futuro”.- Samuel García | Movimiento  Ciudadano - Movimiento-Ciudadano">
            <a:extLst>
              <a:ext uri="{FF2B5EF4-FFF2-40B4-BE49-F238E27FC236}">
                <a16:creationId xmlns:a16="http://schemas.microsoft.com/office/drawing/2014/main" id="{088D96A6-4D46-4FAF-B3BE-CF15CC096C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7357" y="2063008"/>
            <a:ext cx="5021480" cy="3524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96760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54335" y="9425"/>
            <a:ext cx="74866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18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212</a:t>
            </a:fld>
            <a:endParaRPr lang="es-MX" sz="18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4769A605-90B5-468F-8914-E78F462AA2FD}"/>
              </a:ext>
            </a:extLst>
          </p:cNvPr>
          <p:cNvSpPr txBox="1">
            <a:spLocks/>
          </p:cNvSpPr>
          <p:nvPr/>
        </p:nvSpPr>
        <p:spPr>
          <a:xfrm>
            <a:off x="616768" y="269157"/>
            <a:ext cx="11218407" cy="10776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solidFill>
                  <a:srgbClr val="131D3F"/>
                </a:solidFill>
                <a:latin typeface="Montserrat SemiBold" panose="00000700000000000000" pitchFamily="2" charset="0"/>
              </a:rPr>
              <a:t>5.4 </a:t>
            </a:r>
            <a:r>
              <a:rPr lang="es-ES" sz="3600" dirty="0" err="1">
                <a:solidFill>
                  <a:srgbClr val="131D3F"/>
                </a:solidFill>
                <a:latin typeface="Montserrat" panose="00000500000000000000" pitchFamily="2" charset="0"/>
              </a:rPr>
              <a:t>Offshoring</a:t>
            </a:r>
            <a:r>
              <a:rPr lang="es-ES" sz="3600" dirty="0">
                <a:solidFill>
                  <a:srgbClr val="131D3F"/>
                </a:solidFill>
                <a:latin typeface="Montserrat" panose="00000500000000000000" pitchFamily="2" charset="0"/>
              </a:rPr>
              <a:t> y outsourcing.</a:t>
            </a:r>
            <a:endParaRPr lang="es-ES" sz="1600" b="1" dirty="0">
              <a:solidFill>
                <a:srgbClr val="131D3F"/>
              </a:solidFill>
              <a:latin typeface="Montserrat" panose="00000500000000000000" pitchFamily="2" charset="0"/>
            </a:endParaRPr>
          </a:p>
        </p:txBody>
      </p:sp>
      <p:sp>
        <p:nvSpPr>
          <p:cNvPr id="13" name="CuadroTexto 12">
            <a:extLst>
              <a:ext uri="{FF2B5EF4-FFF2-40B4-BE49-F238E27FC236}">
                <a16:creationId xmlns:a16="http://schemas.microsoft.com/office/drawing/2014/main" id="{B350E84F-B380-419D-8F37-C911F0E3CA96}"/>
              </a:ext>
            </a:extLst>
          </p:cNvPr>
          <p:cNvSpPr txBox="1"/>
          <p:nvPr/>
        </p:nvSpPr>
        <p:spPr>
          <a:xfrm>
            <a:off x="571278" y="1581630"/>
            <a:ext cx="11000962" cy="4308872"/>
          </a:xfrm>
          <a:prstGeom prst="rect">
            <a:avLst/>
          </a:prstGeom>
          <a:noFill/>
        </p:spPr>
        <p:txBody>
          <a:bodyPr wrap="square">
            <a:spAutoFit/>
          </a:bodyPr>
          <a:lstStyle/>
          <a:p>
            <a:pPr algn="just">
              <a:spcAft>
                <a:spcPts val="1200"/>
              </a:spcAft>
            </a:pPr>
            <a:r>
              <a:rPr lang="es-ES" sz="2400" b="1" dirty="0">
                <a:solidFill>
                  <a:srgbClr val="131D3F"/>
                </a:solidFill>
                <a:latin typeface="Montserrat" panose="00000500000000000000" pitchFamily="2" charset="0"/>
              </a:rPr>
              <a:t>Outsourcing (Subcontratación)</a:t>
            </a:r>
          </a:p>
          <a:p>
            <a:pPr algn="just">
              <a:spcAft>
                <a:spcPts val="1200"/>
              </a:spcAft>
            </a:pPr>
            <a:r>
              <a:rPr lang="es-ES" sz="2000" dirty="0">
                <a:solidFill>
                  <a:srgbClr val="131D3F"/>
                </a:solidFill>
                <a:latin typeface="Montserrat" panose="00000500000000000000" pitchFamily="2" charset="0"/>
              </a:rPr>
              <a:t>Es la práctica empresarial en la que una empresa externaliza ciertos procesos o actividades a una empresa externa, en lugar de realizarlas internamente. </a:t>
            </a:r>
          </a:p>
          <a:p>
            <a:pPr algn="just">
              <a:spcAft>
                <a:spcPts val="1200"/>
              </a:spcAft>
            </a:pPr>
            <a:r>
              <a:rPr lang="es-ES" sz="2000" dirty="0">
                <a:solidFill>
                  <a:srgbClr val="131D3F"/>
                </a:solidFill>
                <a:latin typeface="Montserrat" panose="00000500000000000000" pitchFamily="2" charset="0"/>
              </a:rPr>
              <a:t>Se utiliza para reducir costos, acceder a servicios especializados, mejorar la eficiencia operativa y permitir que la empresa se enfoque en sus competencias clave. El outsourcing puede aplicarse a una amplia variedad de funciones empresariales, desde la producción hasta la gestión de TI, el servicio al cliente, la contabilidad, y más.</a:t>
            </a:r>
          </a:p>
          <a:p>
            <a:pPr algn="just">
              <a:spcAft>
                <a:spcPts val="1200"/>
              </a:spcAft>
            </a:pPr>
            <a:r>
              <a:rPr lang="es-ES" sz="2000" dirty="0">
                <a:solidFill>
                  <a:srgbClr val="131D3F"/>
                </a:solidFill>
                <a:latin typeface="Montserrat" panose="00000500000000000000" pitchFamily="2" charset="0"/>
              </a:rPr>
              <a:t>El pasado 1 de septiembre de 2021 entró en vigor la reforma laboral en México. A grandes rasgos, se prohibió la subcontratación de personal. Por lo que ahora ningún negocio puede poner a empleadas y empleados propios a trabajar en beneficio de otra empresa con el mismo objeto social.</a:t>
            </a:r>
          </a:p>
        </p:txBody>
      </p:sp>
    </p:spTree>
    <p:extLst>
      <p:ext uri="{BB962C8B-B14F-4D97-AF65-F5344CB8AC3E}">
        <p14:creationId xmlns:p14="http://schemas.microsoft.com/office/powerpoint/2010/main" val="250335611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Gráfico 24">
            <a:extLst>
              <a:ext uri="{FF2B5EF4-FFF2-40B4-BE49-F238E27FC236}">
                <a16:creationId xmlns:a16="http://schemas.microsoft.com/office/drawing/2014/main" id="{D45BF182-9765-498B-54B0-F928887351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flipV="1">
            <a:off x="-454375" y="454373"/>
            <a:ext cx="1337787" cy="429038"/>
          </a:xfrm>
          <a:prstGeom prst="rect">
            <a:avLst/>
          </a:prstGeom>
        </p:spPr>
      </p:pic>
      <p:sp>
        <p:nvSpPr>
          <p:cNvPr id="2" name="Google Shape;118;p4">
            <a:extLst>
              <a:ext uri="{FF2B5EF4-FFF2-40B4-BE49-F238E27FC236}">
                <a16:creationId xmlns:a16="http://schemas.microsoft.com/office/drawing/2014/main" id="{0E982364-79BA-6D46-495F-E7C7AD4EC16F}"/>
              </a:ext>
            </a:extLst>
          </p:cNvPr>
          <p:cNvSpPr txBox="1">
            <a:spLocks/>
          </p:cNvSpPr>
          <p:nvPr/>
        </p:nvSpPr>
        <p:spPr>
          <a:xfrm>
            <a:off x="1004212" y="2177321"/>
            <a:ext cx="10183576" cy="2503358"/>
          </a:xfrm>
          <a:prstGeom prst="rect">
            <a:avLst/>
          </a:prstGeom>
          <a:noFill/>
          <a:ln>
            <a:noFill/>
          </a:ln>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400"/>
              <a:buFont typeface="Montserrat SemiBold"/>
              <a:buNone/>
            </a:pPr>
            <a:r>
              <a:rPr lang="es-ES" sz="4800" dirty="0">
                <a:solidFill>
                  <a:srgbClr val="131D3F"/>
                </a:solidFill>
                <a:latin typeface="Montserrat SemiBold" panose="00000700000000000000" pitchFamily="2" charset="0"/>
              </a:rPr>
              <a:t>Referencias</a:t>
            </a:r>
            <a:endParaRPr lang="es-MX" sz="4800" dirty="0">
              <a:solidFill>
                <a:srgbClr val="131D3F"/>
              </a:solidFill>
              <a:latin typeface="Montserrat SemiBold" panose="00000700000000000000" pitchFamily="2" charset="0"/>
            </a:endParaRPr>
          </a:p>
        </p:txBody>
      </p:sp>
    </p:spTree>
    <p:extLst>
      <p:ext uri="{BB962C8B-B14F-4D97-AF65-F5344CB8AC3E}">
        <p14:creationId xmlns:p14="http://schemas.microsoft.com/office/powerpoint/2010/main" val="93867872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75987" y="-2"/>
            <a:ext cx="57382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214</a:t>
            </a:fld>
            <a:endParaRPr lang="es-MX" sz="2400" b="1" dirty="0">
              <a:solidFill>
                <a:srgbClr val="BA955B"/>
              </a:solidFill>
              <a:latin typeface="Montserrat SemiBold" panose="00000700000000000000" pitchFamily="2" charset="0"/>
            </a:endParaRPr>
          </a:p>
        </p:txBody>
      </p:sp>
      <p:pic>
        <p:nvPicPr>
          <p:cNvPr id="3" name="Imagen 2">
            <a:extLst>
              <a:ext uri="{FF2B5EF4-FFF2-40B4-BE49-F238E27FC236}">
                <a16:creationId xmlns:a16="http://schemas.microsoft.com/office/drawing/2014/main" id="{4F86BE92-DE80-4E2A-8E7D-ADAD7FE39711}"/>
              </a:ext>
            </a:extLst>
          </p:cNvPr>
          <p:cNvPicPr>
            <a:picLocks noChangeAspect="1"/>
          </p:cNvPicPr>
          <p:nvPr/>
        </p:nvPicPr>
        <p:blipFill>
          <a:blip r:embed="rId5">
            <a:duotone>
              <a:prstClr val="black"/>
              <a:srgbClr val="D9C3A5">
                <a:tint val="50000"/>
                <a:satMod val="180000"/>
              </a:srgbClr>
            </a:duotone>
          </a:blip>
          <a:stretch>
            <a:fillRect/>
          </a:stretch>
        </p:blipFill>
        <p:spPr>
          <a:xfrm>
            <a:off x="210926" y="1482767"/>
            <a:ext cx="9163246" cy="4511352"/>
          </a:xfrm>
          <a:prstGeom prst="rect">
            <a:avLst/>
          </a:prstGeom>
        </p:spPr>
      </p:pic>
      <p:sp>
        <p:nvSpPr>
          <p:cNvPr id="6" name="Título 3">
            <a:extLst>
              <a:ext uri="{FF2B5EF4-FFF2-40B4-BE49-F238E27FC236}">
                <a16:creationId xmlns:a16="http://schemas.microsoft.com/office/drawing/2014/main" id="{DCEDEBC3-1DE7-4096-A450-101A5325721E}"/>
              </a:ext>
            </a:extLst>
          </p:cNvPr>
          <p:cNvSpPr>
            <a:spLocks noGrp="1"/>
          </p:cNvSpPr>
          <p:nvPr>
            <p:ph type="title"/>
          </p:nvPr>
        </p:nvSpPr>
        <p:spPr>
          <a:xfrm>
            <a:off x="505024" y="0"/>
            <a:ext cx="5620242" cy="1116450"/>
          </a:xfrm>
        </p:spPr>
        <p:txBody>
          <a:bodyPr>
            <a:normAutofit/>
          </a:bodyPr>
          <a:lstStyle/>
          <a:p>
            <a:r>
              <a:rPr lang="es-ES" sz="3600" b="1" dirty="0">
                <a:solidFill>
                  <a:srgbClr val="131D3F"/>
                </a:solidFill>
                <a:latin typeface="Montserrat SemiBold" panose="00000700000000000000" pitchFamily="2" charset="0"/>
              </a:rPr>
              <a:t>Estados Financieros</a:t>
            </a:r>
            <a:br>
              <a:rPr lang="es-ES" sz="3600" b="1" dirty="0">
                <a:solidFill>
                  <a:srgbClr val="131D3F"/>
                </a:solidFill>
                <a:latin typeface="Montserrat SemiBold" panose="00000700000000000000" pitchFamily="2" charset="0"/>
              </a:rPr>
            </a:br>
            <a:r>
              <a:rPr lang="es-ES" sz="2400" b="1" dirty="0">
                <a:solidFill>
                  <a:srgbClr val="131D3F"/>
                </a:solidFill>
                <a:latin typeface="Montserrat SemiBold" panose="00000700000000000000" pitchFamily="2" charset="0"/>
              </a:rPr>
              <a:t>Balance General</a:t>
            </a:r>
            <a:endParaRPr lang="es-MX" sz="3600" b="1" dirty="0">
              <a:solidFill>
                <a:srgbClr val="131D3F"/>
              </a:solidFill>
              <a:latin typeface="Montserrat SemiBold" panose="00000700000000000000" pitchFamily="2" charset="0"/>
            </a:endParaRPr>
          </a:p>
        </p:txBody>
      </p:sp>
      <p:sp>
        <p:nvSpPr>
          <p:cNvPr id="9" name="CuadroTexto 8">
            <a:extLst>
              <a:ext uri="{FF2B5EF4-FFF2-40B4-BE49-F238E27FC236}">
                <a16:creationId xmlns:a16="http://schemas.microsoft.com/office/drawing/2014/main" id="{C83B908F-1039-4D9E-9FC5-96575100B4C1}"/>
              </a:ext>
            </a:extLst>
          </p:cNvPr>
          <p:cNvSpPr txBox="1"/>
          <p:nvPr/>
        </p:nvSpPr>
        <p:spPr>
          <a:xfrm>
            <a:off x="9483364" y="1337786"/>
            <a:ext cx="2497709" cy="4801314"/>
          </a:xfrm>
          <a:prstGeom prst="rect">
            <a:avLst/>
          </a:prstGeom>
          <a:noFill/>
        </p:spPr>
        <p:txBody>
          <a:bodyPr wrap="square">
            <a:spAutoFit/>
          </a:bodyPr>
          <a:lstStyle/>
          <a:p>
            <a:pPr algn="just"/>
            <a:r>
              <a:rPr lang="es-ES" sz="1700" dirty="0">
                <a:solidFill>
                  <a:srgbClr val="131D3F"/>
                </a:solidFill>
                <a:latin typeface="Montserrat" panose="00000500000000000000" pitchFamily="2" charset="0"/>
              </a:rPr>
              <a:t>El balance general, o estado de situación financiera, es un informe financiero que proporciona una instantánea de la situación financiera en un momento específico. Presenta un resumen de </a:t>
            </a:r>
            <a:r>
              <a:rPr lang="es-ES" sz="1700" b="1" dirty="0">
                <a:solidFill>
                  <a:srgbClr val="131D3F"/>
                </a:solidFill>
                <a:latin typeface="Montserrat" panose="00000500000000000000" pitchFamily="2" charset="0"/>
              </a:rPr>
              <a:t>los activos, pasivos y patrimonio neto</a:t>
            </a:r>
            <a:r>
              <a:rPr lang="es-ES" sz="1700" dirty="0">
                <a:solidFill>
                  <a:srgbClr val="131D3F"/>
                </a:solidFill>
                <a:latin typeface="Montserrat" panose="00000500000000000000" pitchFamily="2" charset="0"/>
              </a:rPr>
              <a:t>, proporcionando información clave sobre la solvencia y la estabilidad financiera de la entidad.</a:t>
            </a:r>
            <a:endParaRPr lang="es-MX" sz="1700"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99785298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75987" y="-2"/>
            <a:ext cx="57382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215</a:t>
            </a:fld>
            <a:endParaRPr lang="es-MX" sz="2400" b="1" dirty="0">
              <a:solidFill>
                <a:srgbClr val="BA955B"/>
              </a:solidFill>
              <a:latin typeface="Montserrat SemiBold" panose="00000700000000000000" pitchFamily="2" charset="0"/>
            </a:endParaRPr>
          </a:p>
        </p:txBody>
      </p:sp>
      <p:sp>
        <p:nvSpPr>
          <p:cNvPr id="6" name="Título 3">
            <a:extLst>
              <a:ext uri="{FF2B5EF4-FFF2-40B4-BE49-F238E27FC236}">
                <a16:creationId xmlns:a16="http://schemas.microsoft.com/office/drawing/2014/main" id="{DCEDEBC3-1DE7-4096-A450-101A5325721E}"/>
              </a:ext>
            </a:extLst>
          </p:cNvPr>
          <p:cNvSpPr>
            <a:spLocks noGrp="1"/>
          </p:cNvSpPr>
          <p:nvPr>
            <p:ph type="title"/>
          </p:nvPr>
        </p:nvSpPr>
        <p:spPr>
          <a:xfrm>
            <a:off x="505024" y="0"/>
            <a:ext cx="5620242" cy="1116450"/>
          </a:xfrm>
        </p:spPr>
        <p:txBody>
          <a:bodyPr>
            <a:normAutofit/>
          </a:bodyPr>
          <a:lstStyle/>
          <a:p>
            <a:r>
              <a:rPr lang="es-ES" sz="3600" b="1" dirty="0">
                <a:solidFill>
                  <a:srgbClr val="131D3F"/>
                </a:solidFill>
                <a:latin typeface="Montserrat SemiBold" panose="00000700000000000000" pitchFamily="2" charset="0"/>
              </a:rPr>
              <a:t>Estados Financieros</a:t>
            </a:r>
            <a:br>
              <a:rPr lang="es-ES" sz="3600" b="1" dirty="0">
                <a:solidFill>
                  <a:srgbClr val="131D3F"/>
                </a:solidFill>
                <a:latin typeface="Montserrat SemiBold" panose="00000700000000000000" pitchFamily="2" charset="0"/>
              </a:rPr>
            </a:br>
            <a:r>
              <a:rPr lang="es-ES" sz="2400" b="1" dirty="0">
                <a:solidFill>
                  <a:srgbClr val="131D3F"/>
                </a:solidFill>
                <a:latin typeface="Montserrat SemiBold" panose="00000700000000000000" pitchFamily="2" charset="0"/>
              </a:rPr>
              <a:t>Estados de resultados</a:t>
            </a:r>
            <a:endParaRPr lang="es-MX" sz="3600" b="1" dirty="0">
              <a:solidFill>
                <a:srgbClr val="131D3F"/>
              </a:solidFill>
              <a:latin typeface="Montserrat SemiBold" panose="00000700000000000000" pitchFamily="2" charset="0"/>
            </a:endParaRPr>
          </a:p>
        </p:txBody>
      </p:sp>
      <p:pic>
        <p:nvPicPr>
          <p:cNvPr id="4" name="Imagen 3">
            <a:extLst>
              <a:ext uri="{FF2B5EF4-FFF2-40B4-BE49-F238E27FC236}">
                <a16:creationId xmlns:a16="http://schemas.microsoft.com/office/drawing/2014/main" id="{3E0BBB88-879C-4D19-BC63-AEDACAA792C0}"/>
              </a:ext>
            </a:extLst>
          </p:cNvPr>
          <p:cNvPicPr>
            <a:picLocks noChangeAspect="1"/>
          </p:cNvPicPr>
          <p:nvPr/>
        </p:nvPicPr>
        <p:blipFill>
          <a:blip r:embed="rId5">
            <a:duotone>
              <a:prstClr val="black"/>
              <a:srgbClr val="D9C3A5">
                <a:tint val="50000"/>
                <a:satMod val="180000"/>
              </a:srgbClr>
            </a:duotone>
          </a:blip>
          <a:stretch>
            <a:fillRect/>
          </a:stretch>
        </p:blipFill>
        <p:spPr>
          <a:xfrm>
            <a:off x="7035140" y="558225"/>
            <a:ext cx="4758190" cy="5741550"/>
          </a:xfrm>
          <a:prstGeom prst="rect">
            <a:avLst/>
          </a:prstGeom>
        </p:spPr>
      </p:pic>
      <p:sp>
        <p:nvSpPr>
          <p:cNvPr id="9" name="CuadroTexto 8">
            <a:extLst>
              <a:ext uri="{FF2B5EF4-FFF2-40B4-BE49-F238E27FC236}">
                <a16:creationId xmlns:a16="http://schemas.microsoft.com/office/drawing/2014/main" id="{FA00D3F5-72BF-4CD3-9E6C-AA7F33578990}"/>
              </a:ext>
            </a:extLst>
          </p:cNvPr>
          <p:cNvSpPr txBox="1"/>
          <p:nvPr/>
        </p:nvSpPr>
        <p:spPr>
          <a:xfrm>
            <a:off x="505024" y="2497283"/>
            <a:ext cx="6165130" cy="2031325"/>
          </a:xfrm>
          <a:prstGeom prst="rect">
            <a:avLst/>
          </a:prstGeom>
          <a:noFill/>
        </p:spPr>
        <p:txBody>
          <a:bodyPr wrap="square">
            <a:spAutoFit/>
          </a:bodyPr>
          <a:lstStyle/>
          <a:p>
            <a:pPr algn="just"/>
            <a:r>
              <a:rPr lang="es-ES" dirty="0">
                <a:solidFill>
                  <a:srgbClr val="131D3F"/>
                </a:solidFill>
                <a:latin typeface="Montserrat" panose="00000500000000000000" pitchFamily="2" charset="0"/>
              </a:rPr>
              <a:t>También conocido como cuenta de pérdidas y ganancias o estado de resultados integrales, es un informe financiero que muestra el desempeño de una entidad durante un período específico. </a:t>
            </a:r>
          </a:p>
          <a:p>
            <a:pPr algn="just"/>
            <a:r>
              <a:rPr lang="es-ES" dirty="0">
                <a:solidFill>
                  <a:srgbClr val="131D3F"/>
                </a:solidFill>
                <a:latin typeface="Montserrat" panose="00000500000000000000" pitchFamily="2" charset="0"/>
              </a:rPr>
              <a:t>Su objetivo es proporcionar una visión clara de los </a:t>
            </a:r>
            <a:r>
              <a:rPr lang="es-ES" b="1" dirty="0">
                <a:solidFill>
                  <a:srgbClr val="131D3F"/>
                </a:solidFill>
                <a:latin typeface="Montserrat" panose="00000500000000000000" pitchFamily="2" charset="0"/>
              </a:rPr>
              <a:t>ingresos, costos, gastos y beneficios obtenidos</a:t>
            </a:r>
            <a:r>
              <a:rPr lang="es-ES" dirty="0">
                <a:solidFill>
                  <a:srgbClr val="131D3F"/>
                </a:solidFill>
                <a:latin typeface="Montserrat" panose="00000500000000000000" pitchFamily="2" charset="0"/>
              </a:rPr>
              <a:t>, reflejando cómo se generan y utilizan los recursos.</a:t>
            </a:r>
            <a:endParaRPr lang="es-MX" dirty="0">
              <a:solidFill>
                <a:srgbClr val="131D3F"/>
              </a:solidFill>
              <a:latin typeface="Montserrat" panose="00000500000000000000" pitchFamily="2" charset="0"/>
            </a:endParaRPr>
          </a:p>
        </p:txBody>
      </p:sp>
    </p:spTree>
    <p:extLst>
      <p:ext uri="{BB962C8B-B14F-4D97-AF65-F5344CB8AC3E}">
        <p14:creationId xmlns:p14="http://schemas.microsoft.com/office/powerpoint/2010/main" val="58837178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75987" y="-2"/>
            <a:ext cx="573827"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216</a:t>
            </a:fld>
            <a:endParaRPr lang="es-MX" sz="2400" b="1" dirty="0">
              <a:solidFill>
                <a:srgbClr val="BA955B"/>
              </a:solidFill>
              <a:latin typeface="Montserrat SemiBold" panose="00000700000000000000" pitchFamily="2" charset="0"/>
            </a:endParaRPr>
          </a:p>
        </p:txBody>
      </p:sp>
      <p:sp>
        <p:nvSpPr>
          <p:cNvPr id="6" name="Título 3">
            <a:extLst>
              <a:ext uri="{FF2B5EF4-FFF2-40B4-BE49-F238E27FC236}">
                <a16:creationId xmlns:a16="http://schemas.microsoft.com/office/drawing/2014/main" id="{DCEDEBC3-1DE7-4096-A450-101A5325721E}"/>
              </a:ext>
            </a:extLst>
          </p:cNvPr>
          <p:cNvSpPr>
            <a:spLocks noGrp="1"/>
          </p:cNvSpPr>
          <p:nvPr>
            <p:ph type="title"/>
          </p:nvPr>
        </p:nvSpPr>
        <p:spPr>
          <a:xfrm>
            <a:off x="505024" y="0"/>
            <a:ext cx="5620242" cy="1116450"/>
          </a:xfrm>
        </p:spPr>
        <p:txBody>
          <a:bodyPr>
            <a:normAutofit/>
          </a:bodyPr>
          <a:lstStyle/>
          <a:p>
            <a:r>
              <a:rPr lang="es-ES" sz="3600" b="1" dirty="0">
                <a:solidFill>
                  <a:srgbClr val="131D3F"/>
                </a:solidFill>
                <a:latin typeface="Montserrat SemiBold" panose="00000700000000000000" pitchFamily="2" charset="0"/>
              </a:rPr>
              <a:t>Estados Financieros</a:t>
            </a:r>
            <a:br>
              <a:rPr lang="es-ES" sz="3600" b="1" dirty="0">
                <a:solidFill>
                  <a:srgbClr val="131D3F"/>
                </a:solidFill>
                <a:latin typeface="Montserrat SemiBold" panose="00000700000000000000" pitchFamily="2" charset="0"/>
              </a:rPr>
            </a:br>
            <a:r>
              <a:rPr lang="es-ES" sz="2400" b="1" dirty="0">
                <a:solidFill>
                  <a:srgbClr val="131D3F"/>
                </a:solidFill>
                <a:latin typeface="Montserrat SemiBold" panose="00000700000000000000" pitchFamily="2" charset="0"/>
              </a:rPr>
              <a:t>Estados de flujos de efectivo</a:t>
            </a:r>
            <a:endParaRPr lang="es-MX" sz="3600" b="1" dirty="0">
              <a:solidFill>
                <a:srgbClr val="131D3F"/>
              </a:solidFill>
              <a:latin typeface="Montserrat SemiBold" panose="00000700000000000000" pitchFamily="2" charset="0"/>
            </a:endParaRPr>
          </a:p>
        </p:txBody>
      </p:sp>
      <p:sp>
        <p:nvSpPr>
          <p:cNvPr id="9" name="CuadroTexto 8">
            <a:extLst>
              <a:ext uri="{FF2B5EF4-FFF2-40B4-BE49-F238E27FC236}">
                <a16:creationId xmlns:a16="http://schemas.microsoft.com/office/drawing/2014/main" id="{FA00D3F5-72BF-4CD3-9E6C-AA7F33578990}"/>
              </a:ext>
            </a:extLst>
          </p:cNvPr>
          <p:cNvSpPr txBox="1"/>
          <p:nvPr/>
        </p:nvSpPr>
        <p:spPr>
          <a:xfrm>
            <a:off x="505024" y="2497283"/>
            <a:ext cx="6165130" cy="2308324"/>
          </a:xfrm>
          <a:prstGeom prst="rect">
            <a:avLst/>
          </a:prstGeom>
          <a:noFill/>
        </p:spPr>
        <p:txBody>
          <a:bodyPr wrap="square">
            <a:spAutoFit/>
          </a:bodyPr>
          <a:lstStyle/>
          <a:p>
            <a:pPr algn="just"/>
            <a:r>
              <a:rPr lang="es-ES" dirty="0">
                <a:solidFill>
                  <a:srgbClr val="131D3F"/>
                </a:solidFill>
                <a:latin typeface="Montserrat" panose="00000500000000000000" pitchFamily="2" charset="0"/>
              </a:rPr>
              <a:t>Es un informe financiero que detalla cómo se </a:t>
            </a:r>
            <a:r>
              <a:rPr lang="es-ES" b="1" dirty="0">
                <a:solidFill>
                  <a:srgbClr val="131D3F"/>
                </a:solidFill>
                <a:latin typeface="Montserrat" panose="00000500000000000000" pitchFamily="2" charset="0"/>
              </a:rPr>
              <a:t>generan y utilizan</a:t>
            </a:r>
            <a:r>
              <a:rPr lang="es-ES" dirty="0">
                <a:solidFill>
                  <a:srgbClr val="131D3F"/>
                </a:solidFill>
                <a:latin typeface="Montserrat" panose="00000500000000000000" pitchFamily="2" charset="0"/>
              </a:rPr>
              <a:t> los flujos de efectivo en una entidad durante un período específico. A diferencia del estado de resultados, que muestra la rentabilidad, el estado de flujos de efectivo se centra en la </a:t>
            </a:r>
            <a:r>
              <a:rPr lang="es-ES" b="1" dirty="0">
                <a:solidFill>
                  <a:srgbClr val="131D3F"/>
                </a:solidFill>
                <a:latin typeface="Montserrat" panose="00000500000000000000" pitchFamily="2" charset="0"/>
              </a:rPr>
              <a:t>liquidez</a:t>
            </a:r>
            <a:r>
              <a:rPr lang="es-ES" dirty="0">
                <a:solidFill>
                  <a:srgbClr val="131D3F"/>
                </a:solidFill>
                <a:latin typeface="Montserrat" panose="00000500000000000000" pitchFamily="2" charset="0"/>
              </a:rPr>
              <a:t> y la </a:t>
            </a:r>
            <a:r>
              <a:rPr lang="es-ES" b="1" dirty="0">
                <a:solidFill>
                  <a:srgbClr val="131D3F"/>
                </a:solidFill>
                <a:latin typeface="Montserrat" panose="00000500000000000000" pitchFamily="2" charset="0"/>
              </a:rPr>
              <a:t>capacidad</a:t>
            </a:r>
            <a:r>
              <a:rPr lang="es-ES" dirty="0">
                <a:solidFill>
                  <a:srgbClr val="131D3F"/>
                </a:solidFill>
                <a:latin typeface="Montserrat" panose="00000500000000000000" pitchFamily="2" charset="0"/>
              </a:rPr>
              <a:t> de la entidad </a:t>
            </a:r>
            <a:r>
              <a:rPr lang="es-ES" b="1" dirty="0">
                <a:solidFill>
                  <a:srgbClr val="131D3F"/>
                </a:solidFill>
                <a:latin typeface="Montserrat" panose="00000500000000000000" pitchFamily="2" charset="0"/>
              </a:rPr>
              <a:t>para generar efectivo</a:t>
            </a:r>
            <a:r>
              <a:rPr lang="es-ES" dirty="0">
                <a:solidFill>
                  <a:srgbClr val="131D3F"/>
                </a:solidFill>
                <a:latin typeface="Montserrat" panose="00000500000000000000" pitchFamily="2" charset="0"/>
              </a:rPr>
              <a:t> y cumplir con sus obligaciones.</a:t>
            </a:r>
            <a:endParaRPr lang="es-MX" dirty="0">
              <a:solidFill>
                <a:srgbClr val="131D3F"/>
              </a:solidFill>
              <a:latin typeface="Montserrat" panose="00000500000000000000" pitchFamily="2" charset="0"/>
            </a:endParaRPr>
          </a:p>
        </p:txBody>
      </p:sp>
      <p:pic>
        <p:nvPicPr>
          <p:cNvPr id="3" name="Imagen 2">
            <a:extLst>
              <a:ext uri="{FF2B5EF4-FFF2-40B4-BE49-F238E27FC236}">
                <a16:creationId xmlns:a16="http://schemas.microsoft.com/office/drawing/2014/main" id="{17819768-6479-4B89-A11B-667B0562AB83}"/>
              </a:ext>
            </a:extLst>
          </p:cNvPr>
          <p:cNvPicPr>
            <a:picLocks noChangeAspect="1"/>
          </p:cNvPicPr>
          <p:nvPr/>
        </p:nvPicPr>
        <p:blipFill>
          <a:blip r:embed="rId5">
            <a:duotone>
              <a:prstClr val="black"/>
              <a:srgbClr val="D9C3A5">
                <a:tint val="50000"/>
                <a:satMod val="180000"/>
              </a:srgbClr>
            </a:duotone>
          </a:blip>
          <a:stretch>
            <a:fillRect/>
          </a:stretch>
        </p:blipFill>
        <p:spPr>
          <a:xfrm>
            <a:off x="7006578" y="558224"/>
            <a:ext cx="4847924" cy="5741551"/>
          </a:xfrm>
          <a:prstGeom prst="rect">
            <a:avLst/>
          </a:prstGeom>
        </p:spPr>
      </p:pic>
      <p:sp>
        <p:nvSpPr>
          <p:cNvPr id="5" name="Flecha: en U 4">
            <a:hlinkClick r:id="rId6" action="ppaction://hlinksldjump"/>
            <a:extLst>
              <a:ext uri="{FF2B5EF4-FFF2-40B4-BE49-F238E27FC236}">
                <a16:creationId xmlns:a16="http://schemas.microsoft.com/office/drawing/2014/main" id="{9F10F7F4-294F-47CB-9F9B-C0EAA4C7C704}"/>
              </a:ext>
            </a:extLst>
          </p:cNvPr>
          <p:cNvSpPr/>
          <p:nvPr/>
        </p:nvSpPr>
        <p:spPr>
          <a:xfrm rot="5400000">
            <a:off x="548134" y="5941129"/>
            <a:ext cx="668595" cy="754816"/>
          </a:xfrm>
          <a:prstGeom prst="uturnArrow">
            <a:avLst/>
          </a:prstGeom>
          <a:solidFill>
            <a:srgbClr val="2F3E46"/>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215806203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5" name="Diagrama 4">
            <a:extLst>
              <a:ext uri="{FF2B5EF4-FFF2-40B4-BE49-F238E27FC236}">
                <a16:creationId xmlns:a16="http://schemas.microsoft.com/office/drawing/2014/main" id="{BE5B8AF1-1577-4454-BF1A-E48A81D885A4}"/>
              </a:ext>
            </a:extLst>
          </p:cNvPr>
          <p:cNvGraphicFramePr/>
          <p:nvPr>
            <p:extLst>
              <p:ext uri="{D42A27DB-BD31-4B8C-83A1-F6EECF244321}">
                <p14:modId xmlns:p14="http://schemas.microsoft.com/office/powerpoint/2010/main" val="4201743124"/>
              </p:ext>
            </p:extLst>
          </p:nvPr>
        </p:nvGraphicFramePr>
        <p:xfrm>
          <a:off x="4103004" y="112880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7" name="Diagrama 16">
            <a:extLst>
              <a:ext uri="{FF2B5EF4-FFF2-40B4-BE49-F238E27FC236}">
                <a16:creationId xmlns:a16="http://schemas.microsoft.com/office/drawing/2014/main" id="{114D213F-6F19-45F4-A83C-1165ECAFEEF1}"/>
              </a:ext>
            </a:extLst>
          </p:cNvPr>
          <p:cNvGraphicFramePr/>
          <p:nvPr>
            <p:extLst>
              <p:ext uri="{D42A27DB-BD31-4B8C-83A1-F6EECF244321}">
                <p14:modId xmlns:p14="http://schemas.microsoft.com/office/powerpoint/2010/main" val="642306405"/>
              </p:ext>
            </p:extLst>
          </p:nvPr>
        </p:nvGraphicFramePr>
        <p:xfrm>
          <a:off x="4103004" y="1128803"/>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7" name="Gráfico 6">
            <a:extLst>
              <a:ext uri="{FF2B5EF4-FFF2-40B4-BE49-F238E27FC236}">
                <a16:creationId xmlns:a16="http://schemas.microsoft.com/office/drawing/2014/main" id="{6B6D40D8-9C71-C640-2483-2EA20DD13BC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6200000" flipV="1">
            <a:off x="-454375" y="454373"/>
            <a:ext cx="1337787" cy="429038"/>
          </a:xfrm>
          <a:prstGeom prst="rect">
            <a:avLst/>
          </a:prstGeom>
        </p:spPr>
      </p:pic>
      <p:sp>
        <p:nvSpPr>
          <p:cNvPr id="8" name="Google Shape;86;p2">
            <a:extLst>
              <a:ext uri="{FF2B5EF4-FFF2-40B4-BE49-F238E27FC236}">
                <a16:creationId xmlns:a16="http://schemas.microsoft.com/office/drawing/2014/main" id="{464D80FE-F1FB-F4DE-A93C-4C5B72993AD0}"/>
              </a:ext>
            </a:extLst>
          </p:cNvPr>
          <p:cNvSpPr txBox="1">
            <a:spLocks/>
          </p:cNvSpPr>
          <p:nvPr/>
        </p:nvSpPr>
        <p:spPr>
          <a:xfrm>
            <a:off x="-116626" y="-2"/>
            <a:ext cx="675426" cy="519465"/>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buClr>
                <a:schemeClr val="accent2"/>
              </a:buClr>
              <a:buSzPts val="4000"/>
              <a:buFont typeface="Montserrat SemiBold"/>
              <a:buNone/>
            </a:pPr>
            <a:fld id="{F8AF73FB-EF1E-4988-84BA-6D7ADE649B45}" type="slidenum">
              <a:rPr lang="es-MX" sz="2400" b="1" smtClean="0">
                <a:solidFill>
                  <a:srgbClr val="BA955B"/>
                </a:solidFill>
                <a:latin typeface="Montserrat SemiBold" panose="00000700000000000000" pitchFamily="2" charset="0"/>
              </a:rPr>
              <a:pPr>
                <a:spcBef>
                  <a:spcPts val="0"/>
                </a:spcBef>
                <a:buClr>
                  <a:schemeClr val="accent2"/>
                </a:buClr>
                <a:buSzPts val="4000"/>
                <a:buFont typeface="Montserrat SemiBold"/>
                <a:buNone/>
              </a:pPr>
              <a:t>217</a:t>
            </a:fld>
            <a:endParaRPr lang="es-MX" sz="2400" b="1" dirty="0">
              <a:solidFill>
                <a:srgbClr val="BA955B"/>
              </a:solidFill>
              <a:latin typeface="Montserrat SemiBold" panose="00000700000000000000" pitchFamily="2" charset="0"/>
            </a:endParaRPr>
          </a:p>
        </p:txBody>
      </p:sp>
      <p:sp>
        <p:nvSpPr>
          <p:cNvPr id="9" name="Título 3">
            <a:extLst>
              <a:ext uri="{FF2B5EF4-FFF2-40B4-BE49-F238E27FC236}">
                <a16:creationId xmlns:a16="http://schemas.microsoft.com/office/drawing/2014/main" id="{0BEC17DC-CEDF-4259-9C73-F7EFC1B6C50F}"/>
              </a:ext>
            </a:extLst>
          </p:cNvPr>
          <p:cNvSpPr>
            <a:spLocks noGrp="1"/>
          </p:cNvSpPr>
          <p:nvPr>
            <p:ph type="title"/>
          </p:nvPr>
        </p:nvSpPr>
        <p:spPr>
          <a:xfrm>
            <a:off x="817880" y="310530"/>
            <a:ext cx="9617592" cy="823595"/>
          </a:xfrm>
        </p:spPr>
        <p:txBody>
          <a:bodyPr>
            <a:normAutofit fontScale="90000"/>
          </a:bodyPr>
          <a:lstStyle/>
          <a:p>
            <a:r>
              <a:rPr lang="es-ES" sz="3600" b="1" dirty="0">
                <a:solidFill>
                  <a:srgbClr val="131D3F"/>
                </a:solidFill>
                <a:latin typeface="Montserrat SemiBold" panose="00000700000000000000" pitchFamily="2" charset="0"/>
              </a:rPr>
              <a:t>Procesos para la toma de decisiones</a:t>
            </a:r>
            <a:br>
              <a:rPr lang="es-ES" sz="3600" b="1" dirty="0">
                <a:solidFill>
                  <a:srgbClr val="131D3F"/>
                </a:solidFill>
                <a:latin typeface="Montserrat SemiBold" panose="00000700000000000000" pitchFamily="2" charset="0"/>
              </a:rPr>
            </a:br>
            <a:r>
              <a:rPr lang="es-ES" sz="2700" b="1" dirty="0">
                <a:solidFill>
                  <a:srgbClr val="131D3F"/>
                </a:solidFill>
                <a:latin typeface="Montserrat SemiBold" panose="00000700000000000000" pitchFamily="2" charset="0"/>
              </a:rPr>
              <a:t>Análisis FODA</a:t>
            </a:r>
            <a:endParaRPr lang="es-MX" sz="3600" b="1" dirty="0">
              <a:solidFill>
                <a:srgbClr val="131D3F"/>
              </a:solidFill>
              <a:latin typeface="Montserrat SemiBold" panose="00000700000000000000" pitchFamily="2" charset="0"/>
            </a:endParaRPr>
          </a:p>
        </p:txBody>
      </p:sp>
      <p:sp>
        <p:nvSpPr>
          <p:cNvPr id="15" name="Google Shape;112;p3">
            <a:extLst>
              <a:ext uri="{FF2B5EF4-FFF2-40B4-BE49-F238E27FC236}">
                <a16:creationId xmlns:a16="http://schemas.microsoft.com/office/drawing/2014/main" id="{3FD69C77-E111-4F50-923D-F6E471F810A9}"/>
              </a:ext>
            </a:extLst>
          </p:cNvPr>
          <p:cNvSpPr txBox="1"/>
          <p:nvPr/>
        </p:nvSpPr>
        <p:spPr>
          <a:xfrm>
            <a:off x="1333450" y="1650602"/>
            <a:ext cx="3794731" cy="4375067"/>
          </a:xfrm>
          <a:prstGeom prst="rect">
            <a:avLst/>
          </a:prstGeom>
          <a:noFill/>
          <a:ln>
            <a:noFill/>
          </a:ln>
        </p:spPr>
        <p:txBody>
          <a:bodyPr spcFirstLastPara="1" wrap="square" lIns="91425" tIns="45700" rIns="91425" bIns="45700" anchor="t" anchorCtr="0">
            <a:noAutofit/>
          </a:bodyPr>
          <a:lstStyle/>
          <a:p>
            <a:pPr algn="just">
              <a:spcAft>
                <a:spcPts val="600"/>
              </a:spcAft>
            </a:pPr>
            <a:r>
              <a:rPr lang="es-ES" sz="2200" dirty="0">
                <a:solidFill>
                  <a:srgbClr val="131D3F"/>
                </a:solidFill>
                <a:latin typeface="Montserrat" panose="00000500000000000000" pitchFamily="2" charset="0"/>
              </a:rPr>
              <a:t>Herramienta estratégica utilizada para </a:t>
            </a:r>
            <a:r>
              <a:rPr lang="es-ES" sz="2200" b="1" dirty="0">
                <a:solidFill>
                  <a:srgbClr val="131D3F"/>
                </a:solidFill>
                <a:latin typeface="Montserrat" panose="00000500000000000000" pitchFamily="2" charset="0"/>
              </a:rPr>
              <a:t>evaluar las Fortalezas, Oportunidades, Debilidades y Amenazas</a:t>
            </a:r>
            <a:r>
              <a:rPr lang="es-ES" sz="2200" dirty="0">
                <a:solidFill>
                  <a:srgbClr val="131D3F"/>
                </a:solidFill>
                <a:latin typeface="Montserrat" panose="00000500000000000000" pitchFamily="2" charset="0"/>
              </a:rPr>
              <a:t> de una organización, proyecto o situación. Este análisis ayuda a </a:t>
            </a:r>
            <a:r>
              <a:rPr lang="es-ES" sz="2200" b="1" dirty="0">
                <a:solidFill>
                  <a:srgbClr val="131D3F"/>
                </a:solidFill>
                <a:latin typeface="Montserrat" panose="00000500000000000000" pitchFamily="2" charset="0"/>
              </a:rPr>
              <a:t>identificar los factores internos y externos que pueden influir</a:t>
            </a:r>
            <a:r>
              <a:rPr lang="es-ES" sz="2200" dirty="0">
                <a:solidFill>
                  <a:srgbClr val="131D3F"/>
                </a:solidFill>
                <a:latin typeface="Montserrat" panose="00000500000000000000" pitchFamily="2" charset="0"/>
              </a:rPr>
              <a:t> en el éxito o fracaso de una estrategia.</a:t>
            </a:r>
          </a:p>
          <a:p>
            <a:pPr algn="just">
              <a:spcAft>
                <a:spcPts val="600"/>
              </a:spcAft>
            </a:pPr>
            <a:endParaRPr lang="es-ES" sz="2200" dirty="0">
              <a:solidFill>
                <a:srgbClr val="131D3F"/>
              </a:solidFill>
              <a:latin typeface="Montserrat" panose="00000500000000000000" pitchFamily="2" charset="0"/>
            </a:endParaRPr>
          </a:p>
        </p:txBody>
      </p:sp>
      <p:sp>
        <p:nvSpPr>
          <p:cNvPr id="18" name="Flecha: en U 17">
            <a:extLst>
              <a:ext uri="{FF2B5EF4-FFF2-40B4-BE49-F238E27FC236}">
                <a16:creationId xmlns:a16="http://schemas.microsoft.com/office/drawing/2014/main" id="{4B5A2862-8282-48BE-9D9E-C5CFEBA687A0}"/>
              </a:ext>
            </a:extLst>
          </p:cNvPr>
          <p:cNvSpPr/>
          <p:nvPr/>
        </p:nvSpPr>
        <p:spPr>
          <a:xfrm rot="5400000">
            <a:off x="548134" y="5941129"/>
            <a:ext cx="668595" cy="754816"/>
          </a:xfrm>
          <a:prstGeom prst="uturnArrow">
            <a:avLst/>
          </a:prstGeom>
          <a:solidFill>
            <a:srgbClr val="2F3E46"/>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251114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7"/>
                                        </p:tgtEl>
                                        <p:attrNameLst>
                                          <p:attrName>ppt_x</p:attrName>
                                        </p:attrNameLst>
                                      </p:cBhvr>
                                      <p:tavLst>
                                        <p:tav tm="0">
                                          <p:val>
                                            <p:strVal val="ppt_x"/>
                                          </p:val>
                                        </p:tav>
                                        <p:tav tm="100000">
                                          <p:val>
                                            <p:strVal val="ppt_x"/>
                                          </p:val>
                                        </p:tav>
                                      </p:tavLst>
                                    </p:anim>
                                    <p:anim calcmode="lin" valueType="num">
                                      <p:cBhvr additive="base">
                                        <p:cTn id="7" dur="500"/>
                                        <p:tgtEl>
                                          <p:spTgt spid="17"/>
                                        </p:tgtEl>
                                        <p:attrNameLst>
                                          <p:attrName>ppt_y</p:attrName>
                                        </p:attrNameLst>
                                      </p:cBhvr>
                                      <p:tavLst>
                                        <p:tav tm="0">
                                          <p:val>
                                            <p:strVal val="ppt_y"/>
                                          </p:val>
                                        </p:tav>
                                        <p:tav tm="100000">
                                          <p:val>
                                            <p:strVal val="1+ppt_h/2"/>
                                          </p:val>
                                        </p:tav>
                                      </p:tavLst>
                                    </p:anim>
                                    <p:set>
                                      <p:cBhvr>
                                        <p:cTn id="8" dur="1" fill="hold">
                                          <p:stCondLst>
                                            <p:cond delay="499"/>
                                          </p:stCondLst>
                                        </p:cTn>
                                        <p:tgtEl>
                                          <p:spTgt spid="1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2" presetClass="exit" presetSubtype="4" fill="hold" grpId="0" nodeType="clickEffect">
                                  <p:stCondLst>
                                    <p:cond delay="0"/>
                                  </p:stCondLst>
                                  <p:childTnLst>
                                    <p:anim calcmode="lin" valueType="num">
                                      <p:cBhvr additive="base">
                                        <p:cTn id="12" dur="500"/>
                                        <p:tgtEl>
                                          <p:spTgt spid="5"/>
                                        </p:tgtEl>
                                        <p:attrNameLst>
                                          <p:attrName>ppt_y</p:attrName>
                                        </p:attrNameLst>
                                      </p:cBhvr>
                                      <p:tavLst>
                                        <p:tav tm="0">
                                          <p:val>
                                            <p:strVal val="#ppt_y"/>
                                          </p:val>
                                        </p:tav>
                                        <p:tav tm="100000">
                                          <p:val>
                                            <p:strVal val="#ppt_y+#ppt_h*1.125000"/>
                                          </p:val>
                                        </p:tav>
                                      </p:tavLst>
                                    </p:anim>
                                    <p:animEffect transition="out" filter="wipe(down)">
                                      <p:cBhvr>
                                        <p:cTn id="13" dur="500"/>
                                        <p:tgtEl>
                                          <p:spTgt spid="5"/>
                                        </p:tgtEl>
                                      </p:cBhvr>
                                    </p:animEffect>
                                    <p:set>
                                      <p:cBhvr>
                                        <p:cTn id="14"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17" grpId="0">
        <p:bldAsOne/>
      </p:bldGraphic>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65209</TotalTime>
  <Words>18342</Words>
  <Application>Microsoft Office PowerPoint</Application>
  <PresentationFormat>Panorámica</PresentationFormat>
  <Paragraphs>2707</Paragraphs>
  <Slides>217</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217</vt:i4>
      </vt:variant>
    </vt:vector>
  </HeadingPairs>
  <TitlesOfParts>
    <vt:vector size="227" baseType="lpstr">
      <vt:lpstr>Adobe Caslon Pro Bold</vt:lpstr>
      <vt:lpstr>Arial</vt:lpstr>
      <vt:lpstr>Calibri</vt:lpstr>
      <vt:lpstr>Calibri Light</vt:lpstr>
      <vt:lpstr>Cambria</vt:lpstr>
      <vt:lpstr>Cambria Math</vt:lpstr>
      <vt:lpstr>Montserrat</vt:lpstr>
      <vt:lpstr>Montserrat Black</vt:lpstr>
      <vt:lpstr>Montserrat SemiBold</vt:lpstr>
      <vt:lpstr>Tema de Office</vt:lpstr>
      <vt:lpstr>Finanzas en la Ingeniería en Computación </vt:lpstr>
      <vt:lpstr>Presentación de PowerPoint</vt:lpstr>
      <vt:lpstr>Presentación de PowerPoint</vt:lpstr>
      <vt:lpstr>Presentación de PowerPoint</vt:lpstr>
      <vt:lpstr>1.1 Finanzas</vt:lpstr>
      <vt:lpstr>1.1 Finanzas Conceptos complementarios</vt:lpstr>
      <vt:lpstr>1.2 Contabilidad</vt:lpstr>
      <vt:lpstr>1.2 Contabilidad Procesos Contables</vt:lpstr>
      <vt:lpstr>1.3 Tipos de Control en las Finanzas</vt:lpstr>
      <vt:lpstr>1.3 Tipos de Control en las Finanzas</vt:lpstr>
      <vt:lpstr>1.4 Flujo de Efectivo</vt:lpstr>
      <vt:lpstr>1.4 Flujo de Efectivo</vt:lpstr>
      <vt:lpstr>1.5 Procesos para la toma de decisiones</vt:lpstr>
      <vt:lpstr>1.5 Procesos para la toma de decisiones</vt:lpstr>
      <vt:lpstr>1.6 Valuación</vt:lpstr>
      <vt:lpstr>1.6 Valuación  1.6.1 Valor Presente</vt:lpstr>
      <vt:lpstr>1.6 Valuación  1.6.1 Valor Presente</vt:lpstr>
      <vt:lpstr>1.6 Valuación  1.6.1 Valor Presente</vt:lpstr>
      <vt:lpstr>1.6 Valuación  1.6.2 Valor Futuro - Cálculo</vt:lpstr>
      <vt:lpstr>1.6 Valuación  1.6.2 Valor Futuro - Cálculo</vt:lpstr>
      <vt:lpstr>1.6 Valuación  1.6.2 Valor Futuro – Tasas Variables</vt:lpstr>
      <vt:lpstr>1.6 Valuación  1.6.3 Anual Equivalente</vt:lpstr>
      <vt:lpstr>1.6 Valuación  1.6.3 Anual Equivalente</vt:lpstr>
      <vt:lpstr>Presentación de PowerPoint</vt:lpstr>
      <vt:lpstr>1.7 Inflación</vt:lpstr>
      <vt:lpstr>1.7 Inflación  Causas de la inflación</vt:lpstr>
      <vt:lpstr>1.7 Inflación  Deflación</vt:lpstr>
      <vt:lpstr>1.7 Inflación  Deflación - Consecuencias</vt:lpstr>
      <vt:lpstr>1.7 Inflación  Cálculos</vt:lpstr>
      <vt:lpstr>1.7 Inflación  Cálculos</vt:lpstr>
      <vt:lpstr>1.8 Depreciación</vt:lpstr>
      <vt:lpstr>1.9 Impuestos</vt:lpstr>
      <vt:lpstr>1.9 Impuestos</vt:lpstr>
      <vt:lpstr>1.10 Valor del dinero en el tiempo</vt:lpstr>
      <vt:lpstr>1.10 Valor del dinero en el tiempo</vt:lpstr>
      <vt:lpstr>1.10 Valor del dinero en el tiempo</vt:lpstr>
      <vt:lpstr>1.11 Eficiencia</vt:lpstr>
      <vt:lpstr>1.12 Eficacia</vt:lpstr>
      <vt:lpstr>1.12 Eficacia  1.12.1 Principios Clave de la Eficacia</vt:lpstr>
      <vt:lpstr>1.13 Productividad</vt:lpstr>
      <vt:lpstr>Presentación de PowerPoint</vt:lpstr>
      <vt:lpstr>2 Producto || Proyecto</vt:lpstr>
      <vt:lpstr>2.2 Proyecto</vt:lpstr>
      <vt:lpstr>Presentación de PowerPoint</vt:lpstr>
      <vt:lpstr>2.6 Ciclo de vida del proyecto</vt:lpstr>
      <vt:lpstr>2.1 Producto</vt:lpstr>
      <vt:lpstr>2.1 Producto</vt:lpstr>
      <vt:lpstr>2.1 Producto  2.1.1 Financiero</vt:lpstr>
      <vt:lpstr>2.5 Ciclo de vida del producto</vt:lpstr>
      <vt:lpstr>2.5 Ciclo de vida del producto</vt:lpstr>
      <vt:lpstr>2.5 Ciclo de vida del producto</vt:lpstr>
      <vt:lpstr>Clase 4° </vt:lpstr>
      <vt:lpstr>2.3 Programa</vt:lpstr>
      <vt:lpstr>2.9 Planeación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5°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6° </vt:lpstr>
      <vt:lpstr>Presentación de PowerPoint</vt:lpstr>
      <vt:lpstr>Presentación de PowerPoint</vt:lpstr>
      <vt:lpstr>Presentación de PowerPoint</vt:lpstr>
      <vt:lpstr>Presentación de PowerPoint</vt:lpstr>
      <vt:lpstr>Presentación de PowerPoint</vt:lpstr>
      <vt:lpstr>Presentación de PowerPoint</vt:lpstr>
      <vt:lpstr>Clase 7°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8°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10°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11°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12°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13°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15°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Estados Financieros Balance General</vt:lpstr>
      <vt:lpstr>Estados Financieros Estados de resultados</vt:lpstr>
      <vt:lpstr>Estados Financieros Estados de flujos de efectivo</vt:lpstr>
      <vt:lpstr>Procesos para la toma de decisiones Análisis FODA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Esteban</dc:creator>
  <cp:lastModifiedBy>Uribe Aranda, Alfredo</cp:lastModifiedBy>
  <cp:revision>383</cp:revision>
  <dcterms:created xsi:type="dcterms:W3CDTF">2024-04-24T18:17:33Z</dcterms:created>
  <dcterms:modified xsi:type="dcterms:W3CDTF">2024-11-25T04:41:28Z</dcterms:modified>
</cp:coreProperties>
</file>